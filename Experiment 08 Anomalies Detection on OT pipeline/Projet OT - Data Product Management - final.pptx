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44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2422" autoAdjust="0"/>
  </p:normalViewPr>
  <p:slideViewPr>
    <p:cSldViewPr snapToGrid="0">
      <p:cViewPr varScale="1">
        <p:scale>
          <a:sx n="84" d="100"/>
          <a:sy n="84" d="100"/>
        </p:scale>
        <p:origin x="93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EDBD2C-34B0-458E-9DE1-4EF836FB6B34}" type="datetimeFigureOut">
              <a:rPr lang="de-DE" smtClean="0"/>
              <a:t>20.03.2026</a:t>
            </a:fld>
            <a:endParaRPr lang="de-D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E3AC6F-717B-4E6E-8580-517C0A9172DA}" type="slidenum">
              <a:rPr lang="de-DE" smtClean="0"/>
              <a:t>‹#›</a:t>
            </a:fld>
            <a:endParaRPr lang="de-DE"/>
          </a:p>
        </p:txBody>
      </p:sp>
    </p:spTree>
    <p:extLst>
      <p:ext uri="{BB962C8B-B14F-4D97-AF65-F5344CB8AC3E}">
        <p14:creationId xmlns:p14="http://schemas.microsoft.com/office/powerpoint/2010/main" val="3332612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200" kern="1200" dirty="0">
                <a:solidFill>
                  <a:schemeClr val="tx1"/>
                </a:solidFill>
                <a:effectLst/>
                <a:latin typeface="+mn-lt"/>
                <a:ea typeface="+mn-ea"/>
                <a:cs typeface="+mn-cs"/>
              </a:rPr>
              <a:t>Bonjour à tous. Nous somme l’</a:t>
            </a:r>
            <a:r>
              <a:rPr lang="fr-CH" sz="1200" kern="1200" dirty="0" err="1">
                <a:solidFill>
                  <a:schemeClr val="tx1"/>
                </a:solidFill>
                <a:effectLst/>
                <a:latin typeface="+mn-lt"/>
                <a:ea typeface="+mn-ea"/>
                <a:cs typeface="+mn-cs"/>
              </a:rPr>
              <a:t>equipe</a:t>
            </a:r>
            <a:r>
              <a:rPr lang="fr-CH" sz="1200" kern="1200" dirty="0">
                <a:solidFill>
                  <a:schemeClr val="tx1"/>
                </a:solidFill>
                <a:effectLst/>
                <a:latin typeface="+mn-lt"/>
                <a:ea typeface="+mn-ea"/>
                <a:cs typeface="+mn-cs"/>
              </a:rPr>
              <a:t> </a:t>
            </a:r>
            <a:r>
              <a:rPr lang="fr-CH" sz="1200" kern="1200" dirty="0" err="1">
                <a:solidFill>
                  <a:schemeClr val="tx1"/>
                </a:solidFill>
                <a:effectLst/>
                <a:latin typeface="+mn-lt"/>
                <a:ea typeface="+mn-ea"/>
                <a:cs typeface="+mn-cs"/>
              </a:rPr>
              <a:t>Fidemeca.Ken</a:t>
            </a:r>
            <a:r>
              <a:rPr lang="fr-CH" sz="1200" kern="1200" dirty="0">
                <a:solidFill>
                  <a:schemeClr val="tx1"/>
                </a:solidFill>
                <a:effectLst/>
                <a:latin typeface="+mn-lt"/>
                <a:ea typeface="+mn-ea"/>
                <a:cs typeface="+mn-cs"/>
              </a:rPr>
              <a:t>, Adrien, Missi et moi-même, Natacha </a:t>
            </a:r>
            <a:endParaRPr lang="en-CH"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sz="1600" kern="1200" dirty="0">
                <a:solidFill>
                  <a:schemeClr val="tx1"/>
                </a:solidFill>
                <a:effectLst/>
                <a:latin typeface="+mn-lt"/>
                <a:ea typeface="+mn-ea"/>
                <a:cs typeface="+mn-cs"/>
              </a:rPr>
              <a:t>Pour commencer, je vais vous raconter pourquoi ce projet existe. </a:t>
            </a:r>
            <a:r>
              <a:rPr lang="fr-CH" sz="1600" kern="1200" dirty="0" err="1">
                <a:solidFill>
                  <a:schemeClr val="tx1"/>
                </a:solidFill>
                <a:effectLst/>
                <a:latin typeface="+mn-lt"/>
                <a:ea typeface="+mn-ea"/>
                <a:cs typeface="+mn-cs"/>
              </a:rPr>
              <a:t>Fidémeca</a:t>
            </a:r>
            <a:r>
              <a:rPr lang="fr-CH" sz="1600" kern="1200" dirty="0">
                <a:solidFill>
                  <a:schemeClr val="tx1"/>
                </a:solidFill>
                <a:effectLst/>
                <a:latin typeface="+mn-lt"/>
                <a:ea typeface="+mn-ea"/>
                <a:cs typeface="+mn-cs"/>
              </a:rPr>
              <a:t> fait face à un enjeu très concret. Le contrôle qualité visuel repose aujourd’hui sur l’œil humain. Cela crée de la variabilité, de la fatigue, et des décisions parfois difficiles. Notre objectif avec ce projet est simple. Rendre ce contrôle plus fiable, plus rapide, et surtout plus objectif grâce à la data et à l’IA. Nous avons structuré notre démarche en trois étapes. Discovery pour comprendre le besoin et la réalité du terrain, la conception pour créer la solution, et lancement pour préparer le déploiement.</a:t>
            </a:r>
            <a:endParaRPr lang="en-CH" sz="16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200" kern="1200" dirty="0">
                <a:solidFill>
                  <a:schemeClr val="tx1"/>
                </a:solidFill>
                <a:effectLst/>
                <a:latin typeface="+mn-lt"/>
                <a:ea typeface="+mn-ea"/>
                <a:cs typeface="+mn-cs"/>
              </a:rPr>
              <a:t>Avant de parler de solution, il faut comprendre l’environnement. </a:t>
            </a:r>
            <a:r>
              <a:rPr lang="fr-CH" sz="1200" kern="1200" dirty="0" err="1">
                <a:solidFill>
                  <a:schemeClr val="tx1"/>
                </a:solidFill>
                <a:effectLst/>
                <a:latin typeface="+mn-lt"/>
                <a:ea typeface="+mn-ea"/>
                <a:cs typeface="+mn-cs"/>
              </a:rPr>
              <a:t>Fidémeca</a:t>
            </a:r>
            <a:r>
              <a:rPr lang="fr-CH" sz="1200" kern="1200" dirty="0">
                <a:solidFill>
                  <a:schemeClr val="tx1"/>
                </a:solidFill>
                <a:effectLst/>
                <a:latin typeface="+mn-lt"/>
                <a:ea typeface="+mn-ea"/>
                <a:cs typeface="+mn-cs"/>
              </a:rPr>
              <a:t> est une PME industrielle qui opère dans des secteurs extrêmement exigeants comme l’aéronautique, le spatial ou la défense. Ici, une seule pièce défectueuse peut avoir des conséquences majeures. Une pièce qui part dans un moteur d'avion ou un satellite n'y a pas de droit à l'erreur.</a:t>
            </a:r>
            <a:br>
              <a:rPr lang="fr-CH" sz="1200" kern="1200" dirty="0">
                <a:solidFill>
                  <a:schemeClr val="tx1"/>
                </a:solidFill>
                <a:effectLst/>
                <a:latin typeface="+mn-lt"/>
                <a:ea typeface="+mn-ea"/>
                <a:cs typeface="+mn-cs"/>
              </a:rPr>
            </a:br>
            <a:r>
              <a:rPr lang="fr-CH" sz="1200" kern="1200" dirty="0">
                <a:solidFill>
                  <a:schemeClr val="tx1"/>
                </a:solidFill>
                <a:effectLst/>
                <a:latin typeface="+mn-lt"/>
                <a:ea typeface="+mn-ea"/>
                <a:cs typeface="+mn-cs"/>
              </a:rPr>
              <a:t>Ca signifie que le contrôle qualité n’est pas une option, c’est une obligation stratégique. Mais aujourd’hui, ce contrôle génère trop de pertes, mais bonne nouvelle, il est optimisable </a:t>
            </a:r>
            <a:endParaRPr lang="en-CH"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200" kern="1200" dirty="0">
                <a:solidFill>
                  <a:schemeClr val="tx1"/>
                </a:solidFill>
                <a:effectLst/>
                <a:latin typeface="+mn-lt"/>
                <a:ea typeface="+mn-ea"/>
                <a:cs typeface="+mn-cs"/>
              </a:rPr>
              <a:t>On a construit un BMC centré sur le département qualité, pas sur l'entreprise dans son ensemble car Le département qualité joue un rôle clé. Il garantit la conformité des pièces et protège la réputation de l’entreprise. Mais ce rôle a un coût. Entre 8 et 15 pour cent du chiffre d’affaires est impacté par la non qualité. On est certifié ISO 9001 et EN 9100 , c est un avantage </a:t>
            </a:r>
            <a:r>
              <a:rPr lang="fr-CH" sz="1200" kern="1200" dirty="0" err="1">
                <a:solidFill>
                  <a:schemeClr val="tx1"/>
                </a:solidFill>
                <a:effectLst/>
                <a:latin typeface="+mn-lt"/>
                <a:ea typeface="+mn-ea"/>
                <a:cs typeface="+mn-cs"/>
              </a:rPr>
              <a:t>concutrentiel</a:t>
            </a:r>
            <a:r>
              <a:rPr lang="fr-CH" sz="1200" kern="1200" dirty="0">
                <a:solidFill>
                  <a:schemeClr val="tx1"/>
                </a:solidFill>
                <a:effectLst/>
                <a:latin typeface="+mn-lt"/>
                <a:ea typeface="+mn-ea"/>
                <a:cs typeface="+mn-cs"/>
              </a:rPr>
              <a:t> non </a:t>
            </a:r>
            <a:r>
              <a:rPr lang="fr-CH" sz="1200" kern="1200" dirty="0" err="1">
                <a:solidFill>
                  <a:schemeClr val="tx1"/>
                </a:solidFill>
                <a:effectLst/>
                <a:latin typeface="+mn-lt"/>
                <a:ea typeface="+mn-ea"/>
                <a:cs typeface="+mn-cs"/>
              </a:rPr>
              <a:t>negociable</a:t>
            </a:r>
            <a:r>
              <a:rPr lang="fr-CH" sz="1200" kern="1200" dirty="0">
                <a:solidFill>
                  <a:schemeClr val="tx1"/>
                </a:solidFill>
                <a:effectLst/>
                <a:latin typeface="+mn-lt"/>
                <a:ea typeface="+mn-ea"/>
                <a:cs typeface="+mn-cs"/>
              </a:rPr>
              <a:t>, car perdre une certification reviendrait à perdre des places de marchés, mais la non qualité, aujourd’hui, représente plusieurs centaines de milliers d’euros par an. ça nous montre que toute amélioration de la qualité a un impact direct et mesurable sur la performance de l’entreprise. </a:t>
            </a:r>
            <a:endParaRPr lang="en-CH"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H" sz="1200" kern="1200" dirty="0">
                <a:solidFill>
                  <a:schemeClr val="tx1"/>
                </a:solidFill>
                <a:effectLst/>
                <a:latin typeface="+mn-lt"/>
                <a:ea typeface="+mn-ea"/>
                <a:cs typeface="+mn-cs"/>
              </a:rPr>
              <a:t>Voici Sophie. Sophie est inspectrice qualité depuis 8 ans. On l’a rencontré Chaque jour, elle réceptionne des lots, observe des centaines de pièces, fait le contrôle dimensionnel avec les instruments et ensuite, c’est là ou ça se complique elle fini avec le contrôle visuel des </a:t>
            </a:r>
            <a:r>
              <a:rPr lang="fr-CH" sz="1200" kern="1200" dirty="0" err="1">
                <a:solidFill>
                  <a:schemeClr val="tx1"/>
                </a:solidFill>
                <a:effectLst/>
                <a:latin typeface="+mn-lt"/>
                <a:ea typeface="+mn-ea"/>
                <a:cs typeface="+mn-cs"/>
              </a:rPr>
              <a:t>pieces</a:t>
            </a:r>
            <a:r>
              <a:rPr lang="fr-CH" sz="1200" kern="1200" dirty="0">
                <a:solidFill>
                  <a:schemeClr val="tx1"/>
                </a:solidFill>
                <a:effectLst/>
                <a:latin typeface="+mn-lt"/>
                <a:ea typeface="+mn-ea"/>
                <a:cs typeface="+mn-cs"/>
              </a:rPr>
              <a:t> pour valider ou invalider celles-ci.. Mais le contrôle visuel est fatigant, subjectif, peut </a:t>
            </a:r>
            <a:r>
              <a:rPr lang="fr-CH" sz="1200" kern="1200" dirty="0" err="1">
                <a:solidFill>
                  <a:schemeClr val="tx1"/>
                </a:solidFill>
                <a:effectLst/>
                <a:latin typeface="+mn-lt"/>
                <a:ea typeface="+mn-ea"/>
                <a:cs typeface="+mn-cs"/>
              </a:rPr>
              <a:t>dependre</a:t>
            </a:r>
            <a:r>
              <a:rPr lang="fr-CH" sz="1200" kern="1200" dirty="0">
                <a:solidFill>
                  <a:schemeClr val="tx1"/>
                </a:solidFill>
                <a:effectLst/>
                <a:latin typeface="+mn-lt"/>
                <a:ea typeface="+mn-ea"/>
                <a:cs typeface="+mn-cs"/>
              </a:rPr>
              <a:t> de facteur tels que la </a:t>
            </a:r>
            <a:r>
              <a:rPr lang="fr-CH" sz="1200" kern="1200" dirty="0" err="1">
                <a:solidFill>
                  <a:schemeClr val="tx1"/>
                </a:solidFill>
                <a:effectLst/>
                <a:latin typeface="+mn-lt"/>
                <a:ea typeface="+mn-ea"/>
                <a:cs typeface="+mn-cs"/>
              </a:rPr>
              <a:t>luminostité</a:t>
            </a:r>
            <a:r>
              <a:rPr lang="fr-CH" sz="1200" kern="1200" dirty="0">
                <a:solidFill>
                  <a:schemeClr val="tx1"/>
                </a:solidFill>
                <a:effectLst/>
                <a:latin typeface="+mn-lt"/>
                <a:ea typeface="+mn-ea"/>
                <a:cs typeface="+mn-cs"/>
              </a:rPr>
              <a:t>.. et parfois stressant. Deux inspecteurs peuvent avoir deux avis différents sur la même pièce. Et pourtant, c’est Sophie qui porte la responsabilité de la décision finale. C’est donc notre référente métier principale, celle qui poste le projet</a:t>
            </a:r>
            <a:endParaRPr lang="en-CH"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200" kern="1200" dirty="0">
                <a:solidFill>
                  <a:schemeClr val="tx1"/>
                </a:solidFill>
                <a:effectLst/>
                <a:latin typeface="+mn-lt"/>
                <a:ea typeface="+mn-ea"/>
                <a:cs typeface="+mn-cs"/>
              </a:rPr>
              <a:t>Maintenant, regardons Marc, le responsable production. Marc doit livrer à temps et éviter les rebuts. Mais aujourd’hui, Il manque de visibilité et il reçoit les résultats qualité trop tard. Et il découvre parfois les problèmes après que toute la production est terminée.  Il est responsable, mais une </a:t>
            </a:r>
            <a:r>
              <a:rPr lang="fr-CH" sz="1200" kern="1200" dirty="0" err="1">
                <a:solidFill>
                  <a:schemeClr val="tx1"/>
                </a:solidFill>
                <a:effectLst/>
                <a:latin typeface="+mn-lt"/>
                <a:ea typeface="+mn-ea"/>
                <a:cs typeface="+mn-cs"/>
              </a:rPr>
              <a:t>oartie</a:t>
            </a:r>
            <a:r>
              <a:rPr lang="fr-CH" sz="1200" kern="1200" dirty="0">
                <a:solidFill>
                  <a:schemeClr val="tx1"/>
                </a:solidFill>
                <a:effectLst/>
                <a:latin typeface="+mn-lt"/>
                <a:ea typeface="+mn-ea"/>
                <a:cs typeface="+mn-cs"/>
              </a:rPr>
              <a:t> de ces </a:t>
            </a:r>
            <a:r>
              <a:rPr lang="fr-CH" sz="1200" kern="1200" dirty="0" err="1">
                <a:solidFill>
                  <a:schemeClr val="tx1"/>
                </a:solidFill>
                <a:effectLst/>
                <a:latin typeface="+mn-lt"/>
                <a:ea typeface="+mn-ea"/>
                <a:cs typeface="+mn-cs"/>
              </a:rPr>
              <a:t>décisons</a:t>
            </a:r>
            <a:r>
              <a:rPr lang="fr-CH" sz="1200" kern="1200" dirty="0">
                <a:solidFill>
                  <a:schemeClr val="tx1"/>
                </a:solidFill>
                <a:effectLst/>
                <a:latin typeface="+mn-lt"/>
                <a:ea typeface="+mn-ea"/>
                <a:cs typeface="+mn-cs"/>
              </a:rPr>
              <a:t> se font dans l’incertitude car il ne maitrise pas tous les </a:t>
            </a:r>
            <a:r>
              <a:rPr lang="fr-CH" sz="1200" kern="1200" dirty="0" err="1">
                <a:solidFill>
                  <a:schemeClr val="tx1"/>
                </a:solidFill>
                <a:effectLst/>
                <a:latin typeface="+mn-lt"/>
                <a:ea typeface="+mn-ea"/>
                <a:cs typeface="+mn-cs"/>
              </a:rPr>
              <a:t>parametres</a:t>
            </a:r>
            <a:endParaRPr lang="fr-CH"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CH"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H"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200" kern="1200" dirty="0">
                <a:solidFill>
                  <a:schemeClr val="tx1"/>
                </a:solidFill>
                <a:effectLst/>
                <a:latin typeface="+mn-lt"/>
                <a:ea typeface="+mn-ea"/>
                <a:cs typeface="+mn-cs"/>
              </a:rPr>
              <a:t>Nous avons aussi Thomas, l’ingénieur process, qui lui, cherche à comprendre pourquoi les défauts apparaissent. Et Laurent, responsable sécurité, qui doit protéger les données industrielles critique. Le RSSI n’est pas contre le </a:t>
            </a:r>
            <a:r>
              <a:rPr lang="fr-CH" sz="1200" kern="1200" dirty="0" err="1">
                <a:solidFill>
                  <a:schemeClr val="tx1"/>
                </a:solidFill>
                <a:effectLst/>
                <a:latin typeface="+mn-lt"/>
                <a:ea typeface="+mn-ea"/>
                <a:cs typeface="+mn-cs"/>
              </a:rPr>
              <a:t>project</a:t>
            </a:r>
            <a:r>
              <a:rPr lang="fr-CH" sz="1200" kern="1200" dirty="0">
                <a:solidFill>
                  <a:schemeClr val="tx1"/>
                </a:solidFill>
                <a:effectLst/>
                <a:latin typeface="+mn-lt"/>
                <a:ea typeface="+mn-ea"/>
                <a:cs typeface="+mn-cs"/>
              </a:rPr>
              <a:t> mais noua alerté sur les </a:t>
            </a:r>
            <a:r>
              <a:rPr lang="fr-CH" sz="1200" kern="1200" dirty="0" err="1">
                <a:solidFill>
                  <a:schemeClr val="tx1"/>
                </a:solidFill>
                <a:effectLst/>
                <a:latin typeface="+mn-lt"/>
                <a:ea typeface="+mn-ea"/>
                <a:cs typeface="+mn-cs"/>
              </a:rPr>
              <a:t>contrainztes</a:t>
            </a:r>
            <a:r>
              <a:rPr lang="fr-CH" sz="1200" kern="1200" dirty="0">
                <a:solidFill>
                  <a:schemeClr val="tx1"/>
                </a:solidFill>
                <a:effectLst/>
                <a:latin typeface="+mn-lt"/>
                <a:ea typeface="+mn-ea"/>
                <a:cs typeface="+mn-cs"/>
              </a:rPr>
              <a:t> et les risques.</a:t>
            </a:r>
          </a:p>
          <a:p>
            <a:pPr marL="0" marR="0" lvl="0" indent="0" algn="l" defTabSz="914400" rtl="0" eaLnBrk="1" fontAlgn="auto" latinLnBrk="0" hangingPunct="1">
              <a:lnSpc>
                <a:spcPct val="100000"/>
              </a:lnSpc>
              <a:spcBef>
                <a:spcPts val="0"/>
              </a:spcBef>
              <a:spcAft>
                <a:spcPts val="0"/>
              </a:spcAft>
              <a:buClrTx/>
              <a:buSzTx/>
              <a:buFontTx/>
              <a:buNone/>
              <a:tabLst/>
              <a:defRPr/>
            </a:pPr>
            <a:r>
              <a:rPr lang="fr-CH" sz="1200" kern="1200" dirty="0">
                <a:solidFill>
                  <a:schemeClr val="tx1"/>
                </a:solidFill>
                <a:effectLst/>
                <a:latin typeface="+mn-lt"/>
                <a:ea typeface="+mn-ea"/>
                <a:cs typeface="+mn-cs"/>
              </a:rPr>
              <a:t>Ce que nous montré le terrain, c’est que la qualité n’est pas seulement un enjeu opérationnel. C’est un enjeu technique, stratégique et sécuritaire.</a:t>
            </a:r>
            <a:endParaRPr lang="en-CH"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4B1E8E-1F1E-5F5D-9987-B9028327B9B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de-DE"/>
          </a:p>
        </p:txBody>
      </p:sp>
      <p:sp>
        <p:nvSpPr>
          <p:cNvPr id="3" name="Sous-titre 2">
            <a:extLst>
              <a:ext uri="{FF2B5EF4-FFF2-40B4-BE49-F238E27FC236}">
                <a16:creationId xmlns:a16="http://schemas.microsoft.com/office/drawing/2014/main" id="{62C28B17-24F0-CE77-A810-E442413DE5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de-DE"/>
          </a:p>
        </p:txBody>
      </p:sp>
      <p:sp>
        <p:nvSpPr>
          <p:cNvPr id="4" name="Espace réservé de la date 3">
            <a:extLst>
              <a:ext uri="{FF2B5EF4-FFF2-40B4-BE49-F238E27FC236}">
                <a16:creationId xmlns:a16="http://schemas.microsoft.com/office/drawing/2014/main" id="{A66B4E6C-0EA8-B19F-E0B8-181B463BEC43}"/>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5" name="Espace réservé du pied de page 4">
            <a:extLst>
              <a:ext uri="{FF2B5EF4-FFF2-40B4-BE49-F238E27FC236}">
                <a16:creationId xmlns:a16="http://schemas.microsoft.com/office/drawing/2014/main" id="{7CEE5B56-23A3-44BB-49C4-D2BD901D61C9}"/>
              </a:ext>
            </a:extLst>
          </p:cNvPr>
          <p:cNvSpPr>
            <a:spLocks noGrp="1"/>
          </p:cNvSpPr>
          <p:nvPr>
            <p:ph type="ftr" sz="quarter" idx="11"/>
          </p:nvPr>
        </p:nvSpPr>
        <p:spPr/>
        <p:txBody>
          <a:bodyPr/>
          <a:lstStyle/>
          <a:p>
            <a:endParaRPr lang="de-DE"/>
          </a:p>
        </p:txBody>
      </p:sp>
      <p:sp>
        <p:nvSpPr>
          <p:cNvPr id="6" name="Espace réservé du numéro de diapositive 5">
            <a:extLst>
              <a:ext uri="{FF2B5EF4-FFF2-40B4-BE49-F238E27FC236}">
                <a16:creationId xmlns:a16="http://schemas.microsoft.com/office/drawing/2014/main" id="{77911A5D-4377-629B-1645-BB93824B079D}"/>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4275474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93C207-F3B4-3B2C-278A-0224C11937DE}"/>
              </a:ext>
            </a:extLst>
          </p:cNvPr>
          <p:cNvSpPr>
            <a:spLocks noGrp="1"/>
          </p:cNvSpPr>
          <p:nvPr>
            <p:ph type="title"/>
          </p:nvPr>
        </p:nvSpPr>
        <p:spPr/>
        <p:txBody>
          <a:bodyPr/>
          <a:lstStyle/>
          <a:p>
            <a:r>
              <a:rPr lang="fr-FR"/>
              <a:t>Modifiez le style du titre</a:t>
            </a:r>
            <a:endParaRPr lang="de-DE"/>
          </a:p>
        </p:txBody>
      </p:sp>
      <p:sp>
        <p:nvSpPr>
          <p:cNvPr id="3" name="Espace réservé du contenu 2">
            <a:extLst>
              <a:ext uri="{FF2B5EF4-FFF2-40B4-BE49-F238E27FC236}">
                <a16:creationId xmlns:a16="http://schemas.microsoft.com/office/drawing/2014/main" id="{16C3B2FC-AEC1-8AD7-23B9-318A6CFEE43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4" name="Espace réservé de la date 3">
            <a:extLst>
              <a:ext uri="{FF2B5EF4-FFF2-40B4-BE49-F238E27FC236}">
                <a16:creationId xmlns:a16="http://schemas.microsoft.com/office/drawing/2014/main" id="{22A70124-CFF2-3D57-4947-602A6F152422}"/>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5" name="Espace réservé du pied de page 4">
            <a:extLst>
              <a:ext uri="{FF2B5EF4-FFF2-40B4-BE49-F238E27FC236}">
                <a16:creationId xmlns:a16="http://schemas.microsoft.com/office/drawing/2014/main" id="{0F4B39D7-7B4C-F97F-6810-E4A8E25B70EA}"/>
              </a:ext>
            </a:extLst>
          </p:cNvPr>
          <p:cNvSpPr>
            <a:spLocks noGrp="1"/>
          </p:cNvSpPr>
          <p:nvPr>
            <p:ph type="ftr" sz="quarter" idx="11"/>
          </p:nvPr>
        </p:nvSpPr>
        <p:spPr/>
        <p:txBody>
          <a:bodyPr/>
          <a:lstStyle/>
          <a:p>
            <a:endParaRPr lang="de-DE"/>
          </a:p>
        </p:txBody>
      </p:sp>
      <p:sp>
        <p:nvSpPr>
          <p:cNvPr id="6" name="Espace réservé du numéro de diapositive 5">
            <a:extLst>
              <a:ext uri="{FF2B5EF4-FFF2-40B4-BE49-F238E27FC236}">
                <a16:creationId xmlns:a16="http://schemas.microsoft.com/office/drawing/2014/main" id="{043C7F84-C77F-88CF-C914-88FA49E61A73}"/>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1181781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499095-A111-2B3D-3D3B-AFC33793A49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de-DE"/>
          </a:p>
        </p:txBody>
      </p:sp>
      <p:sp>
        <p:nvSpPr>
          <p:cNvPr id="3" name="Espace réservé du texte 2">
            <a:extLst>
              <a:ext uri="{FF2B5EF4-FFF2-40B4-BE49-F238E27FC236}">
                <a16:creationId xmlns:a16="http://schemas.microsoft.com/office/drawing/2014/main" id="{6A6F9EA7-3F03-A687-0BCF-B1F11C46FA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77989F3-A686-E26C-18F2-434F0C07DAD4}"/>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5" name="Espace réservé du pied de page 4">
            <a:extLst>
              <a:ext uri="{FF2B5EF4-FFF2-40B4-BE49-F238E27FC236}">
                <a16:creationId xmlns:a16="http://schemas.microsoft.com/office/drawing/2014/main" id="{A54F7004-5661-2F02-702E-CC3AF5C59B2B}"/>
              </a:ext>
            </a:extLst>
          </p:cNvPr>
          <p:cNvSpPr>
            <a:spLocks noGrp="1"/>
          </p:cNvSpPr>
          <p:nvPr>
            <p:ph type="ftr" sz="quarter" idx="11"/>
          </p:nvPr>
        </p:nvSpPr>
        <p:spPr/>
        <p:txBody>
          <a:bodyPr/>
          <a:lstStyle/>
          <a:p>
            <a:endParaRPr lang="de-DE"/>
          </a:p>
        </p:txBody>
      </p:sp>
      <p:sp>
        <p:nvSpPr>
          <p:cNvPr id="6" name="Espace réservé du numéro de diapositive 5">
            <a:extLst>
              <a:ext uri="{FF2B5EF4-FFF2-40B4-BE49-F238E27FC236}">
                <a16:creationId xmlns:a16="http://schemas.microsoft.com/office/drawing/2014/main" id="{D14AA015-A6DE-6C79-741C-D10A5FA906C8}"/>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3971653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936ED8-747E-81F0-BC7B-E8225D5E4DCA}"/>
              </a:ext>
            </a:extLst>
          </p:cNvPr>
          <p:cNvSpPr>
            <a:spLocks noGrp="1"/>
          </p:cNvSpPr>
          <p:nvPr>
            <p:ph type="title"/>
          </p:nvPr>
        </p:nvSpPr>
        <p:spPr/>
        <p:txBody>
          <a:bodyPr/>
          <a:lstStyle/>
          <a:p>
            <a:r>
              <a:rPr lang="fr-FR"/>
              <a:t>Modifiez le style du titre</a:t>
            </a:r>
            <a:endParaRPr lang="de-DE"/>
          </a:p>
        </p:txBody>
      </p:sp>
      <p:sp>
        <p:nvSpPr>
          <p:cNvPr id="3" name="Espace réservé du contenu 2">
            <a:extLst>
              <a:ext uri="{FF2B5EF4-FFF2-40B4-BE49-F238E27FC236}">
                <a16:creationId xmlns:a16="http://schemas.microsoft.com/office/drawing/2014/main" id="{F6FEA705-1E1C-E4B2-A529-E02E7DB7280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4" name="Espace réservé du contenu 3">
            <a:extLst>
              <a:ext uri="{FF2B5EF4-FFF2-40B4-BE49-F238E27FC236}">
                <a16:creationId xmlns:a16="http://schemas.microsoft.com/office/drawing/2014/main" id="{EBED7551-478B-4E07-A33A-B550064FA04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5" name="Espace réservé de la date 4">
            <a:extLst>
              <a:ext uri="{FF2B5EF4-FFF2-40B4-BE49-F238E27FC236}">
                <a16:creationId xmlns:a16="http://schemas.microsoft.com/office/drawing/2014/main" id="{5D5182CB-AA80-159C-15BC-819BB7B211F4}"/>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6" name="Espace réservé du pied de page 5">
            <a:extLst>
              <a:ext uri="{FF2B5EF4-FFF2-40B4-BE49-F238E27FC236}">
                <a16:creationId xmlns:a16="http://schemas.microsoft.com/office/drawing/2014/main" id="{95C40785-E9FC-C9DF-AD4E-EAFBA658C784}"/>
              </a:ext>
            </a:extLst>
          </p:cNvPr>
          <p:cNvSpPr>
            <a:spLocks noGrp="1"/>
          </p:cNvSpPr>
          <p:nvPr>
            <p:ph type="ftr" sz="quarter" idx="11"/>
          </p:nvPr>
        </p:nvSpPr>
        <p:spPr/>
        <p:txBody>
          <a:bodyPr/>
          <a:lstStyle/>
          <a:p>
            <a:endParaRPr lang="de-DE"/>
          </a:p>
        </p:txBody>
      </p:sp>
      <p:sp>
        <p:nvSpPr>
          <p:cNvPr id="7" name="Espace réservé du numéro de diapositive 6">
            <a:extLst>
              <a:ext uri="{FF2B5EF4-FFF2-40B4-BE49-F238E27FC236}">
                <a16:creationId xmlns:a16="http://schemas.microsoft.com/office/drawing/2014/main" id="{F9B951F4-7C42-35D4-B70F-C13C589FB7EA}"/>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2844464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AAC964-B812-7CD1-B892-8F1783F5C79D}"/>
              </a:ext>
            </a:extLst>
          </p:cNvPr>
          <p:cNvSpPr>
            <a:spLocks noGrp="1"/>
          </p:cNvSpPr>
          <p:nvPr>
            <p:ph type="title"/>
          </p:nvPr>
        </p:nvSpPr>
        <p:spPr>
          <a:xfrm>
            <a:off x="839788" y="365125"/>
            <a:ext cx="10515600" cy="1325563"/>
          </a:xfrm>
        </p:spPr>
        <p:txBody>
          <a:bodyPr/>
          <a:lstStyle/>
          <a:p>
            <a:r>
              <a:rPr lang="fr-FR"/>
              <a:t>Modifiez le style du titre</a:t>
            </a:r>
            <a:endParaRPr lang="de-DE"/>
          </a:p>
        </p:txBody>
      </p:sp>
      <p:sp>
        <p:nvSpPr>
          <p:cNvPr id="3" name="Espace réservé du texte 2">
            <a:extLst>
              <a:ext uri="{FF2B5EF4-FFF2-40B4-BE49-F238E27FC236}">
                <a16:creationId xmlns:a16="http://schemas.microsoft.com/office/drawing/2014/main" id="{ED410404-5046-E586-6ADD-E0B6F75129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B1152EA-BDB8-9D33-7DC9-579B42F70D8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5" name="Espace réservé du texte 4">
            <a:extLst>
              <a:ext uri="{FF2B5EF4-FFF2-40B4-BE49-F238E27FC236}">
                <a16:creationId xmlns:a16="http://schemas.microsoft.com/office/drawing/2014/main" id="{80494639-7793-F961-B7B4-12FF0A7B00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86448A2-F7F7-0CBC-3D07-FE2256295D9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7" name="Espace réservé de la date 6">
            <a:extLst>
              <a:ext uri="{FF2B5EF4-FFF2-40B4-BE49-F238E27FC236}">
                <a16:creationId xmlns:a16="http://schemas.microsoft.com/office/drawing/2014/main" id="{401B5C8D-0851-C9E8-BB9E-EF823F77233A}"/>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8" name="Espace réservé du pied de page 7">
            <a:extLst>
              <a:ext uri="{FF2B5EF4-FFF2-40B4-BE49-F238E27FC236}">
                <a16:creationId xmlns:a16="http://schemas.microsoft.com/office/drawing/2014/main" id="{3212C619-CC06-56E9-8D2A-E68E0099DC36}"/>
              </a:ext>
            </a:extLst>
          </p:cNvPr>
          <p:cNvSpPr>
            <a:spLocks noGrp="1"/>
          </p:cNvSpPr>
          <p:nvPr>
            <p:ph type="ftr" sz="quarter" idx="11"/>
          </p:nvPr>
        </p:nvSpPr>
        <p:spPr/>
        <p:txBody>
          <a:bodyPr/>
          <a:lstStyle/>
          <a:p>
            <a:endParaRPr lang="de-DE"/>
          </a:p>
        </p:txBody>
      </p:sp>
      <p:sp>
        <p:nvSpPr>
          <p:cNvPr id="9" name="Espace réservé du numéro de diapositive 8">
            <a:extLst>
              <a:ext uri="{FF2B5EF4-FFF2-40B4-BE49-F238E27FC236}">
                <a16:creationId xmlns:a16="http://schemas.microsoft.com/office/drawing/2014/main" id="{6BE64CDA-FBCC-E486-DACC-D45A7D690802}"/>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2168170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1B95C0-B58C-EBDC-8CA5-C99FDE4F930E}"/>
              </a:ext>
            </a:extLst>
          </p:cNvPr>
          <p:cNvSpPr>
            <a:spLocks noGrp="1"/>
          </p:cNvSpPr>
          <p:nvPr>
            <p:ph type="title"/>
          </p:nvPr>
        </p:nvSpPr>
        <p:spPr/>
        <p:txBody>
          <a:bodyPr/>
          <a:lstStyle/>
          <a:p>
            <a:r>
              <a:rPr lang="fr-FR"/>
              <a:t>Modifiez le style du titre</a:t>
            </a:r>
            <a:endParaRPr lang="de-DE"/>
          </a:p>
        </p:txBody>
      </p:sp>
      <p:sp>
        <p:nvSpPr>
          <p:cNvPr id="3" name="Espace réservé de la date 2">
            <a:extLst>
              <a:ext uri="{FF2B5EF4-FFF2-40B4-BE49-F238E27FC236}">
                <a16:creationId xmlns:a16="http://schemas.microsoft.com/office/drawing/2014/main" id="{5DE57184-6F58-0EC6-7DD8-00AA56B20AA8}"/>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4" name="Espace réservé du pied de page 3">
            <a:extLst>
              <a:ext uri="{FF2B5EF4-FFF2-40B4-BE49-F238E27FC236}">
                <a16:creationId xmlns:a16="http://schemas.microsoft.com/office/drawing/2014/main" id="{DE79BBD9-1A6D-08A4-1D44-01A0EA54122A}"/>
              </a:ext>
            </a:extLst>
          </p:cNvPr>
          <p:cNvSpPr>
            <a:spLocks noGrp="1"/>
          </p:cNvSpPr>
          <p:nvPr>
            <p:ph type="ftr" sz="quarter" idx="11"/>
          </p:nvPr>
        </p:nvSpPr>
        <p:spPr/>
        <p:txBody>
          <a:bodyPr/>
          <a:lstStyle/>
          <a:p>
            <a:endParaRPr lang="de-DE"/>
          </a:p>
        </p:txBody>
      </p:sp>
      <p:sp>
        <p:nvSpPr>
          <p:cNvPr id="5" name="Espace réservé du numéro de diapositive 4">
            <a:extLst>
              <a:ext uri="{FF2B5EF4-FFF2-40B4-BE49-F238E27FC236}">
                <a16:creationId xmlns:a16="http://schemas.microsoft.com/office/drawing/2014/main" id="{E1B680F2-5C97-16E3-22AD-3E8E58B7DBBF}"/>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3591389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206221A-7BA9-5612-2550-5031DBA602B7}"/>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3" name="Espace réservé du pied de page 2">
            <a:extLst>
              <a:ext uri="{FF2B5EF4-FFF2-40B4-BE49-F238E27FC236}">
                <a16:creationId xmlns:a16="http://schemas.microsoft.com/office/drawing/2014/main" id="{8DF28809-9FB0-BC49-0AF2-A84156F4EE88}"/>
              </a:ext>
            </a:extLst>
          </p:cNvPr>
          <p:cNvSpPr>
            <a:spLocks noGrp="1"/>
          </p:cNvSpPr>
          <p:nvPr>
            <p:ph type="ftr" sz="quarter" idx="11"/>
          </p:nvPr>
        </p:nvSpPr>
        <p:spPr/>
        <p:txBody>
          <a:bodyPr/>
          <a:lstStyle/>
          <a:p>
            <a:endParaRPr lang="de-DE"/>
          </a:p>
        </p:txBody>
      </p:sp>
      <p:sp>
        <p:nvSpPr>
          <p:cNvPr id="4" name="Espace réservé du numéro de diapositive 3">
            <a:extLst>
              <a:ext uri="{FF2B5EF4-FFF2-40B4-BE49-F238E27FC236}">
                <a16:creationId xmlns:a16="http://schemas.microsoft.com/office/drawing/2014/main" id="{0D6B3A7B-9EEC-5897-AB7E-EE4743EB0014}"/>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404553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E73F42-7AE4-6AB0-168C-EDE35AD9DF2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de-DE"/>
          </a:p>
        </p:txBody>
      </p:sp>
      <p:sp>
        <p:nvSpPr>
          <p:cNvPr id="3" name="Espace réservé du contenu 2">
            <a:extLst>
              <a:ext uri="{FF2B5EF4-FFF2-40B4-BE49-F238E27FC236}">
                <a16:creationId xmlns:a16="http://schemas.microsoft.com/office/drawing/2014/main" id="{9A78D7D1-C8A2-24B5-B1BC-0FD8690A3D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4" name="Espace réservé du texte 3">
            <a:extLst>
              <a:ext uri="{FF2B5EF4-FFF2-40B4-BE49-F238E27FC236}">
                <a16:creationId xmlns:a16="http://schemas.microsoft.com/office/drawing/2014/main" id="{346D1A2D-1A2E-11F5-7BEC-1D4CEFFCCD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4CE53DB-DB74-825B-2655-8413E9DF2021}"/>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6" name="Espace réservé du pied de page 5">
            <a:extLst>
              <a:ext uri="{FF2B5EF4-FFF2-40B4-BE49-F238E27FC236}">
                <a16:creationId xmlns:a16="http://schemas.microsoft.com/office/drawing/2014/main" id="{9736AE05-4E0E-3D3B-301C-9EF1D61ADE70}"/>
              </a:ext>
            </a:extLst>
          </p:cNvPr>
          <p:cNvSpPr>
            <a:spLocks noGrp="1"/>
          </p:cNvSpPr>
          <p:nvPr>
            <p:ph type="ftr" sz="quarter" idx="11"/>
          </p:nvPr>
        </p:nvSpPr>
        <p:spPr/>
        <p:txBody>
          <a:bodyPr/>
          <a:lstStyle/>
          <a:p>
            <a:endParaRPr lang="de-DE"/>
          </a:p>
        </p:txBody>
      </p:sp>
      <p:sp>
        <p:nvSpPr>
          <p:cNvPr id="7" name="Espace réservé du numéro de diapositive 6">
            <a:extLst>
              <a:ext uri="{FF2B5EF4-FFF2-40B4-BE49-F238E27FC236}">
                <a16:creationId xmlns:a16="http://schemas.microsoft.com/office/drawing/2014/main" id="{BF88C881-816D-C8B8-5814-DA30FDEF5963}"/>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2824267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443AA4-947C-3AB9-A7DB-2ED14294900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de-DE"/>
          </a:p>
        </p:txBody>
      </p:sp>
      <p:sp>
        <p:nvSpPr>
          <p:cNvPr id="3" name="Espace réservé pour une image  2">
            <a:extLst>
              <a:ext uri="{FF2B5EF4-FFF2-40B4-BE49-F238E27FC236}">
                <a16:creationId xmlns:a16="http://schemas.microsoft.com/office/drawing/2014/main" id="{CB20FFD5-64BF-6342-09FB-CEE8660EC6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Espace réservé du texte 3">
            <a:extLst>
              <a:ext uri="{FF2B5EF4-FFF2-40B4-BE49-F238E27FC236}">
                <a16:creationId xmlns:a16="http://schemas.microsoft.com/office/drawing/2014/main" id="{6CFC1580-5DDB-9520-285B-18BF861CC8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D1A24A6-CA73-157E-E77B-D6DCEAFD2B17}"/>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6" name="Espace réservé du pied de page 5">
            <a:extLst>
              <a:ext uri="{FF2B5EF4-FFF2-40B4-BE49-F238E27FC236}">
                <a16:creationId xmlns:a16="http://schemas.microsoft.com/office/drawing/2014/main" id="{00BB8A5B-1DB5-A0FD-8DEC-CA884351B419}"/>
              </a:ext>
            </a:extLst>
          </p:cNvPr>
          <p:cNvSpPr>
            <a:spLocks noGrp="1"/>
          </p:cNvSpPr>
          <p:nvPr>
            <p:ph type="ftr" sz="quarter" idx="11"/>
          </p:nvPr>
        </p:nvSpPr>
        <p:spPr/>
        <p:txBody>
          <a:bodyPr/>
          <a:lstStyle/>
          <a:p>
            <a:endParaRPr lang="de-DE"/>
          </a:p>
        </p:txBody>
      </p:sp>
      <p:sp>
        <p:nvSpPr>
          <p:cNvPr id="7" name="Espace réservé du numéro de diapositive 6">
            <a:extLst>
              <a:ext uri="{FF2B5EF4-FFF2-40B4-BE49-F238E27FC236}">
                <a16:creationId xmlns:a16="http://schemas.microsoft.com/office/drawing/2014/main" id="{B52E2849-87B6-F13F-BFB1-67D1D8E523C1}"/>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814967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D24D0B-9FBC-D34D-30DE-0DA00B79AC53}"/>
              </a:ext>
            </a:extLst>
          </p:cNvPr>
          <p:cNvSpPr>
            <a:spLocks noGrp="1"/>
          </p:cNvSpPr>
          <p:nvPr>
            <p:ph type="title"/>
          </p:nvPr>
        </p:nvSpPr>
        <p:spPr/>
        <p:txBody>
          <a:bodyPr/>
          <a:lstStyle/>
          <a:p>
            <a:r>
              <a:rPr lang="fr-FR"/>
              <a:t>Modifiez le style du titre</a:t>
            </a:r>
            <a:endParaRPr lang="de-DE"/>
          </a:p>
        </p:txBody>
      </p:sp>
      <p:sp>
        <p:nvSpPr>
          <p:cNvPr id="3" name="Espace réservé du texte vertical 2">
            <a:extLst>
              <a:ext uri="{FF2B5EF4-FFF2-40B4-BE49-F238E27FC236}">
                <a16:creationId xmlns:a16="http://schemas.microsoft.com/office/drawing/2014/main" id="{15C14351-B9F6-904F-FBC2-67C12DC0CF5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4" name="Espace réservé de la date 3">
            <a:extLst>
              <a:ext uri="{FF2B5EF4-FFF2-40B4-BE49-F238E27FC236}">
                <a16:creationId xmlns:a16="http://schemas.microsoft.com/office/drawing/2014/main" id="{ADEB3CA2-36F0-7B41-D218-07F5D6F37E14}"/>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5" name="Espace réservé du pied de page 4">
            <a:extLst>
              <a:ext uri="{FF2B5EF4-FFF2-40B4-BE49-F238E27FC236}">
                <a16:creationId xmlns:a16="http://schemas.microsoft.com/office/drawing/2014/main" id="{E3592DE6-DEB1-6AA3-5576-0BB548848675}"/>
              </a:ext>
            </a:extLst>
          </p:cNvPr>
          <p:cNvSpPr>
            <a:spLocks noGrp="1"/>
          </p:cNvSpPr>
          <p:nvPr>
            <p:ph type="ftr" sz="quarter" idx="11"/>
          </p:nvPr>
        </p:nvSpPr>
        <p:spPr/>
        <p:txBody>
          <a:bodyPr/>
          <a:lstStyle/>
          <a:p>
            <a:endParaRPr lang="de-DE"/>
          </a:p>
        </p:txBody>
      </p:sp>
      <p:sp>
        <p:nvSpPr>
          <p:cNvPr id="6" name="Espace réservé du numéro de diapositive 5">
            <a:extLst>
              <a:ext uri="{FF2B5EF4-FFF2-40B4-BE49-F238E27FC236}">
                <a16:creationId xmlns:a16="http://schemas.microsoft.com/office/drawing/2014/main" id="{CE6B3703-6A79-65E1-D1C4-C58F47B89D4A}"/>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233182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9F01EBF-6D70-38E2-AA4D-B825B3D9D3AC}"/>
              </a:ext>
            </a:extLst>
          </p:cNvPr>
          <p:cNvSpPr>
            <a:spLocks noGrp="1"/>
          </p:cNvSpPr>
          <p:nvPr>
            <p:ph type="title" orient="vert"/>
          </p:nvPr>
        </p:nvSpPr>
        <p:spPr>
          <a:xfrm>
            <a:off x="8724900" y="365125"/>
            <a:ext cx="2628900" cy="5811838"/>
          </a:xfrm>
        </p:spPr>
        <p:txBody>
          <a:bodyPr vert="eaVert"/>
          <a:lstStyle/>
          <a:p>
            <a:r>
              <a:rPr lang="fr-FR"/>
              <a:t>Modifiez le style du titre</a:t>
            </a:r>
            <a:endParaRPr lang="de-DE"/>
          </a:p>
        </p:txBody>
      </p:sp>
      <p:sp>
        <p:nvSpPr>
          <p:cNvPr id="3" name="Espace réservé du texte vertical 2">
            <a:extLst>
              <a:ext uri="{FF2B5EF4-FFF2-40B4-BE49-F238E27FC236}">
                <a16:creationId xmlns:a16="http://schemas.microsoft.com/office/drawing/2014/main" id="{5326EEC5-BEC3-CC47-837F-F65FFB041E5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4" name="Espace réservé de la date 3">
            <a:extLst>
              <a:ext uri="{FF2B5EF4-FFF2-40B4-BE49-F238E27FC236}">
                <a16:creationId xmlns:a16="http://schemas.microsoft.com/office/drawing/2014/main" id="{CF8E9004-F4C4-8E11-8964-B154DA1FFC30}"/>
              </a:ext>
            </a:extLst>
          </p:cNvPr>
          <p:cNvSpPr>
            <a:spLocks noGrp="1"/>
          </p:cNvSpPr>
          <p:nvPr>
            <p:ph type="dt" sz="half" idx="10"/>
          </p:nvPr>
        </p:nvSpPr>
        <p:spPr/>
        <p:txBody>
          <a:bodyPr/>
          <a:lstStyle/>
          <a:p>
            <a:fld id="{98511F94-E99F-4485-8629-C801394301BB}" type="datetimeFigureOut">
              <a:rPr lang="de-DE" smtClean="0"/>
              <a:t>20.03.2026</a:t>
            </a:fld>
            <a:endParaRPr lang="de-DE"/>
          </a:p>
        </p:txBody>
      </p:sp>
      <p:sp>
        <p:nvSpPr>
          <p:cNvPr id="5" name="Espace réservé du pied de page 4">
            <a:extLst>
              <a:ext uri="{FF2B5EF4-FFF2-40B4-BE49-F238E27FC236}">
                <a16:creationId xmlns:a16="http://schemas.microsoft.com/office/drawing/2014/main" id="{747122B7-40D0-6D12-D90E-61B14682A252}"/>
              </a:ext>
            </a:extLst>
          </p:cNvPr>
          <p:cNvSpPr>
            <a:spLocks noGrp="1"/>
          </p:cNvSpPr>
          <p:nvPr>
            <p:ph type="ftr" sz="quarter" idx="11"/>
          </p:nvPr>
        </p:nvSpPr>
        <p:spPr/>
        <p:txBody>
          <a:bodyPr/>
          <a:lstStyle/>
          <a:p>
            <a:endParaRPr lang="de-DE"/>
          </a:p>
        </p:txBody>
      </p:sp>
      <p:sp>
        <p:nvSpPr>
          <p:cNvPr id="6" name="Espace réservé du numéro de diapositive 5">
            <a:extLst>
              <a:ext uri="{FF2B5EF4-FFF2-40B4-BE49-F238E27FC236}">
                <a16:creationId xmlns:a16="http://schemas.microsoft.com/office/drawing/2014/main" id="{044C40F1-5AC0-6499-8215-042F9D4D0417}"/>
              </a:ext>
            </a:extLst>
          </p:cNvPr>
          <p:cNvSpPr>
            <a:spLocks noGrp="1"/>
          </p:cNvSpPr>
          <p:nvPr>
            <p:ph type="sldNum" sz="quarter" idx="12"/>
          </p:nvPr>
        </p:nvSpPr>
        <p:spPr/>
        <p:txBody>
          <a:bodyPr/>
          <a:lstStyle/>
          <a:p>
            <a:fld id="{AFAF03B7-E408-406C-BEBD-8D5D08257FB0}" type="slidenum">
              <a:rPr lang="de-DE" smtClean="0"/>
              <a:t>‹#›</a:t>
            </a:fld>
            <a:endParaRPr lang="de-DE"/>
          </a:p>
        </p:txBody>
      </p:sp>
    </p:spTree>
    <p:extLst>
      <p:ext uri="{BB962C8B-B14F-4D97-AF65-F5344CB8AC3E}">
        <p14:creationId xmlns:p14="http://schemas.microsoft.com/office/powerpoint/2010/main" val="3313083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6330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909C238-B270-F5C4-AA26-D46E85E63A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de-DE"/>
          </a:p>
        </p:txBody>
      </p:sp>
      <p:sp>
        <p:nvSpPr>
          <p:cNvPr id="3" name="Espace réservé du texte 2">
            <a:extLst>
              <a:ext uri="{FF2B5EF4-FFF2-40B4-BE49-F238E27FC236}">
                <a16:creationId xmlns:a16="http://schemas.microsoft.com/office/drawing/2014/main" id="{D31B47B0-B69B-10EF-3929-B010FE5ED0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4" name="Espace réservé de la date 3">
            <a:extLst>
              <a:ext uri="{FF2B5EF4-FFF2-40B4-BE49-F238E27FC236}">
                <a16:creationId xmlns:a16="http://schemas.microsoft.com/office/drawing/2014/main" id="{D02C2F87-B7D1-BD2F-4544-1F16315F7B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511F94-E99F-4485-8629-C801394301BB}" type="datetimeFigureOut">
              <a:rPr lang="de-DE" smtClean="0"/>
              <a:t>20.03.2026</a:t>
            </a:fld>
            <a:endParaRPr lang="de-DE"/>
          </a:p>
        </p:txBody>
      </p:sp>
      <p:sp>
        <p:nvSpPr>
          <p:cNvPr id="5" name="Espace réservé du pied de page 4">
            <a:extLst>
              <a:ext uri="{FF2B5EF4-FFF2-40B4-BE49-F238E27FC236}">
                <a16:creationId xmlns:a16="http://schemas.microsoft.com/office/drawing/2014/main" id="{8D66A1C7-F2F5-B83E-48B0-3063D0B689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Espace réservé du numéro de diapositive 5">
            <a:extLst>
              <a:ext uri="{FF2B5EF4-FFF2-40B4-BE49-F238E27FC236}">
                <a16:creationId xmlns:a16="http://schemas.microsoft.com/office/drawing/2014/main" id="{7D68FDC7-A1A3-3F21-5318-C016E4F9CE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AF03B7-E408-406C-BEBD-8D5D08257FB0}" type="slidenum">
              <a:rPr lang="de-DE" smtClean="0"/>
              <a:t>‹#›</a:t>
            </a:fld>
            <a:endParaRPr lang="de-DE"/>
          </a:p>
        </p:txBody>
      </p:sp>
    </p:spTree>
    <p:extLst>
      <p:ext uri="{BB962C8B-B14F-4D97-AF65-F5344CB8AC3E}">
        <p14:creationId xmlns:p14="http://schemas.microsoft.com/office/powerpoint/2010/main" val="1298830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6200"/>
          </a:xfrm>
          <a:custGeom>
            <a:avLst/>
            <a:gdLst/>
            <a:ahLst/>
            <a:cxnLst/>
            <a:rect l="l" t="t" r="r" b="b"/>
            <a:pathLst>
              <a:path w="12192000" h="76200">
                <a:moveTo>
                  <a:pt x="0" y="0"/>
                </a:moveTo>
                <a:lnTo>
                  <a:pt x="12192000" y="0"/>
                </a:lnTo>
                <a:lnTo>
                  <a:pt x="12192000" y="76200"/>
                </a:lnTo>
                <a:lnTo>
                  <a:pt x="0" y="76200"/>
                </a:lnTo>
                <a:lnTo>
                  <a:pt x="0" y="0"/>
                </a:lnTo>
                <a:close/>
              </a:path>
            </a:pathLst>
          </a:custGeom>
          <a:solidFill>
            <a:srgbClr val="1E3A8A"/>
          </a:solidFill>
          <a:ln/>
        </p:spPr>
      </p:sp>
      <p:sp>
        <p:nvSpPr>
          <p:cNvPr id="3" name="Shape 1"/>
          <p:cNvSpPr/>
          <p:nvPr/>
        </p:nvSpPr>
        <p:spPr>
          <a:xfrm>
            <a:off x="381000" y="304800"/>
            <a:ext cx="1638300" cy="342900"/>
          </a:xfrm>
          <a:custGeom>
            <a:avLst/>
            <a:gdLst/>
            <a:ahLst/>
            <a:cxnLst/>
            <a:rect l="l" t="t" r="r" b="b"/>
            <a:pathLst>
              <a:path w="1638300" h="342900">
                <a:moveTo>
                  <a:pt x="171450" y="0"/>
                </a:moveTo>
                <a:lnTo>
                  <a:pt x="1466850" y="0"/>
                </a:lnTo>
                <a:cubicBezTo>
                  <a:pt x="1561476" y="0"/>
                  <a:pt x="1638300" y="76824"/>
                  <a:pt x="1638300" y="171450"/>
                </a:cubicBezTo>
                <a:lnTo>
                  <a:pt x="1638300" y="171450"/>
                </a:lnTo>
                <a:cubicBezTo>
                  <a:pt x="1638300" y="266076"/>
                  <a:pt x="1561476" y="342900"/>
                  <a:pt x="1466850" y="342900"/>
                </a:cubicBezTo>
                <a:lnTo>
                  <a:pt x="171450" y="342900"/>
                </a:lnTo>
                <a:cubicBezTo>
                  <a:pt x="76824" y="342900"/>
                  <a:pt x="0" y="266076"/>
                  <a:pt x="0" y="171450"/>
                </a:cubicBezTo>
                <a:lnTo>
                  <a:pt x="0" y="171450"/>
                </a:lnTo>
                <a:cubicBezTo>
                  <a:pt x="0" y="76824"/>
                  <a:pt x="76824" y="0"/>
                  <a:pt x="171450" y="0"/>
                </a:cubicBezTo>
                <a:close/>
              </a:path>
            </a:pathLst>
          </a:custGeom>
          <a:solidFill>
            <a:srgbClr val="10B981"/>
          </a:solidFill>
          <a:ln/>
        </p:spPr>
      </p:sp>
      <p:sp>
        <p:nvSpPr>
          <p:cNvPr id="4" name="Text 2"/>
          <p:cNvSpPr/>
          <p:nvPr/>
        </p:nvSpPr>
        <p:spPr>
          <a:xfrm>
            <a:off x="533400" y="381000"/>
            <a:ext cx="1400175" cy="190500"/>
          </a:xfrm>
          <a:prstGeom prst="rect">
            <a:avLst/>
          </a:prstGeom>
          <a:noFill/>
          <a:ln/>
        </p:spPr>
        <p:txBody>
          <a:bodyPr wrap="square" lIns="0" tIns="0" rIns="0" bIns="0" rtlCol="0" anchor="ctr"/>
          <a:lstStyle/>
          <a:p>
            <a:pPr>
              <a:lnSpc>
                <a:spcPct val="120000"/>
              </a:lnSpc>
            </a:pPr>
            <a:r>
              <a:rPr lang="en-US" sz="1050" b="1" kern="0" spc="26" dirty="0">
                <a:solidFill>
                  <a:srgbClr val="FFFFFF"/>
                </a:solidFill>
                <a:latin typeface="MiSans" pitchFamily="34" charset="0"/>
                <a:ea typeface="MiSans" pitchFamily="34" charset="-122"/>
                <a:cs typeface="MiSans" pitchFamily="34" charset="-120"/>
              </a:rPr>
              <a:t>DISCOVERY PHASE</a:t>
            </a:r>
            <a:endParaRPr lang="en-US" sz="1600" dirty="0"/>
          </a:p>
        </p:txBody>
      </p:sp>
      <p:sp>
        <p:nvSpPr>
          <p:cNvPr id="5" name="Shape 3"/>
          <p:cNvSpPr/>
          <p:nvPr/>
        </p:nvSpPr>
        <p:spPr>
          <a:xfrm>
            <a:off x="11049000" y="304800"/>
            <a:ext cx="762000" cy="762000"/>
          </a:xfrm>
          <a:custGeom>
            <a:avLst/>
            <a:gdLst/>
            <a:ahLst/>
            <a:cxnLst/>
            <a:rect l="l" t="t" r="r" b="b"/>
            <a:pathLst>
              <a:path w="762000" h="762000">
                <a:moveTo>
                  <a:pt x="114300" y="0"/>
                </a:moveTo>
                <a:lnTo>
                  <a:pt x="647700" y="0"/>
                </a:lnTo>
                <a:cubicBezTo>
                  <a:pt x="710784" y="0"/>
                  <a:pt x="762000" y="51216"/>
                  <a:pt x="762000" y="114300"/>
                </a:cubicBezTo>
                <a:lnTo>
                  <a:pt x="762000" y="647700"/>
                </a:lnTo>
                <a:cubicBezTo>
                  <a:pt x="762000" y="710784"/>
                  <a:pt x="710784" y="762000"/>
                  <a:pt x="647700" y="762000"/>
                </a:cubicBezTo>
                <a:lnTo>
                  <a:pt x="114300" y="762000"/>
                </a:lnTo>
                <a:cubicBezTo>
                  <a:pt x="51216" y="762000"/>
                  <a:pt x="0" y="710784"/>
                  <a:pt x="0" y="647700"/>
                </a:cubicBezTo>
                <a:lnTo>
                  <a:pt x="0" y="114300"/>
                </a:lnTo>
                <a:cubicBezTo>
                  <a:pt x="0" y="51216"/>
                  <a:pt x="51216" y="0"/>
                  <a:pt x="114300" y="0"/>
                </a:cubicBezTo>
                <a:close/>
              </a:path>
            </a:pathLst>
          </a:custGeom>
          <a:solidFill>
            <a:srgbClr val="1E3A8A"/>
          </a:solidFill>
          <a:ln/>
        </p:spPr>
      </p:sp>
      <p:sp>
        <p:nvSpPr>
          <p:cNvPr id="6" name="Text 4"/>
          <p:cNvSpPr/>
          <p:nvPr/>
        </p:nvSpPr>
        <p:spPr>
          <a:xfrm>
            <a:off x="11360051" y="533400"/>
            <a:ext cx="25717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Noto Sans SC" pitchFamily="34" charset="0"/>
                <a:ea typeface="Noto Sans SC" pitchFamily="34" charset="-122"/>
                <a:cs typeface="Noto Sans SC" pitchFamily="34" charset="-120"/>
              </a:rPr>
              <a:t>F</a:t>
            </a:r>
            <a:endParaRPr lang="en-US" sz="1600" dirty="0"/>
          </a:p>
        </p:txBody>
      </p:sp>
      <p:sp>
        <p:nvSpPr>
          <p:cNvPr id="7" name="Text 5"/>
          <p:cNvSpPr/>
          <p:nvPr/>
        </p:nvSpPr>
        <p:spPr>
          <a:xfrm>
            <a:off x="381000" y="1826419"/>
            <a:ext cx="11772900" cy="685800"/>
          </a:xfrm>
          <a:prstGeom prst="rect">
            <a:avLst/>
          </a:prstGeom>
          <a:noFill/>
          <a:ln/>
        </p:spPr>
        <p:txBody>
          <a:bodyPr wrap="square" lIns="0" tIns="0" rIns="0" bIns="0" rtlCol="0" anchor="ctr"/>
          <a:lstStyle/>
          <a:p>
            <a:pPr>
              <a:lnSpc>
                <a:spcPct val="80000"/>
              </a:lnSpc>
            </a:pPr>
            <a:r>
              <a:rPr lang="en-US" sz="5400" b="1" kern="0" spc="-135" dirty="0">
                <a:solidFill>
                  <a:srgbClr val="1E3A8A"/>
                </a:solidFill>
                <a:latin typeface="Noto Sans SC" pitchFamily="34" charset="0"/>
                <a:ea typeface="Noto Sans SC" pitchFamily="34" charset="-122"/>
                <a:cs typeface="Noto Sans SC" pitchFamily="34" charset="-120"/>
              </a:rPr>
              <a:t>Projet Fidémeca</a:t>
            </a:r>
            <a:endParaRPr lang="en-US" sz="1600" dirty="0"/>
          </a:p>
        </p:txBody>
      </p:sp>
      <p:sp>
        <p:nvSpPr>
          <p:cNvPr id="8" name="Text 6"/>
          <p:cNvSpPr/>
          <p:nvPr/>
        </p:nvSpPr>
        <p:spPr>
          <a:xfrm>
            <a:off x="381000" y="2664619"/>
            <a:ext cx="11572875" cy="342900"/>
          </a:xfrm>
          <a:prstGeom prst="rect">
            <a:avLst/>
          </a:prstGeom>
          <a:noFill/>
          <a:ln/>
        </p:spPr>
        <p:txBody>
          <a:bodyPr wrap="square" lIns="0" tIns="0" rIns="0" bIns="0" rtlCol="0" anchor="ctr"/>
          <a:lstStyle/>
          <a:p>
            <a:pPr>
              <a:lnSpc>
                <a:spcPct val="100000"/>
              </a:lnSpc>
            </a:pPr>
            <a:r>
              <a:rPr lang="en-US" sz="2250" dirty="0">
                <a:solidFill>
                  <a:srgbClr val="6B7280"/>
                </a:solidFill>
                <a:latin typeface="Noto Sans SC" pitchFamily="34" charset="0"/>
                <a:ea typeface="Noto Sans SC" pitchFamily="34" charset="-122"/>
                <a:cs typeface="Noto Sans SC" pitchFamily="34" charset="-120"/>
              </a:rPr>
              <a:t>Data Product Management</a:t>
            </a:r>
            <a:endParaRPr lang="en-US" sz="1600" dirty="0"/>
          </a:p>
        </p:txBody>
      </p:sp>
      <p:sp>
        <p:nvSpPr>
          <p:cNvPr id="9" name="Shape 7"/>
          <p:cNvSpPr/>
          <p:nvPr/>
        </p:nvSpPr>
        <p:spPr>
          <a:xfrm>
            <a:off x="381000" y="3312319"/>
            <a:ext cx="8534400" cy="923925"/>
          </a:xfrm>
          <a:custGeom>
            <a:avLst/>
            <a:gdLst/>
            <a:ahLst/>
            <a:cxnLst/>
            <a:rect l="l" t="t" r="r" b="b"/>
            <a:pathLst>
              <a:path w="8534400" h="923925">
                <a:moveTo>
                  <a:pt x="152401" y="0"/>
                </a:moveTo>
                <a:lnTo>
                  <a:pt x="8381999" y="0"/>
                </a:lnTo>
                <a:cubicBezTo>
                  <a:pt x="8466111" y="0"/>
                  <a:pt x="8534400" y="68289"/>
                  <a:pt x="8534400" y="152401"/>
                </a:cubicBezTo>
                <a:lnTo>
                  <a:pt x="8534400" y="771524"/>
                </a:lnTo>
                <a:cubicBezTo>
                  <a:pt x="8534400" y="855636"/>
                  <a:pt x="8466111" y="923925"/>
                  <a:pt x="8381999" y="923925"/>
                </a:cubicBezTo>
                <a:lnTo>
                  <a:pt x="152401" y="923925"/>
                </a:lnTo>
                <a:cubicBezTo>
                  <a:pt x="68289" y="923925"/>
                  <a:pt x="0" y="855636"/>
                  <a:pt x="0" y="771524"/>
                </a:cubicBezTo>
                <a:lnTo>
                  <a:pt x="0" y="152401"/>
                </a:lnTo>
                <a:cubicBezTo>
                  <a:pt x="0" y="68289"/>
                  <a:pt x="68289" y="0"/>
                  <a:pt x="152401" y="0"/>
                </a:cubicBezTo>
                <a:close/>
              </a:path>
            </a:pathLst>
          </a:custGeom>
          <a:solidFill>
            <a:srgbClr val="F3F4F6"/>
          </a:solidFill>
          <a:ln/>
        </p:spPr>
      </p:sp>
      <p:sp>
        <p:nvSpPr>
          <p:cNvPr id="10" name="Text 8"/>
          <p:cNvSpPr/>
          <p:nvPr/>
        </p:nvSpPr>
        <p:spPr>
          <a:xfrm>
            <a:off x="685800" y="3617119"/>
            <a:ext cx="8020050" cy="314325"/>
          </a:xfrm>
          <a:prstGeom prst="rect">
            <a:avLst/>
          </a:prstGeom>
          <a:noFill/>
          <a:ln/>
        </p:spPr>
        <p:txBody>
          <a:bodyPr wrap="square" lIns="0" tIns="0" rIns="0" bIns="0" rtlCol="0" anchor="ctr"/>
          <a:lstStyle/>
          <a:p>
            <a:pPr>
              <a:lnSpc>
                <a:spcPct val="140000"/>
              </a:lnSpc>
            </a:pPr>
            <a:r>
              <a:rPr lang="en-US" sz="1500" b="1" dirty="0">
                <a:solidFill>
                  <a:srgbClr val="1E3A8A"/>
                </a:solidFill>
                <a:latin typeface="Noto Sans SC" pitchFamily="34" charset="0"/>
                <a:ea typeface="Noto Sans SC" pitchFamily="34" charset="-122"/>
                <a:cs typeface="Noto Sans SC" pitchFamily="34" charset="-120"/>
              </a:rPr>
              <a:t>FQA</a:t>
            </a:r>
            <a:r>
              <a:rPr lang="en-US" sz="1500" b="1" dirty="0">
                <a:solidFill>
                  <a:srgbClr val="374151"/>
                </a:solidFill>
                <a:latin typeface="Noto Sans SC" pitchFamily="34" charset="0"/>
                <a:ea typeface="Noto Sans SC" pitchFamily="34" charset="-122"/>
                <a:cs typeface="Noto Sans SC" pitchFamily="34" charset="-120"/>
              </a:rPr>
              <a:t> — Fidémeca Quality Assistant </a:t>
            </a:r>
            <a:r>
              <a:rPr lang="en-US" sz="1500" b="1" dirty="0">
                <a:solidFill>
                  <a:srgbClr val="6B7280"/>
                </a:solidFill>
                <a:latin typeface="Noto Sans SC" pitchFamily="34" charset="0"/>
                <a:ea typeface="Noto Sans SC" pitchFamily="34" charset="-122"/>
                <a:cs typeface="Noto Sans SC" pitchFamily="34" charset="-120"/>
              </a:rPr>
              <a:t>·</a:t>
            </a:r>
            <a:r>
              <a:rPr lang="en-US" sz="1500" b="1" dirty="0">
                <a:solidFill>
                  <a:srgbClr val="374151"/>
                </a:solidFill>
                <a:latin typeface="Noto Sans SC" pitchFamily="34" charset="0"/>
                <a:ea typeface="Noto Sans SC" pitchFamily="34" charset="-122"/>
                <a:cs typeface="Noto Sans SC" pitchFamily="34" charset="-120"/>
              </a:rPr>
              <a:t> Fiabilisation du contrôle qualité visuel grâce à la data</a:t>
            </a:r>
            <a:endParaRPr lang="en-US" sz="1600" dirty="0"/>
          </a:p>
        </p:txBody>
      </p:sp>
      <p:sp>
        <p:nvSpPr>
          <p:cNvPr id="11" name="Shape 9"/>
          <p:cNvSpPr/>
          <p:nvPr/>
        </p:nvSpPr>
        <p:spPr>
          <a:xfrm>
            <a:off x="381000" y="4536281"/>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1E3A8A"/>
          </a:solidFill>
          <a:ln/>
        </p:spPr>
      </p:sp>
      <p:sp>
        <p:nvSpPr>
          <p:cNvPr id="12" name="Text 10"/>
          <p:cNvSpPr/>
          <p:nvPr/>
        </p:nvSpPr>
        <p:spPr>
          <a:xfrm>
            <a:off x="347663" y="4536281"/>
            <a:ext cx="447675" cy="3810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MiSans" pitchFamily="34" charset="0"/>
                <a:ea typeface="MiSans" pitchFamily="34" charset="-122"/>
                <a:cs typeface="MiSans" pitchFamily="34" charset="-120"/>
              </a:rPr>
              <a:t>AM</a:t>
            </a:r>
            <a:endParaRPr lang="en-US" sz="1600" dirty="0"/>
          </a:p>
        </p:txBody>
      </p:sp>
      <p:sp>
        <p:nvSpPr>
          <p:cNvPr id="13" name="Text 11"/>
          <p:cNvSpPr/>
          <p:nvPr/>
        </p:nvSpPr>
        <p:spPr>
          <a:xfrm>
            <a:off x="876300" y="4612481"/>
            <a:ext cx="1038225" cy="228600"/>
          </a:xfrm>
          <a:prstGeom prst="rect">
            <a:avLst/>
          </a:prstGeom>
          <a:noFill/>
          <a:ln/>
        </p:spPr>
        <p:txBody>
          <a:bodyPr wrap="square" lIns="0" tIns="0" rIns="0" bIns="0" rtlCol="0" anchor="ctr"/>
          <a:lstStyle/>
          <a:p>
            <a:pPr>
              <a:lnSpc>
                <a:spcPct val="130000"/>
              </a:lnSpc>
            </a:pPr>
            <a:r>
              <a:rPr lang="en-US" sz="1200" b="1" dirty="0">
                <a:solidFill>
                  <a:srgbClr val="374151"/>
                </a:solidFill>
                <a:latin typeface="MiSans" pitchFamily="34" charset="0"/>
                <a:ea typeface="MiSans" pitchFamily="34" charset="-122"/>
                <a:cs typeface="MiSans" pitchFamily="34" charset="-120"/>
              </a:rPr>
              <a:t>Adrien M</a:t>
            </a:r>
            <a:endParaRPr lang="en-US" sz="1600" dirty="0"/>
          </a:p>
        </p:txBody>
      </p:sp>
      <p:sp>
        <p:nvSpPr>
          <p:cNvPr id="14" name="Shape 12"/>
          <p:cNvSpPr/>
          <p:nvPr/>
        </p:nvSpPr>
        <p:spPr>
          <a:xfrm>
            <a:off x="2062163" y="4536281"/>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10B981"/>
          </a:solidFill>
          <a:ln/>
        </p:spPr>
      </p:sp>
      <p:sp>
        <p:nvSpPr>
          <p:cNvPr id="15" name="Text 13"/>
          <p:cNvSpPr/>
          <p:nvPr/>
        </p:nvSpPr>
        <p:spPr>
          <a:xfrm>
            <a:off x="2028825" y="4536281"/>
            <a:ext cx="447675" cy="3810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MiSans" pitchFamily="34" charset="0"/>
                <a:ea typeface="MiSans" pitchFamily="34" charset="-122"/>
                <a:cs typeface="MiSans" pitchFamily="34" charset="-120"/>
              </a:rPr>
              <a:t>KG</a:t>
            </a:r>
            <a:endParaRPr lang="en-US" sz="1600" dirty="0"/>
          </a:p>
        </p:txBody>
      </p:sp>
      <p:sp>
        <p:nvSpPr>
          <p:cNvPr id="16" name="Text 14"/>
          <p:cNvSpPr/>
          <p:nvPr/>
        </p:nvSpPr>
        <p:spPr>
          <a:xfrm>
            <a:off x="2557463" y="4612481"/>
            <a:ext cx="942975" cy="228600"/>
          </a:xfrm>
          <a:prstGeom prst="rect">
            <a:avLst/>
          </a:prstGeom>
          <a:noFill/>
          <a:ln/>
        </p:spPr>
        <p:txBody>
          <a:bodyPr wrap="square" lIns="0" tIns="0" rIns="0" bIns="0" rtlCol="0" anchor="ctr"/>
          <a:lstStyle/>
          <a:p>
            <a:pPr>
              <a:lnSpc>
                <a:spcPct val="130000"/>
              </a:lnSpc>
            </a:pPr>
            <a:r>
              <a:rPr lang="en-US" sz="1200" b="1" dirty="0">
                <a:solidFill>
                  <a:srgbClr val="374151"/>
                </a:solidFill>
                <a:latin typeface="MiSans" pitchFamily="34" charset="0"/>
                <a:ea typeface="MiSans" pitchFamily="34" charset="-122"/>
                <a:cs typeface="MiSans" pitchFamily="34" charset="-120"/>
              </a:rPr>
              <a:t>Ken G</a:t>
            </a:r>
            <a:endParaRPr lang="en-US" sz="1600" dirty="0"/>
          </a:p>
        </p:txBody>
      </p:sp>
      <p:sp>
        <p:nvSpPr>
          <p:cNvPr id="17" name="Shape 15"/>
          <p:cNvSpPr/>
          <p:nvPr/>
        </p:nvSpPr>
        <p:spPr>
          <a:xfrm>
            <a:off x="3650159" y="4536281"/>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B5CF6"/>
          </a:solidFill>
          <a:ln/>
        </p:spPr>
      </p:sp>
      <p:sp>
        <p:nvSpPr>
          <p:cNvPr id="18" name="Text 16"/>
          <p:cNvSpPr/>
          <p:nvPr/>
        </p:nvSpPr>
        <p:spPr>
          <a:xfrm>
            <a:off x="3616821" y="4536281"/>
            <a:ext cx="447675" cy="3810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MiSans" pitchFamily="34" charset="0"/>
                <a:ea typeface="MiSans" pitchFamily="34" charset="-122"/>
                <a:cs typeface="MiSans" pitchFamily="34" charset="-120"/>
              </a:rPr>
              <a:t>MB</a:t>
            </a:r>
            <a:endParaRPr lang="en-US" sz="1600" dirty="0"/>
          </a:p>
        </p:txBody>
      </p:sp>
      <p:sp>
        <p:nvSpPr>
          <p:cNvPr id="19" name="Text 17"/>
          <p:cNvSpPr/>
          <p:nvPr/>
        </p:nvSpPr>
        <p:spPr>
          <a:xfrm>
            <a:off x="4145459" y="4612481"/>
            <a:ext cx="1390650" cy="228600"/>
          </a:xfrm>
          <a:prstGeom prst="rect">
            <a:avLst/>
          </a:prstGeom>
          <a:noFill/>
          <a:ln/>
        </p:spPr>
        <p:txBody>
          <a:bodyPr wrap="square" lIns="0" tIns="0" rIns="0" bIns="0" rtlCol="0" anchor="ctr"/>
          <a:lstStyle/>
          <a:p>
            <a:pPr>
              <a:lnSpc>
                <a:spcPct val="130000"/>
              </a:lnSpc>
            </a:pPr>
            <a:r>
              <a:rPr lang="en-US" sz="1200" b="1" dirty="0" err="1">
                <a:solidFill>
                  <a:srgbClr val="374151"/>
                </a:solidFill>
                <a:latin typeface="MiSans" pitchFamily="34" charset="0"/>
                <a:ea typeface="MiSans" pitchFamily="34" charset="-122"/>
                <a:cs typeface="MiSans" pitchFamily="34" charset="-120"/>
              </a:rPr>
              <a:t>Missipsa</a:t>
            </a:r>
            <a:r>
              <a:rPr lang="en-US" sz="1200" b="1" dirty="0">
                <a:solidFill>
                  <a:srgbClr val="374151"/>
                </a:solidFill>
                <a:latin typeface="MiSans" pitchFamily="34" charset="0"/>
                <a:ea typeface="MiSans" pitchFamily="34" charset="-122"/>
                <a:cs typeface="MiSans" pitchFamily="34" charset="-120"/>
              </a:rPr>
              <a:t> B</a:t>
            </a:r>
            <a:endParaRPr lang="en-US" sz="1600" dirty="0"/>
          </a:p>
        </p:txBody>
      </p:sp>
      <p:sp>
        <p:nvSpPr>
          <p:cNvPr id="20" name="Shape 18"/>
          <p:cNvSpPr/>
          <p:nvPr/>
        </p:nvSpPr>
        <p:spPr>
          <a:xfrm>
            <a:off x="5687169" y="4536281"/>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EC4899"/>
          </a:solidFill>
          <a:ln/>
        </p:spPr>
      </p:sp>
      <p:sp>
        <p:nvSpPr>
          <p:cNvPr id="21" name="Text 19"/>
          <p:cNvSpPr/>
          <p:nvPr/>
        </p:nvSpPr>
        <p:spPr>
          <a:xfrm>
            <a:off x="5653832" y="4536281"/>
            <a:ext cx="447675" cy="3810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MiSans" pitchFamily="34" charset="0"/>
                <a:ea typeface="MiSans" pitchFamily="34" charset="-122"/>
                <a:cs typeface="MiSans" pitchFamily="34" charset="-120"/>
              </a:rPr>
              <a:t>NB</a:t>
            </a:r>
            <a:endParaRPr lang="en-US" sz="1600" dirty="0"/>
          </a:p>
        </p:txBody>
      </p:sp>
      <p:sp>
        <p:nvSpPr>
          <p:cNvPr id="22" name="Text 20"/>
          <p:cNvSpPr/>
          <p:nvPr/>
        </p:nvSpPr>
        <p:spPr>
          <a:xfrm>
            <a:off x="6182469" y="4612481"/>
            <a:ext cx="828675" cy="228600"/>
          </a:xfrm>
          <a:prstGeom prst="rect">
            <a:avLst/>
          </a:prstGeom>
          <a:noFill/>
          <a:ln/>
        </p:spPr>
        <p:txBody>
          <a:bodyPr wrap="square" lIns="0" tIns="0" rIns="0" bIns="0" rtlCol="0" anchor="ctr"/>
          <a:lstStyle/>
          <a:p>
            <a:pPr>
              <a:lnSpc>
                <a:spcPct val="130000"/>
              </a:lnSpc>
            </a:pPr>
            <a:r>
              <a:rPr lang="en-US" sz="1200" b="1" dirty="0">
                <a:solidFill>
                  <a:srgbClr val="374151"/>
                </a:solidFill>
                <a:latin typeface="MiSans" pitchFamily="34" charset="0"/>
                <a:ea typeface="MiSans" pitchFamily="34" charset="-122"/>
                <a:cs typeface="MiSans" pitchFamily="34" charset="-120"/>
              </a:rPr>
              <a:t>Natacha B.</a:t>
            </a:r>
            <a:endParaRPr lang="en-US" sz="1600" dirty="0"/>
          </a:p>
        </p:txBody>
      </p:sp>
      <p:sp>
        <p:nvSpPr>
          <p:cNvPr id="23" name="Text 21"/>
          <p:cNvSpPr/>
          <p:nvPr/>
        </p:nvSpPr>
        <p:spPr>
          <a:xfrm>
            <a:off x="381000" y="5222081"/>
            <a:ext cx="11515725"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MiSans" pitchFamily="34" charset="0"/>
                <a:ea typeface="MiSans" pitchFamily="34" charset="-122"/>
                <a:cs typeface="MiSans" pitchFamily="34" charset="-120"/>
              </a:rPr>
              <a:t>Février 2026 · module Data Product Manager – Master Machine Learning Engineer</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228600"/>
            <a:ext cx="2314575" cy="342900"/>
          </a:xfrm>
          <a:custGeom>
            <a:avLst/>
            <a:gdLst/>
            <a:ahLst/>
            <a:cxnLst/>
            <a:rect l="l" t="t" r="r" b="b"/>
            <a:pathLst>
              <a:path w="2314575" h="342900">
                <a:moveTo>
                  <a:pt x="171450" y="0"/>
                </a:moveTo>
                <a:lnTo>
                  <a:pt x="2143125" y="0"/>
                </a:lnTo>
                <a:cubicBezTo>
                  <a:pt x="2237751" y="0"/>
                  <a:pt x="2314575" y="76824"/>
                  <a:pt x="2314575" y="171450"/>
                </a:cubicBezTo>
                <a:lnTo>
                  <a:pt x="2314575" y="171450"/>
                </a:lnTo>
                <a:cubicBezTo>
                  <a:pt x="2314575" y="266076"/>
                  <a:pt x="2237751" y="342900"/>
                  <a:pt x="2143125" y="342900"/>
                </a:cubicBezTo>
                <a:lnTo>
                  <a:pt x="171450" y="342900"/>
                </a:lnTo>
                <a:cubicBezTo>
                  <a:pt x="76824" y="342900"/>
                  <a:pt x="0" y="266076"/>
                  <a:pt x="0" y="171450"/>
                </a:cubicBezTo>
                <a:lnTo>
                  <a:pt x="0" y="171450"/>
                </a:lnTo>
                <a:cubicBezTo>
                  <a:pt x="0" y="76824"/>
                  <a:pt x="76824" y="0"/>
                  <a:pt x="171450" y="0"/>
                </a:cubicBezTo>
                <a:close/>
              </a:path>
            </a:pathLst>
          </a:custGeom>
          <a:solidFill>
            <a:srgbClr val="1E3A8A"/>
          </a:solidFill>
          <a:ln/>
        </p:spPr>
      </p:sp>
      <p:sp>
        <p:nvSpPr>
          <p:cNvPr id="3" name="Text 1"/>
          <p:cNvSpPr/>
          <p:nvPr/>
        </p:nvSpPr>
        <p:spPr>
          <a:xfrm>
            <a:off x="533400" y="304800"/>
            <a:ext cx="2076450" cy="190500"/>
          </a:xfrm>
          <a:prstGeom prst="rect">
            <a:avLst/>
          </a:prstGeom>
          <a:noFill/>
          <a:ln/>
        </p:spPr>
        <p:txBody>
          <a:bodyPr wrap="square" lIns="0" tIns="0" rIns="0" bIns="0" rtlCol="0" anchor="ctr"/>
          <a:lstStyle/>
          <a:p>
            <a:pPr>
              <a:lnSpc>
                <a:spcPct val="120000"/>
              </a:lnSpc>
            </a:pPr>
            <a:r>
              <a:rPr lang="en-US" sz="1050" b="1" kern="0" spc="26" dirty="0">
                <a:solidFill>
                  <a:srgbClr val="FFFFFF"/>
                </a:solidFill>
                <a:latin typeface="MiSans" pitchFamily="34" charset="0"/>
                <a:ea typeface="MiSans" pitchFamily="34" charset="-122"/>
                <a:cs typeface="MiSans" pitchFamily="34" charset="-120"/>
              </a:rPr>
              <a:t>DISCOVERY - INTRODUCTION</a:t>
            </a:r>
            <a:endParaRPr lang="en-US" sz="1600" dirty="0"/>
          </a:p>
        </p:txBody>
      </p:sp>
      <p:sp>
        <p:nvSpPr>
          <p:cNvPr id="4" name="Text 2"/>
          <p:cNvSpPr/>
          <p:nvPr/>
        </p:nvSpPr>
        <p:spPr>
          <a:xfrm>
            <a:off x="381000" y="990600"/>
            <a:ext cx="11658600" cy="457200"/>
          </a:xfrm>
          <a:prstGeom prst="rect">
            <a:avLst/>
          </a:prstGeom>
          <a:noFill/>
          <a:ln/>
        </p:spPr>
        <p:txBody>
          <a:bodyPr wrap="square" lIns="0" tIns="0" rIns="0" bIns="0" rtlCol="0" anchor="ctr"/>
          <a:lstStyle/>
          <a:p>
            <a:pPr>
              <a:lnSpc>
                <a:spcPct val="80000"/>
              </a:lnSpc>
            </a:pPr>
            <a:r>
              <a:rPr lang="en-US" sz="3600" b="1" dirty="0">
                <a:solidFill>
                  <a:srgbClr val="1E3A8A"/>
                </a:solidFill>
                <a:latin typeface="Noto Sans SC" pitchFamily="34" charset="0"/>
                <a:ea typeface="Noto Sans SC" pitchFamily="34" charset="-122"/>
                <a:cs typeface="Noto Sans SC" pitchFamily="34" charset="-120"/>
              </a:rPr>
              <a:t>Introduction &amp; Méthodologie</a:t>
            </a:r>
            <a:endParaRPr lang="en-US" sz="1600" dirty="0"/>
          </a:p>
        </p:txBody>
      </p:sp>
      <p:sp>
        <p:nvSpPr>
          <p:cNvPr id="5" name="Shape 3"/>
          <p:cNvSpPr/>
          <p:nvPr/>
        </p:nvSpPr>
        <p:spPr>
          <a:xfrm>
            <a:off x="381000" y="1752600"/>
            <a:ext cx="5524500" cy="914400"/>
          </a:xfrm>
          <a:custGeom>
            <a:avLst/>
            <a:gdLst/>
            <a:ahLst/>
            <a:cxnLst/>
            <a:rect l="l" t="t" r="r" b="b"/>
            <a:pathLst>
              <a:path w="5524500" h="914400">
                <a:moveTo>
                  <a:pt x="152403" y="0"/>
                </a:moveTo>
                <a:lnTo>
                  <a:pt x="5372097" y="0"/>
                </a:lnTo>
                <a:cubicBezTo>
                  <a:pt x="5456267" y="0"/>
                  <a:pt x="5524500" y="68233"/>
                  <a:pt x="5524500" y="152403"/>
                </a:cubicBezTo>
                <a:lnTo>
                  <a:pt x="5524500" y="761997"/>
                </a:lnTo>
                <a:cubicBezTo>
                  <a:pt x="5524500" y="846167"/>
                  <a:pt x="5456267" y="914400"/>
                  <a:pt x="5372097" y="914400"/>
                </a:cubicBezTo>
                <a:lnTo>
                  <a:pt x="152403" y="914400"/>
                </a:lnTo>
                <a:cubicBezTo>
                  <a:pt x="68290" y="914400"/>
                  <a:pt x="0" y="846110"/>
                  <a:pt x="0" y="761997"/>
                </a:cubicBezTo>
                <a:lnTo>
                  <a:pt x="0" y="152403"/>
                </a:lnTo>
                <a:cubicBezTo>
                  <a:pt x="0" y="68290"/>
                  <a:pt x="68290" y="0"/>
                  <a:pt x="152403" y="0"/>
                </a:cubicBezTo>
                <a:close/>
              </a:path>
            </a:pathLst>
          </a:custGeom>
          <a:solidFill>
            <a:srgbClr val="1E3A8A"/>
          </a:solidFill>
          <a:ln/>
        </p:spPr>
      </p:sp>
      <p:sp>
        <p:nvSpPr>
          <p:cNvPr id="6" name="Shape 4"/>
          <p:cNvSpPr/>
          <p:nvPr/>
        </p:nvSpPr>
        <p:spPr>
          <a:xfrm>
            <a:off x="638175" y="2019300"/>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FFFFFF"/>
          </a:solidFill>
          <a:ln/>
        </p:spPr>
      </p:sp>
      <p:sp>
        <p:nvSpPr>
          <p:cNvPr id="7" name="Text 5"/>
          <p:cNvSpPr/>
          <p:nvPr/>
        </p:nvSpPr>
        <p:spPr>
          <a:xfrm>
            <a:off x="1009650" y="1981200"/>
            <a:ext cx="96202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Noto Sans SC" pitchFamily="34" charset="0"/>
                <a:ea typeface="Noto Sans SC" pitchFamily="34" charset="-122"/>
                <a:cs typeface="Noto Sans SC" pitchFamily="34" charset="-120"/>
              </a:rPr>
              <a:t>Objectif</a:t>
            </a:r>
            <a:endParaRPr lang="en-US" sz="1600" dirty="0"/>
          </a:p>
        </p:txBody>
      </p:sp>
      <p:sp>
        <p:nvSpPr>
          <p:cNvPr id="8" name="Shape 6"/>
          <p:cNvSpPr/>
          <p:nvPr/>
        </p:nvSpPr>
        <p:spPr>
          <a:xfrm>
            <a:off x="381000" y="2927007"/>
            <a:ext cx="5524500" cy="3429000"/>
          </a:xfrm>
          <a:custGeom>
            <a:avLst/>
            <a:gdLst/>
            <a:ahLst/>
            <a:cxnLst/>
            <a:rect l="l" t="t" r="r" b="b"/>
            <a:pathLst>
              <a:path w="5524500" h="3429000">
                <a:moveTo>
                  <a:pt x="152385" y="0"/>
                </a:moveTo>
                <a:lnTo>
                  <a:pt x="5372115" y="0"/>
                </a:lnTo>
                <a:cubicBezTo>
                  <a:pt x="5456275" y="0"/>
                  <a:pt x="5524500" y="68225"/>
                  <a:pt x="5524500" y="152385"/>
                </a:cubicBezTo>
                <a:lnTo>
                  <a:pt x="5524500" y="3276615"/>
                </a:lnTo>
                <a:cubicBezTo>
                  <a:pt x="5524500" y="3360775"/>
                  <a:pt x="5456275" y="3429000"/>
                  <a:pt x="5372115" y="3429000"/>
                </a:cubicBezTo>
                <a:lnTo>
                  <a:pt x="152385" y="3429000"/>
                </a:lnTo>
                <a:cubicBezTo>
                  <a:pt x="68225" y="3429000"/>
                  <a:pt x="0" y="3360775"/>
                  <a:pt x="0" y="3276615"/>
                </a:cubicBezTo>
                <a:lnTo>
                  <a:pt x="0" y="152385"/>
                </a:lnTo>
                <a:cubicBezTo>
                  <a:pt x="0" y="68281"/>
                  <a:pt x="68281" y="0"/>
                  <a:pt x="152385" y="0"/>
                </a:cubicBezTo>
                <a:close/>
              </a:path>
            </a:pathLst>
          </a:custGeom>
          <a:solidFill>
            <a:srgbClr val="F3F4F6"/>
          </a:solidFill>
          <a:ln/>
        </p:spPr>
        <p:txBody>
          <a:bodyPr/>
          <a:lstStyle/>
          <a:p>
            <a:endParaRPr lang="en-CH" dirty="0"/>
          </a:p>
        </p:txBody>
      </p:sp>
      <p:sp>
        <p:nvSpPr>
          <p:cNvPr id="9" name="Shape 7"/>
          <p:cNvSpPr/>
          <p:nvPr/>
        </p:nvSpPr>
        <p:spPr>
          <a:xfrm>
            <a:off x="609600" y="3862387"/>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solidFill>
          <a:ln/>
        </p:spPr>
      </p:sp>
      <p:sp>
        <p:nvSpPr>
          <p:cNvPr id="10" name="Shape 8"/>
          <p:cNvSpPr/>
          <p:nvPr/>
        </p:nvSpPr>
        <p:spPr>
          <a:xfrm>
            <a:off x="742950" y="3995738"/>
            <a:ext cx="190500" cy="190500"/>
          </a:xfrm>
          <a:custGeom>
            <a:avLst/>
            <a:gdLst/>
            <a:ahLst/>
            <a:cxnLst/>
            <a:rect l="l" t="t" r="r" b="b"/>
            <a:pathLst>
              <a:path w="190500" h="190500">
                <a:moveTo>
                  <a:pt x="154781" y="77391"/>
                </a:moveTo>
                <a:cubicBezTo>
                  <a:pt x="154781" y="94469"/>
                  <a:pt x="149237" y="110244"/>
                  <a:pt x="139898" y="123044"/>
                </a:cubicBezTo>
                <a:lnTo>
                  <a:pt x="187003" y="170185"/>
                </a:lnTo>
                <a:cubicBezTo>
                  <a:pt x="191653" y="174836"/>
                  <a:pt x="191653" y="182389"/>
                  <a:pt x="187003" y="187040"/>
                </a:cubicBezTo>
                <a:cubicBezTo>
                  <a:pt x="182352" y="191691"/>
                  <a:pt x="174799" y="191691"/>
                  <a:pt x="170148" y="187040"/>
                </a:cubicBezTo>
                <a:lnTo>
                  <a:pt x="123044" y="139898"/>
                </a:lnTo>
                <a:cubicBezTo>
                  <a:pt x="110244" y="149237"/>
                  <a:pt x="94469" y="154781"/>
                  <a:pt x="77391" y="154781"/>
                </a:cubicBezTo>
                <a:cubicBezTo>
                  <a:pt x="34640" y="154781"/>
                  <a:pt x="0" y="120142"/>
                  <a:pt x="0" y="77391"/>
                </a:cubicBezTo>
                <a:cubicBezTo>
                  <a:pt x="0" y="34640"/>
                  <a:pt x="34640" y="0"/>
                  <a:pt x="77391" y="0"/>
                </a:cubicBezTo>
                <a:cubicBezTo>
                  <a:pt x="120142" y="0"/>
                  <a:pt x="154781" y="34640"/>
                  <a:pt x="154781" y="77391"/>
                </a:cubicBezTo>
                <a:close/>
                <a:moveTo>
                  <a:pt x="77391" y="41672"/>
                </a:moveTo>
                <a:cubicBezTo>
                  <a:pt x="72442" y="41672"/>
                  <a:pt x="68461" y="45653"/>
                  <a:pt x="68461" y="50602"/>
                </a:cubicBezTo>
                <a:lnTo>
                  <a:pt x="68461" y="68461"/>
                </a:lnTo>
                <a:lnTo>
                  <a:pt x="50602" y="68461"/>
                </a:lnTo>
                <a:cubicBezTo>
                  <a:pt x="45653" y="68461"/>
                  <a:pt x="41672" y="72442"/>
                  <a:pt x="41672" y="77391"/>
                </a:cubicBezTo>
                <a:cubicBezTo>
                  <a:pt x="41672" y="82339"/>
                  <a:pt x="45653" y="86320"/>
                  <a:pt x="50602" y="86320"/>
                </a:cubicBezTo>
                <a:lnTo>
                  <a:pt x="68461" y="86320"/>
                </a:lnTo>
                <a:lnTo>
                  <a:pt x="68461" y="104180"/>
                </a:lnTo>
                <a:cubicBezTo>
                  <a:pt x="68461" y="109128"/>
                  <a:pt x="72442" y="113109"/>
                  <a:pt x="77391" y="113109"/>
                </a:cubicBezTo>
                <a:cubicBezTo>
                  <a:pt x="82339" y="113109"/>
                  <a:pt x="86320" y="109128"/>
                  <a:pt x="86320" y="104180"/>
                </a:cubicBezTo>
                <a:lnTo>
                  <a:pt x="86320" y="86320"/>
                </a:lnTo>
                <a:lnTo>
                  <a:pt x="104180" y="86320"/>
                </a:lnTo>
                <a:cubicBezTo>
                  <a:pt x="109128" y="86320"/>
                  <a:pt x="113109" y="82339"/>
                  <a:pt x="113109" y="77391"/>
                </a:cubicBezTo>
                <a:cubicBezTo>
                  <a:pt x="113109" y="72442"/>
                  <a:pt x="109128" y="68461"/>
                  <a:pt x="104180" y="68461"/>
                </a:cubicBezTo>
                <a:lnTo>
                  <a:pt x="86320" y="68461"/>
                </a:lnTo>
                <a:lnTo>
                  <a:pt x="86320" y="50602"/>
                </a:lnTo>
                <a:cubicBezTo>
                  <a:pt x="86320" y="45653"/>
                  <a:pt x="82339" y="41672"/>
                  <a:pt x="77391" y="41672"/>
                </a:cubicBezTo>
                <a:close/>
              </a:path>
            </a:pathLst>
          </a:custGeom>
          <a:solidFill>
            <a:srgbClr val="FFFFFF"/>
          </a:solidFill>
          <a:ln/>
        </p:spPr>
      </p:sp>
      <p:sp>
        <p:nvSpPr>
          <p:cNvPr id="11" name="Text 9"/>
          <p:cNvSpPr/>
          <p:nvPr/>
        </p:nvSpPr>
        <p:spPr>
          <a:xfrm>
            <a:off x="1219200" y="3862387"/>
            <a:ext cx="4543425" cy="638175"/>
          </a:xfrm>
          <a:prstGeom prst="rect">
            <a:avLst/>
          </a:prstGeom>
          <a:noFill/>
          <a:ln/>
        </p:spPr>
        <p:txBody>
          <a:bodyPr wrap="square" lIns="0" tIns="76200" rIns="0" bIns="0" rtlCol="0" anchor="ctr"/>
          <a:lstStyle/>
          <a:p>
            <a:pPr>
              <a:lnSpc>
                <a:spcPct val="140000"/>
              </a:lnSpc>
            </a:pPr>
            <a:r>
              <a:rPr lang="en-US" sz="1350" dirty="0">
                <a:solidFill>
                  <a:srgbClr val="374151"/>
                </a:solidFill>
                <a:latin typeface="MiSans" pitchFamily="34" charset="0"/>
                <a:ea typeface="MiSans" pitchFamily="34" charset="-122"/>
                <a:cs typeface="MiSans" pitchFamily="34" charset="-120"/>
              </a:rPr>
              <a:t>Explorer une </a:t>
            </a:r>
            <a:r>
              <a:rPr lang="en-US" sz="1350" b="1" dirty="0">
                <a:solidFill>
                  <a:srgbClr val="1E3A8A"/>
                </a:solidFill>
                <a:latin typeface="MiSans" pitchFamily="34" charset="0"/>
                <a:ea typeface="MiSans" pitchFamily="34" charset="-122"/>
                <a:cs typeface="MiSans" pitchFamily="34" charset="-120"/>
              </a:rPr>
              <a:t>solution data</a:t>
            </a:r>
            <a:r>
              <a:rPr lang="en-US" sz="1350" dirty="0">
                <a:solidFill>
                  <a:srgbClr val="374151"/>
                </a:solidFill>
                <a:latin typeface="MiSans" pitchFamily="34" charset="0"/>
                <a:ea typeface="MiSans" pitchFamily="34" charset="-122"/>
                <a:cs typeface="MiSans" pitchFamily="34" charset="-120"/>
              </a:rPr>
              <a:t> pour fiabiliser le contrôle qualité visuel</a:t>
            </a:r>
            <a:endParaRPr lang="en-US" sz="1600" dirty="0"/>
          </a:p>
        </p:txBody>
      </p:sp>
      <p:sp>
        <p:nvSpPr>
          <p:cNvPr id="12" name="Shape 10"/>
          <p:cNvSpPr/>
          <p:nvPr/>
        </p:nvSpPr>
        <p:spPr>
          <a:xfrm>
            <a:off x="609600" y="47244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F97316"/>
          </a:solidFill>
          <a:ln/>
        </p:spPr>
      </p:sp>
      <p:sp>
        <p:nvSpPr>
          <p:cNvPr id="13" name="Shape 11"/>
          <p:cNvSpPr/>
          <p:nvPr/>
        </p:nvSpPr>
        <p:spPr>
          <a:xfrm>
            <a:off x="742950" y="485775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FFFFFF"/>
          </a:solidFill>
          <a:ln/>
        </p:spPr>
      </p:sp>
      <p:sp>
        <p:nvSpPr>
          <p:cNvPr id="14" name="Text 12"/>
          <p:cNvSpPr/>
          <p:nvPr/>
        </p:nvSpPr>
        <p:spPr>
          <a:xfrm>
            <a:off x="1219200" y="4724400"/>
            <a:ext cx="4543425" cy="638175"/>
          </a:xfrm>
          <a:prstGeom prst="rect">
            <a:avLst/>
          </a:prstGeom>
          <a:noFill/>
          <a:ln/>
        </p:spPr>
        <p:txBody>
          <a:bodyPr wrap="square" lIns="0" tIns="76200" rIns="0" bIns="0" rtlCol="0" anchor="ctr"/>
          <a:lstStyle/>
          <a:p>
            <a:pPr>
              <a:lnSpc>
                <a:spcPct val="140000"/>
              </a:lnSpc>
            </a:pPr>
            <a:r>
              <a:rPr lang="en-US" sz="1350" b="1" dirty="0">
                <a:solidFill>
                  <a:srgbClr val="1E3A8A"/>
                </a:solidFill>
                <a:latin typeface="MiSans" pitchFamily="34" charset="0"/>
                <a:ea typeface="MiSans" pitchFamily="34" charset="-122"/>
                <a:cs typeface="MiSans" pitchFamily="34" charset="-120"/>
              </a:rPr>
              <a:t>Réduire les rebuts</a:t>
            </a:r>
            <a:r>
              <a:rPr lang="en-US" sz="1350" dirty="0">
                <a:solidFill>
                  <a:srgbClr val="374151"/>
                </a:solidFill>
                <a:latin typeface="MiSans" pitchFamily="34" charset="0"/>
                <a:ea typeface="MiSans" pitchFamily="34" charset="-122"/>
                <a:cs typeface="MiSans" pitchFamily="34" charset="-120"/>
              </a:rPr>
              <a:t>, optimiser le temps, renforcer la detection</a:t>
            </a:r>
          </a:p>
          <a:p>
            <a:pPr>
              <a:lnSpc>
                <a:spcPct val="140000"/>
              </a:lnSpc>
            </a:pPr>
            <a:endParaRPr lang="en-US" sz="1600" dirty="0"/>
          </a:p>
        </p:txBody>
      </p:sp>
      <p:sp>
        <p:nvSpPr>
          <p:cNvPr id="15" name="Shape 13"/>
          <p:cNvSpPr/>
          <p:nvPr/>
        </p:nvSpPr>
        <p:spPr>
          <a:xfrm>
            <a:off x="6286500" y="1752600"/>
            <a:ext cx="5524500" cy="914400"/>
          </a:xfrm>
          <a:custGeom>
            <a:avLst/>
            <a:gdLst/>
            <a:ahLst/>
            <a:cxnLst/>
            <a:rect l="l" t="t" r="r" b="b"/>
            <a:pathLst>
              <a:path w="5524500" h="914400">
                <a:moveTo>
                  <a:pt x="152403" y="0"/>
                </a:moveTo>
                <a:lnTo>
                  <a:pt x="5372097" y="0"/>
                </a:lnTo>
                <a:cubicBezTo>
                  <a:pt x="5456267" y="0"/>
                  <a:pt x="5524500" y="68233"/>
                  <a:pt x="5524500" y="152403"/>
                </a:cubicBezTo>
                <a:lnTo>
                  <a:pt x="5524500" y="761997"/>
                </a:lnTo>
                <a:cubicBezTo>
                  <a:pt x="5524500" y="846167"/>
                  <a:pt x="5456267" y="914400"/>
                  <a:pt x="5372097" y="914400"/>
                </a:cubicBezTo>
                <a:lnTo>
                  <a:pt x="152403" y="914400"/>
                </a:lnTo>
                <a:cubicBezTo>
                  <a:pt x="68290" y="914400"/>
                  <a:pt x="0" y="846110"/>
                  <a:pt x="0" y="761997"/>
                </a:cubicBezTo>
                <a:lnTo>
                  <a:pt x="0" y="152403"/>
                </a:lnTo>
                <a:cubicBezTo>
                  <a:pt x="0" y="68290"/>
                  <a:pt x="68290" y="0"/>
                  <a:pt x="152403" y="0"/>
                </a:cubicBezTo>
                <a:close/>
              </a:path>
            </a:pathLst>
          </a:custGeom>
          <a:solidFill>
            <a:srgbClr val="6B7280"/>
          </a:solidFill>
          <a:ln/>
        </p:spPr>
      </p:sp>
      <p:sp>
        <p:nvSpPr>
          <p:cNvPr id="16" name="Shape 14"/>
          <p:cNvSpPr/>
          <p:nvPr/>
        </p:nvSpPr>
        <p:spPr>
          <a:xfrm>
            <a:off x="6543675" y="2019300"/>
            <a:ext cx="228600" cy="228600"/>
          </a:xfrm>
          <a:custGeom>
            <a:avLst/>
            <a:gdLst/>
            <a:ahLst/>
            <a:cxnLst/>
            <a:rect l="l" t="t" r="r" b="b"/>
            <a:pathLst>
              <a:path w="228600" h="228600">
                <a:moveTo>
                  <a:pt x="59740" y="16207"/>
                </a:moveTo>
                <a:cubicBezTo>
                  <a:pt x="64606" y="19601"/>
                  <a:pt x="65767" y="26298"/>
                  <a:pt x="62374" y="31120"/>
                </a:cubicBezTo>
                <a:lnTo>
                  <a:pt x="37371" y="66839"/>
                </a:lnTo>
                <a:cubicBezTo>
                  <a:pt x="35540" y="69428"/>
                  <a:pt x="32683" y="71080"/>
                  <a:pt x="29513" y="71348"/>
                </a:cubicBezTo>
                <a:cubicBezTo>
                  <a:pt x="26343" y="71616"/>
                  <a:pt x="23217" y="70545"/>
                  <a:pt x="20985" y="68312"/>
                </a:cubicBezTo>
                <a:lnTo>
                  <a:pt x="3125" y="50453"/>
                </a:lnTo>
                <a:cubicBezTo>
                  <a:pt x="-1027" y="46256"/>
                  <a:pt x="-1027" y="39469"/>
                  <a:pt x="3125" y="35272"/>
                </a:cubicBezTo>
                <a:cubicBezTo>
                  <a:pt x="7278" y="31075"/>
                  <a:pt x="14109" y="31120"/>
                  <a:pt x="18306" y="35272"/>
                </a:cubicBezTo>
                <a:lnTo>
                  <a:pt x="27146" y="44113"/>
                </a:lnTo>
                <a:lnTo>
                  <a:pt x="44827" y="18842"/>
                </a:lnTo>
                <a:cubicBezTo>
                  <a:pt x="48220" y="13975"/>
                  <a:pt x="54918" y="12814"/>
                  <a:pt x="59740" y="16207"/>
                </a:cubicBezTo>
                <a:close/>
                <a:moveTo>
                  <a:pt x="59740" y="87645"/>
                </a:moveTo>
                <a:cubicBezTo>
                  <a:pt x="64606" y="91038"/>
                  <a:pt x="65767" y="97735"/>
                  <a:pt x="62374" y="102557"/>
                </a:cubicBezTo>
                <a:lnTo>
                  <a:pt x="37371" y="138276"/>
                </a:lnTo>
                <a:cubicBezTo>
                  <a:pt x="35540" y="140866"/>
                  <a:pt x="32683" y="142518"/>
                  <a:pt x="29513" y="142786"/>
                </a:cubicBezTo>
                <a:cubicBezTo>
                  <a:pt x="26343" y="143054"/>
                  <a:pt x="23217" y="141982"/>
                  <a:pt x="20985" y="139750"/>
                </a:cubicBezTo>
                <a:lnTo>
                  <a:pt x="3125" y="121890"/>
                </a:lnTo>
                <a:cubicBezTo>
                  <a:pt x="-1072" y="117693"/>
                  <a:pt x="-1072" y="110907"/>
                  <a:pt x="3125" y="106754"/>
                </a:cubicBezTo>
                <a:cubicBezTo>
                  <a:pt x="7322" y="102602"/>
                  <a:pt x="14109" y="102557"/>
                  <a:pt x="18261" y="106754"/>
                </a:cubicBezTo>
                <a:lnTo>
                  <a:pt x="27102" y="115595"/>
                </a:lnTo>
                <a:lnTo>
                  <a:pt x="44782" y="90324"/>
                </a:lnTo>
                <a:cubicBezTo>
                  <a:pt x="48176" y="85457"/>
                  <a:pt x="54873" y="84296"/>
                  <a:pt x="59695" y="87690"/>
                </a:cubicBezTo>
                <a:close/>
                <a:moveTo>
                  <a:pt x="100013" y="42863"/>
                </a:moveTo>
                <a:cubicBezTo>
                  <a:pt x="100013" y="34960"/>
                  <a:pt x="106397" y="28575"/>
                  <a:pt x="114300" y="28575"/>
                </a:cubicBezTo>
                <a:lnTo>
                  <a:pt x="214313" y="28575"/>
                </a:lnTo>
                <a:cubicBezTo>
                  <a:pt x="222215" y="28575"/>
                  <a:pt x="228600" y="34960"/>
                  <a:pt x="228600" y="42863"/>
                </a:cubicBezTo>
                <a:cubicBezTo>
                  <a:pt x="228600" y="50765"/>
                  <a:pt x="222215" y="57150"/>
                  <a:pt x="214313" y="57150"/>
                </a:cubicBezTo>
                <a:lnTo>
                  <a:pt x="114300" y="57150"/>
                </a:lnTo>
                <a:cubicBezTo>
                  <a:pt x="106397" y="57150"/>
                  <a:pt x="100013" y="50765"/>
                  <a:pt x="100013" y="42863"/>
                </a:cubicBezTo>
                <a:close/>
                <a:moveTo>
                  <a:pt x="100013" y="114300"/>
                </a:moveTo>
                <a:cubicBezTo>
                  <a:pt x="100013" y="106397"/>
                  <a:pt x="106397" y="100013"/>
                  <a:pt x="114300" y="100013"/>
                </a:cubicBezTo>
                <a:lnTo>
                  <a:pt x="214313" y="100013"/>
                </a:lnTo>
                <a:cubicBezTo>
                  <a:pt x="222215" y="100013"/>
                  <a:pt x="228600" y="106397"/>
                  <a:pt x="228600" y="114300"/>
                </a:cubicBezTo>
                <a:cubicBezTo>
                  <a:pt x="228600" y="122203"/>
                  <a:pt x="222215" y="128588"/>
                  <a:pt x="214313" y="128588"/>
                </a:cubicBezTo>
                <a:lnTo>
                  <a:pt x="114300" y="128588"/>
                </a:lnTo>
                <a:cubicBezTo>
                  <a:pt x="106397" y="128588"/>
                  <a:pt x="100013" y="122203"/>
                  <a:pt x="100013" y="114300"/>
                </a:cubicBezTo>
                <a:close/>
                <a:moveTo>
                  <a:pt x="71438" y="185738"/>
                </a:moveTo>
                <a:cubicBezTo>
                  <a:pt x="71438" y="177835"/>
                  <a:pt x="77822" y="171450"/>
                  <a:pt x="85725" y="171450"/>
                </a:cubicBezTo>
                <a:lnTo>
                  <a:pt x="214313" y="171450"/>
                </a:lnTo>
                <a:cubicBezTo>
                  <a:pt x="222215" y="171450"/>
                  <a:pt x="228600" y="177835"/>
                  <a:pt x="228600" y="185738"/>
                </a:cubicBezTo>
                <a:cubicBezTo>
                  <a:pt x="228600" y="193640"/>
                  <a:pt x="222215" y="200025"/>
                  <a:pt x="214313" y="200025"/>
                </a:cubicBezTo>
                <a:lnTo>
                  <a:pt x="85725" y="200025"/>
                </a:lnTo>
                <a:cubicBezTo>
                  <a:pt x="77822" y="200025"/>
                  <a:pt x="71438" y="193640"/>
                  <a:pt x="71438" y="185738"/>
                </a:cubicBezTo>
                <a:close/>
                <a:moveTo>
                  <a:pt x="28575" y="167878"/>
                </a:moveTo>
                <a:cubicBezTo>
                  <a:pt x="38432" y="167878"/>
                  <a:pt x="46434" y="175881"/>
                  <a:pt x="46434" y="185738"/>
                </a:cubicBezTo>
                <a:cubicBezTo>
                  <a:pt x="46434" y="195594"/>
                  <a:pt x="38432" y="203597"/>
                  <a:pt x="28575" y="203597"/>
                </a:cubicBezTo>
                <a:cubicBezTo>
                  <a:pt x="18718" y="203597"/>
                  <a:pt x="10716" y="195594"/>
                  <a:pt x="10716" y="185738"/>
                </a:cubicBezTo>
                <a:cubicBezTo>
                  <a:pt x="10716" y="175881"/>
                  <a:pt x="18718" y="167878"/>
                  <a:pt x="28575" y="167878"/>
                </a:cubicBezTo>
                <a:close/>
              </a:path>
            </a:pathLst>
          </a:custGeom>
          <a:solidFill>
            <a:srgbClr val="FFFFFF"/>
          </a:solidFill>
          <a:ln/>
        </p:spPr>
      </p:sp>
      <p:sp>
        <p:nvSpPr>
          <p:cNvPr id="17" name="Text 15"/>
          <p:cNvSpPr/>
          <p:nvPr/>
        </p:nvSpPr>
        <p:spPr>
          <a:xfrm>
            <a:off x="6915150" y="1981200"/>
            <a:ext cx="162877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Noto Sans SC" pitchFamily="34" charset="0"/>
                <a:ea typeface="Noto Sans SC" pitchFamily="34" charset="-122"/>
                <a:cs typeface="Noto Sans SC" pitchFamily="34" charset="-120"/>
              </a:rPr>
              <a:t>Phases Projet</a:t>
            </a:r>
            <a:endParaRPr lang="en-US" sz="1600" dirty="0"/>
          </a:p>
        </p:txBody>
      </p:sp>
      <p:sp>
        <p:nvSpPr>
          <p:cNvPr id="18" name="Shape 16"/>
          <p:cNvSpPr/>
          <p:nvPr/>
        </p:nvSpPr>
        <p:spPr>
          <a:xfrm>
            <a:off x="6286500" y="2895600"/>
            <a:ext cx="5524500" cy="3429000"/>
          </a:xfrm>
          <a:custGeom>
            <a:avLst/>
            <a:gdLst/>
            <a:ahLst/>
            <a:cxnLst/>
            <a:rect l="l" t="t" r="r" b="b"/>
            <a:pathLst>
              <a:path w="5524500" h="3429000">
                <a:moveTo>
                  <a:pt x="152385" y="0"/>
                </a:moveTo>
                <a:lnTo>
                  <a:pt x="5372115" y="0"/>
                </a:lnTo>
                <a:cubicBezTo>
                  <a:pt x="5456275" y="0"/>
                  <a:pt x="5524500" y="68225"/>
                  <a:pt x="5524500" y="152385"/>
                </a:cubicBezTo>
                <a:lnTo>
                  <a:pt x="5524500" y="3276615"/>
                </a:lnTo>
                <a:cubicBezTo>
                  <a:pt x="5524500" y="3360775"/>
                  <a:pt x="5456275" y="3429000"/>
                  <a:pt x="5372115" y="3429000"/>
                </a:cubicBezTo>
                <a:lnTo>
                  <a:pt x="152385" y="3429000"/>
                </a:lnTo>
                <a:cubicBezTo>
                  <a:pt x="68225" y="3429000"/>
                  <a:pt x="0" y="3360775"/>
                  <a:pt x="0" y="3276615"/>
                </a:cubicBezTo>
                <a:lnTo>
                  <a:pt x="0" y="152385"/>
                </a:lnTo>
                <a:cubicBezTo>
                  <a:pt x="0" y="68281"/>
                  <a:pt x="68281" y="0"/>
                  <a:pt x="152385" y="0"/>
                </a:cubicBezTo>
                <a:close/>
              </a:path>
            </a:pathLst>
          </a:custGeom>
          <a:solidFill>
            <a:srgbClr val="F3F4F6"/>
          </a:solidFill>
          <a:ln/>
        </p:spPr>
      </p:sp>
      <p:sp>
        <p:nvSpPr>
          <p:cNvPr id="19" name="Shape 17"/>
          <p:cNvSpPr/>
          <p:nvPr/>
        </p:nvSpPr>
        <p:spPr>
          <a:xfrm>
            <a:off x="6591300" y="33337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0B981"/>
          </a:solidFill>
          <a:ln/>
        </p:spPr>
      </p:sp>
      <p:sp>
        <p:nvSpPr>
          <p:cNvPr id="20" name="Text 18"/>
          <p:cNvSpPr/>
          <p:nvPr/>
        </p:nvSpPr>
        <p:spPr>
          <a:xfrm>
            <a:off x="6805017" y="3467100"/>
            <a:ext cx="2000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Noto Sans SC" pitchFamily="34" charset="0"/>
                <a:ea typeface="Noto Sans SC" pitchFamily="34" charset="-122"/>
                <a:cs typeface="Noto Sans SC" pitchFamily="34" charset="-120"/>
              </a:rPr>
              <a:t>1</a:t>
            </a:r>
            <a:endParaRPr lang="en-US" sz="1600" dirty="0"/>
          </a:p>
        </p:txBody>
      </p:sp>
      <p:sp>
        <p:nvSpPr>
          <p:cNvPr id="21" name="Text 19"/>
          <p:cNvSpPr/>
          <p:nvPr/>
        </p:nvSpPr>
        <p:spPr>
          <a:xfrm>
            <a:off x="7315200" y="3467100"/>
            <a:ext cx="3495675" cy="266700"/>
          </a:xfrm>
          <a:prstGeom prst="rect">
            <a:avLst/>
          </a:prstGeom>
          <a:noFill/>
          <a:ln/>
        </p:spPr>
        <p:txBody>
          <a:bodyPr wrap="square" lIns="0" tIns="0" rIns="0" bIns="0" rtlCol="0" anchor="ctr"/>
          <a:lstStyle/>
          <a:p>
            <a:pPr>
              <a:lnSpc>
                <a:spcPct val="120000"/>
              </a:lnSpc>
            </a:pPr>
            <a:r>
              <a:rPr lang="en-US" sz="1500" b="1" dirty="0">
                <a:solidFill>
                  <a:srgbClr val="374151"/>
                </a:solidFill>
                <a:latin typeface="Noto Sans SC" pitchFamily="34" charset="0"/>
                <a:ea typeface="Noto Sans SC" pitchFamily="34" charset="-122"/>
                <a:cs typeface="Noto Sans SC" pitchFamily="34" charset="-120"/>
              </a:rPr>
              <a:t>DISCOVERY (L1)</a:t>
            </a:r>
            <a:endParaRPr lang="en-US" sz="1600" dirty="0"/>
          </a:p>
        </p:txBody>
      </p:sp>
      <p:sp>
        <p:nvSpPr>
          <p:cNvPr id="22" name="Shape 20"/>
          <p:cNvSpPr/>
          <p:nvPr/>
        </p:nvSpPr>
        <p:spPr>
          <a:xfrm>
            <a:off x="10905083" y="3409950"/>
            <a:ext cx="600075" cy="381000"/>
          </a:xfrm>
          <a:custGeom>
            <a:avLst/>
            <a:gdLst/>
            <a:ahLst/>
            <a:cxnLst/>
            <a:rect l="l" t="t" r="r" b="b"/>
            <a:pathLst>
              <a:path w="600075" h="381000">
                <a:moveTo>
                  <a:pt x="190500" y="0"/>
                </a:moveTo>
                <a:lnTo>
                  <a:pt x="409575" y="0"/>
                </a:lnTo>
                <a:cubicBezTo>
                  <a:pt x="514715" y="0"/>
                  <a:pt x="600075" y="85360"/>
                  <a:pt x="600075" y="190500"/>
                </a:cubicBezTo>
                <a:lnTo>
                  <a:pt x="600075" y="190500"/>
                </a:lnTo>
                <a:cubicBezTo>
                  <a:pt x="600075" y="295640"/>
                  <a:pt x="514715" y="381000"/>
                  <a:pt x="409575" y="381000"/>
                </a:cubicBezTo>
                <a:lnTo>
                  <a:pt x="190500" y="381000"/>
                </a:lnTo>
                <a:cubicBezTo>
                  <a:pt x="85360" y="381000"/>
                  <a:pt x="0" y="295640"/>
                  <a:pt x="0" y="190500"/>
                </a:cubicBezTo>
                <a:lnTo>
                  <a:pt x="0" y="190500"/>
                </a:lnTo>
                <a:cubicBezTo>
                  <a:pt x="0" y="85360"/>
                  <a:pt x="85360" y="0"/>
                  <a:pt x="190500" y="0"/>
                </a:cubicBezTo>
                <a:close/>
              </a:path>
            </a:pathLst>
          </a:custGeom>
          <a:solidFill>
            <a:srgbClr val="10B981"/>
          </a:solidFill>
          <a:ln/>
        </p:spPr>
      </p:sp>
      <p:sp>
        <p:nvSpPr>
          <p:cNvPr id="23" name="Text 21"/>
          <p:cNvSpPr/>
          <p:nvPr/>
        </p:nvSpPr>
        <p:spPr>
          <a:xfrm>
            <a:off x="11057483" y="3524250"/>
            <a:ext cx="362992" cy="152400"/>
          </a:xfrm>
          <a:prstGeom prst="rect">
            <a:avLst/>
          </a:prstGeom>
          <a:noFill/>
          <a:ln/>
        </p:spPr>
        <p:txBody>
          <a:bodyPr wrap="square" lIns="0" tIns="0" rIns="0" bIns="0" rtlCol="0" anchor="ctr"/>
          <a:lstStyle/>
          <a:p>
            <a:pPr>
              <a:lnSpc>
                <a:spcPct val="120000"/>
              </a:lnSpc>
            </a:pPr>
            <a:r>
              <a:rPr lang="en-US" sz="1050" b="1" dirty="0">
                <a:solidFill>
                  <a:srgbClr val="FFFFFF"/>
                </a:solidFill>
                <a:latin typeface="MiSans" pitchFamily="34" charset="0"/>
                <a:ea typeface="MiSans" pitchFamily="34" charset="-122"/>
                <a:cs typeface="MiSans" pitchFamily="34" charset="-120"/>
              </a:rPr>
              <a:t>FAIT</a:t>
            </a:r>
            <a:endParaRPr lang="en-US" sz="1600" dirty="0"/>
          </a:p>
        </p:txBody>
      </p:sp>
      <p:sp>
        <p:nvSpPr>
          <p:cNvPr id="24" name="Shape 22"/>
          <p:cNvSpPr/>
          <p:nvPr/>
        </p:nvSpPr>
        <p:spPr>
          <a:xfrm>
            <a:off x="6858000" y="4095750"/>
            <a:ext cx="4914900" cy="19050"/>
          </a:xfrm>
          <a:custGeom>
            <a:avLst/>
            <a:gdLst/>
            <a:ahLst/>
            <a:cxnLst/>
            <a:rect l="l" t="t" r="r" b="b"/>
            <a:pathLst>
              <a:path w="4914900" h="19050">
                <a:moveTo>
                  <a:pt x="0" y="0"/>
                </a:moveTo>
                <a:lnTo>
                  <a:pt x="4914900" y="0"/>
                </a:lnTo>
                <a:lnTo>
                  <a:pt x="4914900" y="19050"/>
                </a:lnTo>
                <a:lnTo>
                  <a:pt x="0" y="19050"/>
                </a:lnTo>
                <a:lnTo>
                  <a:pt x="0" y="0"/>
                </a:lnTo>
                <a:close/>
              </a:path>
            </a:pathLst>
          </a:custGeom>
          <a:solidFill>
            <a:srgbClr val="D1D5DB"/>
          </a:solidFill>
          <a:ln/>
        </p:spPr>
      </p:sp>
      <p:sp>
        <p:nvSpPr>
          <p:cNvPr id="25" name="Shape 23"/>
          <p:cNvSpPr/>
          <p:nvPr/>
        </p:nvSpPr>
        <p:spPr>
          <a:xfrm>
            <a:off x="6591300" y="4343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0B981"/>
          </a:solidFill>
          <a:ln/>
        </p:spPr>
      </p:sp>
      <p:sp>
        <p:nvSpPr>
          <p:cNvPr id="26" name="Text 24"/>
          <p:cNvSpPr/>
          <p:nvPr/>
        </p:nvSpPr>
        <p:spPr>
          <a:xfrm>
            <a:off x="6805017" y="4476750"/>
            <a:ext cx="2000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Noto Sans SC" pitchFamily="34" charset="0"/>
                <a:ea typeface="Noto Sans SC" pitchFamily="34" charset="-122"/>
                <a:cs typeface="Noto Sans SC" pitchFamily="34" charset="-120"/>
              </a:rPr>
              <a:t>2</a:t>
            </a:r>
            <a:endParaRPr lang="en-US" sz="1600" dirty="0"/>
          </a:p>
        </p:txBody>
      </p:sp>
      <p:sp>
        <p:nvSpPr>
          <p:cNvPr id="27" name="Text 25"/>
          <p:cNvSpPr/>
          <p:nvPr/>
        </p:nvSpPr>
        <p:spPr>
          <a:xfrm>
            <a:off x="7315200" y="4476750"/>
            <a:ext cx="3495675" cy="266700"/>
          </a:xfrm>
          <a:prstGeom prst="rect">
            <a:avLst/>
          </a:prstGeom>
          <a:noFill/>
          <a:ln/>
        </p:spPr>
        <p:txBody>
          <a:bodyPr wrap="square" lIns="0" tIns="0" rIns="0" bIns="0" rtlCol="0" anchor="ctr"/>
          <a:lstStyle/>
          <a:p>
            <a:pPr>
              <a:lnSpc>
                <a:spcPct val="120000"/>
              </a:lnSpc>
            </a:pPr>
            <a:r>
              <a:rPr lang="en-US" sz="1500" b="1" dirty="0">
                <a:solidFill>
                  <a:srgbClr val="374151"/>
                </a:solidFill>
                <a:latin typeface="Noto Sans SC" pitchFamily="34" charset="0"/>
                <a:ea typeface="Noto Sans SC" pitchFamily="34" charset="-122"/>
                <a:cs typeface="Noto Sans SC" pitchFamily="34" charset="-120"/>
              </a:rPr>
              <a:t>CONCEPTION (L2)</a:t>
            </a:r>
            <a:endParaRPr lang="en-US" sz="1600" dirty="0"/>
          </a:p>
        </p:txBody>
      </p:sp>
      <p:sp>
        <p:nvSpPr>
          <p:cNvPr id="28" name="Shape 26"/>
          <p:cNvSpPr/>
          <p:nvPr/>
        </p:nvSpPr>
        <p:spPr>
          <a:xfrm>
            <a:off x="10905083" y="4419600"/>
            <a:ext cx="600075" cy="381000"/>
          </a:xfrm>
          <a:custGeom>
            <a:avLst/>
            <a:gdLst/>
            <a:ahLst/>
            <a:cxnLst/>
            <a:rect l="l" t="t" r="r" b="b"/>
            <a:pathLst>
              <a:path w="600075" h="381000">
                <a:moveTo>
                  <a:pt x="190500" y="0"/>
                </a:moveTo>
                <a:lnTo>
                  <a:pt x="409575" y="0"/>
                </a:lnTo>
                <a:cubicBezTo>
                  <a:pt x="514715" y="0"/>
                  <a:pt x="600075" y="85360"/>
                  <a:pt x="600075" y="190500"/>
                </a:cubicBezTo>
                <a:lnTo>
                  <a:pt x="600075" y="190500"/>
                </a:lnTo>
                <a:cubicBezTo>
                  <a:pt x="600075" y="295640"/>
                  <a:pt x="514715" y="381000"/>
                  <a:pt x="409575" y="381000"/>
                </a:cubicBezTo>
                <a:lnTo>
                  <a:pt x="190500" y="381000"/>
                </a:lnTo>
                <a:cubicBezTo>
                  <a:pt x="85360" y="381000"/>
                  <a:pt x="0" y="295640"/>
                  <a:pt x="0" y="190500"/>
                </a:cubicBezTo>
                <a:lnTo>
                  <a:pt x="0" y="190500"/>
                </a:lnTo>
                <a:cubicBezTo>
                  <a:pt x="0" y="85360"/>
                  <a:pt x="85360" y="0"/>
                  <a:pt x="190500" y="0"/>
                </a:cubicBezTo>
                <a:close/>
              </a:path>
            </a:pathLst>
          </a:custGeom>
          <a:solidFill>
            <a:srgbClr val="10B981"/>
          </a:solidFill>
          <a:ln/>
        </p:spPr>
      </p:sp>
      <p:sp>
        <p:nvSpPr>
          <p:cNvPr id="29" name="Text 27"/>
          <p:cNvSpPr/>
          <p:nvPr/>
        </p:nvSpPr>
        <p:spPr>
          <a:xfrm>
            <a:off x="11057483" y="4533900"/>
            <a:ext cx="362992" cy="152400"/>
          </a:xfrm>
          <a:prstGeom prst="rect">
            <a:avLst/>
          </a:prstGeom>
          <a:noFill/>
          <a:ln/>
        </p:spPr>
        <p:txBody>
          <a:bodyPr wrap="square" lIns="0" tIns="0" rIns="0" bIns="0" rtlCol="0" anchor="ctr"/>
          <a:lstStyle/>
          <a:p>
            <a:pPr>
              <a:lnSpc>
                <a:spcPct val="120000"/>
              </a:lnSpc>
            </a:pPr>
            <a:r>
              <a:rPr lang="en-US" sz="1050" b="1" dirty="0">
                <a:solidFill>
                  <a:srgbClr val="FFFFFF"/>
                </a:solidFill>
                <a:latin typeface="MiSans" pitchFamily="34" charset="0"/>
                <a:ea typeface="MiSans" pitchFamily="34" charset="-122"/>
                <a:cs typeface="MiSans" pitchFamily="34" charset="-120"/>
              </a:rPr>
              <a:t>FAIT</a:t>
            </a:r>
            <a:endParaRPr lang="en-US" sz="1600" dirty="0"/>
          </a:p>
        </p:txBody>
      </p:sp>
      <p:sp>
        <p:nvSpPr>
          <p:cNvPr id="30" name="Shape 28"/>
          <p:cNvSpPr/>
          <p:nvPr/>
        </p:nvSpPr>
        <p:spPr>
          <a:xfrm>
            <a:off x="6858000" y="5105400"/>
            <a:ext cx="4914900" cy="19050"/>
          </a:xfrm>
          <a:custGeom>
            <a:avLst/>
            <a:gdLst/>
            <a:ahLst/>
            <a:cxnLst/>
            <a:rect l="l" t="t" r="r" b="b"/>
            <a:pathLst>
              <a:path w="4914900" h="19050">
                <a:moveTo>
                  <a:pt x="0" y="0"/>
                </a:moveTo>
                <a:lnTo>
                  <a:pt x="4914900" y="0"/>
                </a:lnTo>
                <a:lnTo>
                  <a:pt x="4914900" y="19050"/>
                </a:lnTo>
                <a:lnTo>
                  <a:pt x="0" y="19050"/>
                </a:lnTo>
                <a:lnTo>
                  <a:pt x="0" y="0"/>
                </a:lnTo>
                <a:close/>
              </a:path>
            </a:pathLst>
          </a:custGeom>
          <a:solidFill>
            <a:srgbClr val="D1D5DB"/>
          </a:solidFill>
          <a:ln/>
        </p:spPr>
      </p:sp>
      <p:sp>
        <p:nvSpPr>
          <p:cNvPr id="31" name="Shape 29"/>
          <p:cNvSpPr/>
          <p:nvPr/>
        </p:nvSpPr>
        <p:spPr>
          <a:xfrm>
            <a:off x="6591300" y="53530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0B981"/>
          </a:solidFill>
          <a:ln/>
        </p:spPr>
      </p:sp>
      <p:sp>
        <p:nvSpPr>
          <p:cNvPr id="32" name="Text 30"/>
          <p:cNvSpPr/>
          <p:nvPr/>
        </p:nvSpPr>
        <p:spPr>
          <a:xfrm>
            <a:off x="6805017" y="5486400"/>
            <a:ext cx="2000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Noto Sans SC" pitchFamily="34" charset="0"/>
                <a:ea typeface="Noto Sans SC" pitchFamily="34" charset="-122"/>
                <a:cs typeface="Noto Sans SC" pitchFamily="34" charset="-120"/>
              </a:rPr>
              <a:t>3</a:t>
            </a:r>
            <a:endParaRPr lang="en-US" sz="1600" dirty="0"/>
          </a:p>
        </p:txBody>
      </p:sp>
      <p:sp>
        <p:nvSpPr>
          <p:cNvPr id="33" name="Text 31"/>
          <p:cNvSpPr/>
          <p:nvPr/>
        </p:nvSpPr>
        <p:spPr>
          <a:xfrm>
            <a:off x="7315200" y="5486400"/>
            <a:ext cx="3495675" cy="266700"/>
          </a:xfrm>
          <a:prstGeom prst="rect">
            <a:avLst/>
          </a:prstGeom>
          <a:noFill/>
          <a:ln/>
        </p:spPr>
        <p:txBody>
          <a:bodyPr wrap="square" lIns="0" tIns="0" rIns="0" bIns="0" rtlCol="0" anchor="ctr"/>
          <a:lstStyle/>
          <a:p>
            <a:pPr>
              <a:lnSpc>
                <a:spcPct val="120000"/>
              </a:lnSpc>
            </a:pPr>
            <a:r>
              <a:rPr lang="en-US" sz="1500" b="1" dirty="0">
                <a:solidFill>
                  <a:srgbClr val="374151"/>
                </a:solidFill>
                <a:latin typeface="Noto Sans SC" pitchFamily="34" charset="0"/>
                <a:ea typeface="Noto Sans SC" pitchFamily="34" charset="-122"/>
                <a:cs typeface="Noto Sans SC" pitchFamily="34" charset="-120"/>
              </a:rPr>
              <a:t>LANCEMENT (L3)</a:t>
            </a:r>
            <a:endParaRPr lang="en-US" sz="1600" dirty="0"/>
          </a:p>
        </p:txBody>
      </p:sp>
      <p:sp>
        <p:nvSpPr>
          <p:cNvPr id="34" name="Shape 32"/>
          <p:cNvSpPr/>
          <p:nvPr/>
        </p:nvSpPr>
        <p:spPr>
          <a:xfrm>
            <a:off x="10905083" y="5429250"/>
            <a:ext cx="600075" cy="381000"/>
          </a:xfrm>
          <a:custGeom>
            <a:avLst/>
            <a:gdLst/>
            <a:ahLst/>
            <a:cxnLst/>
            <a:rect l="l" t="t" r="r" b="b"/>
            <a:pathLst>
              <a:path w="600075" h="381000">
                <a:moveTo>
                  <a:pt x="190500" y="0"/>
                </a:moveTo>
                <a:lnTo>
                  <a:pt x="409575" y="0"/>
                </a:lnTo>
                <a:cubicBezTo>
                  <a:pt x="514715" y="0"/>
                  <a:pt x="600075" y="85360"/>
                  <a:pt x="600075" y="190500"/>
                </a:cubicBezTo>
                <a:lnTo>
                  <a:pt x="600075" y="190500"/>
                </a:lnTo>
                <a:cubicBezTo>
                  <a:pt x="600075" y="295640"/>
                  <a:pt x="514715" y="381000"/>
                  <a:pt x="409575" y="381000"/>
                </a:cubicBezTo>
                <a:lnTo>
                  <a:pt x="190500" y="381000"/>
                </a:lnTo>
                <a:cubicBezTo>
                  <a:pt x="85360" y="381000"/>
                  <a:pt x="0" y="295640"/>
                  <a:pt x="0" y="190500"/>
                </a:cubicBezTo>
                <a:lnTo>
                  <a:pt x="0" y="190500"/>
                </a:lnTo>
                <a:cubicBezTo>
                  <a:pt x="0" y="85360"/>
                  <a:pt x="85360" y="0"/>
                  <a:pt x="190500" y="0"/>
                </a:cubicBezTo>
                <a:close/>
              </a:path>
            </a:pathLst>
          </a:custGeom>
          <a:solidFill>
            <a:srgbClr val="10B981"/>
          </a:solidFill>
          <a:ln/>
        </p:spPr>
      </p:sp>
      <p:sp>
        <p:nvSpPr>
          <p:cNvPr id="35" name="Text 33"/>
          <p:cNvSpPr/>
          <p:nvPr/>
        </p:nvSpPr>
        <p:spPr>
          <a:xfrm>
            <a:off x="11057483" y="5543550"/>
            <a:ext cx="362992" cy="152400"/>
          </a:xfrm>
          <a:prstGeom prst="rect">
            <a:avLst/>
          </a:prstGeom>
          <a:noFill/>
          <a:ln/>
        </p:spPr>
        <p:txBody>
          <a:bodyPr wrap="square" lIns="0" tIns="0" rIns="0" bIns="0" rtlCol="0" anchor="ctr"/>
          <a:lstStyle/>
          <a:p>
            <a:pPr>
              <a:lnSpc>
                <a:spcPct val="120000"/>
              </a:lnSpc>
            </a:pPr>
            <a:r>
              <a:rPr lang="en-US" sz="1050" b="1" dirty="0">
                <a:solidFill>
                  <a:srgbClr val="FFFFFF"/>
                </a:solidFill>
                <a:latin typeface="MiSans" pitchFamily="34" charset="0"/>
                <a:ea typeface="MiSans" pitchFamily="34" charset="-122"/>
                <a:cs typeface="MiSans" pitchFamily="34" charset="-120"/>
              </a:rPr>
              <a:t>FAIT</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8617" y="221170"/>
            <a:ext cx="1935238" cy="331755"/>
          </a:xfrm>
          <a:custGeom>
            <a:avLst/>
            <a:gdLst/>
            <a:ahLst/>
            <a:cxnLst/>
            <a:rect l="l" t="t" r="r" b="b"/>
            <a:pathLst>
              <a:path w="1935238" h="331755">
                <a:moveTo>
                  <a:pt x="165878" y="0"/>
                </a:moveTo>
                <a:lnTo>
                  <a:pt x="1769361" y="0"/>
                </a:lnTo>
                <a:cubicBezTo>
                  <a:pt x="1860972" y="0"/>
                  <a:pt x="1935238" y="74266"/>
                  <a:pt x="1935238" y="165878"/>
                </a:cubicBezTo>
                <a:lnTo>
                  <a:pt x="1935238" y="165878"/>
                </a:lnTo>
                <a:cubicBezTo>
                  <a:pt x="1935238" y="257489"/>
                  <a:pt x="1860972" y="331755"/>
                  <a:pt x="1769361" y="331755"/>
                </a:cubicBezTo>
                <a:lnTo>
                  <a:pt x="165878" y="331755"/>
                </a:lnTo>
                <a:cubicBezTo>
                  <a:pt x="74327" y="331755"/>
                  <a:pt x="0" y="257428"/>
                  <a:pt x="0" y="165878"/>
                </a:cubicBezTo>
                <a:lnTo>
                  <a:pt x="0" y="165878"/>
                </a:lnTo>
                <a:cubicBezTo>
                  <a:pt x="0" y="74327"/>
                  <a:pt x="74327" y="0"/>
                  <a:pt x="165878" y="0"/>
                </a:cubicBezTo>
                <a:close/>
              </a:path>
            </a:pathLst>
          </a:custGeom>
          <a:solidFill>
            <a:srgbClr val="1E3A8A"/>
          </a:solidFill>
          <a:ln/>
        </p:spPr>
      </p:sp>
      <p:sp>
        <p:nvSpPr>
          <p:cNvPr id="3" name="Text 1"/>
          <p:cNvSpPr/>
          <p:nvPr/>
        </p:nvSpPr>
        <p:spPr>
          <a:xfrm>
            <a:off x="516063" y="294893"/>
            <a:ext cx="1704853" cy="184308"/>
          </a:xfrm>
          <a:prstGeom prst="rect">
            <a:avLst/>
          </a:prstGeom>
          <a:noFill/>
          <a:ln/>
        </p:spPr>
        <p:txBody>
          <a:bodyPr wrap="square" lIns="0" tIns="0" rIns="0" bIns="0" rtlCol="0" anchor="ctr"/>
          <a:lstStyle/>
          <a:p>
            <a:pPr>
              <a:lnSpc>
                <a:spcPct val="120000"/>
              </a:lnSpc>
            </a:pPr>
            <a:r>
              <a:rPr lang="en-US" sz="1016" b="1" kern="0" spc="25" dirty="0">
                <a:solidFill>
                  <a:srgbClr val="FFFFFF"/>
                </a:solidFill>
                <a:latin typeface="MiSans" pitchFamily="34" charset="0"/>
                <a:ea typeface="MiSans" pitchFamily="34" charset="-122"/>
                <a:cs typeface="MiSans" pitchFamily="34" charset="-120"/>
              </a:rPr>
              <a:t>DISCOVERY - CONTEXTE</a:t>
            </a:r>
            <a:endParaRPr lang="en-US" sz="1600" dirty="0"/>
          </a:p>
        </p:txBody>
      </p:sp>
      <p:sp>
        <p:nvSpPr>
          <p:cNvPr id="4" name="Text 2"/>
          <p:cNvSpPr/>
          <p:nvPr/>
        </p:nvSpPr>
        <p:spPr>
          <a:xfrm>
            <a:off x="368617" y="958404"/>
            <a:ext cx="11675937" cy="442340"/>
          </a:xfrm>
          <a:prstGeom prst="rect">
            <a:avLst/>
          </a:prstGeom>
          <a:noFill/>
          <a:ln/>
        </p:spPr>
        <p:txBody>
          <a:bodyPr wrap="square" lIns="0" tIns="0" rIns="0" bIns="0" rtlCol="0" anchor="ctr"/>
          <a:lstStyle/>
          <a:p>
            <a:pPr>
              <a:lnSpc>
                <a:spcPct val="80000"/>
              </a:lnSpc>
            </a:pPr>
            <a:r>
              <a:rPr lang="en-US" sz="3483" b="1" dirty="0">
                <a:solidFill>
                  <a:srgbClr val="1E3A8A"/>
                </a:solidFill>
                <a:latin typeface="Noto Sans SC" pitchFamily="34" charset="0"/>
                <a:ea typeface="Noto Sans SC" pitchFamily="34" charset="-122"/>
                <a:cs typeface="Noto Sans SC" pitchFamily="34" charset="-120"/>
              </a:rPr>
              <a:t>Présentation de Fidémeca</a:t>
            </a:r>
            <a:endParaRPr lang="en-US" sz="1600" dirty="0"/>
          </a:p>
        </p:txBody>
      </p:sp>
      <p:sp>
        <p:nvSpPr>
          <p:cNvPr id="5" name="Shape 3"/>
          <p:cNvSpPr/>
          <p:nvPr/>
        </p:nvSpPr>
        <p:spPr>
          <a:xfrm>
            <a:off x="368617" y="1621914"/>
            <a:ext cx="3695383" cy="1511329"/>
          </a:xfrm>
          <a:custGeom>
            <a:avLst/>
            <a:gdLst/>
            <a:ahLst/>
            <a:cxnLst/>
            <a:rect l="l" t="t" r="r" b="b"/>
            <a:pathLst>
              <a:path w="3695383" h="1511329">
                <a:moveTo>
                  <a:pt x="147445" y="0"/>
                </a:moveTo>
                <a:lnTo>
                  <a:pt x="3547938" y="0"/>
                </a:lnTo>
                <a:cubicBezTo>
                  <a:pt x="3629370" y="0"/>
                  <a:pt x="3695383" y="66013"/>
                  <a:pt x="3695383" y="147445"/>
                </a:cubicBezTo>
                <a:lnTo>
                  <a:pt x="3695383" y="1363884"/>
                </a:lnTo>
                <a:cubicBezTo>
                  <a:pt x="3695383" y="1445315"/>
                  <a:pt x="3629370" y="1511329"/>
                  <a:pt x="3547938" y="1511329"/>
                </a:cubicBezTo>
                <a:lnTo>
                  <a:pt x="147445" y="1511329"/>
                </a:lnTo>
                <a:cubicBezTo>
                  <a:pt x="66013" y="1511329"/>
                  <a:pt x="0" y="1445315"/>
                  <a:pt x="0" y="1363884"/>
                </a:cubicBezTo>
                <a:lnTo>
                  <a:pt x="0" y="147445"/>
                </a:lnTo>
                <a:cubicBezTo>
                  <a:pt x="0" y="66013"/>
                  <a:pt x="66013" y="0"/>
                  <a:pt x="147445" y="0"/>
                </a:cubicBezTo>
                <a:close/>
              </a:path>
            </a:pathLst>
          </a:custGeom>
          <a:solidFill>
            <a:srgbClr val="F3F4F6"/>
          </a:solidFill>
          <a:ln/>
        </p:spPr>
      </p:sp>
      <p:sp>
        <p:nvSpPr>
          <p:cNvPr id="6" name="Shape 4"/>
          <p:cNvSpPr/>
          <p:nvPr/>
        </p:nvSpPr>
        <p:spPr>
          <a:xfrm>
            <a:off x="552925" y="1806222"/>
            <a:ext cx="442340" cy="442340"/>
          </a:xfrm>
          <a:custGeom>
            <a:avLst/>
            <a:gdLst/>
            <a:ahLst/>
            <a:cxnLst/>
            <a:rect l="l" t="t" r="r" b="b"/>
            <a:pathLst>
              <a:path w="442340" h="442340">
                <a:moveTo>
                  <a:pt x="110585" y="0"/>
                </a:moveTo>
                <a:lnTo>
                  <a:pt x="331755" y="0"/>
                </a:lnTo>
                <a:cubicBezTo>
                  <a:pt x="392830" y="0"/>
                  <a:pt x="442340" y="49511"/>
                  <a:pt x="442340" y="110585"/>
                </a:cubicBezTo>
                <a:lnTo>
                  <a:pt x="442340" y="331755"/>
                </a:lnTo>
                <a:cubicBezTo>
                  <a:pt x="442340" y="392830"/>
                  <a:pt x="392830" y="442340"/>
                  <a:pt x="331755" y="442340"/>
                </a:cubicBezTo>
                <a:lnTo>
                  <a:pt x="110585" y="442340"/>
                </a:lnTo>
                <a:cubicBezTo>
                  <a:pt x="49511" y="442340"/>
                  <a:pt x="0" y="392830"/>
                  <a:pt x="0" y="331755"/>
                </a:cubicBezTo>
                <a:lnTo>
                  <a:pt x="0" y="110585"/>
                </a:lnTo>
                <a:cubicBezTo>
                  <a:pt x="0" y="49551"/>
                  <a:pt x="49551" y="0"/>
                  <a:pt x="110585" y="0"/>
                </a:cubicBezTo>
                <a:close/>
              </a:path>
            </a:pathLst>
          </a:custGeom>
          <a:solidFill>
            <a:srgbClr val="1E3A8A"/>
          </a:solidFill>
          <a:ln/>
        </p:spPr>
      </p:sp>
      <p:sp>
        <p:nvSpPr>
          <p:cNvPr id="7" name="Shape 5"/>
          <p:cNvSpPr/>
          <p:nvPr/>
        </p:nvSpPr>
        <p:spPr>
          <a:xfrm>
            <a:off x="704980" y="1935238"/>
            <a:ext cx="138231" cy="184308"/>
          </a:xfrm>
          <a:custGeom>
            <a:avLst/>
            <a:gdLst/>
            <a:ahLst/>
            <a:cxnLst/>
            <a:rect l="l" t="t" r="r" b="b"/>
            <a:pathLst>
              <a:path w="138231" h="184308">
                <a:moveTo>
                  <a:pt x="23039" y="0"/>
                </a:moveTo>
                <a:cubicBezTo>
                  <a:pt x="10331" y="0"/>
                  <a:pt x="0" y="10331"/>
                  <a:pt x="0" y="23039"/>
                </a:cubicBezTo>
                <a:lnTo>
                  <a:pt x="0" y="161270"/>
                </a:lnTo>
                <a:cubicBezTo>
                  <a:pt x="0" y="173977"/>
                  <a:pt x="10331" y="184308"/>
                  <a:pt x="23039" y="184308"/>
                </a:cubicBezTo>
                <a:lnTo>
                  <a:pt x="115193" y="184308"/>
                </a:lnTo>
                <a:cubicBezTo>
                  <a:pt x="127900" y="184308"/>
                  <a:pt x="138231" y="173977"/>
                  <a:pt x="138231" y="161270"/>
                </a:cubicBezTo>
                <a:lnTo>
                  <a:pt x="138231" y="23039"/>
                </a:lnTo>
                <a:cubicBezTo>
                  <a:pt x="138231" y="10331"/>
                  <a:pt x="127900" y="0"/>
                  <a:pt x="115193" y="0"/>
                </a:cubicBezTo>
                <a:lnTo>
                  <a:pt x="23039" y="0"/>
                </a:lnTo>
                <a:close/>
                <a:moveTo>
                  <a:pt x="63356" y="126712"/>
                </a:moveTo>
                <a:lnTo>
                  <a:pt x="74875" y="126712"/>
                </a:lnTo>
                <a:cubicBezTo>
                  <a:pt x="81247" y="126712"/>
                  <a:pt x="86395" y="131860"/>
                  <a:pt x="86395" y="138231"/>
                </a:cubicBezTo>
                <a:lnTo>
                  <a:pt x="86395" y="167029"/>
                </a:lnTo>
                <a:lnTo>
                  <a:pt x="51837" y="167029"/>
                </a:lnTo>
                <a:lnTo>
                  <a:pt x="51837" y="138231"/>
                </a:lnTo>
                <a:cubicBezTo>
                  <a:pt x="51837" y="131860"/>
                  <a:pt x="56984" y="126712"/>
                  <a:pt x="63356" y="126712"/>
                </a:cubicBezTo>
                <a:close/>
                <a:moveTo>
                  <a:pt x="34558" y="40317"/>
                </a:moveTo>
                <a:cubicBezTo>
                  <a:pt x="34558" y="37150"/>
                  <a:pt x="37150" y="34558"/>
                  <a:pt x="40317" y="34558"/>
                </a:cubicBezTo>
                <a:lnTo>
                  <a:pt x="51837" y="34558"/>
                </a:lnTo>
                <a:cubicBezTo>
                  <a:pt x="55005" y="34558"/>
                  <a:pt x="57596" y="37150"/>
                  <a:pt x="57596" y="40317"/>
                </a:cubicBezTo>
                <a:lnTo>
                  <a:pt x="57596" y="51837"/>
                </a:lnTo>
                <a:cubicBezTo>
                  <a:pt x="57596" y="55005"/>
                  <a:pt x="55005" y="57596"/>
                  <a:pt x="51837" y="57596"/>
                </a:cubicBezTo>
                <a:lnTo>
                  <a:pt x="40317" y="57596"/>
                </a:lnTo>
                <a:cubicBezTo>
                  <a:pt x="37150" y="57596"/>
                  <a:pt x="34558" y="55005"/>
                  <a:pt x="34558" y="51837"/>
                </a:cubicBezTo>
                <a:lnTo>
                  <a:pt x="34558" y="40317"/>
                </a:lnTo>
                <a:close/>
                <a:moveTo>
                  <a:pt x="86395" y="34558"/>
                </a:moveTo>
                <a:lnTo>
                  <a:pt x="97914" y="34558"/>
                </a:lnTo>
                <a:cubicBezTo>
                  <a:pt x="101082" y="34558"/>
                  <a:pt x="103673" y="37150"/>
                  <a:pt x="103673" y="40317"/>
                </a:cubicBezTo>
                <a:lnTo>
                  <a:pt x="103673" y="51837"/>
                </a:lnTo>
                <a:cubicBezTo>
                  <a:pt x="103673" y="55005"/>
                  <a:pt x="101082" y="57596"/>
                  <a:pt x="97914" y="57596"/>
                </a:cubicBezTo>
                <a:lnTo>
                  <a:pt x="86395" y="57596"/>
                </a:lnTo>
                <a:cubicBezTo>
                  <a:pt x="83227" y="57596"/>
                  <a:pt x="80635" y="55005"/>
                  <a:pt x="80635" y="51837"/>
                </a:cubicBezTo>
                <a:lnTo>
                  <a:pt x="80635" y="40317"/>
                </a:lnTo>
                <a:cubicBezTo>
                  <a:pt x="80635" y="37150"/>
                  <a:pt x="83227" y="34558"/>
                  <a:pt x="86395" y="34558"/>
                </a:cubicBezTo>
                <a:close/>
                <a:moveTo>
                  <a:pt x="34558" y="86395"/>
                </a:moveTo>
                <a:cubicBezTo>
                  <a:pt x="34558" y="83227"/>
                  <a:pt x="37150" y="80635"/>
                  <a:pt x="40317" y="80635"/>
                </a:cubicBezTo>
                <a:lnTo>
                  <a:pt x="51837" y="80635"/>
                </a:lnTo>
                <a:cubicBezTo>
                  <a:pt x="55005" y="80635"/>
                  <a:pt x="57596" y="83227"/>
                  <a:pt x="57596" y="86395"/>
                </a:cubicBezTo>
                <a:lnTo>
                  <a:pt x="57596" y="97914"/>
                </a:lnTo>
                <a:cubicBezTo>
                  <a:pt x="57596" y="101082"/>
                  <a:pt x="55005" y="103673"/>
                  <a:pt x="51837" y="103673"/>
                </a:cubicBezTo>
                <a:lnTo>
                  <a:pt x="40317" y="103673"/>
                </a:lnTo>
                <a:cubicBezTo>
                  <a:pt x="37150" y="103673"/>
                  <a:pt x="34558" y="101082"/>
                  <a:pt x="34558" y="97914"/>
                </a:cubicBezTo>
                <a:lnTo>
                  <a:pt x="34558" y="86395"/>
                </a:lnTo>
                <a:close/>
                <a:moveTo>
                  <a:pt x="86395" y="80635"/>
                </a:moveTo>
                <a:lnTo>
                  <a:pt x="97914" y="80635"/>
                </a:lnTo>
                <a:cubicBezTo>
                  <a:pt x="101082" y="80635"/>
                  <a:pt x="103673" y="83227"/>
                  <a:pt x="103673" y="86395"/>
                </a:cubicBezTo>
                <a:lnTo>
                  <a:pt x="103673" y="97914"/>
                </a:lnTo>
                <a:cubicBezTo>
                  <a:pt x="103673" y="101082"/>
                  <a:pt x="101082" y="103673"/>
                  <a:pt x="97914" y="103673"/>
                </a:cubicBezTo>
                <a:lnTo>
                  <a:pt x="86395" y="103673"/>
                </a:lnTo>
                <a:cubicBezTo>
                  <a:pt x="83227" y="103673"/>
                  <a:pt x="80635" y="101082"/>
                  <a:pt x="80635" y="97914"/>
                </a:cubicBezTo>
                <a:lnTo>
                  <a:pt x="80635" y="86395"/>
                </a:lnTo>
                <a:cubicBezTo>
                  <a:pt x="80635" y="83227"/>
                  <a:pt x="83227" y="80635"/>
                  <a:pt x="86395" y="80635"/>
                </a:cubicBezTo>
                <a:close/>
              </a:path>
            </a:pathLst>
          </a:custGeom>
          <a:solidFill>
            <a:srgbClr val="FFFFFF"/>
          </a:solidFill>
          <a:ln/>
        </p:spPr>
      </p:sp>
      <p:sp>
        <p:nvSpPr>
          <p:cNvPr id="8" name="Text 6"/>
          <p:cNvSpPr/>
          <p:nvPr/>
        </p:nvSpPr>
        <p:spPr>
          <a:xfrm>
            <a:off x="1105850" y="1898376"/>
            <a:ext cx="746449" cy="258032"/>
          </a:xfrm>
          <a:prstGeom prst="rect">
            <a:avLst/>
          </a:prstGeom>
          <a:noFill/>
          <a:ln/>
        </p:spPr>
        <p:txBody>
          <a:bodyPr wrap="square" lIns="0" tIns="0" rIns="0" bIns="0" rtlCol="0" anchor="ctr"/>
          <a:lstStyle/>
          <a:p>
            <a:pPr>
              <a:lnSpc>
                <a:spcPct val="120000"/>
              </a:lnSpc>
            </a:pPr>
            <a:r>
              <a:rPr lang="en-US" sz="1451" b="1" dirty="0">
                <a:solidFill>
                  <a:srgbClr val="1E3A8A"/>
                </a:solidFill>
                <a:latin typeface="Noto Sans SC" pitchFamily="34" charset="0"/>
                <a:ea typeface="Noto Sans SC" pitchFamily="34" charset="-122"/>
                <a:cs typeface="Noto Sans SC" pitchFamily="34" charset="-120"/>
              </a:rPr>
              <a:t>Identité</a:t>
            </a:r>
            <a:endParaRPr lang="en-US" sz="1600" dirty="0"/>
          </a:p>
        </p:txBody>
      </p:sp>
      <p:sp>
        <p:nvSpPr>
          <p:cNvPr id="9" name="Text 7"/>
          <p:cNvSpPr/>
          <p:nvPr/>
        </p:nvSpPr>
        <p:spPr>
          <a:xfrm>
            <a:off x="552925" y="2359147"/>
            <a:ext cx="3400490" cy="239601"/>
          </a:xfrm>
          <a:prstGeom prst="rect">
            <a:avLst/>
          </a:prstGeom>
          <a:noFill/>
          <a:ln/>
        </p:spPr>
        <p:txBody>
          <a:bodyPr wrap="square" lIns="0" tIns="0" rIns="0" bIns="0" rtlCol="0" anchor="ctr"/>
          <a:lstStyle/>
          <a:p>
            <a:pPr>
              <a:lnSpc>
                <a:spcPct val="140000"/>
              </a:lnSpc>
            </a:pPr>
            <a:r>
              <a:rPr lang="en-US" sz="1161" dirty="0">
                <a:solidFill>
                  <a:srgbClr val="374151"/>
                </a:solidFill>
                <a:latin typeface="MiSans" pitchFamily="34" charset="0"/>
                <a:ea typeface="MiSans" pitchFamily="34" charset="-122"/>
                <a:cs typeface="MiSans" pitchFamily="34" charset="-120"/>
              </a:rPr>
              <a:t>PME vendéenne depuis </a:t>
            </a:r>
            <a:r>
              <a:rPr lang="en-US" sz="1161" b="1" dirty="0">
                <a:solidFill>
                  <a:srgbClr val="1E3A8A"/>
                </a:solidFill>
                <a:latin typeface="MiSans" pitchFamily="34" charset="0"/>
                <a:ea typeface="MiSans" pitchFamily="34" charset="-122"/>
                <a:cs typeface="MiSans" pitchFamily="34" charset="-120"/>
              </a:rPr>
              <a:t>1979</a:t>
            </a:r>
            <a:r>
              <a:rPr lang="en-US" sz="1161" dirty="0">
                <a:solidFill>
                  <a:srgbClr val="374151"/>
                </a:solidFill>
                <a:latin typeface="MiSans" pitchFamily="34" charset="0"/>
                <a:ea typeface="MiSans" pitchFamily="34" charset="-122"/>
                <a:cs typeface="MiSans" pitchFamily="34" charset="-120"/>
              </a:rPr>
              <a:t>, groupe </a:t>
            </a:r>
            <a:r>
              <a:rPr lang="en-US" sz="1161" b="1" dirty="0">
                <a:solidFill>
                  <a:srgbClr val="1E3A8A"/>
                </a:solidFill>
                <a:latin typeface="MiSans" pitchFamily="34" charset="0"/>
                <a:ea typeface="MiSans" pitchFamily="34" charset="-122"/>
                <a:cs typeface="MiSans" pitchFamily="34" charset="-120"/>
              </a:rPr>
              <a:t>FIDEIP</a:t>
            </a:r>
            <a:endParaRPr lang="en-US" sz="1600" dirty="0"/>
          </a:p>
        </p:txBody>
      </p:sp>
      <p:sp>
        <p:nvSpPr>
          <p:cNvPr id="10" name="Shape 8"/>
          <p:cNvSpPr/>
          <p:nvPr/>
        </p:nvSpPr>
        <p:spPr>
          <a:xfrm>
            <a:off x="4247156" y="1621914"/>
            <a:ext cx="3695383" cy="1511329"/>
          </a:xfrm>
          <a:custGeom>
            <a:avLst/>
            <a:gdLst/>
            <a:ahLst/>
            <a:cxnLst/>
            <a:rect l="l" t="t" r="r" b="b"/>
            <a:pathLst>
              <a:path w="3695383" h="1511329">
                <a:moveTo>
                  <a:pt x="147445" y="0"/>
                </a:moveTo>
                <a:lnTo>
                  <a:pt x="3547938" y="0"/>
                </a:lnTo>
                <a:cubicBezTo>
                  <a:pt x="3629370" y="0"/>
                  <a:pt x="3695383" y="66013"/>
                  <a:pt x="3695383" y="147445"/>
                </a:cubicBezTo>
                <a:lnTo>
                  <a:pt x="3695383" y="1363884"/>
                </a:lnTo>
                <a:cubicBezTo>
                  <a:pt x="3695383" y="1445315"/>
                  <a:pt x="3629370" y="1511329"/>
                  <a:pt x="3547938" y="1511329"/>
                </a:cubicBezTo>
                <a:lnTo>
                  <a:pt x="147445" y="1511329"/>
                </a:lnTo>
                <a:cubicBezTo>
                  <a:pt x="66013" y="1511329"/>
                  <a:pt x="0" y="1445315"/>
                  <a:pt x="0" y="1363884"/>
                </a:cubicBezTo>
                <a:lnTo>
                  <a:pt x="0" y="147445"/>
                </a:lnTo>
                <a:cubicBezTo>
                  <a:pt x="0" y="66013"/>
                  <a:pt x="66013" y="0"/>
                  <a:pt x="147445" y="0"/>
                </a:cubicBezTo>
                <a:close/>
              </a:path>
            </a:pathLst>
          </a:custGeom>
          <a:solidFill>
            <a:srgbClr val="F3F4F6"/>
          </a:solidFill>
          <a:ln/>
        </p:spPr>
      </p:sp>
      <p:sp>
        <p:nvSpPr>
          <p:cNvPr id="11" name="Shape 9"/>
          <p:cNvSpPr/>
          <p:nvPr/>
        </p:nvSpPr>
        <p:spPr>
          <a:xfrm>
            <a:off x="4431465" y="1806222"/>
            <a:ext cx="442340" cy="442340"/>
          </a:xfrm>
          <a:custGeom>
            <a:avLst/>
            <a:gdLst/>
            <a:ahLst/>
            <a:cxnLst/>
            <a:rect l="l" t="t" r="r" b="b"/>
            <a:pathLst>
              <a:path w="442340" h="442340">
                <a:moveTo>
                  <a:pt x="110585" y="0"/>
                </a:moveTo>
                <a:lnTo>
                  <a:pt x="331755" y="0"/>
                </a:lnTo>
                <a:cubicBezTo>
                  <a:pt x="392830" y="0"/>
                  <a:pt x="442340" y="49511"/>
                  <a:pt x="442340" y="110585"/>
                </a:cubicBezTo>
                <a:lnTo>
                  <a:pt x="442340" y="331755"/>
                </a:lnTo>
                <a:cubicBezTo>
                  <a:pt x="442340" y="392830"/>
                  <a:pt x="392830" y="442340"/>
                  <a:pt x="331755" y="442340"/>
                </a:cubicBezTo>
                <a:lnTo>
                  <a:pt x="110585" y="442340"/>
                </a:lnTo>
                <a:cubicBezTo>
                  <a:pt x="49511" y="442340"/>
                  <a:pt x="0" y="392830"/>
                  <a:pt x="0" y="331755"/>
                </a:cubicBezTo>
                <a:lnTo>
                  <a:pt x="0" y="110585"/>
                </a:lnTo>
                <a:cubicBezTo>
                  <a:pt x="0" y="49551"/>
                  <a:pt x="49551" y="0"/>
                  <a:pt x="110585" y="0"/>
                </a:cubicBezTo>
                <a:close/>
              </a:path>
            </a:pathLst>
          </a:custGeom>
          <a:solidFill>
            <a:srgbClr val="8B5CF6"/>
          </a:solidFill>
          <a:ln/>
        </p:spPr>
      </p:sp>
      <p:sp>
        <p:nvSpPr>
          <p:cNvPr id="12" name="Shape 10"/>
          <p:cNvSpPr/>
          <p:nvPr/>
        </p:nvSpPr>
        <p:spPr>
          <a:xfrm>
            <a:off x="4560481" y="1935238"/>
            <a:ext cx="184308" cy="184308"/>
          </a:xfrm>
          <a:custGeom>
            <a:avLst/>
            <a:gdLst/>
            <a:ahLst/>
            <a:cxnLst/>
            <a:rect l="l" t="t" r="r" b="b"/>
            <a:pathLst>
              <a:path w="184308" h="184308">
                <a:moveTo>
                  <a:pt x="11519" y="11519"/>
                </a:moveTo>
                <a:cubicBezTo>
                  <a:pt x="5148" y="11519"/>
                  <a:pt x="0" y="16667"/>
                  <a:pt x="0" y="23039"/>
                </a:cubicBezTo>
                <a:lnTo>
                  <a:pt x="0" y="155510"/>
                </a:lnTo>
                <a:cubicBezTo>
                  <a:pt x="0" y="165050"/>
                  <a:pt x="7740" y="172789"/>
                  <a:pt x="17279" y="172789"/>
                </a:cubicBezTo>
                <a:lnTo>
                  <a:pt x="167029" y="172789"/>
                </a:lnTo>
                <a:cubicBezTo>
                  <a:pt x="176569" y="172789"/>
                  <a:pt x="184308" y="165050"/>
                  <a:pt x="184308" y="155510"/>
                </a:cubicBezTo>
                <a:lnTo>
                  <a:pt x="184308" y="54789"/>
                </a:lnTo>
                <a:cubicBezTo>
                  <a:pt x="184308" y="48237"/>
                  <a:pt x="177325" y="44097"/>
                  <a:pt x="171565" y="47193"/>
                </a:cubicBezTo>
                <a:lnTo>
                  <a:pt x="115193" y="77539"/>
                </a:lnTo>
                <a:lnTo>
                  <a:pt x="115193" y="54789"/>
                </a:lnTo>
                <a:cubicBezTo>
                  <a:pt x="115193" y="48237"/>
                  <a:pt x="108209" y="44097"/>
                  <a:pt x="102450" y="47193"/>
                </a:cubicBezTo>
                <a:lnTo>
                  <a:pt x="46077" y="77539"/>
                </a:lnTo>
                <a:lnTo>
                  <a:pt x="46077" y="23039"/>
                </a:lnTo>
                <a:cubicBezTo>
                  <a:pt x="46077" y="16667"/>
                  <a:pt x="40929" y="11519"/>
                  <a:pt x="34558" y="11519"/>
                </a:cubicBezTo>
                <a:lnTo>
                  <a:pt x="11519" y="11519"/>
                </a:lnTo>
                <a:close/>
              </a:path>
            </a:pathLst>
          </a:custGeom>
          <a:solidFill>
            <a:srgbClr val="FFFFFF"/>
          </a:solidFill>
          <a:ln/>
        </p:spPr>
      </p:sp>
      <p:sp>
        <p:nvSpPr>
          <p:cNvPr id="13" name="Text 11"/>
          <p:cNvSpPr/>
          <p:nvPr/>
        </p:nvSpPr>
        <p:spPr>
          <a:xfrm>
            <a:off x="4984390" y="1898376"/>
            <a:ext cx="875465" cy="258032"/>
          </a:xfrm>
          <a:prstGeom prst="rect">
            <a:avLst/>
          </a:prstGeom>
          <a:noFill/>
          <a:ln/>
        </p:spPr>
        <p:txBody>
          <a:bodyPr wrap="square" lIns="0" tIns="0" rIns="0" bIns="0" rtlCol="0" anchor="ctr"/>
          <a:lstStyle/>
          <a:p>
            <a:pPr>
              <a:lnSpc>
                <a:spcPct val="120000"/>
              </a:lnSpc>
            </a:pPr>
            <a:r>
              <a:rPr lang="en-US" sz="1451" b="1" dirty="0">
                <a:solidFill>
                  <a:srgbClr val="1E3A8A"/>
                </a:solidFill>
                <a:latin typeface="Noto Sans SC" pitchFamily="34" charset="0"/>
                <a:ea typeface="Noto Sans SC" pitchFamily="34" charset="-122"/>
                <a:cs typeface="Noto Sans SC" pitchFamily="34" charset="-120"/>
              </a:rPr>
              <a:t>Secteurs</a:t>
            </a:r>
            <a:endParaRPr lang="en-US" sz="1600" dirty="0"/>
          </a:p>
        </p:txBody>
      </p:sp>
      <p:sp>
        <p:nvSpPr>
          <p:cNvPr id="14" name="Shape 12"/>
          <p:cNvSpPr/>
          <p:nvPr/>
        </p:nvSpPr>
        <p:spPr>
          <a:xfrm>
            <a:off x="4431465" y="2359147"/>
            <a:ext cx="986050" cy="258032"/>
          </a:xfrm>
          <a:custGeom>
            <a:avLst/>
            <a:gdLst/>
            <a:ahLst/>
            <a:cxnLst/>
            <a:rect l="l" t="t" r="r" b="b"/>
            <a:pathLst>
              <a:path w="986050" h="258032">
                <a:moveTo>
                  <a:pt x="129016" y="0"/>
                </a:moveTo>
                <a:lnTo>
                  <a:pt x="857034" y="0"/>
                </a:lnTo>
                <a:cubicBezTo>
                  <a:pt x="928288" y="0"/>
                  <a:pt x="986050" y="57762"/>
                  <a:pt x="986050" y="129016"/>
                </a:cubicBezTo>
                <a:lnTo>
                  <a:pt x="986050" y="129016"/>
                </a:lnTo>
                <a:cubicBezTo>
                  <a:pt x="986050" y="200269"/>
                  <a:pt x="928288" y="258032"/>
                  <a:pt x="857034" y="258032"/>
                </a:cubicBezTo>
                <a:lnTo>
                  <a:pt x="129016" y="258032"/>
                </a:lnTo>
                <a:cubicBezTo>
                  <a:pt x="57810" y="258032"/>
                  <a:pt x="0" y="200222"/>
                  <a:pt x="0" y="129016"/>
                </a:cubicBezTo>
                <a:lnTo>
                  <a:pt x="0" y="129016"/>
                </a:lnTo>
                <a:cubicBezTo>
                  <a:pt x="0" y="57810"/>
                  <a:pt x="57810" y="0"/>
                  <a:pt x="129016" y="0"/>
                </a:cubicBezTo>
                <a:close/>
              </a:path>
            </a:pathLst>
          </a:custGeom>
          <a:solidFill>
            <a:srgbClr val="1E3A8A"/>
          </a:solidFill>
          <a:ln/>
        </p:spPr>
      </p:sp>
      <p:sp>
        <p:nvSpPr>
          <p:cNvPr id="15" name="Text 13"/>
          <p:cNvSpPr/>
          <p:nvPr/>
        </p:nvSpPr>
        <p:spPr>
          <a:xfrm>
            <a:off x="4431465" y="2359147"/>
            <a:ext cx="1050558" cy="258032"/>
          </a:xfrm>
          <a:prstGeom prst="rect">
            <a:avLst/>
          </a:prstGeom>
          <a:noFill/>
          <a:ln/>
        </p:spPr>
        <p:txBody>
          <a:bodyPr wrap="square" lIns="110585" tIns="36862" rIns="110585" bIns="36862" rtlCol="0" anchor="ctr"/>
          <a:lstStyle/>
          <a:p>
            <a:pPr>
              <a:lnSpc>
                <a:spcPct val="120000"/>
              </a:lnSpc>
            </a:pPr>
            <a:r>
              <a:rPr lang="en-US" sz="1016" b="1" dirty="0">
                <a:solidFill>
                  <a:srgbClr val="FFFFFF"/>
                </a:solidFill>
                <a:latin typeface="MiSans" pitchFamily="34" charset="0"/>
                <a:ea typeface="MiSans" pitchFamily="34" charset="-122"/>
                <a:cs typeface="MiSans" pitchFamily="34" charset="-120"/>
              </a:rPr>
              <a:t>Aéronautique</a:t>
            </a:r>
            <a:endParaRPr lang="en-US" sz="1600" dirty="0"/>
          </a:p>
        </p:txBody>
      </p:sp>
      <p:sp>
        <p:nvSpPr>
          <p:cNvPr id="16" name="Shape 14"/>
          <p:cNvSpPr/>
          <p:nvPr/>
        </p:nvSpPr>
        <p:spPr>
          <a:xfrm>
            <a:off x="5493974" y="2359147"/>
            <a:ext cx="617433" cy="258032"/>
          </a:xfrm>
          <a:custGeom>
            <a:avLst/>
            <a:gdLst/>
            <a:ahLst/>
            <a:cxnLst/>
            <a:rect l="l" t="t" r="r" b="b"/>
            <a:pathLst>
              <a:path w="617433" h="258032">
                <a:moveTo>
                  <a:pt x="129016" y="0"/>
                </a:moveTo>
                <a:lnTo>
                  <a:pt x="488417" y="0"/>
                </a:lnTo>
                <a:cubicBezTo>
                  <a:pt x="559623" y="0"/>
                  <a:pt x="617433" y="57810"/>
                  <a:pt x="617433" y="129016"/>
                </a:cubicBezTo>
                <a:lnTo>
                  <a:pt x="617433" y="129016"/>
                </a:lnTo>
                <a:cubicBezTo>
                  <a:pt x="617433" y="200222"/>
                  <a:pt x="559623" y="258032"/>
                  <a:pt x="488417" y="258032"/>
                </a:cubicBezTo>
                <a:lnTo>
                  <a:pt x="129016" y="258032"/>
                </a:lnTo>
                <a:cubicBezTo>
                  <a:pt x="57810" y="258032"/>
                  <a:pt x="0" y="200222"/>
                  <a:pt x="0" y="129016"/>
                </a:cubicBezTo>
                <a:lnTo>
                  <a:pt x="0" y="129016"/>
                </a:lnTo>
                <a:cubicBezTo>
                  <a:pt x="0" y="57810"/>
                  <a:pt x="57810" y="0"/>
                  <a:pt x="129016" y="0"/>
                </a:cubicBezTo>
                <a:close/>
              </a:path>
            </a:pathLst>
          </a:custGeom>
          <a:solidFill>
            <a:srgbClr val="8B5CF6"/>
          </a:solidFill>
          <a:ln/>
        </p:spPr>
      </p:sp>
      <p:sp>
        <p:nvSpPr>
          <p:cNvPr id="17" name="Text 15"/>
          <p:cNvSpPr/>
          <p:nvPr/>
        </p:nvSpPr>
        <p:spPr>
          <a:xfrm>
            <a:off x="5493974" y="2359147"/>
            <a:ext cx="681941" cy="258032"/>
          </a:xfrm>
          <a:prstGeom prst="rect">
            <a:avLst/>
          </a:prstGeom>
          <a:noFill/>
          <a:ln/>
        </p:spPr>
        <p:txBody>
          <a:bodyPr wrap="square" lIns="110585" tIns="36862" rIns="110585" bIns="36862" rtlCol="0" anchor="ctr"/>
          <a:lstStyle/>
          <a:p>
            <a:pPr>
              <a:lnSpc>
                <a:spcPct val="120000"/>
              </a:lnSpc>
            </a:pPr>
            <a:r>
              <a:rPr lang="en-US" sz="1016" b="1" dirty="0">
                <a:solidFill>
                  <a:srgbClr val="FFFFFF"/>
                </a:solidFill>
                <a:latin typeface="MiSans" pitchFamily="34" charset="0"/>
                <a:ea typeface="MiSans" pitchFamily="34" charset="-122"/>
                <a:cs typeface="MiSans" pitchFamily="34" charset="-120"/>
              </a:rPr>
              <a:t>Spatial</a:t>
            </a:r>
            <a:endParaRPr lang="en-US" sz="1600" dirty="0"/>
          </a:p>
        </p:txBody>
      </p:sp>
      <p:sp>
        <p:nvSpPr>
          <p:cNvPr id="18" name="Shape 16"/>
          <p:cNvSpPr/>
          <p:nvPr/>
        </p:nvSpPr>
        <p:spPr>
          <a:xfrm>
            <a:off x="6183402" y="2359147"/>
            <a:ext cx="700372" cy="258032"/>
          </a:xfrm>
          <a:custGeom>
            <a:avLst/>
            <a:gdLst/>
            <a:ahLst/>
            <a:cxnLst/>
            <a:rect l="l" t="t" r="r" b="b"/>
            <a:pathLst>
              <a:path w="700372" h="258032">
                <a:moveTo>
                  <a:pt x="129016" y="0"/>
                </a:moveTo>
                <a:lnTo>
                  <a:pt x="571356" y="0"/>
                </a:lnTo>
                <a:cubicBezTo>
                  <a:pt x="642562" y="0"/>
                  <a:pt x="700372" y="57810"/>
                  <a:pt x="700372" y="129016"/>
                </a:cubicBezTo>
                <a:lnTo>
                  <a:pt x="700372" y="129016"/>
                </a:lnTo>
                <a:cubicBezTo>
                  <a:pt x="700372" y="200222"/>
                  <a:pt x="642562" y="258032"/>
                  <a:pt x="571356" y="258032"/>
                </a:cubicBezTo>
                <a:lnTo>
                  <a:pt x="129016" y="258032"/>
                </a:lnTo>
                <a:cubicBezTo>
                  <a:pt x="57810" y="258032"/>
                  <a:pt x="0" y="200222"/>
                  <a:pt x="0" y="129016"/>
                </a:cubicBezTo>
                <a:lnTo>
                  <a:pt x="0" y="129016"/>
                </a:lnTo>
                <a:cubicBezTo>
                  <a:pt x="0" y="57810"/>
                  <a:pt x="57810" y="0"/>
                  <a:pt x="129016" y="0"/>
                </a:cubicBezTo>
                <a:close/>
              </a:path>
            </a:pathLst>
          </a:custGeom>
          <a:solidFill>
            <a:srgbClr val="10B981"/>
          </a:solidFill>
          <a:ln/>
        </p:spPr>
      </p:sp>
      <p:sp>
        <p:nvSpPr>
          <p:cNvPr id="19" name="Text 17"/>
          <p:cNvSpPr/>
          <p:nvPr/>
        </p:nvSpPr>
        <p:spPr>
          <a:xfrm>
            <a:off x="6183402" y="2359147"/>
            <a:ext cx="764880" cy="258032"/>
          </a:xfrm>
          <a:prstGeom prst="rect">
            <a:avLst/>
          </a:prstGeom>
          <a:noFill/>
          <a:ln/>
        </p:spPr>
        <p:txBody>
          <a:bodyPr wrap="square" lIns="110585" tIns="36862" rIns="110585" bIns="36862" rtlCol="0" anchor="ctr"/>
          <a:lstStyle/>
          <a:p>
            <a:pPr>
              <a:lnSpc>
                <a:spcPct val="120000"/>
              </a:lnSpc>
            </a:pPr>
            <a:r>
              <a:rPr lang="en-US" sz="1016" b="1" dirty="0">
                <a:solidFill>
                  <a:srgbClr val="FFFFFF"/>
                </a:solidFill>
                <a:latin typeface="MiSans" pitchFamily="34" charset="0"/>
                <a:ea typeface="MiSans" pitchFamily="34" charset="-122"/>
                <a:cs typeface="MiSans" pitchFamily="34" charset="-120"/>
              </a:rPr>
              <a:t>Défense</a:t>
            </a:r>
            <a:endParaRPr lang="en-US" sz="1600" dirty="0"/>
          </a:p>
        </p:txBody>
      </p:sp>
      <p:sp>
        <p:nvSpPr>
          <p:cNvPr id="20" name="Shape 18"/>
          <p:cNvSpPr/>
          <p:nvPr/>
        </p:nvSpPr>
        <p:spPr>
          <a:xfrm>
            <a:off x="6958938" y="2359147"/>
            <a:ext cx="663510" cy="258032"/>
          </a:xfrm>
          <a:custGeom>
            <a:avLst/>
            <a:gdLst/>
            <a:ahLst/>
            <a:cxnLst/>
            <a:rect l="l" t="t" r="r" b="b"/>
            <a:pathLst>
              <a:path w="663510" h="258032">
                <a:moveTo>
                  <a:pt x="129016" y="0"/>
                </a:moveTo>
                <a:lnTo>
                  <a:pt x="534494" y="0"/>
                </a:lnTo>
                <a:cubicBezTo>
                  <a:pt x="605700" y="0"/>
                  <a:pt x="663510" y="57810"/>
                  <a:pt x="663510" y="129016"/>
                </a:cubicBezTo>
                <a:lnTo>
                  <a:pt x="663510" y="129016"/>
                </a:lnTo>
                <a:cubicBezTo>
                  <a:pt x="663510" y="200222"/>
                  <a:pt x="605700" y="258032"/>
                  <a:pt x="534494" y="258032"/>
                </a:cubicBezTo>
                <a:lnTo>
                  <a:pt x="129016" y="258032"/>
                </a:lnTo>
                <a:cubicBezTo>
                  <a:pt x="57810" y="258032"/>
                  <a:pt x="0" y="200222"/>
                  <a:pt x="0" y="129016"/>
                </a:cubicBezTo>
                <a:lnTo>
                  <a:pt x="0" y="129016"/>
                </a:lnTo>
                <a:cubicBezTo>
                  <a:pt x="0" y="57810"/>
                  <a:pt x="57810" y="0"/>
                  <a:pt x="129016" y="0"/>
                </a:cubicBezTo>
                <a:close/>
              </a:path>
            </a:pathLst>
          </a:custGeom>
          <a:solidFill>
            <a:srgbClr val="EC4899"/>
          </a:solidFill>
          <a:ln/>
        </p:spPr>
      </p:sp>
      <p:sp>
        <p:nvSpPr>
          <p:cNvPr id="21" name="Text 19"/>
          <p:cNvSpPr/>
          <p:nvPr/>
        </p:nvSpPr>
        <p:spPr>
          <a:xfrm>
            <a:off x="6958938" y="2359147"/>
            <a:ext cx="728018" cy="258032"/>
          </a:xfrm>
          <a:prstGeom prst="rect">
            <a:avLst/>
          </a:prstGeom>
          <a:noFill/>
          <a:ln/>
        </p:spPr>
        <p:txBody>
          <a:bodyPr wrap="square" lIns="110585" tIns="36862" rIns="110585" bIns="36862" rtlCol="0" anchor="ctr"/>
          <a:lstStyle/>
          <a:p>
            <a:pPr>
              <a:lnSpc>
                <a:spcPct val="120000"/>
              </a:lnSpc>
            </a:pPr>
            <a:r>
              <a:rPr lang="en-US" sz="1016" b="1" dirty="0">
                <a:solidFill>
                  <a:srgbClr val="FFFFFF"/>
                </a:solidFill>
                <a:latin typeface="MiSans" pitchFamily="34" charset="0"/>
                <a:ea typeface="MiSans" pitchFamily="34" charset="-122"/>
                <a:cs typeface="MiSans" pitchFamily="34" charset="-120"/>
              </a:rPr>
              <a:t>Médical</a:t>
            </a:r>
            <a:endParaRPr lang="en-US" sz="1600" dirty="0"/>
          </a:p>
        </p:txBody>
      </p:sp>
      <p:sp>
        <p:nvSpPr>
          <p:cNvPr id="22" name="Shape 20"/>
          <p:cNvSpPr/>
          <p:nvPr/>
        </p:nvSpPr>
        <p:spPr>
          <a:xfrm>
            <a:off x="4431465" y="2690902"/>
            <a:ext cx="810957" cy="258032"/>
          </a:xfrm>
          <a:custGeom>
            <a:avLst/>
            <a:gdLst/>
            <a:ahLst/>
            <a:cxnLst/>
            <a:rect l="l" t="t" r="r" b="b"/>
            <a:pathLst>
              <a:path w="810957" h="258032">
                <a:moveTo>
                  <a:pt x="129016" y="0"/>
                </a:moveTo>
                <a:lnTo>
                  <a:pt x="681941" y="0"/>
                </a:lnTo>
                <a:cubicBezTo>
                  <a:pt x="753147" y="0"/>
                  <a:pt x="810957" y="57810"/>
                  <a:pt x="810957" y="129016"/>
                </a:cubicBezTo>
                <a:lnTo>
                  <a:pt x="810957" y="129016"/>
                </a:lnTo>
                <a:cubicBezTo>
                  <a:pt x="810957" y="200222"/>
                  <a:pt x="753147" y="258032"/>
                  <a:pt x="681941" y="258032"/>
                </a:cubicBezTo>
                <a:lnTo>
                  <a:pt x="129016" y="258032"/>
                </a:lnTo>
                <a:cubicBezTo>
                  <a:pt x="57810" y="258032"/>
                  <a:pt x="0" y="200222"/>
                  <a:pt x="0" y="129016"/>
                </a:cubicBezTo>
                <a:lnTo>
                  <a:pt x="0" y="129016"/>
                </a:lnTo>
                <a:cubicBezTo>
                  <a:pt x="0" y="57810"/>
                  <a:pt x="57810" y="0"/>
                  <a:pt x="129016" y="0"/>
                </a:cubicBezTo>
                <a:close/>
              </a:path>
            </a:pathLst>
          </a:custGeom>
          <a:solidFill>
            <a:srgbClr val="F97316"/>
          </a:solidFill>
          <a:ln/>
        </p:spPr>
      </p:sp>
      <p:sp>
        <p:nvSpPr>
          <p:cNvPr id="23" name="Text 21"/>
          <p:cNvSpPr/>
          <p:nvPr/>
        </p:nvSpPr>
        <p:spPr>
          <a:xfrm>
            <a:off x="4431465" y="2690902"/>
            <a:ext cx="875465" cy="258032"/>
          </a:xfrm>
          <a:prstGeom prst="rect">
            <a:avLst/>
          </a:prstGeom>
          <a:noFill/>
          <a:ln/>
        </p:spPr>
        <p:txBody>
          <a:bodyPr wrap="square" lIns="110585" tIns="36862" rIns="110585" bIns="36862" rtlCol="0" anchor="ctr"/>
          <a:lstStyle/>
          <a:p>
            <a:pPr>
              <a:lnSpc>
                <a:spcPct val="120000"/>
              </a:lnSpc>
            </a:pPr>
            <a:r>
              <a:rPr lang="en-US" sz="1016" b="1" dirty="0">
                <a:solidFill>
                  <a:srgbClr val="FFFFFF"/>
                </a:solidFill>
                <a:latin typeface="MiSans" pitchFamily="34" charset="0"/>
                <a:ea typeface="MiSans" pitchFamily="34" charset="-122"/>
                <a:cs typeface="MiSans" pitchFamily="34" charset="-120"/>
              </a:rPr>
              <a:t>Robotique</a:t>
            </a:r>
            <a:endParaRPr lang="en-US" sz="1600" dirty="0"/>
          </a:p>
        </p:txBody>
      </p:sp>
      <p:sp>
        <p:nvSpPr>
          <p:cNvPr id="24" name="Shape 22"/>
          <p:cNvSpPr/>
          <p:nvPr/>
        </p:nvSpPr>
        <p:spPr>
          <a:xfrm>
            <a:off x="5314561" y="2690902"/>
            <a:ext cx="838603" cy="258032"/>
          </a:xfrm>
          <a:custGeom>
            <a:avLst/>
            <a:gdLst/>
            <a:ahLst/>
            <a:cxnLst/>
            <a:rect l="l" t="t" r="r" b="b"/>
            <a:pathLst>
              <a:path w="838603" h="258032">
                <a:moveTo>
                  <a:pt x="129016" y="0"/>
                </a:moveTo>
                <a:lnTo>
                  <a:pt x="709587" y="0"/>
                </a:lnTo>
                <a:cubicBezTo>
                  <a:pt x="780793" y="0"/>
                  <a:pt x="838603" y="57810"/>
                  <a:pt x="838603" y="129016"/>
                </a:cubicBezTo>
                <a:lnTo>
                  <a:pt x="838603" y="129016"/>
                </a:lnTo>
                <a:cubicBezTo>
                  <a:pt x="838603" y="200222"/>
                  <a:pt x="780793" y="258032"/>
                  <a:pt x="709587" y="258032"/>
                </a:cubicBezTo>
                <a:lnTo>
                  <a:pt x="129016" y="258032"/>
                </a:lnTo>
                <a:cubicBezTo>
                  <a:pt x="57810" y="258032"/>
                  <a:pt x="0" y="200222"/>
                  <a:pt x="0" y="129016"/>
                </a:cubicBezTo>
                <a:lnTo>
                  <a:pt x="0" y="129016"/>
                </a:lnTo>
                <a:cubicBezTo>
                  <a:pt x="0" y="57810"/>
                  <a:pt x="57810" y="0"/>
                  <a:pt x="129016" y="0"/>
                </a:cubicBezTo>
                <a:close/>
              </a:path>
            </a:pathLst>
          </a:custGeom>
          <a:solidFill>
            <a:srgbClr val="6B7280"/>
          </a:solidFill>
          <a:ln/>
        </p:spPr>
      </p:sp>
      <p:sp>
        <p:nvSpPr>
          <p:cNvPr id="25" name="Text 23"/>
          <p:cNvSpPr/>
          <p:nvPr/>
        </p:nvSpPr>
        <p:spPr>
          <a:xfrm>
            <a:off x="5314561" y="2690902"/>
            <a:ext cx="903111" cy="258032"/>
          </a:xfrm>
          <a:prstGeom prst="rect">
            <a:avLst/>
          </a:prstGeom>
          <a:noFill/>
          <a:ln/>
        </p:spPr>
        <p:txBody>
          <a:bodyPr wrap="square" lIns="110585" tIns="36862" rIns="110585" bIns="36862" rtlCol="0" anchor="ctr"/>
          <a:lstStyle/>
          <a:p>
            <a:pPr>
              <a:lnSpc>
                <a:spcPct val="120000"/>
              </a:lnSpc>
            </a:pPr>
            <a:r>
              <a:rPr lang="en-US" sz="1016" b="1" dirty="0">
                <a:solidFill>
                  <a:srgbClr val="FFFFFF"/>
                </a:solidFill>
                <a:latin typeface="MiSans" pitchFamily="34" charset="0"/>
                <a:ea typeface="MiSans" pitchFamily="34" charset="-122"/>
                <a:cs typeface="MiSans" pitchFamily="34" charset="-120"/>
              </a:rPr>
              <a:t>Ferroviaire</a:t>
            </a:r>
            <a:endParaRPr lang="en-US" sz="1600" dirty="0"/>
          </a:p>
        </p:txBody>
      </p:sp>
      <p:sp>
        <p:nvSpPr>
          <p:cNvPr id="26" name="Shape 24"/>
          <p:cNvSpPr/>
          <p:nvPr/>
        </p:nvSpPr>
        <p:spPr>
          <a:xfrm>
            <a:off x="8125840" y="1621914"/>
            <a:ext cx="3695383" cy="1511329"/>
          </a:xfrm>
          <a:custGeom>
            <a:avLst/>
            <a:gdLst/>
            <a:ahLst/>
            <a:cxnLst/>
            <a:rect l="l" t="t" r="r" b="b"/>
            <a:pathLst>
              <a:path w="3695383" h="1511329">
                <a:moveTo>
                  <a:pt x="147445" y="0"/>
                </a:moveTo>
                <a:lnTo>
                  <a:pt x="3547938" y="0"/>
                </a:lnTo>
                <a:cubicBezTo>
                  <a:pt x="3629370" y="0"/>
                  <a:pt x="3695383" y="66013"/>
                  <a:pt x="3695383" y="147445"/>
                </a:cubicBezTo>
                <a:lnTo>
                  <a:pt x="3695383" y="1363884"/>
                </a:lnTo>
                <a:cubicBezTo>
                  <a:pt x="3695383" y="1445315"/>
                  <a:pt x="3629370" y="1511329"/>
                  <a:pt x="3547938" y="1511329"/>
                </a:cubicBezTo>
                <a:lnTo>
                  <a:pt x="147445" y="1511329"/>
                </a:lnTo>
                <a:cubicBezTo>
                  <a:pt x="66013" y="1511329"/>
                  <a:pt x="0" y="1445315"/>
                  <a:pt x="0" y="1363884"/>
                </a:cubicBezTo>
                <a:lnTo>
                  <a:pt x="0" y="147445"/>
                </a:lnTo>
                <a:cubicBezTo>
                  <a:pt x="0" y="66013"/>
                  <a:pt x="66013" y="0"/>
                  <a:pt x="147445" y="0"/>
                </a:cubicBezTo>
                <a:close/>
              </a:path>
            </a:pathLst>
          </a:custGeom>
          <a:solidFill>
            <a:srgbClr val="F3F4F6"/>
          </a:solidFill>
          <a:ln/>
        </p:spPr>
      </p:sp>
      <p:sp>
        <p:nvSpPr>
          <p:cNvPr id="27" name="Shape 25"/>
          <p:cNvSpPr/>
          <p:nvPr/>
        </p:nvSpPr>
        <p:spPr>
          <a:xfrm>
            <a:off x="8310149" y="1806222"/>
            <a:ext cx="442340" cy="442340"/>
          </a:xfrm>
          <a:custGeom>
            <a:avLst/>
            <a:gdLst/>
            <a:ahLst/>
            <a:cxnLst/>
            <a:rect l="l" t="t" r="r" b="b"/>
            <a:pathLst>
              <a:path w="442340" h="442340">
                <a:moveTo>
                  <a:pt x="110585" y="0"/>
                </a:moveTo>
                <a:lnTo>
                  <a:pt x="331755" y="0"/>
                </a:lnTo>
                <a:cubicBezTo>
                  <a:pt x="392830" y="0"/>
                  <a:pt x="442340" y="49511"/>
                  <a:pt x="442340" y="110585"/>
                </a:cubicBezTo>
                <a:lnTo>
                  <a:pt x="442340" y="331755"/>
                </a:lnTo>
                <a:cubicBezTo>
                  <a:pt x="442340" y="392830"/>
                  <a:pt x="392830" y="442340"/>
                  <a:pt x="331755" y="442340"/>
                </a:cubicBezTo>
                <a:lnTo>
                  <a:pt x="110585" y="442340"/>
                </a:lnTo>
                <a:cubicBezTo>
                  <a:pt x="49511" y="442340"/>
                  <a:pt x="0" y="392830"/>
                  <a:pt x="0" y="331755"/>
                </a:cubicBezTo>
                <a:lnTo>
                  <a:pt x="0" y="110585"/>
                </a:lnTo>
                <a:cubicBezTo>
                  <a:pt x="0" y="49551"/>
                  <a:pt x="49551" y="0"/>
                  <a:pt x="110585" y="0"/>
                </a:cubicBezTo>
                <a:close/>
              </a:path>
            </a:pathLst>
          </a:custGeom>
          <a:solidFill>
            <a:srgbClr val="10B981"/>
          </a:solidFill>
          <a:ln/>
        </p:spPr>
      </p:sp>
      <p:sp>
        <p:nvSpPr>
          <p:cNvPr id="28" name="Shape 26"/>
          <p:cNvSpPr/>
          <p:nvPr/>
        </p:nvSpPr>
        <p:spPr>
          <a:xfrm>
            <a:off x="8427645" y="1935238"/>
            <a:ext cx="207347" cy="184308"/>
          </a:xfrm>
          <a:custGeom>
            <a:avLst/>
            <a:gdLst/>
            <a:ahLst/>
            <a:cxnLst/>
            <a:rect l="l" t="t" r="r" b="b"/>
            <a:pathLst>
              <a:path w="207347" h="184308">
                <a:moveTo>
                  <a:pt x="86107" y="-2880"/>
                </a:moveTo>
                <a:cubicBezTo>
                  <a:pt x="83911" y="-5112"/>
                  <a:pt x="80707" y="-6012"/>
                  <a:pt x="77683" y="-5184"/>
                </a:cubicBezTo>
                <a:cubicBezTo>
                  <a:pt x="74659" y="-4356"/>
                  <a:pt x="72319" y="-2016"/>
                  <a:pt x="71563" y="1008"/>
                </a:cubicBezTo>
                <a:lnTo>
                  <a:pt x="66056" y="22679"/>
                </a:lnTo>
                <a:cubicBezTo>
                  <a:pt x="65660" y="24262"/>
                  <a:pt x="64040" y="25198"/>
                  <a:pt x="62492" y="24730"/>
                </a:cubicBezTo>
                <a:lnTo>
                  <a:pt x="40965" y="18683"/>
                </a:lnTo>
                <a:cubicBezTo>
                  <a:pt x="37942" y="17819"/>
                  <a:pt x="34702" y="18683"/>
                  <a:pt x="32506" y="20879"/>
                </a:cubicBezTo>
                <a:cubicBezTo>
                  <a:pt x="30310" y="23075"/>
                  <a:pt x="29446" y="26314"/>
                  <a:pt x="30310" y="29338"/>
                </a:cubicBezTo>
                <a:lnTo>
                  <a:pt x="36394" y="50865"/>
                </a:lnTo>
                <a:cubicBezTo>
                  <a:pt x="36826" y="52413"/>
                  <a:pt x="35890" y="54033"/>
                  <a:pt x="34342" y="54429"/>
                </a:cubicBezTo>
                <a:lnTo>
                  <a:pt x="12635" y="59936"/>
                </a:lnTo>
                <a:cubicBezTo>
                  <a:pt x="9611" y="60692"/>
                  <a:pt x="7236" y="63068"/>
                  <a:pt x="6408" y="66092"/>
                </a:cubicBezTo>
                <a:cubicBezTo>
                  <a:pt x="5580" y="69116"/>
                  <a:pt x="6480" y="72319"/>
                  <a:pt x="8711" y="74515"/>
                </a:cubicBezTo>
                <a:lnTo>
                  <a:pt x="24730" y="90102"/>
                </a:lnTo>
                <a:cubicBezTo>
                  <a:pt x="25882" y="91218"/>
                  <a:pt x="25882" y="93090"/>
                  <a:pt x="24730" y="94242"/>
                </a:cubicBezTo>
                <a:lnTo>
                  <a:pt x="8747" y="109829"/>
                </a:lnTo>
                <a:cubicBezTo>
                  <a:pt x="6516" y="112025"/>
                  <a:pt x="5616" y="115229"/>
                  <a:pt x="6444" y="118253"/>
                </a:cubicBezTo>
                <a:cubicBezTo>
                  <a:pt x="7272" y="121276"/>
                  <a:pt x="9647" y="123616"/>
                  <a:pt x="12671" y="124408"/>
                </a:cubicBezTo>
                <a:lnTo>
                  <a:pt x="34342" y="129916"/>
                </a:lnTo>
                <a:cubicBezTo>
                  <a:pt x="35926" y="130312"/>
                  <a:pt x="36862" y="131932"/>
                  <a:pt x="36394" y="133480"/>
                </a:cubicBezTo>
                <a:lnTo>
                  <a:pt x="30310" y="154970"/>
                </a:lnTo>
                <a:cubicBezTo>
                  <a:pt x="29446" y="157994"/>
                  <a:pt x="30310" y="161234"/>
                  <a:pt x="32506" y="163430"/>
                </a:cubicBezTo>
                <a:cubicBezTo>
                  <a:pt x="34702" y="165626"/>
                  <a:pt x="37942" y="166490"/>
                  <a:pt x="40965" y="165626"/>
                </a:cubicBezTo>
                <a:lnTo>
                  <a:pt x="62492" y="159542"/>
                </a:lnTo>
                <a:cubicBezTo>
                  <a:pt x="64040" y="159110"/>
                  <a:pt x="65660" y="160046"/>
                  <a:pt x="66056" y="161594"/>
                </a:cubicBezTo>
                <a:lnTo>
                  <a:pt x="71563" y="183264"/>
                </a:lnTo>
                <a:cubicBezTo>
                  <a:pt x="72319" y="186288"/>
                  <a:pt x="74695" y="188664"/>
                  <a:pt x="77719" y="189492"/>
                </a:cubicBezTo>
                <a:cubicBezTo>
                  <a:pt x="80743" y="190320"/>
                  <a:pt x="83947" y="189420"/>
                  <a:pt x="86143" y="187188"/>
                </a:cubicBezTo>
                <a:lnTo>
                  <a:pt x="101730" y="171169"/>
                </a:lnTo>
                <a:cubicBezTo>
                  <a:pt x="102846" y="170017"/>
                  <a:pt x="104717" y="170017"/>
                  <a:pt x="105869" y="171169"/>
                </a:cubicBezTo>
                <a:lnTo>
                  <a:pt x="121420" y="187188"/>
                </a:lnTo>
                <a:cubicBezTo>
                  <a:pt x="123616" y="189420"/>
                  <a:pt x="126820" y="190320"/>
                  <a:pt x="129844" y="189492"/>
                </a:cubicBezTo>
                <a:cubicBezTo>
                  <a:pt x="132868" y="188664"/>
                  <a:pt x="135207" y="186288"/>
                  <a:pt x="135999" y="183264"/>
                </a:cubicBezTo>
                <a:lnTo>
                  <a:pt x="141507" y="161630"/>
                </a:lnTo>
                <a:cubicBezTo>
                  <a:pt x="141903" y="160046"/>
                  <a:pt x="143523" y="159110"/>
                  <a:pt x="145071" y="159578"/>
                </a:cubicBezTo>
                <a:lnTo>
                  <a:pt x="166598" y="165662"/>
                </a:lnTo>
                <a:cubicBezTo>
                  <a:pt x="169621" y="166526"/>
                  <a:pt x="172861" y="165662"/>
                  <a:pt x="175057" y="163466"/>
                </a:cubicBezTo>
                <a:cubicBezTo>
                  <a:pt x="177253" y="161270"/>
                  <a:pt x="178117" y="158030"/>
                  <a:pt x="177253" y="155006"/>
                </a:cubicBezTo>
                <a:lnTo>
                  <a:pt x="171169" y="133480"/>
                </a:lnTo>
                <a:cubicBezTo>
                  <a:pt x="170737" y="131932"/>
                  <a:pt x="171673" y="130312"/>
                  <a:pt x="173221" y="129916"/>
                </a:cubicBezTo>
                <a:lnTo>
                  <a:pt x="194892" y="124408"/>
                </a:lnTo>
                <a:cubicBezTo>
                  <a:pt x="197916" y="123652"/>
                  <a:pt x="200291" y="121276"/>
                  <a:pt x="201119" y="118253"/>
                </a:cubicBezTo>
                <a:cubicBezTo>
                  <a:pt x="201947" y="115229"/>
                  <a:pt x="201047" y="111989"/>
                  <a:pt x="198815" y="109829"/>
                </a:cubicBezTo>
                <a:lnTo>
                  <a:pt x="182796" y="94242"/>
                </a:lnTo>
                <a:cubicBezTo>
                  <a:pt x="181645" y="93126"/>
                  <a:pt x="181645" y="91254"/>
                  <a:pt x="182796" y="90102"/>
                </a:cubicBezTo>
                <a:lnTo>
                  <a:pt x="198815" y="74515"/>
                </a:lnTo>
                <a:cubicBezTo>
                  <a:pt x="201047" y="72319"/>
                  <a:pt x="201947" y="69116"/>
                  <a:pt x="201119" y="66092"/>
                </a:cubicBezTo>
                <a:cubicBezTo>
                  <a:pt x="200291" y="63068"/>
                  <a:pt x="197916" y="60728"/>
                  <a:pt x="194892" y="59936"/>
                </a:cubicBezTo>
                <a:lnTo>
                  <a:pt x="173221" y="54429"/>
                </a:lnTo>
                <a:cubicBezTo>
                  <a:pt x="171637" y="54033"/>
                  <a:pt x="170701" y="52413"/>
                  <a:pt x="171169" y="50865"/>
                </a:cubicBezTo>
                <a:lnTo>
                  <a:pt x="177253" y="29338"/>
                </a:lnTo>
                <a:cubicBezTo>
                  <a:pt x="178117" y="26314"/>
                  <a:pt x="177253" y="23075"/>
                  <a:pt x="175057" y="20879"/>
                </a:cubicBezTo>
                <a:cubicBezTo>
                  <a:pt x="172861" y="18683"/>
                  <a:pt x="169621" y="17819"/>
                  <a:pt x="166598" y="18683"/>
                </a:cubicBezTo>
                <a:lnTo>
                  <a:pt x="145071" y="24766"/>
                </a:lnTo>
                <a:cubicBezTo>
                  <a:pt x="143523" y="25198"/>
                  <a:pt x="141903" y="24262"/>
                  <a:pt x="141507" y="22715"/>
                </a:cubicBezTo>
                <a:lnTo>
                  <a:pt x="135999" y="1008"/>
                </a:lnTo>
                <a:cubicBezTo>
                  <a:pt x="135243" y="-2016"/>
                  <a:pt x="132868" y="-4392"/>
                  <a:pt x="129844" y="-5220"/>
                </a:cubicBezTo>
                <a:cubicBezTo>
                  <a:pt x="126820" y="-6048"/>
                  <a:pt x="123616" y="-5148"/>
                  <a:pt x="121420" y="-2916"/>
                </a:cubicBezTo>
                <a:lnTo>
                  <a:pt x="105833" y="13139"/>
                </a:lnTo>
                <a:cubicBezTo>
                  <a:pt x="104717" y="14291"/>
                  <a:pt x="102846" y="14291"/>
                  <a:pt x="101694" y="13139"/>
                </a:cubicBezTo>
                <a:lnTo>
                  <a:pt x="86107" y="-2880"/>
                </a:lnTo>
                <a:close/>
              </a:path>
            </a:pathLst>
          </a:custGeom>
          <a:solidFill>
            <a:srgbClr val="FFFFFF"/>
          </a:solidFill>
          <a:ln/>
        </p:spPr>
      </p:sp>
      <p:sp>
        <p:nvSpPr>
          <p:cNvPr id="29" name="Text 27"/>
          <p:cNvSpPr/>
          <p:nvPr/>
        </p:nvSpPr>
        <p:spPr>
          <a:xfrm>
            <a:off x="8863074" y="1898376"/>
            <a:ext cx="1271728" cy="258032"/>
          </a:xfrm>
          <a:prstGeom prst="rect">
            <a:avLst/>
          </a:prstGeom>
          <a:noFill/>
          <a:ln/>
        </p:spPr>
        <p:txBody>
          <a:bodyPr wrap="square" lIns="0" tIns="0" rIns="0" bIns="0" rtlCol="0" anchor="ctr"/>
          <a:lstStyle/>
          <a:p>
            <a:pPr>
              <a:lnSpc>
                <a:spcPct val="120000"/>
              </a:lnSpc>
            </a:pPr>
            <a:r>
              <a:rPr lang="en-US" sz="1451" b="1" dirty="0">
                <a:solidFill>
                  <a:srgbClr val="1E3A8A"/>
                </a:solidFill>
                <a:latin typeface="Noto Sans SC" pitchFamily="34" charset="0"/>
                <a:ea typeface="Noto Sans SC" pitchFamily="34" charset="-122"/>
                <a:cs typeface="Noto Sans SC" pitchFamily="34" charset="-120"/>
              </a:rPr>
              <a:t>Certifications</a:t>
            </a:r>
            <a:endParaRPr lang="en-US" sz="1600" dirty="0"/>
          </a:p>
        </p:txBody>
      </p:sp>
      <p:sp>
        <p:nvSpPr>
          <p:cNvPr id="30" name="Shape 28"/>
          <p:cNvSpPr/>
          <p:nvPr/>
        </p:nvSpPr>
        <p:spPr>
          <a:xfrm>
            <a:off x="8319364" y="2368363"/>
            <a:ext cx="939973" cy="387048"/>
          </a:xfrm>
          <a:custGeom>
            <a:avLst/>
            <a:gdLst/>
            <a:ahLst/>
            <a:cxnLst/>
            <a:rect l="l" t="t" r="r" b="b"/>
            <a:pathLst>
              <a:path w="939973" h="387048">
                <a:moveTo>
                  <a:pt x="110583" y="0"/>
                </a:moveTo>
                <a:lnTo>
                  <a:pt x="829389" y="0"/>
                </a:lnTo>
                <a:cubicBezTo>
                  <a:pt x="890463" y="0"/>
                  <a:pt x="939973" y="49510"/>
                  <a:pt x="939973" y="110583"/>
                </a:cubicBezTo>
                <a:lnTo>
                  <a:pt x="939973" y="276464"/>
                </a:lnTo>
                <a:cubicBezTo>
                  <a:pt x="939973" y="337538"/>
                  <a:pt x="890463" y="387048"/>
                  <a:pt x="829389" y="387048"/>
                </a:cubicBezTo>
                <a:lnTo>
                  <a:pt x="110583" y="387048"/>
                </a:lnTo>
                <a:cubicBezTo>
                  <a:pt x="49551" y="387048"/>
                  <a:pt x="0" y="337497"/>
                  <a:pt x="0" y="276464"/>
                </a:cubicBezTo>
                <a:lnTo>
                  <a:pt x="0" y="110583"/>
                </a:lnTo>
                <a:cubicBezTo>
                  <a:pt x="0" y="49551"/>
                  <a:pt x="49551" y="0"/>
                  <a:pt x="110583" y="0"/>
                </a:cubicBezTo>
                <a:close/>
              </a:path>
            </a:pathLst>
          </a:custGeom>
          <a:solidFill>
            <a:srgbClr val="FFFFFF"/>
          </a:solidFill>
          <a:ln w="25400">
            <a:solidFill>
              <a:srgbClr val="10B981"/>
            </a:solidFill>
            <a:prstDash val="solid"/>
          </a:ln>
        </p:spPr>
      </p:sp>
      <p:sp>
        <p:nvSpPr>
          <p:cNvPr id="31" name="Text 29"/>
          <p:cNvSpPr/>
          <p:nvPr/>
        </p:nvSpPr>
        <p:spPr>
          <a:xfrm>
            <a:off x="8476026" y="2478948"/>
            <a:ext cx="696772" cy="156662"/>
          </a:xfrm>
          <a:prstGeom prst="rect">
            <a:avLst/>
          </a:prstGeom>
          <a:noFill/>
          <a:ln/>
        </p:spPr>
        <p:txBody>
          <a:bodyPr wrap="square" lIns="0" tIns="0" rIns="0" bIns="0" rtlCol="0" anchor="ctr"/>
          <a:lstStyle/>
          <a:p>
            <a:pPr>
              <a:lnSpc>
                <a:spcPct val="130000"/>
              </a:lnSpc>
            </a:pPr>
            <a:r>
              <a:rPr lang="en-US" sz="1161" b="1" dirty="0">
                <a:solidFill>
                  <a:srgbClr val="10B981"/>
                </a:solidFill>
                <a:latin typeface="MiSans" pitchFamily="34" charset="0"/>
                <a:ea typeface="MiSans" pitchFamily="34" charset="-122"/>
                <a:cs typeface="MiSans" pitchFamily="34" charset="-120"/>
              </a:rPr>
              <a:t>ISO 9001</a:t>
            </a:r>
            <a:endParaRPr lang="en-US" sz="1600" dirty="0"/>
          </a:p>
        </p:txBody>
      </p:sp>
      <p:sp>
        <p:nvSpPr>
          <p:cNvPr id="32" name="Shape 30"/>
          <p:cNvSpPr/>
          <p:nvPr/>
        </p:nvSpPr>
        <p:spPr>
          <a:xfrm>
            <a:off x="9384753" y="2368363"/>
            <a:ext cx="884680" cy="387048"/>
          </a:xfrm>
          <a:custGeom>
            <a:avLst/>
            <a:gdLst/>
            <a:ahLst/>
            <a:cxnLst/>
            <a:rect l="l" t="t" r="r" b="b"/>
            <a:pathLst>
              <a:path w="884680" h="387048">
                <a:moveTo>
                  <a:pt x="110583" y="0"/>
                </a:moveTo>
                <a:lnTo>
                  <a:pt x="774097" y="0"/>
                </a:lnTo>
                <a:cubicBezTo>
                  <a:pt x="835130" y="0"/>
                  <a:pt x="884680" y="49551"/>
                  <a:pt x="884680" y="110583"/>
                </a:cubicBezTo>
                <a:lnTo>
                  <a:pt x="884680" y="276464"/>
                </a:lnTo>
                <a:cubicBezTo>
                  <a:pt x="884680" y="337497"/>
                  <a:pt x="835130" y="387048"/>
                  <a:pt x="774097" y="387048"/>
                </a:cubicBezTo>
                <a:lnTo>
                  <a:pt x="110583" y="387048"/>
                </a:lnTo>
                <a:cubicBezTo>
                  <a:pt x="49551" y="387048"/>
                  <a:pt x="0" y="337497"/>
                  <a:pt x="0" y="276464"/>
                </a:cubicBezTo>
                <a:lnTo>
                  <a:pt x="0" y="110583"/>
                </a:lnTo>
                <a:cubicBezTo>
                  <a:pt x="0" y="49551"/>
                  <a:pt x="49551" y="0"/>
                  <a:pt x="110583" y="0"/>
                </a:cubicBezTo>
                <a:close/>
              </a:path>
            </a:pathLst>
          </a:custGeom>
          <a:solidFill>
            <a:srgbClr val="FFFFFF"/>
          </a:solidFill>
          <a:ln w="25400">
            <a:solidFill>
              <a:srgbClr val="10B981"/>
            </a:solidFill>
            <a:prstDash val="solid"/>
          </a:ln>
        </p:spPr>
      </p:sp>
      <p:sp>
        <p:nvSpPr>
          <p:cNvPr id="33" name="Text 31"/>
          <p:cNvSpPr/>
          <p:nvPr/>
        </p:nvSpPr>
        <p:spPr>
          <a:xfrm>
            <a:off x="9541415" y="2478948"/>
            <a:ext cx="647527" cy="156662"/>
          </a:xfrm>
          <a:prstGeom prst="rect">
            <a:avLst/>
          </a:prstGeom>
          <a:noFill/>
          <a:ln/>
        </p:spPr>
        <p:txBody>
          <a:bodyPr wrap="square" lIns="0" tIns="0" rIns="0" bIns="0" rtlCol="0" anchor="ctr"/>
          <a:lstStyle/>
          <a:p>
            <a:pPr>
              <a:lnSpc>
                <a:spcPct val="130000"/>
              </a:lnSpc>
            </a:pPr>
            <a:r>
              <a:rPr lang="en-US" sz="1161" b="1" dirty="0">
                <a:solidFill>
                  <a:srgbClr val="10B981"/>
                </a:solidFill>
                <a:latin typeface="MiSans" pitchFamily="34" charset="0"/>
                <a:ea typeface="MiSans" pitchFamily="34" charset="-122"/>
                <a:cs typeface="MiSans" pitchFamily="34" charset="-120"/>
              </a:rPr>
              <a:t>EN 9100</a:t>
            </a:r>
            <a:endParaRPr lang="en-US" sz="1600" dirty="0"/>
          </a:p>
        </p:txBody>
      </p:sp>
      <p:sp>
        <p:nvSpPr>
          <p:cNvPr id="34" name="Shape 32"/>
          <p:cNvSpPr/>
          <p:nvPr/>
        </p:nvSpPr>
        <p:spPr>
          <a:xfrm>
            <a:off x="368617" y="3317551"/>
            <a:ext cx="3695383" cy="2322286"/>
          </a:xfrm>
          <a:custGeom>
            <a:avLst/>
            <a:gdLst/>
            <a:ahLst/>
            <a:cxnLst/>
            <a:rect l="l" t="t" r="r" b="b"/>
            <a:pathLst>
              <a:path w="3695383" h="2322286">
                <a:moveTo>
                  <a:pt x="147442" y="0"/>
                </a:moveTo>
                <a:lnTo>
                  <a:pt x="3547941" y="0"/>
                </a:lnTo>
                <a:cubicBezTo>
                  <a:pt x="3629371" y="0"/>
                  <a:pt x="3695383" y="66012"/>
                  <a:pt x="3695383" y="147442"/>
                </a:cubicBezTo>
                <a:lnTo>
                  <a:pt x="3695383" y="2174844"/>
                </a:lnTo>
                <a:cubicBezTo>
                  <a:pt x="3695383" y="2256274"/>
                  <a:pt x="3629371" y="2322286"/>
                  <a:pt x="3547941" y="2322286"/>
                </a:cubicBezTo>
                <a:lnTo>
                  <a:pt x="147442" y="2322286"/>
                </a:lnTo>
                <a:cubicBezTo>
                  <a:pt x="66012" y="2322286"/>
                  <a:pt x="0" y="2256274"/>
                  <a:pt x="0" y="2174844"/>
                </a:cubicBezTo>
                <a:lnTo>
                  <a:pt x="0" y="147442"/>
                </a:lnTo>
                <a:cubicBezTo>
                  <a:pt x="0" y="66012"/>
                  <a:pt x="66012" y="0"/>
                  <a:pt x="147442" y="0"/>
                </a:cubicBezTo>
                <a:close/>
              </a:path>
            </a:pathLst>
          </a:custGeom>
          <a:solidFill>
            <a:srgbClr val="F3F4F6"/>
          </a:solidFill>
          <a:ln/>
        </p:spPr>
      </p:sp>
      <p:sp>
        <p:nvSpPr>
          <p:cNvPr id="35" name="Shape 33"/>
          <p:cNvSpPr/>
          <p:nvPr/>
        </p:nvSpPr>
        <p:spPr>
          <a:xfrm>
            <a:off x="552925" y="3501859"/>
            <a:ext cx="442340" cy="442340"/>
          </a:xfrm>
          <a:custGeom>
            <a:avLst/>
            <a:gdLst/>
            <a:ahLst/>
            <a:cxnLst/>
            <a:rect l="l" t="t" r="r" b="b"/>
            <a:pathLst>
              <a:path w="442340" h="442340">
                <a:moveTo>
                  <a:pt x="110585" y="0"/>
                </a:moveTo>
                <a:lnTo>
                  <a:pt x="331755" y="0"/>
                </a:lnTo>
                <a:cubicBezTo>
                  <a:pt x="392830" y="0"/>
                  <a:pt x="442340" y="49511"/>
                  <a:pt x="442340" y="110585"/>
                </a:cubicBezTo>
                <a:lnTo>
                  <a:pt x="442340" y="331755"/>
                </a:lnTo>
                <a:cubicBezTo>
                  <a:pt x="442340" y="392830"/>
                  <a:pt x="392830" y="442340"/>
                  <a:pt x="331755" y="442340"/>
                </a:cubicBezTo>
                <a:lnTo>
                  <a:pt x="110585" y="442340"/>
                </a:lnTo>
                <a:cubicBezTo>
                  <a:pt x="49511" y="442340"/>
                  <a:pt x="0" y="392830"/>
                  <a:pt x="0" y="331755"/>
                </a:cubicBezTo>
                <a:lnTo>
                  <a:pt x="0" y="110585"/>
                </a:lnTo>
                <a:cubicBezTo>
                  <a:pt x="0" y="49551"/>
                  <a:pt x="49551" y="0"/>
                  <a:pt x="110585" y="0"/>
                </a:cubicBezTo>
                <a:close/>
              </a:path>
            </a:pathLst>
          </a:custGeom>
          <a:solidFill>
            <a:srgbClr val="F97316"/>
          </a:solidFill>
          <a:ln/>
        </p:spPr>
      </p:sp>
      <p:sp>
        <p:nvSpPr>
          <p:cNvPr id="36" name="Shape 34"/>
          <p:cNvSpPr/>
          <p:nvPr/>
        </p:nvSpPr>
        <p:spPr>
          <a:xfrm>
            <a:off x="681941" y="3630875"/>
            <a:ext cx="184308" cy="184308"/>
          </a:xfrm>
          <a:custGeom>
            <a:avLst/>
            <a:gdLst/>
            <a:ahLst/>
            <a:cxnLst/>
            <a:rect l="l" t="t" r="r" b="b"/>
            <a:pathLst>
              <a:path w="184308" h="184308">
                <a:moveTo>
                  <a:pt x="11519" y="11519"/>
                </a:moveTo>
                <a:cubicBezTo>
                  <a:pt x="17891" y="11519"/>
                  <a:pt x="23039" y="16667"/>
                  <a:pt x="23039" y="23039"/>
                </a:cubicBezTo>
                <a:lnTo>
                  <a:pt x="23039" y="143991"/>
                </a:lnTo>
                <a:cubicBezTo>
                  <a:pt x="23039" y="147159"/>
                  <a:pt x="25630" y="149751"/>
                  <a:pt x="28798" y="149751"/>
                </a:cubicBezTo>
                <a:lnTo>
                  <a:pt x="172789" y="149751"/>
                </a:lnTo>
                <a:cubicBezTo>
                  <a:pt x="179161" y="149751"/>
                  <a:pt x="184308" y="154898"/>
                  <a:pt x="184308" y="161270"/>
                </a:cubicBezTo>
                <a:cubicBezTo>
                  <a:pt x="184308" y="167641"/>
                  <a:pt x="179161" y="172789"/>
                  <a:pt x="172789" y="172789"/>
                </a:cubicBezTo>
                <a:lnTo>
                  <a:pt x="28798" y="172789"/>
                </a:lnTo>
                <a:cubicBezTo>
                  <a:pt x="12887" y="172789"/>
                  <a:pt x="0" y="159902"/>
                  <a:pt x="0" y="143991"/>
                </a:cubicBezTo>
                <a:lnTo>
                  <a:pt x="0" y="23039"/>
                </a:lnTo>
                <a:cubicBezTo>
                  <a:pt x="0" y="16667"/>
                  <a:pt x="5148" y="11519"/>
                  <a:pt x="11519" y="11519"/>
                </a:cubicBezTo>
                <a:close/>
                <a:moveTo>
                  <a:pt x="46077" y="34558"/>
                </a:moveTo>
                <a:cubicBezTo>
                  <a:pt x="46077" y="28186"/>
                  <a:pt x="51225" y="23039"/>
                  <a:pt x="57596" y="23039"/>
                </a:cubicBezTo>
                <a:lnTo>
                  <a:pt x="126712" y="23039"/>
                </a:lnTo>
                <a:cubicBezTo>
                  <a:pt x="133084" y="23039"/>
                  <a:pt x="138231" y="28186"/>
                  <a:pt x="138231" y="34558"/>
                </a:cubicBezTo>
                <a:cubicBezTo>
                  <a:pt x="138231" y="40929"/>
                  <a:pt x="133084" y="46077"/>
                  <a:pt x="126712" y="46077"/>
                </a:cubicBezTo>
                <a:lnTo>
                  <a:pt x="57596" y="46077"/>
                </a:lnTo>
                <a:cubicBezTo>
                  <a:pt x="51225" y="46077"/>
                  <a:pt x="46077" y="40929"/>
                  <a:pt x="46077" y="34558"/>
                </a:cubicBezTo>
                <a:close/>
                <a:moveTo>
                  <a:pt x="57596" y="63356"/>
                </a:moveTo>
                <a:lnTo>
                  <a:pt x="103673" y="63356"/>
                </a:lnTo>
                <a:cubicBezTo>
                  <a:pt x="110045" y="63356"/>
                  <a:pt x="115193" y="68504"/>
                  <a:pt x="115193" y="74875"/>
                </a:cubicBezTo>
                <a:cubicBezTo>
                  <a:pt x="115193" y="81247"/>
                  <a:pt x="110045" y="86395"/>
                  <a:pt x="103673" y="86395"/>
                </a:cubicBezTo>
                <a:lnTo>
                  <a:pt x="57596" y="86395"/>
                </a:lnTo>
                <a:cubicBezTo>
                  <a:pt x="51225" y="86395"/>
                  <a:pt x="46077" y="81247"/>
                  <a:pt x="46077" y="74875"/>
                </a:cubicBezTo>
                <a:cubicBezTo>
                  <a:pt x="46077" y="68504"/>
                  <a:pt x="51225" y="63356"/>
                  <a:pt x="57596" y="63356"/>
                </a:cubicBezTo>
                <a:close/>
                <a:moveTo>
                  <a:pt x="57596" y="103673"/>
                </a:moveTo>
                <a:lnTo>
                  <a:pt x="149751" y="103673"/>
                </a:lnTo>
                <a:cubicBezTo>
                  <a:pt x="156122" y="103673"/>
                  <a:pt x="161270" y="108821"/>
                  <a:pt x="161270" y="115193"/>
                </a:cubicBezTo>
                <a:cubicBezTo>
                  <a:pt x="161270" y="121564"/>
                  <a:pt x="156122" y="126712"/>
                  <a:pt x="149751" y="126712"/>
                </a:cubicBezTo>
                <a:lnTo>
                  <a:pt x="57596" y="126712"/>
                </a:lnTo>
                <a:cubicBezTo>
                  <a:pt x="51225" y="126712"/>
                  <a:pt x="46077" y="121564"/>
                  <a:pt x="46077" y="115193"/>
                </a:cubicBezTo>
                <a:cubicBezTo>
                  <a:pt x="46077" y="108821"/>
                  <a:pt x="51225" y="103673"/>
                  <a:pt x="57596" y="103673"/>
                </a:cubicBezTo>
                <a:close/>
              </a:path>
            </a:pathLst>
          </a:custGeom>
          <a:solidFill>
            <a:srgbClr val="FFFFFF"/>
          </a:solidFill>
          <a:ln/>
        </p:spPr>
      </p:sp>
      <p:sp>
        <p:nvSpPr>
          <p:cNvPr id="37" name="Text 35"/>
          <p:cNvSpPr/>
          <p:nvPr/>
        </p:nvSpPr>
        <p:spPr>
          <a:xfrm>
            <a:off x="1105850" y="3594014"/>
            <a:ext cx="1198005" cy="258032"/>
          </a:xfrm>
          <a:prstGeom prst="rect">
            <a:avLst/>
          </a:prstGeom>
          <a:noFill/>
          <a:ln/>
        </p:spPr>
        <p:txBody>
          <a:bodyPr wrap="square" lIns="0" tIns="0" rIns="0" bIns="0" rtlCol="0" anchor="ctr"/>
          <a:lstStyle/>
          <a:p>
            <a:pPr>
              <a:lnSpc>
                <a:spcPct val="120000"/>
              </a:lnSpc>
            </a:pPr>
            <a:r>
              <a:rPr lang="en-US" sz="1451" b="1" dirty="0">
                <a:solidFill>
                  <a:srgbClr val="1E3A8A"/>
                </a:solidFill>
                <a:latin typeface="Noto Sans SC" pitchFamily="34" charset="0"/>
                <a:ea typeface="Noto Sans SC" pitchFamily="34" charset="-122"/>
                <a:cs typeface="Noto Sans SC" pitchFamily="34" charset="-120"/>
              </a:rPr>
              <a:t>Chiffres clés</a:t>
            </a:r>
            <a:endParaRPr lang="en-US" sz="1600" dirty="0"/>
          </a:p>
        </p:txBody>
      </p:sp>
      <p:sp>
        <p:nvSpPr>
          <p:cNvPr id="38" name="Text 36"/>
          <p:cNvSpPr/>
          <p:nvPr/>
        </p:nvSpPr>
        <p:spPr>
          <a:xfrm>
            <a:off x="483810" y="4054785"/>
            <a:ext cx="1741714" cy="331755"/>
          </a:xfrm>
          <a:prstGeom prst="rect">
            <a:avLst/>
          </a:prstGeom>
          <a:noFill/>
          <a:ln/>
        </p:spPr>
        <p:txBody>
          <a:bodyPr wrap="square" lIns="0" tIns="0" rIns="0" bIns="0" rtlCol="0" anchor="ctr"/>
          <a:lstStyle/>
          <a:p>
            <a:pPr algn="ctr">
              <a:lnSpc>
                <a:spcPct val="100000"/>
              </a:lnSpc>
            </a:pPr>
            <a:r>
              <a:rPr lang="en-US" sz="2177" b="1" dirty="0">
                <a:solidFill>
                  <a:srgbClr val="1E3A8A"/>
                </a:solidFill>
                <a:latin typeface="Noto Sans SC" pitchFamily="34" charset="0"/>
                <a:ea typeface="Noto Sans SC" pitchFamily="34" charset="-122"/>
                <a:cs typeface="Noto Sans SC" pitchFamily="34" charset="-120"/>
              </a:rPr>
              <a:t>90</a:t>
            </a:r>
            <a:endParaRPr lang="en-US" sz="1600" dirty="0"/>
          </a:p>
        </p:txBody>
      </p:sp>
      <p:sp>
        <p:nvSpPr>
          <p:cNvPr id="39" name="Text 37"/>
          <p:cNvSpPr/>
          <p:nvPr/>
        </p:nvSpPr>
        <p:spPr>
          <a:xfrm>
            <a:off x="520671" y="4386540"/>
            <a:ext cx="1667991" cy="184308"/>
          </a:xfrm>
          <a:prstGeom prst="rect">
            <a:avLst/>
          </a:prstGeom>
          <a:noFill/>
          <a:ln/>
        </p:spPr>
        <p:txBody>
          <a:bodyPr wrap="square" lIns="0" tIns="0" rIns="0" bIns="0" rtlCol="0" anchor="ctr"/>
          <a:lstStyle/>
          <a:p>
            <a:pPr algn="ctr">
              <a:lnSpc>
                <a:spcPct val="120000"/>
              </a:lnSpc>
            </a:pPr>
            <a:r>
              <a:rPr lang="en-US" sz="1016" dirty="0">
                <a:solidFill>
                  <a:srgbClr val="6B7280"/>
                </a:solidFill>
                <a:latin typeface="MiSans" pitchFamily="34" charset="0"/>
                <a:ea typeface="MiSans" pitchFamily="34" charset="-122"/>
                <a:cs typeface="MiSans" pitchFamily="34" charset="-120"/>
              </a:rPr>
              <a:t>salariés</a:t>
            </a:r>
            <a:endParaRPr lang="en-US" sz="1600" dirty="0"/>
          </a:p>
        </p:txBody>
      </p:sp>
      <p:sp>
        <p:nvSpPr>
          <p:cNvPr id="40" name="Text 38"/>
          <p:cNvSpPr/>
          <p:nvPr/>
        </p:nvSpPr>
        <p:spPr>
          <a:xfrm>
            <a:off x="2201909" y="4054785"/>
            <a:ext cx="1741714" cy="331755"/>
          </a:xfrm>
          <a:prstGeom prst="rect">
            <a:avLst/>
          </a:prstGeom>
          <a:noFill/>
          <a:ln/>
        </p:spPr>
        <p:txBody>
          <a:bodyPr wrap="square" lIns="0" tIns="0" rIns="0" bIns="0" rtlCol="0" anchor="ctr"/>
          <a:lstStyle/>
          <a:p>
            <a:pPr algn="ctr">
              <a:lnSpc>
                <a:spcPct val="100000"/>
              </a:lnSpc>
            </a:pPr>
            <a:r>
              <a:rPr lang="en-US" sz="2177" b="1" dirty="0">
                <a:solidFill>
                  <a:srgbClr val="1E3A8A"/>
                </a:solidFill>
                <a:latin typeface="Noto Sans SC" pitchFamily="34" charset="0"/>
                <a:ea typeface="Noto Sans SC" pitchFamily="34" charset="-122"/>
                <a:cs typeface="Noto Sans SC" pitchFamily="34" charset="-120"/>
              </a:rPr>
              <a:t>11M€</a:t>
            </a:r>
            <a:endParaRPr lang="en-US" sz="1600" dirty="0"/>
          </a:p>
        </p:txBody>
      </p:sp>
      <p:sp>
        <p:nvSpPr>
          <p:cNvPr id="41" name="Text 39"/>
          <p:cNvSpPr/>
          <p:nvPr/>
        </p:nvSpPr>
        <p:spPr>
          <a:xfrm>
            <a:off x="2238771" y="4386540"/>
            <a:ext cx="1667991" cy="184308"/>
          </a:xfrm>
          <a:prstGeom prst="rect">
            <a:avLst/>
          </a:prstGeom>
          <a:noFill/>
          <a:ln/>
        </p:spPr>
        <p:txBody>
          <a:bodyPr wrap="square" lIns="0" tIns="0" rIns="0" bIns="0" rtlCol="0" anchor="ctr"/>
          <a:lstStyle/>
          <a:p>
            <a:pPr algn="ctr">
              <a:lnSpc>
                <a:spcPct val="120000"/>
              </a:lnSpc>
            </a:pPr>
            <a:r>
              <a:rPr lang="en-US" sz="1016" dirty="0">
                <a:solidFill>
                  <a:srgbClr val="6B7280"/>
                </a:solidFill>
                <a:latin typeface="MiSans" pitchFamily="34" charset="0"/>
                <a:ea typeface="MiSans" pitchFamily="34" charset="-122"/>
                <a:cs typeface="MiSans" pitchFamily="34" charset="-120"/>
              </a:rPr>
              <a:t>CA</a:t>
            </a:r>
            <a:endParaRPr lang="en-US" sz="1600" dirty="0"/>
          </a:p>
        </p:txBody>
      </p:sp>
      <p:sp>
        <p:nvSpPr>
          <p:cNvPr id="42" name="Text 40"/>
          <p:cNvSpPr/>
          <p:nvPr/>
        </p:nvSpPr>
        <p:spPr>
          <a:xfrm>
            <a:off x="483810" y="4681433"/>
            <a:ext cx="1741714" cy="331755"/>
          </a:xfrm>
          <a:prstGeom prst="rect">
            <a:avLst/>
          </a:prstGeom>
          <a:noFill/>
          <a:ln/>
        </p:spPr>
        <p:txBody>
          <a:bodyPr wrap="square" lIns="0" tIns="0" rIns="0" bIns="0" rtlCol="0" anchor="ctr"/>
          <a:lstStyle/>
          <a:p>
            <a:pPr algn="ctr">
              <a:lnSpc>
                <a:spcPct val="100000"/>
              </a:lnSpc>
            </a:pPr>
            <a:r>
              <a:rPr lang="en-US" sz="2177" b="1" dirty="0">
                <a:solidFill>
                  <a:srgbClr val="1E3A8A"/>
                </a:solidFill>
                <a:latin typeface="Noto Sans SC" pitchFamily="34" charset="0"/>
                <a:ea typeface="Noto Sans SC" pitchFamily="34" charset="-122"/>
                <a:cs typeface="Noto Sans SC" pitchFamily="34" charset="-120"/>
              </a:rPr>
              <a:t>6 500</a:t>
            </a:r>
            <a:endParaRPr lang="en-US" sz="1600" dirty="0"/>
          </a:p>
        </p:txBody>
      </p:sp>
      <p:sp>
        <p:nvSpPr>
          <p:cNvPr id="43" name="Text 41"/>
          <p:cNvSpPr/>
          <p:nvPr/>
        </p:nvSpPr>
        <p:spPr>
          <a:xfrm>
            <a:off x="520671" y="5013188"/>
            <a:ext cx="1667991" cy="184308"/>
          </a:xfrm>
          <a:prstGeom prst="rect">
            <a:avLst/>
          </a:prstGeom>
          <a:noFill/>
          <a:ln/>
        </p:spPr>
        <p:txBody>
          <a:bodyPr wrap="square" lIns="0" tIns="0" rIns="0" bIns="0" rtlCol="0" anchor="ctr"/>
          <a:lstStyle/>
          <a:p>
            <a:pPr algn="ctr">
              <a:lnSpc>
                <a:spcPct val="120000"/>
              </a:lnSpc>
            </a:pPr>
            <a:r>
              <a:rPr lang="en-US" sz="1016" dirty="0">
                <a:solidFill>
                  <a:srgbClr val="6B7280"/>
                </a:solidFill>
                <a:latin typeface="MiSans" pitchFamily="34" charset="0"/>
                <a:ea typeface="MiSans" pitchFamily="34" charset="-122"/>
                <a:cs typeface="MiSans" pitchFamily="34" charset="-120"/>
              </a:rPr>
              <a:t>m²</a:t>
            </a:r>
            <a:endParaRPr lang="en-US" sz="1600" dirty="0"/>
          </a:p>
        </p:txBody>
      </p:sp>
      <p:sp>
        <p:nvSpPr>
          <p:cNvPr id="44" name="Text 42"/>
          <p:cNvSpPr/>
          <p:nvPr/>
        </p:nvSpPr>
        <p:spPr>
          <a:xfrm>
            <a:off x="2201909" y="4681433"/>
            <a:ext cx="1741714" cy="331755"/>
          </a:xfrm>
          <a:prstGeom prst="rect">
            <a:avLst/>
          </a:prstGeom>
          <a:noFill/>
          <a:ln/>
        </p:spPr>
        <p:txBody>
          <a:bodyPr wrap="square" lIns="0" tIns="0" rIns="0" bIns="0" rtlCol="0" anchor="ctr"/>
          <a:lstStyle/>
          <a:p>
            <a:pPr algn="ctr">
              <a:lnSpc>
                <a:spcPct val="100000"/>
              </a:lnSpc>
            </a:pPr>
            <a:r>
              <a:rPr lang="en-US" sz="2177" b="1" dirty="0">
                <a:solidFill>
                  <a:srgbClr val="1E3A8A"/>
                </a:solidFill>
                <a:latin typeface="Noto Sans SC" pitchFamily="34" charset="0"/>
                <a:ea typeface="Noto Sans SC" pitchFamily="34" charset="-122"/>
                <a:cs typeface="Noto Sans SC" pitchFamily="34" charset="-120"/>
              </a:rPr>
              <a:t>+50</a:t>
            </a:r>
            <a:endParaRPr lang="en-US" sz="1600" dirty="0"/>
          </a:p>
        </p:txBody>
      </p:sp>
      <p:sp>
        <p:nvSpPr>
          <p:cNvPr id="45" name="Text 43"/>
          <p:cNvSpPr/>
          <p:nvPr/>
        </p:nvSpPr>
        <p:spPr>
          <a:xfrm>
            <a:off x="2238771" y="5013188"/>
            <a:ext cx="1667991" cy="184308"/>
          </a:xfrm>
          <a:prstGeom prst="rect">
            <a:avLst/>
          </a:prstGeom>
          <a:noFill/>
          <a:ln/>
        </p:spPr>
        <p:txBody>
          <a:bodyPr wrap="square" lIns="0" tIns="0" rIns="0" bIns="0" rtlCol="0" anchor="ctr"/>
          <a:lstStyle/>
          <a:p>
            <a:pPr algn="ctr">
              <a:lnSpc>
                <a:spcPct val="120000"/>
              </a:lnSpc>
            </a:pPr>
            <a:r>
              <a:rPr lang="en-US" sz="1016" dirty="0">
                <a:solidFill>
                  <a:srgbClr val="6B7280"/>
                </a:solidFill>
                <a:latin typeface="MiSans" pitchFamily="34" charset="0"/>
                <a:ea typeface="MiSans" pitchFamily="34" charset="-122"/>
                <a:cs typeface="MiSans" pitchFamily="34" charset="-120"/>
              </a:rPr>
              <a:t>machines CN</a:t>
            </a:r>
            <a:endParaRPr lang="en-US" sz="1600" dirty="0"/>
          </a:p>
        </p:txBody>
      </p:sp>
      <p:sp>
        <p:nvSpPr>
          <p:cNvPr id="46" name="Shape 44"/>
          <p:cNvSpPr/>
          <p:nvPr/>
        </p:nvSpPr>
        <p:spPr>
          <a:xfrm>
            <a:off x="4247156" y="3317551"/>
            <a:ext cx="3695383" cy="2322286"/>
          </a:xfrm>
          <a:custGeom>
            <a:avLst/>
            <a:gdLst/>
            <a:ahLst/>
            <a:cxnLst/>
            <a:rect l="l" t="t" r="r" b="b"/>
            <a:pathLst>
              <a:path w="3695383" h="2322286">
                <a:moveTo>
                  <a:pt x="147442" y="0"/>
                </a:moveTo>
                <a:lnTo>
                  <a:pt x="3547941" y="0"/>
                </a:lnTo>
                <a:cubicBezTo>
                  <a:pt x="3629371" y="0"/>
                  <a:pt x="3695383" y="66012"/>
                  <a:pt x="3695383" y="147442"/>
                </a:cubicBezTo>
                <a:lnTo>
                  <a:pt x="3695383" y="2174844"/>
                </a:lnTo>
                <a:cubicBezTo>
                  <a:pt x="3695383" y="2256274"/>
                  <a:pt x="3629371" y="2322286"/>
                  <a:pt x="3547941" y="2322286"/>
                </a:cubicBezTo>
                <a:lnTo>
                  <a:pt x="147442" y="2322286"/>
                </a:lnTo>
                <a:cubicBezTo>
                  <a:pt x="66012" y="2322286"/>
                  <a:pt x="0" y="2256274"/>
                  <a:pt x="0" y="2174844"/>
                </a:cubicBezTo>
                <a:lnTo>
                  <a:pt x="0" y="147442"/>
                </a:lnTo>
                <a:cubicBezTo>
                  <a:pt x="0" y="66012"/>
                  <a:pt x="66012" y="0"/>
                  <a:pt x="147442" y="0"/>
                </a:cubicBezTo>
                <a:close/>
              </a:path>
            </a:pathLst>
          </a:custGeom>
          <a:solidFill>
            <a:srgbClr val="F3F4F6"/>
          </a:solidFill>
          <a:ln/>
        </p:spPr>
      </p:sp>
      <p:sp>
        <p:nvSpPr>
          <p:cNvPr id="47" name="Shape 45"/>
          <p:cNvSpPr/>
          <p:nvPr/>
        </p:nvSpPr>
        <p:spPr>
          <a:xfrm>
            <a:off x="4431465" y="3501859"/>
            <a:ext cx="442340" cy="442340"/>
          </a:xfrm>
          <a:custGeom>
            <a:avLst/>
            <a:gdLst/>
            <a:ahLst/>
            <a:cxnLst/>
            <a:rect l="l" t="t" r="r" b="b"/>
            <a:pathLst>
              <a:path w="442340" h="442340">
                <a:moveTo>
                  <a:pt x="110585" y="0"/>
                </a:moveTo>
                <a:lnTo>
                  <a:pt x="331755" y="0"/>
                </a:lnTo>
                <a:cubicBezTo>
                  <a:pt x="392830" y="0"/>
                  <a:pt x="442340" y="49511"/>
                  <a:pt x="442340" y="110585"/>
                </a:cubicBezTo>
                <a:lnTo>
                  <a:pt x="442340" y="331755"/>
                </a:lnTo>
                <a:cubicBezTo>
                  <a:pt x="442340" y="392830"/>
                  <a:pt x="392830" y="442340"/>
                  <a:pt x="331755" y="442340"/>
                </a:cubicBezTo>
                <a:lnTo>
                  <a:pt x="110585" y="442340"/>
                </a:lnTo>
                <a:cubicBezTo>
                  <a:pt x="49511" y="442340"/>
                  <a:pt x="0" y="392830"/>
                  <a:pt x="0" y="331755"/>
                </a:cubicBezTo>
                <a:lnTo>
                  <a:pt x="0" y="110585"/>
                </a:lnTo>
                <a:cubicBezTo>
                  <a:pt x="0" y="49551"/>
                  <a:pt x="49551" y="0"/>
                  <a:pt x="110585" y="0"/>
                </a:cubicBezTo>
                <a:close/>
              </a:path>
            </a:pathLst>
          </a:custGeom>
          <a:solidFill>
            <a:srgbClr val="EC4899"/>
          </a:solidFill>
          <a:ln/>
        </p:spPr>
      </p:sp>
      <p:sp>
        <p:nvSpPr>
          <p:cNvPr id="48" name="Shape 46"/>
          <p:cNvSpPr/>
          <p:nvPr/>
        </p:nvSpPr>
        <p:spPr>
          <a:xfrm>
            <a:off x="4537442" y="3630875"/>
            <a:ext cx="230385" cy="184308"/>
          </a:xfrm>
          <a:custGeom>
            <a:avLst/>
            <a:gdLst/>
            <a:ahLst/>
            <a:cxnLst/>
            <a:rect l="l" t="t" r="r" b="b"/>
            <a:pathLst>
              <a:path w="230385" h="184308">
                <a:moveTo>
                  <a:pt x="115193" y="5760"/>
                </a:moveTo>
                <a:cubicBezTo>
                  <a:pt x="135855" y="5760"/>
                  <a:pt x="152630" y="22535"/>
                  <a:pt x="152630" y="43197"/>
                </a:cubicBezTo>
                <a:cubicBezTo>
                  <a:pt x="152630" y="63860"/>
                  <a:pt x="135855" y="80635"/>
                  <a:pt x="115193" y="80635"/>
                </a:cubicBezTo>
                <a:cubicBezTo>
                  <a:pt x="94530" y="80635"/>
                  <a:pt x="77755" y="63860"/>
                  <a:pt x="77755" y="43197"/>
                </a:cubicBezTo>
                <a:cubicBezTo>
                  <a:pt x="77755" y="22535"/>
                  <a:pt x="94530" y="5760"/>
                  <a:pt x="115193" y="5760"/>
                </a:cubicBezTo>
                <a:close/>
                <a:moveTo>
                  <a:pt x="34558" y="31678"/>
                </a:moveTo>
                <a:cubicBezTo>
                  <a:pt x="48863" y="31678"/>
                  <a:pt x="60476" y="43292"/>
                  <a:pt x="60476" y="57596"/>
                </a:cubicBezTo>
                <a:cubicBezTo>
                  <a:pt x="60476" y="71901"/>
                  <a:pt x="48863" y="83515"/>
                  <a:pt x="34558" y="83515"/>
                </a:cubicBezTo>
                <a:cubicBezTo>
                  <a:pt x="20253" y="83515"/>
                  <a:pt x="8639" y="71901"/>
                  <a:pt x="8639" y="57596"/>
                </a:cubicBezTo>
                <a:cubicBezTo>
                  <a:pt x="8639" y="43292"/>
                  <a:pt x="20253" y="31678"/>
                  <a:pt x="34558" y="31678"/>
                </a:cubicBezTo>
                <a:close/>
                <a:moveTo>
                  <a:pt x="0" y="149751"/>
                </a:moveTo>
                <a:cubicBezTo>
                  <a:pt x="0" y="124300"/>
                  <a:pt x="20627" y="103673"/>
                  <a:pt x="46077" y="103673"/>
                </a:cubicBezTo>
                <a:cubicBezTo>
                  <a:pt x="50685" y="103673"/>
                  <a:pt x="55149" y="104357"/>
                  <a:pt x="59360" y="105617"/>
                </a:cubicBezTo>
                <a:cubicBezTo>
                  <a:pt x="47517" y="118865"/>
                  <a:pt x="40317" y="136359"/>
                  <a:pt x="40317" y="155510"/>
                </a:cubicBezTo>
                <a:lnTo>
                  <a:pt x="40317" y="161270"/>
                </a:lnTo>
                <a:cubicBezTo>
                  <a:pt x="40317" y="165374"/>
                  <a:pt x="41181" y="169261"/>
                  <a:pt x="42729" y="172789"/>
                </a:cubicBezTo>
                <a:lnTo>
                  <a:pt x="11519" y="172789"/>
                </a:lnTo>
                <a:cubicBezTo>
                  <a:pt x="5148" y="172789"/>
                  <a:pt x="0" y="167641"/>
                  <a:pt x="0" y="161270"/>
                </a:cubicBezTo>
                <a:lnTo>
                  <a:pt x="0" y="149751"/>
                </a:lnTo>
                <a:close/>
                <a:moveTo>
                  <a:pt x="187656" y="172789"/>
                </a:moveTo>
                <a:cubicBezTo>
                  <a:pt x="189204" y="169261"/>
                  <a:pt x="190068" y="165374"/>
                  <a:pt x="190068" y="161270"/>
                </a:cubicBezTo>
                <a:lnTo>
                  <a:pt x="190068" y="155510"/>
                </a:lnTo>
                <a:cubicBezTo>
                  <a:pt x="190068" y="136359"/>
                  <a:pt x="182868" y="118865"/>
                  <a:pt x="171025" y="105617"/>
                </a:cubicBezTo>
                <a:cubicBezTo>
                  <a:pt x="175237" y="104357"/>
                  <a:pt x="179701" y="103673"/>
                  <a:pt x="184308" y="103673"/>
                </a:cubicBezTo>
                <a:cubicBezTo>
                  <a:pt x="209759" y="103673"/>
                  <a:pt x="230385" y="124300"/>
                  <a:pt x="230385" y="149751"/>
                </a:cubicBezTo>
                <a:lnTo>
                  <a:pt x="230385" y="161270"/>
                </a:lnTo>
                <a:cubicBezTo>
                  <a:pt x="230385" y="167641"/>
                  <a:pt x="225238" y="172789"/>
                  <a:pt x="218866" y="172789"/>
                </a:cubicBezTo>
                <a:lnTo>
                  <a:pt x="187656" y="172789"/>
                </a:lnTo>
                <a:close/>
                <a:moveTo>
                  <a:pt x="169909" y="57596"/>
                </a:moveTo>
                <a:cubicBezTo>
                  <a:pt x="169909" y="43292"/>
                  <a:pt x="181523" y="31678"/>
                  <a:pt x="195828" y="31678"/>
                </a:cubicBezTo>
                <a:cubicBezTo>
                  <a:pt x="210132" y="31678"/>
                  <a:pt x="221746" y="43292"/>
                  <a:pt x="221746" y="57596"/>
                </a:cubicBezTo>
                <a:cubicBezTo>
                  <a:pt x="221746" y="71901"/>
                  <a:pt x="210132" y="83515"/>
                  <a:pt x="195828" y="83515"/>
                </a:cubicBezTo>
                <a:cubicBezTo>
                  <a:pt x="181523" y="83515"/>
                  <a:pt x="169909" y="71901"/>
                  <a:pt x="169909" y="57596"/>
                </a:cubicBezTo>
                <a:close/>
                <a:moveTo>
                  <a:pt x="57596" y="155510"/>
                </a:moveTo>
                <a:cubicBezTo>
                  <a:pt x="57596" y="123688"/>
                  <a:pt x="83371" y="97914"/>
                  <a:pt x="115193" y="97914"/>
                </a:cubicBezTo>
                <a:cubicBezTo>
                  <a:pt x="147015" y="97914"/>
                  <a:pt x="172789" y="123688"/>
                  <a:pt x="172789" y="155510"/>
                </a:cubicBezTo>
                <a:lnTo>
                  <a:pt x="172789" y="161270"/>
                </a:lnTo>
                <a:cubicBezTo>
                  <a:pt x="172789" y="167641"/>
                  <a:pt x="167641" y="172789"/>
                  <a:pt x="161270" y="172789"/>
                </a:cubicBezTo>
                <a:lnTo>
                  <a:pt x="69116" y="172789"/>
                </a:lnTo>
                <a:cubicBezTo>
                  <a:pt x="62744" y="172789"/>
                  <a:pt x="57596" y="167641"/>
                  <a:pt x="57596" y="161270"/>
                </a:cubicBezTo>
                <a:lnTo>
                  <a:pt x="57596" y="155510"/>
                </a:lnTo>
                <a:close/>
              </a:path>
            </a:pathLst>
          </a:custGeom>
          <a:solidFill>
            <a:srgbClr val="FFFFFF"/>
          </a:solidFill>
          <a:ln/>
        </p:spPr>
      </p:sp>
      <p:sp>
        <p:nvSpPr>
          <p:cNvPr id="49" name="Text 47"/>
          <p:cNvSpPr/>
          <p:nvPr/>
        </p:nvSpPr>
        <p:spPr>
          <a:xfrm>
            <a:off x="4984390" y="3594014"/>
            <a:ext cx="709587" cy="258032"/>
          </a:xfrm>
          <a:prstGeom prst="rect">
            <a:avLst/>
          </a:prstGeom>
          <a:noFill/>
          <a:ln/>
        </p:spPr>
        <p:txBody>
          <a:bodyPr wrap="square" lIns="0" tIns="0" rIns="0" bIns="0" rtlCol="0" anchor="ctr"/>
          <a:lstStyle/>
          <a:p>
            <a:pPr>
              <a:lnSpc>
                <a:spcPct val="120000"/>
              </a:lnSpc>
            </a:pPr>
            <a:r>
              <a:rPr lang="en-US" sz="1451" b="1" dirty="0">
                <a:solidFill>
                  <a:srgbClr val="1E3A8A"/>
                </a:solidFill>
                <a:latin typeface="Noto Sans SC" pitchFamily="34" charset="0"/>
                <a:ea typeface="Noto Sans SC" pitchFamily="34" charset="-122"/>
                <a:cs typeface="Noto Sans SC" pitchFamily="34" charset="-120"/>
              </a:rPr>
              <a:t>Clients</a:t>
            </a:r>
            <a:endParaRPr lang="en-US" sz="1600" dirty="0"/>
          </a:p>
        </p:txBody>
      </p:sp>
      <p:sp>
        <p:nvSpPr>
          <p:cNvPr id="50" name="Text 48"/>
          <p:cNvSpPr/>
          <p:nvPr/>
        </p:nvSpPr>
        <p:spPr>
          <a:xfrm>
            <a:off x="4431465" y="4054785"/>
            <a:ext cx="3400490" cy="221170"/>
          </a:xfrm>
          <a:prstGeom prst="rect">
            <a:avLst/>
          </a:prstGeom>
          <a:noFill/>
          <a:ln/>
        </p:spPr>
        <p:txBody>
          <a:bodyPr wrap="square" lIns="0" tIns="0" rIns="0" bIns="0" rtlCol="0" anchor="ctr"/>
          <a:lstStyle/>
          <a:p>
            <a:pPr>
              <a:lnSpc>
                <a:spcPct val="130000"/>
              </a:lnSpc>
            </a:pPr>
            <a:r>
              <a:rPr lang="en-US" sz="1161" b="1" dirty="0">
                <a:solidFill>
                  <a:srgbClr val="374151"/>
                </a:solidFill>
                <a:latin typeface="MiSans" pitchFamily="34" charset="0"/>
                <a:ea typeface="MiSans" pitchFamily="34" charset="-122"/>
                <a:cs typeface="MiSans" pitchFamily="34" charset="-120"/>
              </a:rPr>
              <a:t>Ariane Group</a:t>
            </a:r>
            <a:endParaRPr lang="en-US" sz="1600" dirty="0"/>
          </a:p>
        </p:txBody>
      </p:sp>
      <p:sp>
        <p:nvSpPr>
          <p:cNvPr id="51" name="Text 49"/>
          <p:cNvSpPr/>
          <p:nvPr/>
        </p:nvSpPr>
        <p:spPr>
          <a:xfrm>
            <a:off x="4431465" y="4349678"/>
            <a:ext cx="3400490" cy="221170"/>
          </a:xfrm>
          <a:prstGeom prst="rect">
            <a:avLst/>
          </a:prstGeom>
          <a:noFill/>
          <a:ln/>
        </p:spPr>
        <p:txBody>
          <a:bodyPr wrap="square" lIns="0" tIns="0" rIns="0" bIns="0" rtlCol="0" anchor="ctr"/>
          <a:lstStyle/>
          <a:p>
            <a:pPr>
              <a:lnSpc>
                <a:spcPct val="130000"/>
              </a:lnSpc>
            </a:pPr>
            <a:r>
              <a:rPr lang="en-US" sz="1161" b="1" dirty="0">
                <a:solidFill>
                  <a:srgbClr val="374151"/>
                </a:solidFill>
                <a:latin typeface="MiSans" pitchFamily="34" charset="0"/>
                <a:ea typeface="MiSans" pitchFamily="34" charset="-122"/>
                <a:cs typeface="MiSans" pitchFamily="34" charset="-120"/>
              </a:rPr>
              <a:t>Thales</a:t>
            </a:r>
            <a:endParaRPr lang="en-US" sz="1600" dirty="0"/>
          </a:p>
        </p:txBody>
      </p:sp>
      <p:sp>
        <p:nvSpPr>
          <p:cNvPr id="52" name="Text 50"/>
          <p:cNvSpPr/>
          <p:nvPr/>
        </p:nvSpPr>
        <p:spPr>
          <a:xfrm>
            <a:off x="4431465" y="4644571"/>
            <a:ext cx="3400490" cy="221170"/>
          </a:xfrm>
          <a:prstGeom prst="rect">
            <a:avLst/>
          </a:prstGeom>
          <a:noFill/>
          <a:ln/>
        </p:spPr>
        <p:txBody>
          <a:bodyPr wrap="square" lIns="0" tIns="0" rIns="0" bIns="0" rtlCol="0" anchor="ctr"/>
          <a:lstStyle/>
          <a:p>
            <a:pPr>
              <a:lnSpc>
                <a:spcPct val="130000"/>
              </a:lnSpc>
            </a:pPr>
            <a:r>
              <a:rPr lang="en-US" sz="1161" b="1" dirty="0">
                <a:solidFill>
                  <a:srgbClr val="374151"/>
                </a:solidFill>
                <a:latin typeface="MiSans" pitchFamily="34" charset="0"/>
                <a:ea typeface="MiSans" pitchFamily="34" charset="-122"/>
                <a:cs typeface="MiSans" pitchFamily="34" charset="-120"/>
              </a:rPr>
              <a:t>Safran</a:t>
            </a:r>
            <a:endParaRPr lang="en-US" sz="1600" dirty="0"/>
          </a:p>
        </p:txBody>
      </p:sp>
      <p:sp>
        <p:nvSpPr>
          <p:cNvPr id="53" name="Text 51"/>
          <p:cNvSpPr/>
          <p:nvPr/>
        </p:nvSpPr>
        <p:spPr>
          <a:xfrm>
            <a:off x="4431465" y="4939465"/>
            <a:ext cx="3400490" cy="221170"/>
          </a:xfrm>
          <a:prstGeom prst="rect">
            <a:avLst/>
          </a:prstGeom>
          <a:noFill/>
          <a:ln/>
        </p:spPr>
        <p:txBody>
          <a:bodyPr wrap="square" lIns="0" tIns="0" rIns="0" bIns="0" rtlCol="0" anchor="ctr"/>
          <a:lstStyle/>
          <a:p>
            <a:pPr>
              <a:lnSpc>
                <a:spcPct val="130000"/>
              </a:lnSpc>
            </a:pPr>
            <a:r>
              <a:rPr lang="en-US" sz="1161" b="1" dirty="0">
                <a:solidFill>
                  <a:srgbClr val="374151"/>
                </a:solidFill>
                <a:latin typeface="MiSans" pitchFamily="34" charset="0"/>
                <a:ea typeface="MiSans" pitchFamily="34" charset="-122"/>
                <a:cs typeface="MiSans" pitchFamily="34" charset="-120"/>
              </a:rPr>
              <a:t>Bombardier</a:t>
            </a:r>
            <a:endParaRPr lang="en-US" sz="1600" dirty="0"/>
          </a:p>
        </p:txBody>
      </p:sp>
      <p:sp>
        <p:nvSpPr>
          <p:cNvPr id="54" name="Text 52"/>
          <p:cNvSpPr/>
          <p:nvPr/>
        </p:nvSpPr>
        <p:spPr>
          <a:xfrm>
            <a:off x="4431465" y="5234358"/>
            <a:ext cx="3400490" cy="221170"/>
          </a:xfrm>
          <a:prstGeom prst="rect">
            <a:avLst/>
          </a:prstGeom>
          <a:noFill/>
          <a:ln/>
        </p:spPr>
        <p:txBody>
          <a:bodyPr wrap="square" lIns="0" tIns="0" rIns="0" bIns="0" rtlCol="0" anchor="ctr"/>
          <a:lstStyle/>
          <a:p>
            <a:pPr>
              <a:lnSpc>
                <a:spcPct val="130000"/>
              </a:lnSpc>
            </a:pPr>
            <a:r>
              <a:rPr lang="en-US" sz="1161" b="1" dirty="0">
                <a:solidFill>
                  <a:srgbClr val="374151"/>
                </a:solidFill>
                <a:latin typeface="MiSans" pitchFamily="34" charset="0"/>
                <a:ea typeface="MiSans" pitchFamily="34" charset="-122"/>
                <a:cs typeface="MiSans" pitchFamily="34" charset="-120"/>
              </a:rPr>
              <a:t>Stäubli</a:t>
            </a:r>
            <a:endParaRPr lang="en-US" sz="1600" dirty="0"/>
          </a:p>
        </p:txBody>
      </p:sp>
      <p:sp>
        <p:nvSpPr>
          <p:cNvPr id="55" name="Shape 53"/>
          <p:cNvSpPr/>
          <p:nvPr/>
        </p:nvSpPr>
        <p:spPr>
          <a:xfrm>
            <a:off x="8125840" y="3317551"/>
            <a:ext cx="3695383" cy="2322286"/>
          </a:xfrm>
          <a:custGeom>
            <a:avLst/>
            <a:gdLst/>
            <a:ahLst/>
            <a:cxnLst/>
            <a:rect l="l" t="t" r="r" b="b"/>
            <a:pathLst>
              <a:path w="3695383" h="2322286">
                <a:moveTo>
                  <a:pt x="147442" y="0"/>
                </a:moveTo>
                <a:lnTo>
                  <a:pt x="3547941" y="0"/>
                </a:lnTo>
                <a:cubicBezTo>
                  <a:pt x="3629371" y="0"/>
                  <a:pt x="3695383" y="66012"/>
                  <a:pt x="3695383" y="147442"/>
                </a:cubicBezTo>
                <a:lnTo>
                  <a:pt x="3695383" y="2174844"/>
                </a:lnTo>
                <a:cubicBezTo>
                  <a:pt x="3695383" y="2256274"/>
                  <a:pt x="3629371" y="2322286"/>
                  <a:pt x="3547941" y="2322286"/>
                </a:cubicBezTo>
                <a:lnTo>
                  <a:pt x="147442" y="2322286"/>
                </a:lnTo>
                <a:cubicBezTo>
                  <a:pt x="66012" y="2322286"/>
                  <a:pt x="0" y="2256274"/>
                  <a:pt x="0" y="2174844"/>
                </a:cubicBezTo>
                <a:lnTo>
                  <a:pt x="0" y="147442"/>
                </a:lnTo>
                <a:cubicBezTo>
                  <a:pt x="0" y="66012"/>
                  <a:pt x="66012" y="0"/>
                  <a:pt x="147442" y="0"/>
                </a:cubicBezTo>
                <a:close/>
              </a:path>
            </a:pathLst>
          </a:custGeom>
          <a:solidFill>
            <a:srgbClr val="F3F4F6"/>
          </a:solidFill>
          <a:ln/>
        </p:spPr>
      </p:sp>
      <p:sp>
        <p:nvSpPr>
          <p:cNvPr id="56" name="Shape 54"/>
          <p:cNvSpPr/>
          <p:nvPr/>
        </p:nvSpPr>
        <p:spPr>
          <a:xfrm>
            <a:off x="8310149" y="3501859"/>
            <a:ext cx="442340" cy="442340"/>
          </a:xfrm>
          <a:custGeom>
            <a:avLst/>
            <a:gdLst/>
            <a:ahLst/>
            <a:cxnLst/>
            <a:rect l="l" t="t" r="r" b="b"/>
            <a:pathLst>
              <a:path w="442340" h="442340">
                <a:moveTo>
                  <a:pt x="110585" y="0"/>
                </a:moveTo>
                <a:lnTo>
                  <a:pt x="331755" y="0"/>
                </a:lnTo>
                <a:cubicBezTo>
                  <a:pt x="392830" y="0"/>
                  <a:pt x="442340" y="49511"/>
                  <a:pt x="442340" y="110585"/>
                </a:cubicBezTo>
                <a:lnTo>
                  <a:pt x="442340" y="331755"/>
                </a:lnTo>
                <a:cubicBezTo>
                  <a:pt x="442340" y="392830"/>
                  <a:pt x="392830" y="442340"/>
                  <a:pt x="331755" y="442340"/>
                </a:cubicBezTo>
                <a:lnTo>
                  <a:pt x="110585" y="442340"/>
                </a:lnTo>
                <a:cubicBezTo>
                  <a:pt x="49511" y="442340"/>
                  <a:pt x="0" y="392830"/>
                  <a:pt x="0" y="331755"/>
                </a:cubicBezTo>
                <a:lnTo>
                  <a:pt x="0" y="110585"/>
                </a:lnTo>
                <a:cubicBezTo>
                  <a:pt x="0" y="49551"/>
                  <a:pt x="49551" y="0"/>
                  <a:pt x="110585" y="0"/>
                </a:cubicBezTo>
                <a:close/>
              </a:path>
            </a:pathLst>
          </a:custGeom>
          <a:solidFill>
            <a:srgbClr val="3B82F6"/>
          </a:solidFill>
          <a:ln/>
        </p:spPr>
      </p:sp>
      <p:sp>
        <p:nvSpPr>
          <p:cNvPr id="57" name="Shape 55"/>
          <p:cNvSpPr/>
          <p:nvPr/>
        </p:nvSpPr>
        <p:spPr>
          <a:xfrm>
            <a:off x="8439164" y="3630875"/>
            <a:ext cx="184308" cy="184308"/>
          </a:xfrm>
          <a:custGeom>
            <a:avLst/>
            <a:gdLst/>
            <a:ahLst/>
            <a:cxnLst/>
            <a:rect l="l" t="t" r="r" b="b"/>
            <a:pathLst>
              <a:path w="184308" h="184308">
                <a:moveTo>
                  <a:pt x="70232" y="3420"/>
                </a:moveTo>
                <a:cubicBezTo>
                  <a:pt x="71312" y="-1908"/>
                  <a:pt x="76027" y="-5760"/>
                  <a:pt x="81499" y="-5760"/>
                </a:cubicBezTo>
                <a:lnTo>
                  <a:pt x="103026" y="-5760"/>
                </a:lnTo>
                <a:cubicBezTo>
                  <a:pt x="108497" y="-5760"/>
                  <a:pt x="113213" y="-1908"/>
                  <a:pt x="114293" y="3420"/>
                </a:cubicBezTo>
                <a:lnTo>
                  <a:pt x="119512" y="28618"/>
                </a:lnTo>
                <a:cubicBezTo>
                  <a:pt x="124588" y="30778"/>
                  <a:pt x="129340" y="33550"/>
                  <a:pt x="133660" y="36826"/>
                </a:cubicBezTo>
                <a:lnTo>
                  <a:pt x="158066" y="28726"/>
                </a:lnTo>
                <a:cubicBezTo>
                  <a:pt x="163250" y="26998"/>
                  <a:pt x="168937" y="29158"/>
                  <a:pt x="171673" y="33910"/>
                </a:cubicBezTo>
                <a:lnTo>
                  <a:pt x="182437" y="52557"/>
                </a:lnTo>
                <a:cubicBezTo>
                  <a:pt x="185172" y="57308"/>
                  <a:pt x="184200" y="63284"/>
                  <a:pt x="180097" y="66920"/>
                </a:cubicBezTo>
                <a:lnTo>
                  <a:pt x="160910" y="83983"/>
                </a:lnTo>
                <a:cubicBezTo>
                  <a:pt x="161234" y="86647"/>
                  <a:pt x="161378" y="89382"/>
                  <a:pt x="161378" y="92154"/>
                </a:cubicBezTo>
                <a:cubicBezTo>
                  <a:pt x="161378" y="94926"/>
                  <a:pt x="161198" y="97662"/>
                  <a:pt x="160910" y="100326"/>
                </a:cubicBezTo>
                <a:lnTo>
                  <a:pt x="180133" y="117425"/>
                </a:lnTo>
                <a:cubicBezTo>
                  <a:pt x="184236" y="121060"/>
                  <a:pt x="185172" y="127072"/>
                  <a:pt x="182473" y="131788"/>
                </a:cubicBezTo>
                <a:lnTo>
                  <a:pt x="171709" y="150435"/>
                </a:lnTo>
                <a:cubicBezTo>
                  <a:pt x="168973" y="155150"/>
                  <a:pt x="163286" y="157346"/>
                  <a:pt x="158102" y="155618"/>
                </a:cubicBezTo>
                <a:lnTo>
                  <a:pt x="133696" y="147519"/>
                </a:lnTo>
                <a:cubicBezTo>
                  <a:pt x="129340" y="150795"/>
                  <a:pt x="124588" y="153530"/>
                  <a:pt x="119548" y="155726"/>
                </a:cubicBezTo>
                <a:lnTo>
                  <a:pt x="114365" y="180889"/>
                </a:lnTo>
                <a:cubicBezTo>
                  <a:pt x="113249" y="186252"/>
                  <a:pt x="108533" y="190068"/>
                  <a:pt x="103098" y="190068"/>
                </a:cubicBezTo>
                <a:lnTo>
                  <a:pt x="81571" y="190068"/>
                </a:lnTo>
                <a:cubicBezTo>
                  <a:pt x="76099" y="190068"/>
                  <a:pt x="71384" y="186216"/>
                  <a:pt x="70304" y="180889"/>
                </a:cubicBezTo>
                <a:lnTo>
                  <a:pt x="65120" y="155726"/>
                </a:lnTo>
                <a:cubicBezTo>
                  <a:pt x="60044" y="153566"/>
                  <a:pt x="55329" y="150795"/>
                  <a:pt x="50973" y="147519"/>
                </a:cubicBezTo>
                <a:lnTo>
                  <a:pt x="26458" y="155618"/>
                </a:lnTo>
                <a:cubicBezTo>
                  <a:pt x="21275" y="157346"/>
                  <a:pt x="15587" y="155186"/>
                  <a:pt x="12851" y="150435"/>
                </a:cubicBezTo>
                <a:lnTo>
                  <a:pt x="2088" y="131788"/>
                </a:lnTo>
                <a:cubicBezTo>
                  <a:pt x="-648" y="127036"/>
                  <a:pt x="324" y="121060"/>
                  <a:pt x="4428" y="117425"/>
                </a:cubicBezTo>
                <a:lnTo>
                  <a:pt x="23651" y="100326"/>
                </a:lnTo>
                <a:cubicBezTo>
                  <a:pt x="23327" y="97662"/>
                  <a:pt x="23183" y="94926"/>
                  <a:pt x="23183" y="92154"/>
                </a:cubicBezTo>
                <a:cubicBezTo>
                  <a:pt x="23183" y="89382"/>
                  <a:pt x="23363" y="86647"/>
                  <a:pt x="23651" y="83983"/>
                </a:cubicBezTo>
                <a:lnTo>
                  <a:pt x="4428" y="66884"/>
                </a:lnTo>
                <a:cubicBezTo>
                  <a:pt x="324" y="63248"/>
                  <a:pt x="-612" y="57236"/>
                  <a:pt x="2088" y="52521"/>
                </a:cubicBezTo>
                <a:lnTo>
                  <a:pt x="12851" y="33874"/>
                </a:lnTo>
                <a:cubicBezTo>
                  <a:pt x="15587" y="29122"/>
                  <a:pt x="21275" y="26962"/>
                  <a:pt x="26458" y="28690"/>
                </a:cubicBezTo>
                <a:lnTo>
                  <a:pt x="50865" y="36790"/>
                </a:lnTo>
                <a:cubicBezTo>
                  <a:pt x="55221" y="33514"/>
                  <a:pt x="59972" y="30778"/>
                  <a:pt x="65012" y="28582"/>
                </a:cubicBezTo>
                <a:lnTo>
                  <a:pt x="70232" y="3420"/>
                </a:lnTo>
                <a:close/>
                <a:moveTo>
                  <a:pt x="92262" y="120952"/>
                </a:moveTo>
                <a:cubicBezTo>
                  <a:pt x="102551" y="120914"/>
                  <a:pt x="112037" y="115389"/>
                  <a:pt x="117148" y="106460"/>
                </a:cubicBezTo>
                <a:cubicBezTo>
                  <a:pt x="122259" y="97530"/>
                  <a:pt x="122218" y="86552"/>
                  <a:pt x="117040" y="77662"/>
                </a:cubicBezTo>
                <a:cubicBezTo>
                  <a:pt x="111862" y="68771"/>
                  <a:pt x="102335" y="63317"/>
                  <a:pt x="92046" y="63356"/>
                </a:cubicBezTo>
                <a:cubicBezTo>
                  <a:pt x="81758" y="63395"/>
                  <a:pt x="72271" y="68919"/>
                  <a:pt x="67160" y="77849"/>
                </a:cubicBezTo>
                <a:cubicBezTo>
                  <a:pt x="62049" y="86778"/>
                  <a:pt x="62091" y="97756"/>
                  <a:pt x="67268" y="106647"/>
                </a:cubicBezTo>
                <a:cubicBezTo>
                  <a:pt x="72446" y="115538"/>
                  <a:pt x="81974" y="120991"/>
                  <a:pt x="92262" y="120952"/>
                </a:cubicBezTo>
                <a:close/>
              </a:path>
            </a:pathLst>
          </a:custGeom>
          <a:solidFill>
            <a:srgbClr val="FFFFFF"/>
          </a:solidFill>
          <a:ln/>
        </p:spPr>
      </p:sp>
      <p:sp>
        <p:nvSpPr>
          <p:cNvPr id="58" name="Text 56"/>
          <p:cNvSpPr/>
          <p:nvPr/>
        </p:nvSpPr>
        <p:spPr>
          <a:xfrm>
            <a:off x="8863074" y="3594014"/>
            <a:ext cx="949188" cy="258032"/>
          </a:xfrm>
          <a:prstGeom prst="rect">
            <a:avLst/>
          </a:prstGeom>
          <a:noFill/>
          <a:ln/>
        </p:spPr>
        <p:txBody>
          <a:bodyPr wrap="square" lIns="0" tIns="0" rIns="0" bIns="0" rtlCol="0" anchor="ctr"/>
          <a:lstStyle/>
          <a:p>
            <a:pPr>
              <a:lnSpc>
                <a:spcPct val="120000"/>
              </a:lnSpc>
            </a:pPr>
            <a:r>
              <a:rPr lang="en-US" sz="1451" b="1" dirty="0">
                <a:solidFill>
                  <a:srgbClr val="1E3A8A"/>
                </a:solidFill>
                <a:latin typeface="Noto Sans SC" pitchFamily="34" charset="0"/>
                <a:ea typeface="Noto Sans SC" pitchFamily="34" charset="-122"/>
                <a:cs typeface="Noto Sans SC" pitchFamily="34" charset="-120"/>
              </a:rPr>
              <a:t>Spécialité</a:t>
            </a:r>
            <a:endParaRPr lang="en-US" sz="1600" dirty="0"/>
          </a:p>
        </p:txBody>
      </p:sp>
      <p:sp>
        <p:nvSpPr>
          <p:cNvPr id="59" name="Text 57"/>
          <p:cNvSpPr/>
          <p:nvPr/>
        </p:nvSpPr>
        <p:spPr>
          <a:xfrm>
            <a:off x="8310149" y="4054785"/>
            <a:ext cx="3400490" cy="239601"/>
          </a:xfrm>
          <a:prstGeom prst="rect">
            <a:avLst/>
          </a:prstGeom>
          <a:noFill/>
          <a:ln/>
        </p:spPr>
        <p:txBody>
          <a:bodyPr wrap="square" lIns="0" tIns="0" rIns="0" bIns="0" rtlCol="0" anchor="ctr"/>
          <a:lstStyle/>
          <a:p>
            <a:pPr>
              <a:lnSpc>
                <a:spcPct val="140000"/>
              </a:lnSpc>
            </a:pPr>
            <a:r>
              <a:rPr lang="en-US" sz="1161" b="1" dirty="0">
                <a:solidFill>
                  <a:srgbClr val="1E3A8A"/>
                </a:solidFill>
                <a:latin typeface="MiSans" pitchFamily="34" charset="0"/>
                <a:ea typeface="MiSans" pitchFamily="34" charset="-122"/>
                <a:cs typeface="MiSans" pitchFamily="34" charset="-120"/>
              </a:rPr>
              <a:t>Usinage de précision</a:t>
            </a:r>
            <a:r>
              <a:rPr lang="en-US" sz="1161" dirty="0">
                <a:solidFill>
                  <a:srgbClr val="374151"/>
                </a:solidFill>
                <a:latin typeface="MiSans" pitchFamily="34" charset="0"/>
                <a:ea typeface="MiSans" pitchFamily="34" charset="-122"/>
                <a:cs typeface="MiSans" pitchFamily="34" charset="-120"/>
              </a:rPr>
              <a:t>, petites et moyennes séries</a:t>
            </a:r>
            <a:endParaRPr lang="en-US" sz="1600" dirty="0"/>
          </a:p>
        </p:txBody>
      </p:sp>
      <p:sp>
        <p:nvSpPr>
          <p:cNvPr id="60" name="Shape 58"/>
          <p:cNvSpPr/>
          <p:nvPr/>
        </p:nvSpPr>
        <p:spPr>
          <a:xfrm>
            <a:off x="368617" y="5861007"/>
            <a:ext cx="11454766" cy="626649"/>
          </a:xfrm>
          <a:custGeom>
            <a:avLst/>
            <a:gdLst/>
            <a:ahLst/>
            <a:cxnLst/>
            <a:rect l="l" t="t" r="r" b="b"/>
            <a:pathLst>
              <a:path w="11454766" h="626649">
                <a:moveTo>
                  <a:pt x="147444" y="0"/>
                </a:moveTo>
                <a:lnTo>
                  <a:pt x="11307322" y="0"/>
                </a:lnTo>
                <a:cubicBezTo>
                  <a:pt x="11388753" y="0"/>
                  <a:pt x="11454766" y="66013"/>
                  <a:pt x="11454766" y="147444"/>
                </a:cubicBezTo>
                <a:lnTo>
                  <a:pt x="11454766" y="479204"/>
                </a:lnTo>
                <a:cubicBezTo>
                  <a:pt x="11454766" y="560636"/>
                  <a:pt x="11388753" y="626649"/>
                  <a:pt x="11307322" y="626649"/>
                </a:cubicBezTo>
                <a:lnTo>
                  <a:pt x="147444" y="626649"/>
                </a:lnTo>
                <a:cubicBezTo>
                  <a:pt x="66068" y="626649"/>
                  <a:pt x="0" y="560581"/>
                  <a:pt x="0" y="479204"/>
                </a:cubicBezTo>
                <a:lnTo>
                  <a:pt x="0" y="147444"/>
                </a:lnTo>
                <a:cubicBezTo>
                  <a:pt x="0" y="66068"/>
                  <a:pt x="66068" y="0"/>
                  <a:pt x="147444" y="0"/>
                </a:cubicBezTo>
                <a:close/>
              </a:path>
            </a:pathLst>
          </a:custGeom>
          <a:solidFill>
            <a:srgbClr val="1E3A8A"/>
          </a:solidFill>
          <a:ln/>
        </p:spPr>
      </p:sp>
      <p:sp>
        <p:nvSpPr>
          <p:cNvPr id="61" name="Shape 59"/>
          <p:cNvSpPr/>
          <p:nvPr/>
        </p:nvSpPr>
        <p:spPr>
          <a:xfrm>
            <a:off x="552925" y="6082177"/>
            <a:ext cx="230385" cy="184308"/>
          </a:xfrm>
          <a:custGeom>
            <a:avLst/>
            <a:gdLst/>
            <a:ahLst/>
            <a:cxnLst/>
            <a:rect l="l" t="t" r="r" b="b"/>
            <a:pathLst>
              <a:path w="230385" h="184308">
                <a:moveTo>
                  <a:pt x="48957" y="46077"/>
                </a:moveTo>
                <a:cubicBezTo>
                  <a:pt x="48957" y="22236"/>
                  <a:pt x="68313" y="2880"/>
                  <a:pt x="92154" y="2880"/>
                </a:cubicBezTo>
                <a:cubicBezTo>
                  <a:pt x="115995" y="2880"/>
                  <a:pt x="135351" y="22236"/>
                  <a:pt x="135351" y="46077"/>
                </a:cubicBezTo>
                <a:cubicBezTo>
                  <a:pt x="135351" y="69918"/>
                  <a:pt x="115995" y="89274"/>
                  <a:pt x="92154" y="89274"/>
                </a:cubicBezTo>
                <a:cubicBezTo>
                  <a:pt x="68313" y="89274"/>
                  <a:pt x="48957" y="69918"/>
                  <a:pt x="48957" y="46077"/>
                </a:cubicBezTo>
                <a:close/>
                <a:moveTo>
                  <a:pt x="17279" y="173617"/>
                </a:moveTo>
                <a:cubicBezTo>
                  <a:pt x="17279" y="138159"/>
                  <a:pt x="46005" y="109433"/>
                  <a:pt x="81463" y="109433"/>
                </a:cubicBezTo>
                <a:lnTo>
                  <a:pt x="102846" y="109433"/>
                </a:lnTo>
                <a:cubicBezTo>
                  <a:pt x="138303" y="109433"/>
                  <a:pt x="167029" y="138159"/>
                  <a:pt x="167029" y="173617"/>
                </a:cubicBezTo>
                <a:cubicBezTo>
                  <a:pt x="167029" y="179521"/>
                  <a:pt x="162242" y="184308"/>
                  <a:pt x="156338" y="184308"/>
                </a:cubicBezTo>
                <a:lnTo>
                  <a:pt x="27970" y="184308"/>
                </a:lnTo>
                <a:cubicBezTo>
                  <a:pt x="22067" y="184308"/>
                  <a:pt x="17279" y="179521"/>
                  <a:pt x="17279" y="173617"/>
                </a:cubicBezTo>
                <a:close/>
                <a:moveTo>
                  <a:pt x="220450" y="47769"/>
                </a:moveTo>
                <a:lnTo>
                  <a:pt x="191652" y="93846"/>
                </a:lnTo>
                <a:cubicBezTo>
                  <a:pt x="190140" y="96258"/>
                  <a:pt x="187548" y="97770"/>
                  <a:pt x="184704" y="97914"/>
                </a:cubicBezTo>
                <a:cubicBezTo>
                  <a:pt x="181861" y="98058"/>
                  <a:pt x="179125" y="96762"/>
                  <a:pt x="177433" y="94458"/>
                </a:cubicBezTo>
                <a:lnTo>
                  <a:pt x="160154" y="71420"/>
                </a:lnTo>
                <a:cubicBezTo>
                  <a:pt x="157274" y="67604"/>
                  <a:pt x="158066" y="62204"/>
                  <a:pt x="161882" y="59324"/>
                </a:cubicBezTo>
                <a:cubicBezTo>
                  <a:pt x="165698" y="56444"/>
                  <a:pt x="171097" y="57236"/>
                  <a:pt x="173977" y="61052"/>
                </a:cubicBezTo>
                <a:lnTo>
                  <a:pt x="183696" y="74011"/>
                </a:lnTo>
                <a:lnTo>
                  <a:pt x="205799" y="38626"/>
                </a:lnTo>
                <a:cubicBezTo>
                  <a:pt x="208319" y="34594"/>
                  <a:pt x="213647" y="33334"/>
                  <a:pt x="217714" y="35890"/>
                </a:cubicBezTo>
                <a:cubicBezTo>
                  <a:pt x="221782" y="38446"/>
                  <a:pt x="223006" y="43737"/>
                  <a:pt x="220450" y="47805"/>
                </a:cubicBezTo>
                <a:close/>
              </a:path>
            </a:pathLst>
          </a:custGeom>
          <a:solidFill>
            <a:srgbClr val="FFFFFF"/>
          </a:solidFill>
          <a:ln/>
        </p:spPr>
      </p:sp>
      <p:sp>
        <p:nvSpPr>
          <p:cNvPr id="62" name="Text 60"/>
          <p:cNvSpPr/>
          <p:nvPr/>
        </p:nvSpPr>
        <p:spPr>
          <a:xfrm>
            <a:off x="893896" y="6063746"/>
            <a:ext cx="1483683" cy="221170"/>
          </a:xfrm>
          <a:prstGeom prst="rect">
            <a:avLst/>
          </a:prstGeom>
          <a:noFill/>
          <a:ln/>
        </p:spPr>
        <p:txBody>
          <a:bodyPr wrap="square" lIns="0" tIns="0" rIns="0" bIns="0" rtlCol="0" anchor="ctr"/>
          <a:lstStyle/>
          <a:p>
            <a:pPr>
              <a:lnSpc>
                <a:spcPct val="130000"/>
              </a:lnSpc>
            </a:pPr>
            <a:r>
              <a:rPr lang="en-US" sz="1161" b="1" dirty="0">
                <a:solidFill>
                  <a:srgbClr val="FFFFFF"/>
                </a:solidFill>
                <a:latin typeface="MiSans" pitchFamily="34" charset="0"/>
                <a:ea typeface="MiSans" pitchFamily="34" charset="-122"/>
                <a:cs typeface="MiSans" pitchFamily="34" charset="-120"/>
              </a:rPr>
              <a:t>9 personnes Qualité</a:t>
            </a:r>
            <a:endParaRPr lang="en-US" sz="1600" dirty="0"/>
          </a:p>
        </p:txBody>
      </p:sp>
      <p:sp>
        <p:nvSpPr>
          <p:cNvPr id="63" name="Shape 61"/>
          <p:cNvSpPr/>
          <p:nvPr/>
        </p:nvSpPr>
        <p:spPr>
          <a:xfrm>
            <a:off x="2609692" y="6082177"/>
            <a:ext cx="207347" cy="184308"/>
          </a:xfrm>
          <a:custGeom>
            <a:avLst/>
            <a:gdLst/>
            <a:ahLst/>
            <a:cxnLst/>
            <a:rect l="l" t="t" r="r" b="b"/>
            <a:pathLst>
              <a:path w="207347" h="184308">
                <a:moveTo>
                  <a:pt x="75271" y="185820"/>
                </a:moveTo>
                <a:cubicBezTo>
                  <a:pt x="68540" y="192552"/>
                  <a:pt x="57596" y="192552"/>
                  <a:pt x="50829" y="185820"/>
                </a:cubicBezTo>
                <a:lnTo>
                  <a:pt x="10115" y="145107"/>
                </a:lnTo>
                <a:cubicBezTo>
                  <a:pt x="3384" y="138375"/>
                  <a:pt x="3384" y="127432"/>
                  <a:pt x="10115" y="120664"/>
                </a:cubicBezTo>
                <a:lnTo>
                  <a:pt x="16235" y="114545"/>
                </a:lnTo>
                <a:lnTo>
                  <a:pt x="42693" y="141003"/>
                </a:lnTo>
                <a:cubicBezTo>
                  <a:pt x="46077" y="144387"/>
                  <a:pt x="51549" y="144387"/>
                  <a:pt x="54897" y="141003"/>
                </a:cubicBezTo>
                <a:cubicBezTo>
                  <a:pt x="58244" y="137619"/>
                  <a:pt x="58280" y="132148"/>
                  <a:pt x="54897" y="128800"/>
                </a:cubicBezTo>
                <a:lnTo>
                  <a:pt x="28438" y="102342"/>
                </a:lnTo>
                <a:lnTo>
                  <a:pt x="40641" y="90138"/>
                </a:lnTo>
                <a:lnTo>
                  <a:pt x="58964" y="108461"/>
                </a:lnTo>
                <a:cubicBezTo>
                  <a:pt x="62348" y="111845"/>
                  <a:pt x="67820" y="111845"/>
                  <a:pt x="71168" y="108461"/>
                </a:cubicBezTo>
                <a:cubicBezTo>
                  <a:pt x="74515" y="105077"/>
                  <a:pt x="74551" y="99606"/>
                  <a:pt x="71168" y="96258"/>
                </a:cubicBezTo>
                <a:lnTo>
                  <a:pt x="52845" y="77935"/>
                </a:lnTo>
                <a:lnTo>
                  <a:pt x="65048" y="65732"/>
                </a:lnTo>
                <a:lnTo>
                  <a:pt x="91506" y="92190"/>
                </a:lnTo>
                <a:cubicBezTo>
                  <a:pt x="94890" y="95574"/>
                  <a:pt x="100362" y="95574"/>
                  <a:pt x="103709" y="92190"/>
                </a:cubicBezTo>
                <a:cubicBezTo>
                  <a:pt x="107057" y="88806"/>
                  <a:pt x="107093" y="83335"/>
                  <a:pt x="103709" y="79987"/>
                </a:cubicBezTo>
                <a:lnTo>
                  <a:pt x="77251" y="53529"/>
                </a:lnTo>
                <a:lnTo>
                  <a:pt x="89454" y="41325"/>
                </a:lnTo>
                <a:lnTo>
                  <a:pt x="107777" y="59648"/>
                </a:lnTo>
                <a:cubicBezTo>
                  <a:pt x="111161" y="63032"/>
                  <a:pt x="116633" y="63032"/>
                  <a:pt x="119980" y="59648"/>
                </a:cubicBezTo>
                <a:cubicBezTo>
                  <a:pt x="123328" y="56264"/>
                  <a:pt x="123364" y="50793"/>
                  <a:pt x="119980" y="47445"/>
                </a:cubicBezTo>
                <a:lnTo>
                  <a:pt x="101658" y="29122"/>
                </a:lnTo>
                <a:lnTo>
                  <a:pt x="113861" y="16919"/>
                </a:lnTo>
                <a:lnTo>
                  <a:pt x="140319" y="43377"/>
                </a:lnTo>
                <a:cubicBezTo>
                  <a:pt x="143703" y="46761"/>
                  <a:pt x="149175" y="46761"/>
                  <a:pt x="152522" y="43377"/>
                </a:cubicBezTo>
                <a:cubicBezTo>
                  <a:pt x="155870" y="39993"/>
                  <a:pt x="155906" y="34522"/>
                  <a:pt x="152522" y="31174"/>
                </a:cubicBezTo>
                <a:lnTo>
                  <a:pt x="126064" y="4716"/>
                </a:lnTo>
                <a:lnTo>
                  <a:pt x="132184" y="-1404"/>
                </a:lnTo>
                <a:cubicBezTo>
                  <a:pt x="138915" y="-8135"/>
                  <a:pt x="149859" y="-8135"/>
                  <a:pt x="156626" y="-1404"/>
                </a:cubicBezTo>
                <a:lnTo>
                  <a:pt x="197448" y="39202"/>
                </a:lnTo>
                <a:cubicBezTo>
                  <a:pt x="204179" y="45933"/>
                  <a:pt x="204179" y="56876"/>
                  <a:pt x="197448" y="63644"/>
                </a:cubicBezTo>
                <a:lnTo>
                  <a:pt x="75271" y="185820"/>
                </a:lnTo>
                <a:close/>
              </a:path>
            </a:pathLst>
          </a:custGeom>
          <a:solidFill>
            <a:srgbClr val="FFFFFF"/>
          </a:solidFill>
          <a:ln/>
        </p:spPr>
      </p:sp>
      <p:sp>
        <p:nvSpPr>
          <p:cNvPr id="64" name="Text 62"/>
          <p:cNvSpPr/>
          <p:nvPr/>
        </p:nvSpPr>
        <p:spPr>
          <a:xfrm>
            <a:off x="2939143" y="6063746"/>
            <a:ext cx="1327020" cy="221170"/>
          </a:xfrm>
          <a:prstGeom prst="rect">
            <a:avLst/>
          </a:prstGeom>
          <a:noFill/>
          <a:ln/>
        </p:spPr>
        <p:txBody>
          <a:bodyPr wrap="square" lIns="0" tIns="0" rIns="0" bIns="0" rtlCol="0" anchor="ctr"/>
          <a:lstStyle/>
          <a:p>
            <a:pPr>
              <a:lnSpc>
                <a:spcPct val="130000"/>
              </a:lnSpc>
            </a:pPr>
            <a:r>
              <a:rPr lang="en-US" sz="1161" b="1" dirty="0">
                <a:solidFill>
                  <a:srgbClr val="FFFFFF"/>
                </a:solidFill>
                <a:latin typeface="MiSans" pitchFamily="34" charset="0"/>
                <a:ea typeface="MiSans" pitchFamily="34" charset="-122"/>
                <a:cs typeface="MiSans" pitchFamily="34" charset="-120"/>
              </a:rPr>
              <a:t>2 000 instruments</a:t>
            </a:r>
            <a:endParaRPr lang="en-US" sz="1600" dirty="0"/>
          </a:p>
        </p:txBody>
      </p:sp>
      <p:sp>
        <p:nvSpPr>
          <p:cNvPr id="65" name="Shape 63"/>
          <p:cNvSpPr/>
          <p:nvPr/>
        </p:nvSpPr>
        <p:spPr>
          <a:xfrm>
            <a:off x="4510948" y="6082177"/>
            <a:ext cx="184308" cy="184308"/>
          </a:xfrm>
          <a:custGeom>
            <a:avLst/>
            <a:gdLst/>
            <a:ahLst/>
            <a:cxnLst/>
            <a:rect l="l" t="t" r="r" b="b"/>
            <a:pathLst>
              <a:path w="184308" h="184308">
                <a:moveTo>
                  <a:pt x="63356" y="0"/>
                </a:moveTo>
                <a:cubicBezTo>
                  <a:pt x="53817" y="0"/>
                  <a:pt x="46077" y="7740"/>
                  <a:pt x="46077" y="17279"/>
                </a:cubicBezTo>
                <a:lnTo>
                  <a:pt x="46077" y="92154"/>
                </a:lnTo>
                <a:cubicBezTo>
                  <a:pt x="46077" y="101694"/>
                  <a:pt x="53817" y="109433"/>
                  <a:pt x="63356" y="109433"/>
                </a:cubicBezTo>
                <a:lnTo>
                  <a:pt x="86395" y="109433"/>
                </a:lnTo>
                <a:cubicBezTo>
                  <a:pt x="95934" y="109433"/>
                  <a:pt x="103673" y="101694"/>
                  <a:pt x="103673" y="92154"/>
                </a:cubicBezTo>
                <a:lnTo>
                  <a:pt x="103673" y="69116"/>
                </a:lnTo>
                <a:lnTo>
                  <a:pt x="115193" y="69116"/>
                </a:lnTo>
                <a:cubicBezTo>
                  <a:pt x="140643" y="69116"/>
                  <a:pt x="161270" y="89742"/>
                  <a:pt x="161270" y="115193"/>
                </a:cubicBezTo>
                <a:cubicBezTo>
                  <a:pt x="161270" y="140643"/>
                  <a:pt x="140643" y="161270"/>
                  <a:pt x="115193" y="161270"/>
                </a:cubicBezTo>
                <a:lnTo>
                  <a:pt x="11519" y="161270"/>
                </a:lnTo>
                <a:cubicBezTo>
                  <a:pt x="5148" y="161270"/>
                  <a:pt x="0" y="166418"/>
                  <a:pt x="0" y="172789"/>
                </a:cubicBezTo>
                <a:cubicBezTo>
                  <a:pt x="0" y="179161"/>
                  <a:pt x="5148" y="184308"/>
                  <a:pt x="11519" y="184308"/>
                </a:cubicBezTo>
                <a:lnTo>
                  <a:pt x="172789" y="184308"/>
                </a:lnTo>
                <a:cubicBezTo>
                  <a:pt x="179161" y="184308"/>
                  <a:pt x="184308" y="179161"/>
                  <a:pt x="184308" y="172789"/>
                </a:cubicBezTo>
                <a:cubicBezTo>
                  <a:pt x="184308" y="166418"/>
                  <a:pt x="179161" y="161270"/>
                  <a:pt x="172789" y="161270"/>
                </a:cubicBezTo>
                <a:lnTo>
                  <a:pt x="166705" y="161270"/>
                </a:lnTo>
                <a:cubicBezTo>
                  <a:pt x="177649" y="149031"/>
                  <a:pt x="184308" y="132904"/>
                  <a:pt x="184308" y="115193"/>
                </a:cubicBezTo>
                <a:cubicBezTo>
                  <a:pt x="184308" y="77035"/>
                  <a:pt x="153350" y="46077"/>
                  <a:pt x="115193" y="46077"/>
                </a:cubicBezTo>
                <a:lnTo>
                  <a:pt x="103673" y="46077"/>
                </a:lnTo>
                <a:lnTo>
                  <a:pt x="103673" y="17279"/>
                </a:lnTo>
                <a:cubicBezTo>
                  <a:pt x="103673" y="7740"/>
                  <a:pt x="95934" y="0"/>
                  <a:pt x="86395" y="0"/>
                </a:cubicBezTo>
                <a:lnTo>
                  <a:pt x="63356" y="0"/>
                </a:lnTo>
                <a:close/>
                <a:moveTo>
                  <a:pt x="43197" y="126712"/>
                </a:moveTo>
                <a:cubicBezTo>
                  <a:pt x="38410" y="126712"/>
                  <a:pt x="34558" y="130564"/>
                  <a:pt x="34558" y="135351"/>
                </a:cubicBezTo>
                <a:cubicBezTo>
                  <a:pt x="34558" y="140139"/>
                  <a:pt x="38410" y="143991"/>
                  <a:pt x="43197" y="143991"/>
                </a:cubicBezTo>
                <a:lnTo>
                  <a:pt x="106553" y="143991"/>
                </a:lnTo>
                <a:cubicBezTo>
                  <a:pt x="111341" y="143991"/>
                  <a:pt x="115193" y="140139"/>
                  <a:pt x="115193" y="135351"/>
                </a:cubicBezTo>
                <a:cubicBezTo>
                  <a:pt x="115193" y="130564"/>
                  <a:pt x="111341" y="126712"/>
                  <a:pt x="106553" y="126712"/>
                </a:cubicBezTo>
                <a:lnTo>
                  <a:pt x="43197" y="126712"/>
                </a:lnTo>
                <a:close/>
              </a:path>
            </a:pathLst>
          </a:custGeom>
          <a:solidFill>
            <a:srgbClr val="FFFFFF"/>
          </a:solidFill>
          <a:ln/>
        </p:spPr>
      </p:sp>
      <p:sp>
        <p:nvSpPr>
          <p:cNvPr id="66" name="Text 64"/>
          <p:cNvSpPr/>
          <p:nvPr/>
        </p:nvSpPr>
        <p:spPr>
          <a:xfrm>
            <a:off x="4828880" y="6063746"/>
            <a:ext cx="1271728" cy="221170"/>
          </a:xfrm>
          <a:prstGeom prst="rect">
            <a:avLst/>
          </a:prstGeom>
          <a:noFill/>
          <a:ln/>
        </p:spPr>
        <p:txBody>
          <a:bodyPr wrap="square" lIns="0" tIns="0" rIns="0" bIns="0" rtlCol="0" anchor="ctr"/>
          <a:lstStyle/>
          <a:p>
            <a:pPr>
              <a:lnSpc>
                <a:spcPct val="130000"/>
              </a:lnSpc>
            </a:pPr>
            <a:r>
              <a:rPr lang="en-US" sz="1161" b="1" dirty="0">
                <a:solidFill>
                  <a:srgbClr val="FFFFFF"/>
                </a:solidFill>
                <a:latin typeface="MiSans" pitchFamily="34" charset="0"/>
                <a:ea typeface="MiSans" pitchFamily="34" charset="-122"/>
                <a:cs typeface="MiSans" pitchFamily="34" charset="-120"/>
              </a:rPr>
              <a:t>3 machines CMM</a:t>
            </a:r>
            <a:endParaRPr lang="en-US" sz="1600" dirty="0"/>
          </a:p>
        </p:txBody>
      </p:sp>
      <p:sp>
        <p:nvSpPr>
          <p:cNvPr id="67" name="Text 65"/>
          <p:cNvSpPr/>
          <p:nvPr/>
        </p:nvSpPr>
        <p:spPr>
          <a:xfrm>
            <a:off x="10107155" y="6045315"/>
            <a:ext cx="1612698" cy="258032"/>
          </a:xfrm>
          <a:prstGeom prst="rect">
            <a:avLst/>
          </a:prstGeom>
          <a:noFill/>
          <a:ln/>
        </p:spPr>
        <p:txBody>
          <a:bodyPr wrap="square" lIns="0" tIns="0" rIns="0" bIns="0" rtlCol="0" anchor="ctr"/>
          <a:lstStyle/>
          <a:p>
            <a:pPr>
              <a:lnSpc>
                <a:spcPct val="130000"/>
              </a:lnSpc>
            </a:pPr>
            <a:r>
              <a:rPr lang="en-US" sz="1306" b="1" dirty="0">
                <a:solidFill>
                  <a:srgbClr val="FFFFFF"/>
                </a:solidFill>
                <a:latin typeface="MiSans" pitchFamily="34" charset="0"/>
                <a:ea typeface="MiSans" pitchFamily="34" charset="-122"/>
                <a:cs typeface="MiSans" pitchFamily="34" charset="-120"/>
              </a:rPr>
              <a:t>+45 ans d'expertise</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228600"/>
            <a:ext cx="2495550" cy="342900"/>
          </a:xfrm>
          <a:custGeom>
            <a:avLst/>
            <a:gdLst/>
            <a:ahLst/>
            <a:cxnLst/>
            <a:rect l="l" t="t" r="r" b="b"/>
            <a:pathLst>
              <a:path w="2495550" h="342900">
                <a:moveTo>
                  <a:pt x="171450" y="0"/>
                </a:moveTo>
                <a:lnTo>
                  <a:pt x="2324100" y="0"/>
                </a:lnTo>
                <a:cubicBezTo>
                  <a:pt x="2418726" y="0"/>
                  <a:pt x="2495550" y="76824"/>
                  <a:pt x="2495550" y="171450"/>
                </a:cubicBezTo>
                <a:lnTo>
                  <a:pt x="2495550" y="171450"/>
                </a:lnTo>
                <a:cubicBezTo>
                  <a:pt x="2495550" y="266076"/>
                  <a:pt x="2418726" y="342900"/>
                  <a:pt x="2324100" y="342900"/>
                </a:cubicBezTo>
                <a:lnTo>
                  <a:pt x="171450" y="342900"/>
                </a:lnTo>
                <a:cubicBezTo>
                  <a:pt x="76824" y="342900"/>
                  <a:pt x="0" y="266076"/>
                  <a:pt x="0" y="171450"/>
                </a:cubicBezTo>
                <a:lnTo>
                  <a:pt x="0" y="171450"/>
                </a:lnTo>
                <a:cubicBezTo>
                  <a:pt x="0" y="76824"/>
                  <a:pt x="76824" y="0"/>
                  <a:pt x="171450" y="0"/>
                </a:cubicBezTo>
                <a:close/>
              </a:path>
            </a:pathLst>
          </a:custGeom>
          <a:solidFill>
            <a:srgbClr val="1E3A8A"/>
          </a:solidFill>
          <a:ln/>
        </p:spPr>
      </p:sp>
      <p:sp>
        <p:nvSpPr>
          <p:cNvPr id="3" name="Text 1"/>
          <p:cNvSpPr/>
          <p:nvPr/>
        </p:nvSpPr>
        <p:spPr>
          <a:xfrm>
            <a:off x="533400" y="304800"/>
            <a:ext cx="2257425" cy="190500"/>
          </a:xfrm>
          <a:prstGeom prst="rect">
            <a:avLst/>
          </a:prstGeom>
          <a:noFill/>
          <a:ln/>
        </p:spPr>
        <p:txBody>
          <a:bodyPr wrap="square" lIns="0" tIns="0" rIns="0" bIns="0" rtlCol="0" anchor="ctr"/>
          <a:lstStyle/>
          <a:p>
            <a:pPr>
              <a:lnSpc>
                <a:spcPct val="120000"/>
              </a:lnSpc>
            </a:pPr>
            <a:r>
              <a:rPr lang="en-US" sz="1050" b="1" kern="0" spc="26" dirty="0">
                <a:solidFill>
                  <a:srgbClr val="FFFFFF"/>
                </a:solidFill>
                <a:latin typeface="MiSans" pitchFamily="34" charset="0"/>
                <a:ea typeface="MiSans" pitchFamily="34" charset="-122"/>
                <a:cs typeface="MiSans" pitchFamily="34" charset="-120"/>
              </a:rPr>
              <a:t>DISCOVERY - BUSINESS MODEL</a:t>
            </a:r>
            <a:endParaRPr lang="en-US" sz="1600" dirty="0"/>
          </a:p>
        </p:txBody>
      </p:sp>
      <p:sp>
        <p:nvSpPr>
          <p:cNvPr id="4" name="Text 2"/>
          <p:cNvSpPr/>
          <p:nvPr/>
        </p:nvSpPr>
        <p:spPr>
          <a:xfrm>
            <a:off x="381000" y="990600"/>
            <a:ext cx="11601450" cy="381000"/>
          </a:xfrm>
          <a:prstGeom prst="rect">
            <a:avLst/>
          </a:prstGeom>
          <a:noFill/>
          <a:ln/>
        </p:spPr>
        <p:txBody>
          <a:bodyPr wrap="square" lIns="0" tIns="0" rIns="0" bIns="0" rtlCol="0" anchor="ctr"/>
          <a:lstStyle/>
          <a:p>
            <a:pPr>
              <a:lnSpc>
                <a:spcPct val="90000"/>
              </a:lnSpc>
            </a:pPr>
            <a:r>
              <a:rPr lang="en-US" sz="2700" b="1" dirty="0">
                <a:solidFill>
                  <a:srgbClr val="1E3A8A"/>
                </a:solidFill>
                <a:latin typeface="Noto Sans SC" pitchFamily="34" charset="0"/>
                <a:ea typeface="Noto Sans SC" pitchFamily="34" charset="-122"/>
                <a:cs typeface="Noto Sans SC" pitchFamily="34" charset="-120"/>
              </a:rPr>
              <a:t>Business Model Canvas — Département Qualité</a:t>
            </a:r>
            <a:endParaRPr lang="en-US" sz="1600" dirty="0"/>
          </a:p>
        </p:txBody>
      </p:sp>
      <p:sp>
        <p:nvSpPr>
          <p:cNvPr id="5" name="Shape 3"/>
          <p:cNvSpPr/>
          <p:nvPr/>
        </p:nvSpPr>
        <p:spPr>
          <a:xfrm>
            <a:off x="381000" y="1600200"/>
            <a:ext cx="2190750" cy="1514475"/>
          </a:xfrm>
          <a:custGeom>
            <a:avLst/>
            <a:gdLst/>
            <a:ahLst/>
            <a:cxnLst/>
            <a:rect l="l" t="t" r="r" b="b"/>
            <a:pathLst>
              <a:path w="2190750" h="1514475">
                <a:moveTo>
                  <a:pt x="114297" y="0"/>
                </a:moveTo>
                <a:lnTo>
                  <a:pt x="2076453" y="0"/>
                </a:lnTo>
                <a:cubicBezTo>
                  <a:pt x="2139535" y="0"/>
                  <a:pt x="2190750" y="51215"/>
                  <a:pt x="2190750" y="114297"/>
                </a:cubicBezTo>
                <a:lnTo>
                  <a:pt x="2190750" y="1400178"/>
                </a:lnTo>
                <a:cubicBezTo>
                  <a:pt x="2190750" y="1463260"/>
                  <a:pt x="2139535" y="1514475"/>
                  <a:pt x="2076453" y="1514475"/>
                </a:cubicBezTo>
                <a:lnTo>
                  <a:pt x="114297" y="1514475"/>
                </a:lnTo>
                <a:cubicBezTo>
                  <a:pt x="51215" y="1514475"/>
                  <a:pt x="0" y="1463260"/>
                  <a:pt x="0" y="1400178"/>
                </a:cubicBezTo>
                <a:lnTo>
                  <a:pt x="0" y="114297"/>
                </a:lnTo>
                <a:cubicBezTo>
                  <a:pt x="0" y="51215"/>
                  <a:pt x="51215" y="0"/>
                  <a:pt x="114297" y="0"/>
                </a:cubicBezTo>
                <a:close/>
              </a:path>
            </a:pathLst>
          </a:custGeom>
          <a:solidFill>
            <a:srgbClr val="F3F4F6"/>
          </a:solidFill>
          <a:ln/>
        </p:spPr>
      </p:sp>
      <p:sp>
        <p:nvSpPr>
          <p:cNvPr id="6" name="Shape 4"/>
          <p:cNvSpPr/>
          <p:nvPr/>
        </p:nvSpPr>
        <p:spPr>
          <a:xfrm>
            <a:off x="533400" y="1752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1E3A8A"/>
          </a:solidFill>
          <a:ln/>
        </p:spPr>
      </p:sp>
      <p:sp>
        <p:nvSpPr>
          <p:cNvPr id="7" name="Shape 5"/>
          <p:cNvSpPr/>
          <p:nvPr/>
        </p:nvSpPr>
        <p:spPr>
          <a:xfrm>
            <a:off x="613172" y="1838325"/>
            <a:ext cx="150019" cy="133350"/>
          </a:xfrm>
          <a:custGeom>
            <a:avLst/>
            <a:gdLst/>
            <a:ahLst/>
            <a:cxnLst/>
            <a:rect l="l" t="t" r="r" b="b"/>
            <a:pathLst>
              <a:path w="150019" h="133350">
                <a:moveTo>
                  <a:pt x="70035" y="22190"/>
                </a:moveTo>
                <a:lnTo>
                  <a:pt x="39666" y="55944"/>
                </a:lnTo>
                <a:cubicBezTo>
                  <a:pt x="38468" y="57273"/>
                  <a:pt x="38520" y="59330"/>
                  <a:pt x="39797" y="60607"/>
                </a:cubicBezTo>
                <a:cubicBezTo>
                  <a:pt x="47740" y="68550"/>
                  <a:pt x="60633" y="68550"/>
                  <a:pt x="68576" y="60607"/>
                </a:cubicBezTo>
                <a:lnTo>
                  <a:pt x="76859" y="52324"/>
                </a:lnTo>
                <a:cubicBezTo>
                  <a:pt x="77952" y="51230"/>
                  <a:pt x="79333" y="50631"/>
                  <a:pt x="80739" y="50527"/>
                </a:cubicBezTo>
                <a:cubicBezTo>
                  <a:pt x="82510" y="50371"/>
                  <a:pt x="84333" y="50970"/>
                  <a:pt x="85688" y="52324"/>
                </a:cubicBezTo>
                <a:lnTo>
                  <a:pt x="131683" y="97929"/>
                </a:lnTo>
                <a:lnTo>
                  <a:pt x="150019" y="83344"/>
                </a:lnTo>
                <a:lnTo>
                  <a:pt x="150019" y="8334"/>
                </a:lnTo>
                <a:lnTo>
                  <a:pt x="120848" y="25003"/>
                </a:lnTo>
                <a:lnTo>
                  <a:pt x="114650" y="20862"/>
                </a:lnTo>
                <a:cubicBezTo>
                  <a:pt x="110535" y="18127"/>
                  <a:pt x="105716" y="16669"/>
                  <a:pt x="100768" y="16669"/>
                </a:cubicBezTo>
                <a:lnTo>
                  <a:pt x="82432" y="16669"/>
                </a:lnTo>
                <a:cubicBezTo>
                  <a:pt x="82146" y="16669"/>
                  <a:pt x="81833" y="16669"/>
                  <a:pt x="81547" y="16695"/>
                </a:cubicBezTo>
                <a:cubicBezTo>
                  <a:pt x="77145" y="16929"/>
                  <a:pt x="73004" y="18909"/>
                  <a:pt x="70035" y="22190"/>
                </a:cubicBezTo>
                <a:close/>
                <a:moveTo>
                  <a:pt x="30368" y="47584"/>
                </a:moveTo>
                <a:lnTo>
                  <a:pt x="58184" y="16669"/>
                </a:lnTo>
                <a:lnTo>
                  <a:pt x="47871" y="16669"/>
                </a:lnTo>
                <a:cubicBezTo>
                  <a:pt x="41229" y="16669"/>
                  <a:pt x="34874" y="19299"/>
                  <a:pt x="30186" y="23987"/>
                </a:cubicBezTo>
                <a:lnTo>
                  <a:pt x="29170" y="25003"/>
                </a:lnTo>
                <a:lnTo>
                  <a:pt x="0" y="8334"/>
                </a:lnTo>
                <a:lnTo>
                  <a:pt x="0" y="83344"/>
                </a:lnTo>
                <a:lnTo>
                  <a:pt x="40734" y="117280"/>
                </a:lnTo>
                <a:cubicBezTo>
                  <a:pt x="46725" y="122281"/>
                  <a:pt x="54278" y="125016"/>
                  <a:pt x="62065" y="125016"/>
                </a:cubicBezTo>
                <a:lnTo>
                  <a:pt x="66154" y="125016"/>
                </a:lnTo>
                <a:lnTo>
                  <a:pt x="64331" y="123192"/>
                </a:lnTo>
                <a:cubicBezTo>
                  <a:pt x="61883" y="120744"/>
                  <a:pt x="61883" y="116785"/>
                  <a:pt x="64331" y="114363"/>
                </a:cubicBezTo>
                <a:cubicBezTo>
                  <a:pt x="66779" y="111941"/>
                  <a:pt x="70738" y="111915"/>
                  <a:pt x="73160" y="114363"/>
                </a:cubicBezTo>
                <a:lnTo>
                  <a:pt x="83839" y="125042"/>
                </a:lnTo>
                <a:lnTo>
                  <a:pt x="86183" y="125042"/>
                </a:lnTo>
                <a:cubicBezTo>
                  <a:pt x="91157" y="125042"/>
                  <a:pt x="96028" y="123922"/>
                  <a:pt x="100455" y="121838"/>
                </a:cubicBezTo>
                <a:lnTo>
                  <a:pt x="93501" y="114858"/>
                </a:lnTo>
                <a:cubicBezTo>
                  <a:pt x="91053" y="112410"/>
                  <a:pt x="91053" y="108451"/>
                  <a:pt x="93501" y="106029"/>
                </a:cubicBezTo>
                <a:cubicBezTo>
                  <a:pt x="95949" y="103607"/>
                  <a:pt x="99908" y="103581"/>
                  <a:pt x="102330" y="106029"/>
                </a:cubicBezTo>
                <a:lnTo>
                  <a:pt x="110665" y="114363"/>
                </a:lnTo>
                <a:lnTo>
                  <a:pt x="115223" y="109805"/>
                </a:lnTo>
                <a:cubicBezTo>
                  <a:pt x="117541" y="107487"/>
                  <a:pt x="118218" y="104128"/>
                  <a:pt x="117202" y="101185"/>
                </a:cubicBezTo>
                <a:lnTo>
                  <a:pt x="81286" y="65555"/>
                </a:lnTo>
                <a:lnTo>
                  <a:pt x="77406" y="69436"/>
                </a:lnTo>
                <a:cubicBezTo>
                  <a:pt x="64565" y="82276"/>
                  <a:pt x="43782" y="82276"/>
                  <a:pt x="30941" y="69436"/>
                </a:cubicBezTo>
                <a:cubicBezTo>
                  <a:pt x="24951" y="63445"/>
                  <a:pt x="24717" y="53835"/>
                  <a:pt x="30368" y="47558"/>
                </a:cubicBezTo>
                <a:close/>
              </a:path>
            </a:pathLst>
          </a:custGeom>
          <a:solidFill>
            <a:srgbClr val="FFFFFF"/>
          </a:solidFill>
          <a:ln/>
        </p:spPr>
      </p:sp>
      <p:sp>
        <p:nvSpPr>
          <p:cNvPr id="8" name="Text 6"/>
          <p:cNvSpPr/>
          <p:nvPr/>
        </p:nvSpPr>
        <p:spPr>
          <a:xfrm>
            <a:off x="914400" y="1809750"/>
            <a:ext cx="1114425" cy="190500"/>
          </a:xfrm>
          <a:prstGeom prst="rect">
            <a:avLst/>
          </a:prstGeom>
          <a:noFill/>
          <a:ln/>
        </p:spPr>
        <p:txBody>
          <a:bodyPr wrap="square" lIns="0" tIns="0" rIns="0" bIns="0" rtlCol="0" anchor="ctr"/>
          <a:lstStyle/>
          <a:p>
            <a:pPr>
              <a:lnSpc>
                <a:spcPct val="120000"/>
              </a:lnSpc>
            </a:pPr>
            <a:r>
              <a:rPr lang="en-US" sz="1050" b="1" dirty="0">
                <a:solidFill>
                  <a:srgbClr val="1E3A8A"/>
                </a:solidFill>
                <a:latin typeface="MiSans" pitchFamily="34" charset="0"/>
                <a:ea typeface="MiSans" pitchFamily="34" charset="-122"/>
                <a:cs typeface="MiSans" pitchFamily="34" charset="-120"/>
              </a:rPr>
              <a:t>Partenaires Clés</a:t>
            </a:r>
            <a:endParaRPr lang="en-US" sz="1600" dirty="0"/>
          </a:p>
        </p:txBody>
      </p:sp>
      <p:sp>
        <p:nvSpPr>
          <p:cNvPr id="9" name="Text 7"/>
          <p:cNvSpPr/>
          <p:nvPr/>
        </p:nvSpPr>
        <p:spPr>
          <a:xfrm>
            <a:off x="533400" y="213360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Clients aéro/défense</a:t>
            </a:r>
            <a:endParaRPr lang="en-US" sz="1600" dirty="0"/>
          </a:p>
        </p:txBody>
      </p:sp>
      <p:sp>
        <p:nvSpPr>
          <p:cNvPr id="10" name="Text 8"/>
          <p:cNvSpPr/>
          <p:nvPr/>
        </p:nvSpPr>
        <p:spPr>
          <a:xfrm>
            <a:off x="533400" y="236220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Organismes certification</a:t>
            </a:r>
            <a:endParaRPr lang="en-US" sz="1600" dirty="0"/>
          </a:p>
        </p:txBody>
      </p:sp>
      <p:sp>
        <p:nvSpPr>
          <p:cNvPr id="11" name="Shape 9"/>
          <p:cNvSpPr/>
          <p:nvPr/>
        </p:nvSpPr>
        <p:spPr>
          <a:xfrm>
            <a:off x="381000" y="3225701"/>
            <a:ext cx="2190750" cy="1514475"/>
          </a:xfrm>
          <a:custGeom>
            <a:avLst/>
            <a:gdLst/>
            <a:ahLst/>
            <a:cxnLst/>
            <a:rect l="l" t="t" r="r" b="b"/>
            <a:pathLst>
              <a:path w="2190750" h="1514475">
                <a:moveTo>
                  <a:pt x="114297" y="0"/>
                </a:moveTo>
                <a:lnTo>
                  <a:pt x="2076453" y="0"/>
                </a:lnTo>
                <a:cubicBezTo>
                  <a:pt x="2139535" y="0"/>
                  <a:pt x="2190750" y="51215"/>
                  <a:pt x="2190750" y="114297"/>
                </a:cubicBezTo>
                <a:lnTo>
                  <a:pt x="2190750" y="1400178"/>
                </a:lnTo>
                <a:cubicBezTo>
                  <a:pt x="2190750" y="1463260"/>
                  <a:pt x="2139535" y="1514475"/>
                  <a:pt x="2076453" y="1514475"/>
                </a:cubicBezTo>
                <a:lnTo>
                  <a:pt x="114297" y="1514475"/>
                </a:lnTo>
                <a:cubicBezTo>
                  <a:pt x="51215" y="1514475"/>
                  <a:pt x="0" y="1463260"/>
                  <a:pt x="0" y="1400178"/>
                </a:cubicBezTo>
                <a:lnTo>
                  <a:pt x="0" y="114297"/>
                </a:lnTo>
                <a:cubicBezTo>
                  <a:pt x="0" y="51215"/>
                  <a:pt x="51215" y="0"/>
                  <a:pt x="114297" y="0"/>
                </a:cubicBezTo>
                <a:close/>
              </a:path>
            </a:pathLst>
          </a:custGeom>
          <a:solidFill>
            <a:srgbClr val="F3F4F6"/>
          </a:solidFill>
          <a:ln/>
        </p:spPr>
      </p:sp>
      <p:sp>
        <p:nvSpPr>
          <p:cNvPr id="12" name="Shape 10"/>
          <p:cNvSpPr/>
          <p:nvPr/>
        </p:nvSpPr>
        <p:spPr>
          <a:xfrm>
            <a:off x="533400" y="3378101"/>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8B5CF6"/>
          </a:solidFill>
          <a:ln/>
        </p:spPr>
      </p:sp>
      <p:sp>
        <p:nvSpPr>
          <p:cNvPr id="13" name="Shape 11"/>
          <p:cNvSpPr/>
          <p:nvPr/>
        </p:nvSpPr>
        <p:spPr>
          <a:xfrm>
            <a:off x="621506" y="3463826"/>
            <a:ext cx="133350" cy="133350"/>
          </a:xfrm>
          <a:custGeom>
            <a:avLst/>
            <a:gdLst/>
            <a:ahLst/>
            <a:cxnLst/>
            <a:rect l="l" t="t" r="r" b="b"/>
            <a:pathLst>
              <a:path w="133350" h="133350">
                <a:moveTo>
                  <a:pt x="34848" y="9454"/>
                </a:moveTo>
                <a:cubicBezTo>
                  <a:pt x="37687" y="11434"/>
                  <a:pt x="38364" y="15340"/>
                  <a:pt x="36385" y="18153"/>
                </a:cubicBezTo>
                <a:lnTo>
                  <a:pt x="21800" y="38989"/>
                </a:lnTo>
                <a:cubicBezTo>
                  <a:pt x="20732" y="40500"/>
                  <a:pt x="19065" y="41464"/>
                  <a:pt x="17216" y="41620"/>
                </a:cubicBezTo>
                <a:cubicBezTo>
                  <a:pt x="15367" y="41776"/>
                  <a:pt x="13543" y="41151"/>
                  <a:pt x="12241" y="39849"/>
                </a:cubicBezTo>
                <a:lnTo>
                  <a:pt x="1823" y="29431"/>
                </a:lnTo>
                <a:cubicBezTo>
                  <a:pt x="-599" y="26983"/>
                  <a:pt x="-599" y="23024"/>
                  <a:pt x="1823" y="20575"/>
                </a:cubicBezTo>
                <a:cubicBezTo>
                  <a:pt x="4245" y="18127"/>
                  <a:pt x="8230" y="18153"/>
                  <a:pt x="10678" y="20575"/>
                </a:cubicBezTo>
                <a:lnTo>
                  <a:pt x="15835" y="25732"/>
                </a:lnTo>
                <a:lnTo>
                  <a:pt x="26149" y="10991"/>
                </a:lnTo>
                <a:cubicBezTo>
                  <a:pt x="28129" y="8152"/>
                  <a:pt x="32035" y="7475"/>
                  <a:pt x="34848" y="9454"/>
                </a:cubicBezTo>
                <a:close/>
                <a:moveTo>
                  <a:pt x="34848" y="51126"/>
                </a:moveTo>
                <a:cubicBezTo>
                  <a:pt x="37687" y="53106"/>
                  <a:pt x="38364" y="57012"/>
                  <a:pt x="36385" y="59825"/>
                </a:cubicBezTo>
                <a:lnTo>
                  <a:pt x="21800" y="80661"/>
                </a:lnTo>
                <a:cubicBezTo>
                  <a:pt x="20732" y="82172"/>
                  <a:pt x="19065" y="83135"/>
                  <a:pt x="17216" y="83292"/>
                </a:cubicBezTo>
                <a:cubicBezTo>
                  <a:pt x="15367" y="83448"/>
                  <a:pt x="13543" y="82823"/>
                  <a:pt x="12241" y="81521"/>
                </a:cubicBezTo>
                <a:lnTo>
                  <a:pt x="1823" y="71103"/>
                </a:lnTo>
                <a:cubicBezTo>
                  <a:pt x="-625" y="68654"/>
                  <a:pt x="-625" y="64696"/>
                  <a:pt x="1823" y="62273"/>
                </a:cubicBezTo>
                <a:cubicBezTo>
                  <a:pt x="4271" y="59851"/>
                  <a:pt x="8230" y="59825"/>
                  <a:pt x="10652" y="62273"/>
                </a:cubicBezTo>
                <a:lnTo>
                  <a:pt x="15809" y="67430"/>
                </a:lnTo>
                <a:lnTo>
                  <a:pt x="26123" y="52689"/>
                </a:lnTo>
                <a:cubicBezTo>
                  <a:pt x="28102" y="49850"/>
                  <a:pt x="32009" y="49173"/>
                  <a:pt x="34822" y="51152"/>
                </a:cubicBezTo>
                <a:close/>
                <a:moveTo>
                  <a:pt x="58341" y="25003"/>
                </a:moveTo>
                <a:cubicBezTo>
                  <a:pt x="58341" y="20393"/>
                  <a:pt x="62065" y="16669"/>
                  <a:pt x="66675" y="16669"/>
                </a:cubicBezTo>
                <a:lnTo>
                  <a:pt x="125016" y="16669"/>
                </a:lnTo>
                <a:cubicBezTo>
                  <a:pt x="129626" y="16669"/>
                  <a:pt x="133350" y="20393"/>
                  <a:pt x="133350" y="25003"/>
                </a:cubicBezTo>
                <a:cubicBezTo>
                  <a:pt x="133350" y="29613"/>
                  <a:pt x="129626" y="33337"/>
                  <a:pt x="125016" y="33337"/>
                </a:cubicBezTo>
                <a:lnTo>
                  <a:pt x="66675" y="33337"/>
                </a:lnTo>
                <a:cubicBezTo>
                  <a:pt x="62065" y="33337"/>
                  <a:pt x="58341" y="29613"/>
                  <a:pt x="58341" y="25003"/>
                </a:cubicBezTo>
                <a:close/>
                <a:moveTo>
                  <a:pt x="58341" y="66675"/>
                </a:moveTo>
                <a:cubicBezTo>
                  <a:pt x="58341" y="62065"/>
                  <a:pt x="62065" y="58341"/>
                  <a:pt x="66675" y="58341"/>
                </a:cubicBezTo>
                <a:lnTo>
                  <a:pt x="125016" y="58341"/>
                </a:lnTo>
                <a:cubicBezTo>
                  <a:pt x="129626" y="58341"/>
                  <a:pt x="133350" y="62065"/>
                  <a:pt x="133350" y="66675"/>
                </a:cubicBezTo>
                <a:cubicBezTo>
                  <a:pt x="133350" y="71285"/>
                  <a:pt x="129626" y="75009"/>
                  <a:pt x="125016" y="75009"/>
                </a:cubicBezTo>
                <a:lnTo>
                  <a:pt x="66675" y="75009"/>
                </a:lnTo>
                <a:cubicBezTo>
                  <a:pt x="62065" y="75009"/>
                  <a:pt x="58341" y="71285"/>
                  <a:pt x="58341" y="66675"/>
                </a:cubicBezTo>
                <a:close/>
                <a:moveTo>
                  <a:pt x="41672" y="108347"/>
                </a:moveTo>
                <a:cubicBezTo>
                  <a:pt x="41672" y="103737"/>
                  <a:pt x="45396" y="100013"/>
                  <a:pt x="50006" y="100013"/>
                </a:cubicBezTo>
                <a:lnTo>
                  <a:pt x="125016" y="100013"/>
                </a:lnTo>
                <a:cubicBezTo>
                  <a:pt x="129626" y="100013"/>
                  <a:pt x="133350" y="103737"/>
                  <a:pt x="133350" y="108347"/>
                </a:cubicBezTo>
                <a:cubicBezTo>
                  <a:pt x="133350" y="112957"/>
                  <a:pt x="129626" y="116681"/>
                  <a:pt x="125016" y="116681"/>
                </a:cubicBezTo>
                <a:lnTo>
                  <a:pt x="50006" y="116681"/>
                </a:lnTo>
                <a:cubicBezTo>
                  <a:pt x="45396" y="116681"/>
                  <a:pt x="41672" y="112957"/>
                  <a:pt x="41672" y="108347"/>
                </a:cubicBezTo>
                <a:close/>
                <a:moveTo>
                  <a:pt x="16669" y="97929"/>
                </a:moveTo>
                <a:cubicBezTo>
                  <a:pt x="22419" y="97929"/>
                  <a:pt x="27087" y="102597"/>
                  <a:pt x="27087" y="108347"/>
                </a:cubicBezTo>
                <a:cubicBezTo>
                  <a:pt x="27087" y="114097"/>
                  <a:pt x="22419" y="118765"/>
                  <a:pt x="16669" y="118765"/>
                </a:cubicBezTo>
                <a:cubicBezTo>
                  <a:pt x="10919" y="118765"/>
                  <a:pt x="6251" y="114097"/>
                  <a:pt x="6251" y="108347"/>
                </a:cubicBezTo>
                <a:cubicBezTo>
                  <a:pt x="6251" y="102597"/>
                  <a:pt x="10919" y="97929"/>
                  <a:pt x="16669" y="97929"/>
                </a:cubicBezTo>
                <a:close/>
              </a:path>
            </a:pathLst>
          </a:custGeom>
          <a:solidFill>
            <a:srgbClr val="FFFFFF"/>
          </a:solidFill>
          <a:ln/>
        </p:spPr>
      </p:sp>
      <p:sp>
        <p:nvSpPr>
          <p:cNvPr id="14" name="Text 12"/>
          <p:cNvSpPr/>
          <p:nvPr/>
        </p:nvSpPr>
        <p:spPr>
          <a:xfrm>
            <a:off x="914400" y="3435251"/>
            <a:ext cx="942975" cy="190500"/>
          </a:xfrm>
          <a:prstGeom prst="rect">
            <a:avLst/>
          </a:prstGeom>
          <a:noFill/>
          <a:ln/>
        </p:spPr>
        <p:txBody>
          <a:bodyPr wrap="square" lIns="0" tIns="0" rIns="0" bIns="0" rtlCol="0" anchor="ctr"/>
          <a:lstStyle/>
          <a:p>
            <a:pPr>
              <a:lnSpc>
                <a:spcPct val="120000"/>
              </a:lnSpc>
            </a:pPr>
            <a:r>
              <a:rPr lang="en-US" sz="1050" b="1" dirty="0">
                <a:solidFill>
                  <a:srgbClr val="1E3A8A"/>
                </a:solidFill>
                <a:latin typeface="MiSans" pitchFamily="34" charset="0"/>
                <a:ea typeface="MiSans" pitchFamily="34" charset="-122"/>
                <a:cs typeface="MiSans" pitchFamily="34" charset="-120"/>
              </a:rPr>
              <a:t>Activités Clés</a:t>
            </a:r>
            <a:endParaRPr lang="en-US" sz="1600" dirty="0"/>
          </a:p>
        </p:txBody>
      </p:sp>
      <p:sp>
        <p:nvSpPr>
          <p:cNvPr id="15" name="Text 13"/>
          <p:cNvSpPr/>
          <p:nvPr/>
        </p:nvSpPr>
        <p:spPr>
          <a:xfrm>
            <a:off x="533400" y="3759101"/>
            <a:ext cx="1952625" cy="3810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Contrôle dimensionnel &amp; visuel</a:t>
            </a:r>
            <a:endParaRPr lang="en-US" sz="1600" dirty="0"/>
          </a:p>
        </p:txBody>
      </p:sp>
      <p:sp>
        <p:nvSpPr>
          <p:cNvPr id="16" name="Text 14"/>
          <p:cNvSpPr/>
          <p:nvPr/>
        </p:nvSpPr>
        <p:spPr>
          <a:xfrm>
            <a:off x="533400" y="4178201"/>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Traçabilité lots</a:t>
            </a:r>
            <a:endParaRPr lang="en-US" sz="1600" dirty="0"/>
          </a:p>
        </p:txBody>
      </p:sp>
      <p:sp>
        <p:nvSpPr>
          <p:cNvPr id="17" name="Shape 15"/>
          <p:cNvSpPr/>
          <p:nvPr/>
        </p:nvSpPr>
        <p:spPr>
          <a:xfrm>
            <a:off x="381000" y="4851350"/>
            <a:ext cx="2190750" cy="1514475"/>
          </a:xfrm>
          <a:custGeom>
            <a:avLst/>
            <a:gdLst/>
            <a:ahLst/>
            <a:cxnLst/>
            <a:rect l="l" t="t" r="r" b="b"/>
            <a:pathLst>
              <a:path w="2190750" h="1514475">
                <a:moveTo>
                  <a:pt x="114297" y="0"/>
                </a:moveTo>
                <a:lnTo>
                  <a:pt x="2076453" y="0"/>
                </a:lnTo>
                <a:cubicBezTo>
                  <a:pt x="2139535" y="0"/>
                  <a:pt x="2190750" y="51215"/>
                  <a:pt x="2190750" y="114297"/>
                </a:cubicBezTo>
                <a:lnTo>
                  <a:pt x="2190750" y="1400178"/>
                </a:lnTo>
                <a:cubicBezTo>
                  <a:pt x="2190750" y="1463260"/>
                  <a:pt x="2139535" y="1514475"/>
                  <a:pt x="2076453" y="1514475"/>
                </a:cubicBezTo>
                <a:lnTo>
                  <a:pt x="114297" y="1514475"/>
                </a:lnTo>
                <a:cubicBezTo>
                  <a:pt x="51215" y="1514475"/>
                  <a:pt x="0" y="1463260"/>
                  <a:pt x="0" y="1400178"/>
                </a:cubicBezTo>
                <a:lnTo>
                  <a:pt x="0" y="114297"/>
                </a:lnTo>
                <a:cubicBezTo>
                  <a:pt x="0" y="51215"/>
                  <a:pt x="51215" y="0"/>
                  <a:pt x="114297" y="0"/>
                </a:cubicBezTo>
                <a:close/>
              </a:path>
            </a:pathLst>
          </a:custGeom>
          <a:solidFill>
            <a:srgbClr val="F3F4F6"/>
          </a:solidFill>
          <a:ln/>
        </p:spPr>
      </p:sp>
      <p:sp>
        <p:nvSpPr>
          <p:cNvPr id="18" name="Shape 16"/>
          <p:cNvSpPr/>
          <p:nvPr/>
        </p:nvSpPr>
        <p:spPr>
          <a:xfrm>
            <a:off x="533400" y="500375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10B981"/>
          </a:solidFill>
          <a:ln/>
        </p:spPr>
      </p:sp>
      <p:sp>
        <p:nvSpPr>
          <p:cNvPr id="19" name="Shape 17"/>
          <p:cNvSpPr/>
          <p:nvPr/>
        </p:nvSpPr>
        <p:spPr>
          <a:xfrm>
            <a:off x="621506" y="5089475"/>
            <a:ext cx="133350" cy="133350"/>
          </a:xfrm>
          <a:custGeom>
            <a:avLst/>
            <a:gdLst/>
            <a:ahLst/>
            <a:cxnLst/>
            <a:rect l="l" t="t" r="r" b="b"/>
            <a:pathLst>
              <a:path w="133350" h="133350">
                <a:moveTo>
                  <a:pt x="58341" y="0"/>
                </a:moveTo>
                <a:lnTo>
                  <a:pt x="58341" y="16669"/>
                </a:lnTo>
                <a:cubicBezTo>
                  <a:pt x="58341" y="18961"/>
                  <a:pt x="60216" y="20836"/>
                  <a:pt x="62508" y="20836"/>
                </a:cubicBezTo>
                <a:lnTo>
                  <a:pt x="70842" y="20836"/>
                </a:lnTo>
                <a:cubicBezTo>
                  <a:pt x="73134" y="20836"/>
                  <a:pt x="75009" y="18961"/>
                  <a:pt x="75009" y="16669"/>
                </a:cubicBezTo>
                <a:lnTo>
                  <a:pt x="75009" y="0"/>
                </a:lnTo>
                <a:lnTo>
                  <a:pt x="83344" y="0"/>
                </a:lnTo>
                <a:cubicBezTo>
                  <a:pt x="92538" y="0"/>
                  <a:pt x="100013" y="7475"/>
                  <a:pt x="100013" y="16669"/>
                </a:cubicBezTo>
                <a:lnTo>
                  <a:pt x="100013" y="50006"/>
                </a:lnTo>
                <a:cubicBezTo>
                  <a:pt x="100013" y="51439"/>
                  <a:pt x="99830" y="52845"/>
                  <a:pt x="99492" y="54173"/>
                </a:cubicBezTo>
                <a:lnTo>
                  <a:pt x="33858" y="54173"/>
                </a:lnTo>
                <a:cubicBezTo>
                  <a:pt x="33520" y="52845"/>
                  <a:pt x="33337" y="51439"/>
                  <a:pt x="33337" y="50006"/>
                </a:cubicBezTo>
                <a:lnTo>
                  <a:pt x="33337" y="16669"/>
                </a:lnTo>
                <a:cubicBezTo>
                  <a:pt x="33337" y="7475"/>
                  <a:pt x="40812" y="0"/>
                  <a:pt x="50006" y="0"/>
                </a:cubicBezTo>
                <a:lnTo>
                  <a:pt x="58341" y="0"/>
                </a:lnTo>
                <a:close/>
                <a:moveTo>
                  <a:pt x="83344" y="133350"/>
                </a:moveTo>
                <a:cubicBezTo>
                  <a:pt x="80427" y="133350"/>
                  <a:pt x="77666" y="132595"/>
                  <a:pt x="75270" y="131266"/>
                </a:cubicBezTo>
                <a:cubicBezTo>
                  <a:pt x="77744" y="126969"/>
                  <a:pt x="79177" y="121994"/>
                  <a:pt x="79177" y="116681"/>
                </a:cubicBezTo>
                <a:lnTo>
                  <a:pt x="79177" y="83344"/>
                </a:lnTo>
                <a:cubicBezTo>
                  <a:pt x="79177" y="78031"/>
                  <a:pt x="77744" y="73056"/>
                  <a:pt x="75270" y="68759"/>
                </a:cubicBezTo>
                <a:cubicBezTo>
                  <a:pt x="77666" y="67430"/>
                  <a:pt x="80401" y="66675"/>
                  <a:pt x="83344" y="66675"/>
                </a:cubicBezTo>
                <a:lnTo>
                  <a:pt x="91678" y="66675"/>
                </a:lnTo>
                <a:lnTo>
                  <a:pt x="91678" y="83344"/>
                </a:lnTo>
                <a:cubicBezTo>
                  <a:pt x="91678" y="85636"/>
                  <a:pt x="93553" y="87511"/>
                  <a:pt x="95845" y="87511"/>
                </a:cubicBezTo>
                <a:lnTo>
                  <a:pt x="104180" y="87511"/>
                </a:lnTo>
                <a:cubicBezTo>
                  <a:pt x="106472" y="87511"/>
                  <a:pt x="108347" y="85636"/>
                  <a:pt x="108347" y="83344"/>
                </a:cubicBezTo>
                <a:lnTo>
                  <a:pt x="108347" y="66675"/>
                </a:lnTo>
                <a:lnTo>
                  <a:pt x="116681" y="66675"/>
                </a:lnTo>
                <a:cubicBezTo>
                  <a:pt x="125875" y="66675"/>
                  <a:pt x="133350" y="74150"/>
                  <a:pt x="133350" y="83344"/>
                </a:cubicBezTo>
                <a:lnTo>
                  <a:pt x="133350" y="116681"/>
                </a:lnTo>
                <a:cubicBezTo>
                  <a:pt x="133350" y="125875"/>
                  <a:pt x="125875" y="133350"/>
                  <a:pt x="116681" y="133350"/>
                </a:cubicBezTo>
                <a:lnTo>
                  <a:pt x="83344" y="133350"/>
                </a:lnTo>
                <a:close/>
                <a:moveTo>
                  <a:pt x="0" y="83344"/>
                </a:moveTo>
                <a:cubicBezTo>
                  <a:pt x="0" y="74150"/>
                  <a:pt x="7475" y="66675"/>
                  <a:pt x="16669" y="66675"/>
                </a:cubicBezTo>
                <a:lnTo>
                  <a:pt x="25003" y="66675"/>
                </a:lnTo>
                <a:lnTo>
                  <a:pt x="25003" y="83344"/>
                </a:lnTo>
                <a:cubicBezTo>
                  <a:pt x="25003" y="85636"/>
                  <a:pt x="26878" y="87511"/>
                  <a:pt x="29170" y="87511"/>
                </a:cubicBezTo>
                <a:lnTo>
                  <a:pt x="37505" y="87511"/>
                </a:lnTo>
                <a:cubicBezTo>
                  <a:pt x="39797" y="87511"/>
                  <a:pt x="41672" y="85636"/>
                  <a:pt x="41672" y="83344"/>
                </a:cubicBezTo>
                <a:lnTo>
                  <a:pt x="41672" y="66675"/>
                </a:lnTo>
                <a:lnTo>
                  <a:pt x="50006" y="66675"/>
                </a:lnTo>
                <a:cubicBezTo>
                  <a:pt x="59200" y="66675"/>
                  <a:pt x="66675" y="74150"/>
                  <a:pt x="66675" y="83344"/>
                </a:cubicBezTo>
                <a:lnTo>
                  <a:pt x="66675" y="116681"/>
                </a:lnTo>
                <a:cubicBezTo>
                  <a:pt x="66675" y="125875"/>
                  <a:pt x="59200" y="133350"/>
                  <a:pt x="50006" y="133350"/>
                </a:cubicBezTo>
                <a:lnTo>
                  <a:pt x="16669" y="133350"/>
                </a:lnTo>
                <a:cubicBezTo>
                  <a:pt x="7475" y="133350"/>
                  <a:pt x="0" y="125875"/>
                  <a:pt x="0" y="116681"/>
                </a:cubicBezTo>
                <a:lnTo>
                  <a:pt x="0" y="83344"/>
                </a:lnTo>
                <a:close/>
              </a:path>
            </a:pathLst>
          </a:custGeom>
          <a:solidFill>
            <a:srgbClr val="FFFFFF"/>
          </a:solidFill>
          <a:ln/>
        </p:spPr>
      </p:sp>
      <p:sp>
        <p:nvSpPr>
          <p:cNvPr id="20" name="Text 18"/>
          <p:cNvSpPr/>
          <p:nvPr/>
        </p:nvSpPr>
        <p:spPr>
          <a:xfrm>
            <a:off x="914400" y="5060900"/>
            <a:ext cx="1143000" cy="190500"/>
          </a:xfrm>
          <a:prstGeom prst="rect">
            <a:avLst/>
          </a:prstGeom>
          <a:noFill/>
          <a:ln/>
        </p:spPr>
        <p:txBody>
          <a:bodyPr wrap="square" lIns="0" tIns="0" rIns="0" bIns="0" rtlCol="0" anchor="ctr"/>
          <a:lstStyle/>
          <a:p>
            <a:pPr>
              <a:lnSpc>
                <a:spcPct val="120000"/>
              </a:lnSpc>
            </a:pPr>
            <a:r>
              <a:rPr lang="en-US" sz="1050" b="1" dirty="0">
                <a:solidFill>
                  <a:srgbClr val="1E3A8A"/>
                </a:solidFill>
                <a:latin typeface="MiSans" pitchFamily="34" charset="0"/>
                <a:ea typeface="MiSans" pitchFamily="34" charset="-122"/>
                <a:cs typeface="MiSans" pitchFamily="34" charset="-120"/>
              </a:rPr>
              <a:t>Ressources Clés</a:t>
            </a:r>
            <a:endParaRPr lang="en-US" sz="1600" dirty="0"/>
          </a:p>
        </p:txBody>
      </p:sp>
      <p:sp>
        <p:nvSpPr>
          <p:cNvPr id="21" name="Text 19"/>
          <p:cNvSpPr/>
          <p:nvPr/>
        </p:nvSpPr>
        <p:spPr>
          <a:xfrm>
            <a:off x="533400" y="538475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9 inspecteurs</a:t>
            </a:r>
            <a:endParaRPr lang="en-US" sz="1600" dirty="0"/>
          </a:p>
        </p:txBody>
      </p:sp>
      <p:sp>
        <p:nvSpPr>
          <p:cNvPr id="22" name="Text 20"/>
          <p:cNvSpPr/>
          <p:nvPr/>
        </p:nvSpPr>
        <p:spPr>
          <a:xfrm>
            <a:off x="533400" y="561335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2 000 instruments</a:t>
            </a:r>
            <a:endParaRPr lang="en-US" sz="1600" dirty="0"/>
          </a:p>
        </p:txBody>
      </p:sp>
      <p:sp>
        <p:nvSpPr>
          <p:cNvPr id="23" name="Text 21"/>
          <p:cNvSpPr/>
          <p:nvPr/>
        </p:nvSpPr>
        <p:spPr>
          <a:xfrm>
            <a:off x="533400" y="584195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3 CMM</a:t>
            </a:r>
            <a:endParaRPr lang="en-US" sz="1600" dirty="0"/>
          </a:p>
        </p:txBody>
      </p:sp>
      <p:sp>
        <p:nvSpPr>
          <p:cNvPr id="24" name="Shape 22"/>
          <p:cNvSpPr/>
          <p:nvPr/>
        </p:nvSpPr>
        <p:spPr>
          <a:xfrm>
            <a:off x="2689771" y="1600200"/>
            <a:ext cx="4505325" cy="4762500"/>
          </a:xfrm>
          <a:custGeom>
            <a:avLst/>
            <a:gdLst/>
            <a:ahLst/>
            <a:cxnLst/>
            <a:rect l="l" t="t" r="r" b="b"/>
            <a:pathLst>
              <a:path w="4505325" h="4762500">
                <a:moveTo>
                  <a:pt x="114300" y="0"/>
                </a:moveTo>
                <a:lnTo>
                  <a:pt x="4391025" y="0"/>
                </a:lnTo>
                <a:cubicBezTo>
                  <a:pt x="4454151" y="0"/>
                  <a:pt x="4505325" y="51174"/>
                  <a:pt x="4505325" y="114300"/>
                </a:cubicBezTo>
                <a:lnTo>
                  <a:pt x="4505325" y="4648200"/>
                </a:lnTo>
                <a:cubicBezTo>
                  <a:pt x="4505325" y="4711326"/>
                  <a:pt x="4454151" y="4762500"/>
                  <a:pt x="4391025"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1E3A8A"/>
          </a:solidFill>
          <a:ln/>
        </p:spPr>
      </p:sp>
      <p:sp>
        <p:nvSpPr>
          <p:cNvPr id="25" name="Shape 23"/>
          <p:cNvSpPr/>
          <p:nvPr/>
        </p:nvSpPr>
        <p:spPr>
          <a:xfrm>
            <a:off x="2880271" y="3067050"/>
            <a:ext cx="381000" cy="381000"/>
          </a:xfrm>
          <a:custGeom>
            <a:avLst/>
            <a:gdLst/>
            <a:ahLst/>
            <a:cxnLst/>
            <a:rect l="l" t="t" r="r" b="b"/>
            <a:pathLst>
              <a:path w="381000" h="381000">
                <a:moveTo>
                  <a:pt x="114300" y="0"/>
                </a:moveTo>
                <a:lnTo>
                  <a:pt x="266700" y="0"/>
                </a:lnTo>
                <a:cubicBezTo>
                  <a:pt x="329784" y="0"/>
                  <a:pt x="381000" y="51216"/>
                  <a:pt x="381000" y="114300"/>
                </a:cubicBezTo>
                <a:lnTo>
                  <a:pt x="381000" y="266700"/>
                </a:lnTo>
                <a:cubicBezTo>
                  <a:pt x="381000" y="329784"/>
                  <a:pt x="329784" y="381000"/>
                  <a:pt x="266700" y="381000"/>
                </a:cubicBezTo>
                <a:lnTo>
                  <a:pt x="114300" y="381000"/>
                </a:lnTo>
                <a:cubicBezTo>
                  <a:pt x="51216" y="381000"/>
                  <a:pt x="0" y="329784"/>
                  <a:pt x="0" y="266700"/>
                </a:cubicBezTo>
                <a:lnTo>
                  <a:pt x="0" y="114300"/>
                </a:lnTo>
                <a:cubicBezTo>
                  <a:pt x="0" y="51216"/>
                  <a:pt x="51216" y="0"/>
                  <a:pt x="114300" y="0"/>
                </a:cubicBezTo>
                <a:close/>
              </a:path>
            </a:pathLst>
          </a:custGeom>
          <a:solidFill>
            <a:srgbClr val="FFFFFF"/>
          </a:solidFill>
          <a:ln/>
        </p:spPr>
      </p:sp>
      <p:sp>
        <p:nvSpPr>
          <p:cNvPr id="26" name="Shape 24"/>
          <p:cNvSpPr/>
          <p:nvPr/>
        </p:nvSpPr>
        <p:spPr>
          <a:xfrm>
            <a:off x="2987427" y="3171825"/>
            <a:ext cx="171450" cy="171450"/>
          </a:xfrm>
          <a:custGeom>
            <a:avLst/>
            <a:gdLst/>
            <a:ahLst/>
            <a:cxnLst/>
            <a:rect l="l" t="t" r="r" b="b"/>
            <a:pathLst>
              <a:path w="171450" h="171450">
                <a:moveTo>
                  <a:pt x="39079" y="11318"/>
                </a:moveTo>
                <a:cubicBezTo>
                  <a:pt x="40585" y="9276"/>
                  <a:pt x="42996" y="8037"/>
                  <a:pt x="45541" y="8037"/>
                </a:cubicBezTo>
                <a:lnTo>
                  <a:pt x="125909" y="8037"/>
                </a:lnTo>
                <a:cubicBezTo>
                  <a:pt x="128454" y="8037"/>
                  <a:pt x="130865" y="9242"/>
                  <a:pt x="132371" y="11318"/>
                </a:cubicBezTo>
                <a:lnTo>
                  <a:pt x="169876" y="62218"/>
                </a:lnTo>
                <a:cubicBezTo>
                  <a:pt x="172153" y="65298"/>
                  <a:pt x="171919" y="69551"/>
                  <a:pt x="169374" y="72397"/>
                </a:cubicBezTo>
                <a:lnTo>
                  <a:pt x="91686" y="158122"/>
                </a:lnTo>
                <a:cubicBezTo>
                  <a:pt x="90179" y="159797"/>
                  <a:pt x="88002" y="160768"/>
                  <a:pt x="85725" y="160768"/>
                </a:cubicBezTo>
                <a:cubicBezTo>
                  <a:pt x="83448" y="160768"/>
                  <a:pt x="81305" y="159797"/>
                  <a:pt x="79764" y="158122"/>
                </a:cubicBezTo>
                <a:lnTo>
                  <a:pt x="2076" y="72397"/>
                </a:lnTo>
                <a:cubicBezTo>
                  <a:pt x="-502" y="69551"/>
                  <a:pt x="-703" y="65298"/>
                  <a:pt x="1574" y="62218"/>
                </a:cubicBezTo>
                <a:lnTo>
                  <a:pt x="39079" y="11318"/>
                </a:lnTo>
                <a:close/>
                <a:moveTo>
                  <a:pt x="51971" y="24646"/>
                </a:moveTo>
                <a:cubicBezTo>
                  <a:pt x="50866" y="25483"/>
                  <a:pt x="50564" y="26990"/>
                  <a:pt x="51268" y="28162"/>
                </a:cubicBezTo>
                <a:lnTo>
                  <a:pt x="70489" y="60208"/>
                </a:lnTo>
                <a:lnTo>
                  <a:pt x="21197" y="64294"/>
                </a:lnTo>
                <a:cubicBezTo>
                  <a:pt x="19824" y="64394"/>
                  <a:pt x="18752" y="65566"/>
                  <a:pt x="18752" y="66973"/>
                </a:cubicBezTo>
                <a:cubicBezTo>
                  <a:pt x="18752" y="68379"/>
                  <a:pt x="19824" y="69518"/>
                  <a:pt x="21197" y="69652"/>
                </a:cubicBezTo>
                <a:lnTo>
                  <a:pt x="85491" y="75009"/>
                </a:lnTo>
                <a:cubicBezTo>
                  <a:pt x="85625" y="75009"/>
                  <a:pt x="85792" y="75009"/>
                  <a:pt x="85926" y="75009"/>
                </a:cubicBezTo>
                <a:lnTo>
                  <a:pt x="150220" y="69652"/>
                </a:lnTo>
                <a:cubicBezTo>
                  <a:pt x="151593" y="69551"/>
                  <a:pt x="152664" y="68379"/>
                  <a:pt x="152664" y="66973"/>
                </a:cubicBezTo>
                <a:cubicBezTo>
                  <a:pt x="152664" y="65566"/>
                  <a:pt x="151593" y="64428"/>
                  <a:pt x="150220" y="64294"/>
                </a:cubicBezTo>
                <a:lnTo>
                  <a:pt x="100928" y="60175"/>
                </a:lnTo>
                <a:lnTo>
                  <a:pt x="120149" y="28162"/>
                </a:lnTo>
                <a:cubicBezTo>
                  <a:pt x="120852" y="26990"/>
                  <a:pt x="120551" y="25450"/>
                  <a:pt x="119446" y="24646"/>
                </a:cubicBezTo>
                <a:cubicBezTo>
                  <a:pt x="118341" y="23842"/>
                  <a:pt x="116800" y="23976"/>
                  <a:pt x="115863" y="24981"/>
                </a:cubicBezTo>
                <a:lnTo>
                  <a:pt x="85725" y="57663"/>
                </a:lnTo>
                <a:lnTo>
                  <a:pt x="55554" y="24981"/>
                </a:lnTo>
                <a:cubicBezTo>
                  <a:pt x="54616" y="23976"/>
                  <a:pt x="53076" y="23842"/>
                  <a:pt x="51971" y="24646"/>
                </a:cubicBezTo>
                <a:close/>
              </a:path>
            </a:pathLst>
          </a:custGeom>
          <a:solidFill>
            <a:srgbClr val="1E3A8A"/>
          </a:solidFill>
          <a:ln/>
        </p:spPr>
      </p:sp>
      <p:sp>
        <p:nvSpPr>
          <p:cNvPr id="27" name="Text 25"/>
          <p:cNvSpPr/>
          <p:nvPr/>
        </p:nvSpPr>
        <p:spPr>
          <a:xfrm>
            <a:off x="3375571" y="3124200"/>
            <a:ext cx="20669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Noto Sans SC" pitchFamily="34" charset="0"/>
                <a:ea typeface="Noto Sans SC" pitchFamily="34" charset="-122"/>
                <a:cs typeface="Noto Sans SC" pitchFamily="34" charset="-120"/>
              </a:rPr>
              <a:t>Proposition de Valeur</a:t>
            </a:r>
            <a:endParaRPr lang="en-US" sz="1600" dirty="0"/>
          </a:p>
        </p:txBody>
      </p:sp>
      <p:sp>
        <p:nvSpPr>
          <p:cNvPr id="28" name="Shape 26"/>
          <p:cNvSpPr/>
          <p:nvPr/>
        </p:nvSpPr>
        <p:spPr>
          <a:xfrm>
            <a:off x="2880271" y="3600450"/>
            <a:ext cx="4124325" cy="571500"/>
          </a:xfrm>
          <a:custGeom>
            <a:avLst/>
            <a:gdLst/>
            <a:ahLst/>
            <a:cxnLst/>
            <a:rect l="l" t="t" r="r" b="b"/>
            <a:pathLst>
              <a:path w="4124325" h="571500">
                <a:moveTo>
                  <a:pt x="114300" y="0"/>
                </a:moveTo>
                <a:lnTo>
                  <a:pt x="4010025" y="0"/>
                </a:lnTo>
                <a:cubicBezTo>
                  <a:pt x="4073109" y="0"/>
                  <a:pt x="4124325" y="51216"/>
                  <a:pt x="4124325" y="114300"/>
                </a:cubicBezTo>
                <a:lnTo>
                  <a:pt x="4124325" y="457200"/>
                </a:lnTo>
                <a:cubicBezTo>
                  <a:pt x="4124325" y="520284"/>
                  <a:pt x="4073109" y="571500"/>
                  <a:pt x="4010025" y="571500"/>
                </a:cubicBezTo>
                <a:lnTo>
                  <a:pt x="114300" y="571500"/>
                </a:lnTo>
                <a:cubicBezTo>
                  <a:pt x="51216" y="571500"/>
                  <a:pt x="0" y="520284"/>
                  <a:pt x="0" y="457200"/>
                </a:cubicBezTo>
                <a:lnTo>
                  <a:pt x="0" y="114300"/>
                </a:lnTo>
                <a:cubicBezTo>
                  <a:pt x="0" y="51216"/>
                  <a:pt x="51216" y="0"/>
                  <a:pt x="114300" y="0"/>
                </a:cubicBezTo>
                <a:close/>
              </a:path>
            </a:pathLst>
          </a:custGeom>
          <a:solidFill>
            <a:srgbClr val="FFFFFF">
              <a:alpha val="20000"/>
            </a:srgbClr>
          </a:solidFill>
          <a:ln/>
        </p:spPr>
      </p:sp>
      <p:sp>
        <p:nvSpPr>
          <p:cNvPr id="29" name="Text 27"/>
          <p:cNvSpPr/>
          <p:nvPr/>
        </p:nvSpPr>
        <p:spPr>
          <a:xfrm>
            <a:off x="3032671" y="3752850"/>
            <a:ext cx="39052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MiSans" pitchFamily="34" charset="0"/>
                <a:ea typeface="MiSans" pitchFamily="34" charset="-122"/>
                <a:cs typeface="MiSans" pitchFamily="34" charset="-120"/>
              </a:rPr>
              <a:t>Conformité &amp; traçabilité des pièces</a:t>
            </a:r>
            <a:endParaRPr lang="en-US" sz="1600" dirty="0"/>
          </a:p>
        </p:txBody>
      </p:sp>
      <p:sp>
        <p:nvSpPr>
          <p:cNvPr id="30" name="Shape 28"/>
          <p:cNvSpPr/>
          <p:nvPr/>
        </p:nvSpPr>
        <p:spPr>
          <a:xfrm>
            <a:off x="2880271" y="4324350"/>
            <a:ext cx="4124325" cy="571500"/>
          </a:xfrm>
          <a:custGeom>
            <a:avLst/>
            <a:gdLst/>
            <a:ahLst/>
            <a:cxnLst/>
            <a:rect l="l" t="t" r="r" b="b"/>
            <a:pathLst>
              <a:path w="4124325" h="571500">
                <a:moveTo>
                  <a:pt x="114300" y="0"/>
                </a:moveTo>
                <a:lnTo>
                  <a:pt x="4010025" y="0"/>
                </a:lnTo>
                <a:cubicBezTo>
                  <a:pt x="4073109" y="0"/>
                  <a:pt x="4124325" y="51216"/>
                  <a:pt x="4124325" y="114300"/>
                </a:cubicBezTo>
                <a:lnTo>
                  <a:pt x="4124325" y="457200"/>
                </a:lnTo>
                <a:cubicBezTo>
                  <a:pt x="4124325" y="520284"/>
                  <a:pt x="4073109" y="571500"/>
                  <a:pt x="4010025" y="571500"/>
                </a:cubicBezTo>
                <a:lnTo>
                  <a:pt x="114300" y="571500"/>
                </a:lnTo>
                <a:cubicBezTo>
                  <a:pt x="51216" y="571500"/>
                  <a:pt x="0" y="520284"/>
                  <a:pt x="0" y="457200"/>
                </a:cubicBezTo>
                <a:lnTo>
                  <a:pt x="0" y="114300"/>
                </a:lnTo>
                <a:cubicBezTo>
                  <a:pt x="0" y="51216"/>
                  <a:pt x="51216" y="0"/>
                  <a:pt x="114300" y="0"/>
                </a:cubicBezTo>
                <a:close/>
              </a:path>
            </a:pathLst>
          </a:custGeom>
          <a:solidFill>
            <a:srgbClr val="FFFFFF">
              <a:alpha val="20000"/>
            </a:srgbClr>
          </a:solidFill>
          <a:ln/>
        </p:spPr>
      </p:sp>
      <p:sp>
        <p:nvSpPr>
          <p:cNvPr id="31" name="Text 29"/>
          <p:cNvSpPr/>
          <p:nvPr/>
        </p:nvSpPr>
        <p:spPr>
          <a:xfrm>
            <a:off x="3032671" y="4476750"/>
            <a:ext cx="39052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MiSans" pitchFamily="34" charset="0"/>
                <a:ea typeface="MiSans" pitchFamily="34" charset="-122"/>
                <a:cs typeface="MiSans" pitchFamily="34" charset="-120"/>
              </a:rPr>
              <a:t>Amélioration continue (CQD)</a:t>
            </a:r>
            <a:endParaRPr lang="en-US" sz="1600" dirty="0"/>
          </a:p>
        </p:txBody>
      </p:sp>
      <p:sp>
        <p:nvSpPr>
          <p:cNvPr id="32" name="Shape 30"/>
          <p:cNvSpPr/>
          <p:nvPr/>
        </p:nvSpPr>
        <p:spPr>
          <a:xfrm>
            <a:off x="7307461" y="1600200"/>
            <a:ext cx="2190750" cy="1514475"/>
          </a:xfrm>
          <a:custGeom>
            <a:avLst/>
            <a:gdLst/>
            <a:ahLst/>
            <a:cxnLst/>
            <a:rect l="l" t="t" r="r" b="b"/>
            <a:pathLst>
              <a:path w="2190750" h="1514475">
                <a:moveTo>
                  <a:pt x="114297" y="0"/>
                </a:moveTo>
                <a:lnTo>
                  <a:pt x="2076453" y="0"/>
                </a:lnTo>
                <a:cubicBezTo>
                  <a:pt x="2139535" y="0"/>
                  <a:pt x="2190750" y="51215"/>
                  <a:pt x="2190750" y="114297"/>
                </a:cubicBezTo>
                <a:lnTo>
                  <a:pt x="2190750" y="1400178"/>
                </a:lnTo>
                <a:cubicBezTo>
                  <a:pt x="2190750" y="1463260"/>
                  <a:pt x="2139535" y="1514475"/>
                  <a:pt x="2076453" y="1514475"/>
                </a:cubicBezTo>
                <a:lnTo>
                  <a:pt x="114297" y="1514475"/>
                </a:lnTo>
                <a:cubicBezTo>
                  <a:pt x="51215" y="1514475"/>
                  <a:pt x="0" y="1463260"/>
                  <a:pt x="0" y="1400178"/>
                </a:cubicBezTo>
                <a:lnTo>
                  <a:pt x="0" y="114297"/>
                </a:lnTo>
                <a:cubicBezTo>
                  <a:pt x="0" y="51215"/>
                  <a:pt x="51215" y="0"/>
                  <a:pt x="114297" y="0"/>
                </a:cubicBezTo>
                <a:close/>
              </a:path>
            </a:pathLst>
          </a:custGeom>
          <a:solidFill>
            <a:srgbClr val="F3F4F6"/>
          </a:solidFill>
          <a:ln/>
        </p:spPr>
      </p:sp>
      <p:sp>
        <p:nvSpPr>
          <p:cNvPr id="33" name="Shape 31"/>
          <p:cNvSpPr/>
          <p:nvPr/>
        </p:nvSpPr>
        <p:spPr>
          <a:xfrm>
            <a:off x="7459861" y="1752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EC4899"/>
          </a:solidFill>
          <a:ln/>
        </p:spPr>
      </p:sp>
      <p:sp>
        <p:nvSpPr>
          <p:cNvPr id="34" name="Shape 32"/>
          <p:cNvSpPr/>
          <p:nvPr/>
        </p:nvSpPr>
        <p:spPr>
          <a:xfrm>
            <a:off x="7547967" y="1838325"/>
            <a:ext cx="133350" cy="133350"/>
          </a:xfrm>
          <a:custGeom>
            <a:avLst/>
            <a:gdLst/>
            <a:ahLst/>
            <a:cxnLst/>
            <a:rect l="l" t="t" r="r" b="b"/>
            <a:pathLst>
              <a:path w="133350" h="133350">
                <a:moveTo>
                  <a:pt x="62768" y="22685"/>
                </a:moveTo>
                <a:lnTo>
                  <a:pt x="66675" y="28076"/>
                </a:lnTo>
                <a:lnTo>
                  <a:pt x="70582" y="22685"/>
                </a:lnTo>
                <a:cubicBezTo>
                  <a:pt x="77093" y="13674"/>
                  <a:pt x="87563" y="8334"/>
                  <a:pt x="98684" y="8334"/>
                </a:cubicBezTo>
                <a:cubicBezTo>
                  <a:pt x="117827" y="8334"/>
                  <a:pt x="133350" y="23857"/>
                  <a:pt x="133350" y="43000"/>
                </a:cubicBezTo>
                <a:lnTo>
                  <a:pt x="133350" y="43677"/>
                </a:lnTo>
                <a:cubicBezTo>
                  <a:pt x="133350" y="72900"/>
                  <a:pt x="96913" y="106836"/>
                  <a:pt x="77900" y="121343"/>
                </a:cubicBezTo>
                <a:cubicBezTo>
                  <a:pt x="74671" y="123792"/>
                  <a:pt x="70712" y="125016"/>
                  <a:pt x="66675" y="125016"/>
                </a:cubicBezTo>
                <a:cubicBezTo>
                  <a:pt x="62638" y="125016"/>
                  <a:pt x="58653" y="123818"/>
                  <a:pt x="55450" y="121343"/>
                </a:cubicBezTo>
                <a:cubicBezTo>
                  <a:pt x="36437" y="106836"/>
                  <a:pt x="0" y="72900"/>
                  <a:pt x="0" y="43677"/>
                </a:cubicBezTo>
                <a:lnTo>
                  <a:pt x="0" y="43000"/>
                </a:lnTo>
                <a:cubicBezTo>
                  <a:pt x="0" y="23857"/>
                  <a:pt x="15523" y="8334"/>
                  <a:pt x="34666" y="8334"/>
                </a:cubicBezTo>
                <a:cubicBezTo>
                  <a:pt x="45787" y="8334"/>
                  <a:pt x="56257" y="13674"/>
                  <a:pt x="62768" y="22685"/>
                </a:cubicBezTo>
                <a:close/>
              </a:path>
            </a:pathLst>
          </a:custGeom>
          <a:solidFill>
            <a:srgbClr val="FFFFFF"/>
          </a:solidFill>
          <a:ln/>
        </p:spPr>
      </p:sp>
      <p:sp>
        <p:nvSpPr>
          <p:cNvPr id="35" name="Text 33"/>
          <p:cNvSpPr/>
          <p:nvPr/>
        </p:nvSpPr>
        <p:spPr>
          <a:xfrm>
            <a:off x="7840861" y="1809750"/>
            <a:ext cx="1000125" cy="190500"/>
          </a:xfrm>
          <a:prstGeom prst="rect">
            <a:avLst/>
          </a:prstGeom>
          <a:noFill/>
          <a:ln/>
        </p:spPr>
        <p:txBody>
          <a:bodyPr wrap="square" lIns="0" tIns="0" rIns="0" bIns="0" rtlCol="0" anchor="ctr"/>
          <a:lstStyle/>
          <a:p>
            <a:pPr>
              <a:lnSpc>
                <a:spcPct val="120000"/>
              </a:lnSpc>
            </a:pPr>
            <a:r>
              <a:rPr lang="en-US" sz="1050" b="1" dirty="0">
                <a:solidFill>
                  <a:srgbClr val="1E3A8A"/>
                </a:solidFill>
                <a:latin typeface="MiSans" pitchFamily="34" charset="0"/>
                <a:ea typeface="MiSans" pitchFamily="34" charset="-122"/>
                <a:cs typeface="MiSans" pitchFamily="34" charset="-120"/>
              </a:rPr>
              <a:t>Relation Client</a:t>
            </a:r>
            <a:endParaRPr lang="en-US" sz="1600" dirty="0"/>
          </a:p>
        </p:txBody>
      </p:sp>
      <p:sp>
        <p:nvSpPr>
          <p:cNvPr id="36" name="Text 34"/>
          <p:cNvSpPr/>
          <p:nvPr/>
        </p:nvSpPr>
        <p:spPr>
          <a:xfrm>
            <a:off x="7459861" y="213360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Audits sur site</a:t>
            </a:r>
            <a:endParaRPr lang="en-US" sz="1600" dirty="0"/>
          </a:p>
        </p:txBody>
      </p:sp>
      <p:sp>
        <p:nvSpPr>
          <p:cNvPr id="37" name="Text 35"/>
          <p:cNvSpPr/>
          <p:nvPr/>
        </p:nvSpPr>
        <p:spPr>
          <a:xfrm>
            <a:off x="7459861" y="236220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Rapports conformité</a:t>
            </a:r>
            <a:endParaRPr lang="en-US" sz="1600" dirty="0"/>
          </a:p>
        </p:txBody>
      </p:sp>
      <p:sp>
        <p:nvSpPr>
          <p:cNvPr id="38" name="Shape 36"/>
          <p:cNvSpPr/>
          <p:nvPr/>
        </p:nvSpPr>
        <p:spPr>
          <a:xfrm>
            <a:off x="7307461" y="3225701"/>
            <a:ext cx="2190750" cy="1514475"/>
          </a:xfrm>
          <a:custGeom>
            <a:avLst/>
            <a:gdLst/>
            <a:ahLst/>
            <a:cxnLst/>
            <a:rect l="l" t="t" r="r" b="b"/>
            <a:pathLst>
              <a:path w="2190750" h="1514475">
                <a:moveTo>
                  <a:pt x="114297" y="0"/>
                </a:moveTo>
                <a:lnTo>
                  <a:pt x="2076453" y="0"/>
                </a:lnTo>
                <a:cubicBezTo>
                  <a:pt x="2139535" y="0"/>
                  <a:pt x="2190750" y="51215"/>
                  <a:pt x="2190750" y="114297"/>
                </a:cubicBezTo>
                <a:lnTo>
                  <a:pt x="2190750" y="1400178"/>
                </a:lnTo>
                <a:cubicBezTo>
                  <a:pt x="2190750" y="1463260"/>
                  <a:pt x="2139535" y="1514475"/>
                  <a:pt x="2076453" y="1514475"/>
                </a:cubicBezTo>
                <a:lnTo>
                  <a:pt x="114297" y="1514475"/>
                </a:lnTo>
                <a:cubicBezTo>
                  <a:pt x="51215" y="1514475"/>
                  <a:pt x="0" y="1463260"/>
                  <a:pt x="0" y="1400178"/>
                </a:cubicBezTo>
                <a:lnTo>
                  <a:pt x="0" y="114297"/>
                </a:lnTo>
                <a:cubicBezTo>
                  <a:pt x="0" y="51215"/>
                  <a:pt x="51215" y="0"/>
                  <a:pt x="114297" y="0"/>
                </a:cubicBezTo>
                <a:close/>
              </a:path>
            </a:pathLst>
          </a:custGeom>
          <a:solidFill>
            <a:srgbClr val="F3F4F6"/>
          </a:solidFill>
          <a:ln/>
        </p:spPr>
      </p:sp>
      <p:sp>
        <p:nvSpPr>
          <p:cNvPr id="39" name="Shape 37"/>
          <p:cNvSpPr/>
          <p:nvPr/>
        </p:nvSpPr>
        <p:spPr>
          <a:xfrm>
            <a:off x="7459861" y="3378101"/>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F97316"/>
          </a:solidFill>
          <a:ln/>
        </p:spPr>
      </p:sp>
      <p:sp>
        <p:nvSpPr>
          <p:cNvPr id="40" name="Shape 38"/>
          <p:cNvSpPr/>
          <p:nvPr/>
        </p:nvSpPr>
        <p:spPr>
          <a:xfrm>
            <a:off x="7547967" y="3463826"/>
            <a:ext cx="133350" cy="133350"/>
          </a:xfrm>
          <a:custGeom>
            <a:avLst/>
            <a:gdLst/>
            <a:ahLst/>
            <a:cxnLst/>
            <a:rect l="l" t="t" r="r" b="b"/>
            <a:pathLst>
              <a:path w="133350" h="133350">
                <a:moveTo>
                  <a:pt x="116681" y="66675"/>
                </a:moveTo>
                <a:cubicBezTo>
                  <a:pt x="116681" y="39076"/>
                  <a:pt x="94274" y="16669"/>
                  <a:pt x="66675" y="16669"/>
                </a:cubicBezTo>
                <a:cubicBezTo>
                  <a:pt x="39076" y="16669"/>
                  <a:pt x="16669" y="39076"/>
                  <a:pt x="16669" y="66675"/>
                </a:cubicBezTo>
                <a:cubicBezTo>
                  <a:pt x="16669" y="94274"/>
                  <a:pt x="39076" y="116681"/>
                  <a:pt x="66675" y="116681"/>
                </a:cubicBezTo>
                <a:cubicBezTo>
                  <a:pt x="94274" y="116681"/>
                  <a:pt x="116681" y="94274"/>
                  <a:pt x="116681" y="66675"/>
                </a:cubicBezTo>
                <a:close/>
                <a:moveTo>
                  <a:pt x="0" y="66675"/>
                </a:moveTo>
                <a:cubicBezTo>
                  <a:pt x="0" y="29876"/>
                  <a:pt x="29876" y="0"/>
                  <a:pt x="66675" y="0"/>
                </a:cubicBezTo>
                <a:cubicBezTo>
                  <a:pt x="103474" y="0"/>
                  <a:pt x="133350" y="29876"/>
                  <a:pt x="133350" y="66675"/>
                </a:cubicBezTo>
                <a:cubicBezTo>
                  <a:pt x="133350" y="103474"/>
                  <a:pt x="103474" y="133350"/>
                  <a:pt x="66675" y="133350"/>
                </a:cubicBezTo>
                <a:cubicBezTo>
                  <a:pt x="29876" y="133350"/>
                  <a:pt x="0" y="103474"/>
                  <a:pt x="0" y="66675"/>
                </a:cubicBezTo>
                <a:close/>
                <a:moveTo>
                  <a:pt x="66675" y="87511"/>
                </a:moveTo>
                <a:cubicBezTo>
                  <a:pt x="78175" y="87511"/>
                  <a:pt x="87511" y="78175"/>
                  <a:pt x="87511" y="66675"/>
                </a:cubicBezTo>
                <a:cubicBezTo>
                  <a:pt x="87511" y="55175"/>
                  <a:pt x="78175" y="45839"/>
                  <a:pt x="66675" y="45839"/>
                </a:cubicBezTo>
                <a:cubicBezTo>
                  <a:pt x="55175" y="45839"/>
                  <a:pt x="45839" y="55175"/>
                  <a:pt x="45839" y="66675"/>
                </a:cubicBezTo>
                <a:cubicBezTo>
                  <a:pt x="45839" y="78175"/>
                  <a:pt x="55175" y="87511"/>
                  <a:pt x="66675" y="87511"/>
                </a:cubicBezTo>
                <a:close/>
                <a:moveTo>
                  <a:pt x="66675" y="29170"/>
                </a:moveTo>
                <a:cubicBezTo>
                  <a:pt x="87374" y="29170"/>
                  <a:pt x="104180" y="45976"/>
                  <a:pt x="104180" y="66675"/>
                </a:cubicBezTo>
                <a:cubicBezTo>
                  <a:pt x="104180" y="87374"/>
                  <a:pt x="87374" y="104180"/>
                  <a:pt x="66675" y="104180"/>
                </a:cubicBezTo>
                <a:cubicBezTo>
                  <a:pt x="45976" y="104180"/>
                  <a:pt x="29170" y="87374"/>
                  <a:pt x="29170" y="66675"/>
                </a:cubicBezTo>
                <a:cubicBezTo>
                  <a:pt x="29170" y="45976"/>
                  <a:pt x="45976" y="29170"/>
                  <a:pt x="66675" y="29170"/>
                </a:cubicBezTo>
                <a:close/>
                <a:moveTo>
                  <a:pt x="58341" y="66675"/>
                </a:moveTo>
                <a:cubicBezTo>
                  <a:pt x="58341" y="62075"/>
                  <a:pt x="62075" y="58341"/>
                  <a:pt x="66675" y="58341"/>
                </a:cubicBezTo>
                <a:cubicBezTo>
                  <a:pt x="71275" y="58341"/>
                  <a:pt x="75009" y="62075"/>
                  <a:pt x="75009" y="66675"/>
                </a:cubicBezTo>
                <a:cubicBezTo>
                  <a:pt x="75009" y="71275"/>
                  <a:pt x="71275" y="75009"/>
                  <a:pt x="66675" y="75009"/>
                </a:cubicBezTo>
                <a:cubicBezTo>
                  <a:pt x="62075" y="75009"/>
                  <a:pt x="58341" y="71275"/>
                  <a:pt x="58341" y="66675"/>
                </a:cubicBezTo>
                <a:close/>
              </a:path>
            </a:pathLst>
          </a:custGeom>
          <a:solidFill>
            <a:srgbClr val="FFFFFF"/>
          </a:solidFill>
          <a:ln/>
        </p:spPr>
      </p:sp>
      <p:sp>
        <p:nvSpPr>
          <p:cNvPr id="41" name="Text 39"/>
          <p:cNvSpPr/>
          <p:nvPr/>
        </p:nvSpPr>
        <p:spPr>
          <a:xfrm>
            <a:off x="7840861" y="3435251"/>
            <a:ext cx="1181100" cy="190500"/>
          </a:xfrm>
          <a:prstGeom prst="rect">
            <a:avLst/>
          </a:prstGeom>
          <a:noFill/>
          <a:ln/>
        </p:spPr>
        <p:txBody>
          <a:bodyPr wrap="square" lIns="0" tIns="0" rIns="0" bIns="0" rtlCol="0" anchor="ctr"/>
          <a:lstStyle/>
          <a:p>
            <a:pPr>
              <a:lnSpc>
                <a:spcPct val="120000"/>
              </a:lnSpc>
            </a:pPr>
            <a:r>
              <a:rPr lang="en-US" sz="1050" b="1" dirty="0">
                <a:solidFill>
                  <a:srgbClr val="1E3A8A"/>
                </a:solidFill>
                <a:latin typeface="MiSans" pitchFamily="34" charset="0"/>
                <a:ea typeface="MiSans" pitchFamily="34" charset="-122"/>
                <a:cs typeface="MiSans" pitchFamily="34" charset="-120"/>
              </a:rPr>
              <a:t>Segments Clients</a:t>
            </a:r>
            <a:endParaRPr lang="en-US" sz="1600" dirty="0"/>
          </a:p>
        </p:txBody>
      </p:sp>
      <p:sp>
        <p:nvSpPr>
          <p:cNvPr id="42" name="Text 40"/>
          <p:cNvSpPr/>
          <p:nvPr/>
        </p:nvSpPr>
        <p:spPr>
          <a:xfrm>
            <a:off x="7459861" y="3759101"/>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Aéro/spatial/défense</a:t>
            </a:r>
            <a:endParaRPr lang="en-US" sz="1600" dirty="0"/>
          </a:p>
        </p:txBody>
      </p:sp>
      <p:sp>
        <p:nvSpPr>
          <p:cNvPr id="43" name="Text 41"/>
          <p:cNvSpPr/>
          <p:nvPr/>
        </p:nvSpPr>
        <p:spPr>
          <a:xfrm>
            <a:off x="7459861" y="3987701"/>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Production interne</a:t>
            </a:r>
            <a:endParaRPr lang="en-US" sz="1600" dirty="0"/>
          </a:p>
        </p:txBody>
      </p:sp>
      <p:sp>
        <p:nvSpPr>
          <p:cNvPr id="44" name="Shape 42"/>
          <p:cNvSpPr/>
          <p:nvPr/>
        </p:nvSpPr>
        <p:spPr>
          <a:xfrm>
            <a:off x="7307461" y="4851350"/>
            <a:ext cx="2190750" cy="1514475"/>
          </a:xfrm>
          <a:custGeom>
            <a:avLst/>
            <a:gdLst/>
            <a:ahLst/>
            <a:cxnLst/>
            <a:rect l="l" t="t" r="r" b="b"/>
            <a:pathLst>
              <a:path w="2190750" h="1514475">
                <a:moveTo>
                  <a:pt x="114297" y="0"/>
                </a:moveTo>
                <a:lnTo>
                  <a:pt x="2076453" y="0"/>
                </a:lnTo>
                <a:cubicBezTo>
                  <a:pt x="2139535" y="0"/>
                  <a:pt x="2190750" y="51215"/>
                  <a:pt x="2190750" y="114297"/>
                </a:cubicBezTo>
                <a:lnTo>
                  <a:pt x="2190750" y="1400178"/>
                </a:lnTo>
                <a:cubicBezTo>
                  <a:pt x="2190750" y="1463260"/>
                  <a:pt x="2139535" y="1514475"/>
                  <a:pt x="2076453" y="1514475"/>
                </a:cubicBezTo>
                <a:lnTo>
                  <a:pt x="114297" y="1514475"/>
                </a:lnTo>
                <a:cubicBezTo>
                  <a:pt x="51215" y="1514475"/>
                  <a:pt x="0" y="1463260"/>
                  <a:pt x="0" y="1400178"/>
                </a:cubicBezTo>
                <a:lnTo>
                  <a:pt x="0" y="114297"/>
                </a:lnTo>
                <a:cubicBezTo>
                  <a:pt x="0" y="51215"/>
                  <a:pt x="51215" y="0"/>
                  <a:pt x="114297" y="0"/>
                </a:cubicBezTo>
                <a:close/>
              </a:path>
            </a:pathLst>
          </a:custGeom>
          <a:solidFill>
            <a:srgbClr val="F3F4F6"/>
          </a:solidFill>
          <a:ln/>
        </p:spPr>
      </p:sp>
      <p:sp>
        <p:nvSpPr>
          <p:cNvPr id="45" name="Shape 43"/>
          <p:cNvSpPr/>
          <p:nvPr/>
        </p:nvSpPr>
        <p:spPr>
          <a:xfrm>
            <a:off x="7459861" y="500375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3B82F6"/>
          </a:solidFill>
          <a:ln/>
        </p:spPr>
      </p:sp>
      <p:sp>
        <p:nvSpPr>
          <p:cNvPr id="46" name="Shape 44"/>
          <p:cNvSpPr/>
          <p:nvPr/>
        </p:nvSpPr>
        <p:spPr>
          <a:xfrm>
            <a:off x="7547967" y="5089475"/>
            <a:ext cx="133350" cy="133350"/>
          </a:xfrm>
          <a:custGeom>
            <a:avLst/>
            <a:gdLst/>
            <a:ahLst/>
            <a:cxnLst/>
            <a:rect l="l" t="t" r="r" b="b"/>
            <a:pathLst>
              <a:path w="133350" h="133350">
                <a:moveTo>
                  <a:pt x="133350" y="25003"/>
                </a:moveTo>
                <a:cubicBezTo>
                  <a:pt x="133350" y="38078"/>
                  <a:pt x="117957" y="57585"/>
                  <a:pt x="111316" y="65373"/>
                </a:cubicBezTo>
                <a:cubicBezTo>
                  <a:pt x="110326" y="66519"/>
                  <a:pt x="108868" y="66961"/>
                  <a:pt x="107539" y="66675"/>
                </a:cubicBezTo>
                <a:lnTo>
                  <a:pt x="83344" y="66675"/>
                </a:lnTo>
                <a:cubicBezTo>
                  <a:pt x="78734" y="66675"/>
                  <a:pt x="75009" y="70399"/>
                  <a:pt x="75009" y="75009"/>
                </a:cubicBezTo>
                <a:cubicBezTo>
                  <a:pt x="75009" y="79619"/>
                  <a:pt x="78734" y="83344"/>
                  <a:pt x="83344" y="83344"/>
                </a:cubicBezTo>
                <a:lnTo>
                  <a:pt x="108347" y="83344"/>
                </a:lnTo>
                <a:cubicBezTo>
                  <a:pt x="122151" y="83344"/>
                  <a:pt x="133350" y="94543"/>
                  <a:pt x="133350" y="108347"/>
                </a:cubicBezTo>
                <a:cubicBezTo>
                  <a:pt x="133350" y="122151"/>
                  <a:pt x="122151" y="133350"/>
                  <a:pt x="108347" y="133350"/>
                </a:cubicBezTo>
                <a:lnTo>
                  <a:pt x="36359" y="133350"/>
                </a:lnTo>
                <a:cubicBezTo>
                  <a:pt x="38625" y="130772"/>
                  <a:pt x="41385" y="127464"/>
                  <a:pt x="44172" y="123765"/>
                </a:cubicBezTo>
                <a:cubicBezTo>
                  <a:pt x="45813" y="121578"/>
                  <a:pt x="47506" y="119182"/>
                  <a:pt x="49121" y="116681"/>
                </a:cubicBezTo>
                <a:lnTo>
                  <a:pt x="108347" y="116681"/>
                </a:lnTo>
                <a:cubicBezTo>
                  <a:pt x="112957" y="116681"/>
                  <a:pt x="116681" y="112957"/>
                  <a:pt x="116681" y="108347"/>
                </a:cubicBezTo>
                <a:cubicBezTo>
                  <a:pt x="116681" y="103737"/>
                  <a:pt x="112957" y="100013"/>
                  <a:pt x="108347" y="100013"/>
                </a:cubicBezTo>
                <a:lnTo>
                  <a:pt x="83344" y="100013"/>
                </a:lnTo>
                <a:cubicBezTo>
                  <a:pt x="69540" y="100013"/>
                  <a:pt x="58341" y="88813"/>
                  <a:pt x="58341" y="75009"/>
                </a:cubicBezTo>
                <a:cubicBezTo>
                  <a:pt x="58341" y="61206"/>
                  <a:pt x="69540" y="50006"/>
                  <a:pt x="83344" y="50006"/>
                </a:cubicBezTo>
                <a:lnTo>
                  <a:pt x="93710" y="50006"/>
                </a:lnTo>
                <a:cubicBezTo>
                  <a:pt x="88240" y="41802"/>
                  <a:pt x="83344" y="32374"/>
                  <a:pt x="83344" y="25003"/>
                </a:cubicBezTo>
                <a:cubicBezTo>
                  <a:pt x="83344" y="11199"/>
                  <a:pt x="94543" y="0"/>
                  <a:pt x="108347" y="0"/>
                </a:cubicBezTo>
                <a:cubicBezTo>
                  <a:pt x="122151" y="0"/>
                  <a:pt x="133350" y="11199"/>
                  <a:pt x="133350" y="25003"/>
                </a:cubicBezTo>
                <a:close/>
                <a:moveTo>
                  <a:pt x="30499" y="127386"/>
                </a:moveTo>
                <a:cubicBezTo>
                  <a:pt x="29509" y="128506"/>
                  <a:pt x="28623" y="129495"/>
                  <a:pt x="27868" y="130329"/>
                </a:cubicBezTo>
                <a:lnTo>
                  <a:pt x="27399" y="130850"/>
                </a:lnTo>
                <a:lnTo>
                  <a:pt x="27347" y="130798"/>
                </a:lnTo>
                <a:cubicBezTo>
                  <a:pt x="25784" y="131996"/>
                  <a:pt x="23545" y="131839"/>
                  <a:pt x="22138" y="130329"/>
                </a:cubicBezTo>
                <a:cubicBezTo>
                  <a:pt x="15575" y="123192"/>
                  <a:pt x="0" y="104831"/>
                  <a:pt x="0" y="91678"/>
                </a:cubicBezTo>
                <a:cubicBezTo>
                  <a:pt x="0" y="77874"/>
                  <a:pt x="11199" y="66675"/>
                  <a:pt x="25003" y="66675"/>
                </a:cubicBezTo>
                <a:cubicBezTo>
                  <a:pt x="38807" y="66675"/>
                  <a:pt x="50006" y="77874"/>
                  <a:pt x="50006" y="91678"/>
                </a:cubicBezTo>
                <a:cubicBezTo>
                  <a:pt x="50006" y="99492"/>
                  <a:pt x="44511" y="109128"/>
                  <a:pt x="38677" y="117176"/>
                </a:cubicBezTo>
                <a:cubicBezTo>
                  <a:pt x="35890" y="121005"/>
                  <a:pt x="33025" y="124469"/>
                  <a:pt x="30655" y="127203"/>
                </a:cubicBezTo>
                <a:lnTo>
                  <a:pt x="30499" y="127386"/>
                </a:lnTo>
                <a:close/>
                <a:moveTo>
                  <a:pt x="33337" y="91678"/>
                </a:moveTo>
                <a:cubicBezTo>
                  <a:pt x="33337" y="87078"/>
                  <a:pt x="29603" y="83344"/>
                  <a:pt x="25003" y="83344"/>
                </a:cubicBezTo>
                <a:cubicBezTo>
                  <a:pt x="20403" y="83344"/>
                  <a:pt x="16669" y="87078"/>
                  <a:pt x="16669" y="91678"/>
                </a:cubicBezTo>
                <a:cubicBezTo>
                  <a:pt x="16669" y="96278"/>
                  <a:pt x="20403" y="100013"/>
                  <a:pt x="25003" y="100013"/>
                </a:cubicBezTo>
                <a:cubicBezTo>
                  <a:pt x="29603" y="100013"/>
                  <a:pt x="33337" y="96278"/>
                  <a:pt x="33337" y="91678"/>
                </a:cubicBezTo>
                <a:close/>
                <a:moveTo>
                  <a:pt x="108347" y="33337"/>
                </a:moveTo>
                <a:cubicBezTo>
                  <a:pt x="112947" y="33337"/>
                  <a:pt x="116681" y="29603"/>
                  <a:pt x="116681" y="25003"/>
                </a:cubicBezTo>
                <a:cubicBezTo>
                  <a:pt x="116681" y="20403"/>
                  <a:pt x="112947" y="16669"/>
                  <a:pt x="108347" y="16669"/>
                </a:cubicBezTo>
                <a:cubicBezTo>
                  <a:pt x="103747" y="16669"/>
                  <a:pt x="100013" y="20403"/>
                  <a:pt x="100013" y="25003"/>
                </a:cubicBezTo>
                <a:cubicBezTo>
                  <a:pt x="100013" y="29603"/>
                  <a:pt x="103747" y="33337"/>
                  <a:pt x="108347" y="33337"/>
                </a:cubicBezTo>
                <a:close/>
              </a:path>
            </a:pathLst>
          </a:custGeom>
          <a:solidFill>
            <a:srgbClr val="FFFFFF"/>
          </a:solidFill>
          <a:ln/>
        </p:spPr>
      </p:sp>
      <p:sp>
        <p:nvSpPr>
          <p:cNvPr id="47" name="Text 45"/>
          <p:cNvSpPr/>
          <p:nvPr/>
        </p:nvSpPr>
        <p:spPr>
          <a:xfrm>
            <a:off x="7840861" y="5060900"/>
            <a:ext cx="552450" cy="190500"/>
          </a:xfrm>
          <a:prstGeom prst="rect">
            <a:avLst/>
          </a:prstGeom>
          <a:noFill/>
          <a:ln/>
        </p:spPr>
        <p:txBody>
          <a:bodyPr wrap="square" lIns="0" tIns="0" rIns="0" bIns="0" rtlCol="0" anchor="ctr"/>
          <a:lstStyle/>
          <a:p>
            <a:pPr>
              <a:lnSpc>
                <a:spcPct val="120000"/>
              </a:lnSpc>
            </a:pPr>
            <a:r>
              <a:rPr lang="en-US" sz="1050" b="1" dirty="0">
                <a:solidFill>
                  <a:srgbClr val="1E3A8A"/>
                </a:solidFill>
                <a:latin typeface="MiSans" pitchFamily="34" charset="0"/>
                <a:ea typeface="MiSans" pitchFamily="34" charset="-122"/>
                <a:cs typeface="MiSans" pitchFamily="34" charset="-120"/>
              </a:rPr>
              <a:t>Canaux</a:t>
            </a:r>
            <a:endParaRPr lang="en-US" sz="1600" dirty="0"/>
          </a:p>
        </p:txBody>
      </p:sp>
      <p:sp>
        <p:nvSpPr>
          <p:cNvPr id="48" name="Text 46"/>
          <p:cNvSpPr/>
          <p:nvPr/>
        </p:nvSpPr>
        <p:spPr>
          <a:xfrm>
            <a:off x="7459861" y="538475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Rapports qualité</a:t>
            </a:r>
            <a:endParaRPr lang="en-US" sz="1600" dirty="0"/>
          </a:p>
        </p:txBody>
      </p:sp>
      <p:sp>
        <p:nvSpPr>
          <p:cNvPr id="49" name="Text 47"/>
          <p:cNvSpPr/>
          <p:nvPr/>
        </p:nvSpPr>
        <p:spPr>
          <a:xfrm>
            <a:off x="7459861" y="561335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Indicateurs internes</a:t>
            </a:r>
            <a:endParaRPr lang="en-US" sz="1600" dirty="0"/>
          </a:p>
        </p:txBody>
      </p:sp>
      <p:sp>
        <p:nvSpPr>
          <p:cNvPr id="50" name="Shape 48"/>
          <p:cNvSpPr/>
          <p:nvPr/>
        </p:nvSpPr>
        <p:spPr>
          <a:xfrm>
            <a:off x="9616380" y="1600200"/>
            <a:ext cx="2190750" cy="2324100"/>
          </a:xfrm>
          <a:custGeom>
            <a:avLst/>
            <a:gdLst/>
            <a:ahLst/>
            <a:cxnLst/>
            <a:rect l="l" t="t" r="r" b="b"/>
            <a:pathLst>
              <a:path w="2190750" h="2324100">
                <a:moveTo>
                  <a:pt x="114291" y="0"/>
                </a:moveTo>
                <a:lnTo>
                  <a:pt x="2076459" y="0"/>
                </a:lnTo>
                <a:cubicBezTo>
                  <a:pt x="2139580" y="0"/>
                  <a:pt x="2190750" y="51170"/>
                  <a:pt x="2190750" y="114291"/>
                </a:cubicBezTo>
                <a:lnTo>
                  <a:pt x="2190750" y="2209809"/>
                </a:lnTo>
                <a:cubicBezTo>
                  <a:pt x="2190750" y="2272930"/>
                  <a:pt x="2139580" y="2324100"/>
                  <a:pt x="2076459" y="2324100"/>
                </a:cubicBezTo>
                <a:lnTo>
                  <a:pt x="114291" y="2324100"/>
                </a:lnTo>
                <a:cubicBezTo>
                  <a:pt x="51170" y="2324100"/>
                  <a:pt x="0" y="2272930"/>
                  <a:pt x="0" y="2209809"/>
                </a:cubicBezTo>
                <a:lnTo>
                  <a:pt x="0" y="114291"/>
                </a:lnTo>
                <a:cubicBezTo>
                  <a:pt x="0" y="51212"/>
                  <a:pt x="51212" y="0"/>
                  <a:pt x="114291" y="0"/>
                </a:cubicBezTo>
                <a:close/>
              </a:path>
            </a:pathLst>
          </a:custGeom>
          <a:solidFill>
            <a:srgbClr val="F3F4F6"/>
          </a:solidFill>
          <a:ln/>
        </p:spPr>
      </p:sp>
      <p:sp>
        <p:nvSpPr>
          <p:cNvPr id="51" name="Shape 49"/>
          <p:cNvSpPr/>
          <p:nvPr/>
        </p:nvSpPr>
        <p:spPr>
          <a:xfrm>
            <a:off x="9768780" y="17526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EF4444"/>
          </a:solidFill>
          <a:ln/>
        </p:spPr>
      </p:sp>
      <p:sp>
        <p:nvSpPr>
          <p:cNvPr id="52" name="Shape 50"/>
          <p:cNvSpPr/>
          <p:nvPr/>
        </p:nvSpPr>
        <p:spPr>
          <a:xfrm>
            <a:off x="9865221" y="1838325"/>
            <a:ext cx="116681" cy="133350"/>
          </a:xfrm>
          <a:custGeom>
            <a:avLst/>
            <a:gdLst/>
            <a:ahLst/>
            <a:cxnLst/>
            <a:rect l="l" t="t" r="r" b="b"/>
            <a:pathLst>
              <a:path w="116681" h="133350">
                <a:moveTo>
                  <a:pt x="19091" y="50006"/>
                </a:moveTo>
                <a:cubicBezTo>
                  <a:pt x="26253" y="25915"/>
                  <a:pt x="48574" y="8334"/>
                  <a:pt x="75009" y="8334"/>
                </a:cubicBezTo>
                <a:lnTo>
                  <a:pt x="91678" y="8334"/>
                </a:lnTo>
                <a:cubicBezTo>
                  <a:pt x="96288" y="8334"/>
                  <a:pt x="100013" y="12059"/>
                  <a:pt x="100013" y="16669"/>
                </a:cubicBezTo>
                <a:cubicBezTo>
                  <a:pt x="100013" y="21279"/>
                  <a:pt x="96288" y="25003"/>
                  <a:pt x="91678" y="25003"/>
                </a:cubicBezTo>
                <a:lnTo>
                  <a:pt x="75009" y="25003"/>
                </a:lnTo>
                <a:cubicBezTo>
                  <a:pt x="57924" y="25003"/>
                  <a:pt x="43235" y="35291"/>
                  <a:pt x="36801" y="50006"/>
                </a:cubicBezTo>
                <a:lnTo>
                  <a:pt x="70842" y="50006"/>
                </a:lnTo>
                <a:cubicBezTo>
                  <a:pt x="74306" y="50006"/>
                  <a:pt x="77093" y="52793"/>
                  <a:pt x="77093" y="56257"/>
                </a:cubicBezTo>
                <a:cubicBezTo>
                  <a:pt x="77093" y="59721"/>
                  <a:pt x="74306" y="62508"/>
                  <a:pt x="70842" y="62508"/>
                </a:cubicBezTo>
                <a:lnTo>
                  <a:pt x="33546" y="62508"/>
                </a:lnTo>
                <a:cubicBezTo>
                  <a:pt x="33416" y="63888"/>
                  <a:pt x="33337" y="65269"/>
                  <a:pt x="33337" y="66675"/>
                </a:cubicBezTo>
                <a:cubicBezTo>
                  <a:pt x="33337" y="68081"/>
                  <a:pt x="33416" y="69462"/>
                  <a:pt x="33546" y="70842"/>
                </a:cubicBezTo>
                <a:lnTo>
                  <a:pt x="70842" y="70842"/>
                </a:lnTo>
                <a:cubicBezTo>
                  <a:pt x="74306" y="70842"/>
                  <a:pt x="77093" y="73629"/>
                  <a:pt x="77093" y="77093"/>
                </a:cubicBezTo>
                <a:cubicBezTo>
                  <a:pt x="77093" y="80557"/>
                  <a:pt x="74306" y="83344"/>
                  <a:pt x="70842" y="83344"/>
                </a:cubicBezTo>
                <a:lnTo>
                  <a:pt x="36801" y="83344"/>
                </a:lnTo>
                <a:cubicBezTo>
                  <a:pt x="43235" y="98059"/>
                  <a:pt x="57924" y="108347"/>
                  <a:pt x="75009" y="108347"/>
                </a:cubicBezTo>
                <a:lnTo>
                  <a:pt x="91678" y="108347"/>
                </a:lnTo>
                <a:cubicBezTo>
                  <a:pt x="96288" y="108347"/>
                  <a:pt x="100013" y="112071"/>
                  <a:pt x="100013" y="116681"/>
                </a:cubicBezTo>
                <a:cubicBezTo>
                  <a:pt x="100013" y="121291"/>
                  <a:pt x="96288" y="125016"/>
                  <a:pt x="91678" y="125016"/>
                </a:cubicBezTo>
                <a:lnTo>
                  <a:pt x="75009" y="125016"/>
                </a:lnTo>
                <a:cubicBezTo>
                  <a:pt x="48574" y="125016"/>
                  <a:pt x="26253" y="107435"/>
                  <a:pt x="19091" y="83344"/>
                </a:cubicBezTo>
                <a:lnTo>
                  <a:pt x="10418" y="83344"/>
                </a:lnTo>
                <a:cubicBezTo>
                  <a:pt x="6954" y="83344"/>
                  <a:pt x="4167" y="80557"/>
                  <a:pt x="4167" y="77093"/>
                </a:cubicBezTo>
                <a:cubicBezTo>
                  <a:pt x="4167" y="73629"/>
                  <a:pt x="6954" y="70842"/>
                  <a:pt x="10418" y="70842"/>
                </a:cubicBezTo>
                <a:lnTo>
                  <a:pt x="16825" y="70842"/>
                </a:lnTo>
                <a:cubicBezTo>
                  <a:pt x="16643" y="68107"/>
                  <a:pt x="16643" y="65243"/>
                  <a:pt x="16825" y="62508"/>
                </a:cubicBezTo>
                <a:lnTo>
                  <a:pt x="10418" y="62508"/>
                </a:lnTo>
                <a:cubicBezTo>
                  <a:pt x="6954" y="62508"/>
                  <a:pt x="4167" y="59721"/>
                  <a:pt x="4167" y="56257"/>
                </a:cubicBezTo>
                <a:cubicBezTo>
                  <a:pt x="4167" y="52793"/>
                  <a:pt x="6954" y="50006"/>
                  <a:pt x="10418" y="50006"/>
                </a:cubicBezTo>
                <a:lnTo>
                  <a:pt x="19091" y="50006"/>
                </a:lnTo>
                <a:close/>
              </a:path>
            </a:pathLst>
          </a:custGeom>
          <a:solidFill>
            <a:srgbClr val="FFFFFF"/>
          </a:solidFill>
          <a:ln/>
        </p:spPr>
      </p:sp>
      <p:sp>
        <p:nvSpPr>
          <p:cNvPr id="53" name="Text 51"/>
          <p:cNvSpPr/>
          <p:nvPr/>
        </p:nvSpPr>
        <p:spPr>
          <a:xfrm>
            <a:off x="10149780" y="1809750"/>
            <a:ext cx="1266825" cy="190500"/>
          </a:xfrm>
          <a:prstGeom prst="rect">
            <a:avLst/>
          </a:prstGeom>
          <a:noFill/>
          <a:ln/>
        </p:spPr>
        <p:txBody>
          <a:bodyPr wrap="square" lIns="0" tIns="0" rIns="0" bIns="0" rtlCol="0" anchor="ctr"/>
          <a:lstStyle/>
          <a:p>
            <a:pPr>
              <a:lnSpc>
                <a:spcPct val="120000"/>
              </a:lnSpc>
            </a:pPr>
            <a:r>
              <a:rPr lang="en-US" sz="1050" b="1" dirty="0">
                <a:solidFill>
                  <a:srgbClr val="1E3A8A"/>
                </a:solidFill>
                <a:latin typeface="MiSans" pitchFamily="34" charset="0"/>
                <a:ea typeface="MiSans" pitchFamily="34" charset="-122"/>
                <a:cs typeface="MiSans" pitchFamily="34" charset="-120"/>
              </a:rPr>
              <a:t>Structure de Coûts</a:t>
            </a:r>
            <a:endParaRPr lang="en-US" sz="1600" dirty="0"/>
          </a:p>
        </p:txBody>
      </p:sp>
      <p:sp>
        <p:nvSpPr>
          <p:cNvPr id="54" name="Text 52"/>
          <p:cNvSpPr/>
          <p:nvPr/>
        </p:nvSpPr>
        <p:spPr>
          <a:xfrm>
            <a:off x="9768780" y="213360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Main-d'œuvre inspecteurs</a:t>
            </a:r>
            <a:endParaRPr lang="en-US" sz="1600" dirty="0"/>
          </a:p>
        </p:txBody>
      </p:sp>
      <p:sp>
        <p:nvSpPr>
          <p:cNvPr id="55" name="Text 53"/>
          <p:cNvSpPr/>
          <p:nvPr/>
        </p:nvSpPr>
        <p:spPr>
          <a:xfrm>
            <a:off x="9768780" y="2362200"/>
            <a:ext cx="1952625" cy="3810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Coût rebuts/NQ : </a:t>
            </a:r>
            <a:r>
              <a:rPr lang="en-US" sz="1050" b="1" dirty="0">
                <a:solidFill>
                  <a:srgbClr val="EF4444"/>
                </a:solidFill>
                <a:latin typeface="MiSans" pitchFamily="34" charset="0"/>
                <a:ea typeface="MiSans" pitchFamily="34" charset="-122"/>
                <a:cs typeface="MiSans" pitchFamily="34" charset="-120"/>
              </a:rPr>
              <a:t>8-15% du CA</a:t>
            </a:r>
            <a:endParaRPr lang="en-US" sz="1600" dirty="0"/>
          </a:p>
        </p:txBody>
      </p:sp>
      <p:sp>
        <p:nvSpPr>
          <p:cNvPr id="56" name="Shape 54"/>
          <p:cNvSpPr/>
          <p:nvPr/>
        </p:nvSpPr>
        <p:spPr>
          <a:xfrm>
            <a:off x="9616380" y="4038600"/>
            <a:ext cx="2190750" cy="2324100"/>
          </a:xfrm>
          <a:custGeom>
            <a:avLst/>
            <a:gdLst/>
            <a:ahLst/>
            <a:cxnLst/>
            <a:rect l="l" t="t" r="r" b="b"/>
            <a:pathLst>
              <a:path w="2190750" h="2324100">
                <a:moveTo>
                  <a:pt x="114291" y="0"/>
                </a:moveTo>
                <a:lnTo>
                  <a:pt x="2076459" y="0"/>
                </a:lnTo>
                <a:cubicBezTo>
                  <a:pt x="2139580" y="0"/>
                  <a:pt x="2190750" y="51170"/>
                  <a:pt x="2190750" y="114291"/>
                </a:cubicBezTo>
                <a:lnTo>
                  <a:pt x="2190750" y="2209809"/>
                </a:lnTo>
                <a:cubicBezTo>
                  <a:pt x="2190750" y="2272930"/>
                  <a:pt x="2139580" y="2324100"/>
                  <a:pt x="2076459" y="2324100"/>
                </a:cubicBezTo>
                <a:lnTo>
                  <a:pt x="114291" y="2324100"/>
                </a:lnTo>
                <a:cubicBezTo>
                  <a:pt x="51170" y="2324100"/>
                  <a:pt x="0" y="2272930"/>
                  <a:pt x="0" y="2209809"/>
                </a:cubicBezTo>
                <a:lnTo>
                  <a:pt x="0" y="114291"/>
                </a:lnTo>
                <a:cubicBezTo>
                  <a:pt x="0" y="51212"/>
                  <a:pt x="51212" y="0"/>
                  <a:pt x="114291" y="0"/>
                </a:cubicBezTo>
                <a:close/>
              </a:path>
            </a:pathLst>
          </a:custGeom>
          <a:solidFill>
            <a:srgbClr val="F3F4F6"/>
          </a:solidFill>
          <a:ln/>
        </p:spPr>
      </p:sp>
      <p:sp>
        <p:nvSpPr>
          <p:cNvPr id="57" name="Shape 55"/>
          <p:cNvSpPr/>
          <p:nvPr/>
        </p:nvSpPr>
        <p:spPr>
          <a:xfrm>
            <a:off x="9768780" y="4191000"/>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10B981"/>
          </a:solidFill>
          <a:ln/>
        </p:spPr>
      </p:sp>
      <p:sp>
        <p:nvSpPr>
          <p:cNvPr id="58" name="Shape 56"/>
          <p:cNvSpPr/>
          <p:nvPr/>
        </p:nvSpPr>
        <p:spPr>
          <a:xfrm>
            <a:off x="9856887" y="4276725"/>
            <a:ext cx="133350" cy="133350"/>
          </a:xfrm>
          <a:custGeom>
            <a:avLst/>
            <a:gdLst/>
            <a:ahLst/>
            <a:cxnLst/>
            <a:rect l="l" t="t" r="r" b="b"/>
            <a:pathLst>
              <a:path w="133350" h="133350">
                <a:moveTo>
                  <a:pt x="33337" y="25003"/>
                </a:moveTo>
                <a:lnTo>
                  <a:pt x="33337" y="20836"/>
                </a:lnTo>
                <a:cubicBezTo>
                  <a:pt x="33337" y="9324"/>
                  <a:pt x="55736" y="0"/>
                  <a:pt x="83344" y="0"/>
                </a:cubicBezTo>
                <a:cubicBezTo>
                  <a:pt x="110951" y="0"/>
                  <a:pt x="133350" y="9324"/>
                  <a:pt x="133350" y="20836"/>
                </a:cubicBezTo>
                <a:lnTo>
                  <a:pt x="133350" y="25003"/>
                </a:lnTo>
                <a:cubicBezTo>
                  <a:pt x="133350" y="32973"/>
                  <a:pt x="122593" y="39901"/>
                  <a:pt x="106784" y="43417"/>
                </a:cubicBezTo>
                <a:cubicBezTo>
                  <a:pt x="106159" y="42688"/>
                  <a:pt x="105508" y="41984"/>
                  <a:pt x="104857" y="41333"/>
                </a:cubicBezTo>
                <a:cubicBezTo>
                  <a:pt x="100820" y="37348"/>
                  <a:pt x="95611" y="34327"/>
                  <a:pt x="90168" y="32087"/>
                </a:cubicBezTo>
                <a:cubicBezTo>
                  <a:pt x="79255" y="27529"/>
                  <a:pt x="65034" y="25029"/>
                  <a:pt x="50006" y="25029"/>
                </a:cubicBezTo>
                <a:cubicBezTo>
                  <a:pt x="44302" y="25029"/>
                  <a:pt x="38729" y="25394"/>
                  <a:pt x="33390" y="26097"/>
                </a:cubicBezTo>
                <a:cubicBezTo>
                  <a:pt x="33338" y="25758"/>
                  <a:pt x="33338" y="25394"/>
                  <a:pt x="33338" y="25029"/>
                </a:cubicBezTo>
                <a:close/>
                <a:moveTo>
                  <a:pt x="112514" y="91939"/>
                </a:moveTo>
                <a:lnTo>
                  <a:pt x="112514" y="79906"/>
                </a:lnTo>
                <a:cubicBezTo>
                  <a:pt x="116447" y="78890"/>
                  <a:pt x="120145" y="77692"/>
                  <a:pt x="123505" y="76286"/>
                </a:cubicBezTo>
                <a:cubicBezTo>
                  <a:pt x="126943" y="74853"/>
                  <a:pt x="130303" y="73108"/>
                  <a:pt x="133350" y="70998"/>
                </a:cubicBezTo>
                <a:lnTo>
                  <a:pt x="133350" y="75009"/>
                </a:lnTo>
                <a:cubicBezTo>
                  <a:pt x="133350" y="81989"/>
                  <a:pt x="125146" y="88162"/>
                  <a:pt x="112514" y="91939"/>
                </a:cubicBezTo>
                <a:close/>
                <a:moveTo>
                  <a:pt x="112514" y="66935"/>
                </a:moveTo>
                <a:lnTo>
                  <a:pt x="112514" y="58341"/>
                </a:lnTo>
                <a:cubicBezTo>
                  <a:pt x="112514" y="57169"/>
                  <a:pt x="112410" y="56049"/>
                  <a:pt x="112254" y="54955"/>
                </a:cubicBezTo>
                <a:cubicBezTo>
                  <a:pt x="116291" y="53939"/>
                  <a:pt x="120067" y="52715"/>
                  <a:pt x="123505" y="51256"/>
                </a:cubicBezTo>
                <a:cubicBezTo>
                  <a:pt x="126943" y="49798"/>
                  <a:pt x="130303" y="48079"/>
                  <a:pt x="133350" y="45969"/>
                </a:cubicBezTo>
                <a:lnTo>
                  <a:pt x="133350" y="49980"/>
                </a:lnTo>
                <a:cubicBezTo>
                  <a:pt x="133350" y="56960"/>
                  <a:pt x="125146" y="63133"/>
                  <a:pt x="112514" y="66909"/>
                </a:cubicBezTo>
                <a:close/>
                <a:moveTo>
                  <a:pt x="0" y="62508"/>
                </a:moveTo>
                <a:lnTo>
                  <a:pt x="0" y="58341"/>
                </a:lnTo>
                <a:cubicBezTo>
                  <a:pt x="0" y="46829"/>
                  <a:pt x="22399" y="37505"/>
                  <a:pt x="50006" y="37505"/>
                </a:cubicBezTo>
                <a:cubicBezTo>
                  <a:pt x="77614" y="37505"/>
                  <a:pt x="100013" y="46829"/>
                  <a:pt x="100013" y="58341"/>
                </a:cubicBezTo>
                <a:lnTo>
                  <a:pt x="100013" y="62508"/>
                </a:lnTo>
                <a:cubicBezTo>
                  <a:pt x="100013" y="74020"/>
                  <a:pt x="77614" y="83344"/>
                  <a:pt x="50006" y="83344"/>
                </a:cubicBezTo>
                <a:cubicBezTo>
                  <a:pt x="22399" y="83344"/>
                  <a:pt x="0" y="74020"/>
                  <a:pt x="0" y="62508"/>
                </a:cubicBezTo>
                <a:close/>
                <a:moveTo>
                  <a:pt x="100013" y="87511"/>
                </a:moveTo>
                <a:cubicBezTo>
                  <a:pt x="100013" y="99023"/>
                  <a:pt x="77614" y="108347"/>
                  <a:pt x="50006" y="108347"/>
                </a:cubicBezTo>
                <a:cubicBezTo>
                  <a:pt x="22399" y="108347"/>
                  <a:pt x="0" y="99023"/>
                  <a:pt x="0" y="87511"/>
                </a:cubicBezTo>
                <a:lnTo>
                  <a:pt x="0" y="83500"/>
                </a:lnTo>
                <a:cubicBezTo>
                  <a:pt x="3021" y="85610"/>
                  <a:pt x="6381" y="87329"/>
                  <a:pt x="9845" y="88787"/>
                </a:cubicBezTo>
                <a:cubicBezTo>
                  <a:pt x="20758" y="93345"/>
                  <a:pt x="34978" y="95845"/>
                  <a:pt x="50006" y="95845"/>
                </a:cubicBezTo>
                <a:cubicBezTo>
                  <a:pt x="65034" y="95845"/>
                  <a:pt x="79255" y="93319"/>
                  <a:pt x="90168" y="88787"/>
                </a:cubicBezTo>
                <a:cubicBezTo>
                  <a:pt x="93605" y="87355"/>
                  <a:pt x="96965" y="85610"/>
                  <a:pt x="100013" y="83500"/>
                </a:cubicBezTo>
                <a:lnTo>
                  <a:pt x="100013" y="87511"/>
                </a:lnTo>
                <a:close/>
                <a:moveTo>
                  <a:pt x="100013" y="108503"/>
                </a:moveTo>
                <a:lnTo>
                  <a:pt x="100013" y="112514"/>
                </a:lnTo>
                <a:cubicBezTo>
                  <a:pt x="100013" y="124026"/>
                  <a:pt x="77614" y="133350"/>
                  <a:pt x="50006" y="133350"/>
                </a:cubicBezTo>
                <a:cubicBezTo>
                  <a:pt x="22399" y="133350"/>
                  <a:pt x="0" y="124026"/>
                  <a:pt x="0" y="112514"/>
                </a:cubicBezTo>
                <a:lnTo>
                  <a:pt x="0" y="108503"/>
                </a:lnTo>
                <a:cubicBezTo>
                  <a:pt x="3021" y="110613"/>
                  <a:pt x="6381" y="112332"/>
                  <a:pt x="9845" y="113790"/>
                </a:cubicBezTo>
                <a:cubicBezTo>
                  <a:pt x="20758" y="118348"/>
                  <a:pt x="34978" y="120848"/>
                  <a:pt x="50006" y="120848"/>
                </a:cubicBezTo>
                <a:cubicBezTo>
                  <a:pt x="65034" y="120848"/>
                  <a:pt x="79255" y="118322"/>
                  <a:pt x="90168" y="113790"/>
                </a:cubicBezTo>
                <a:cubicBezTo>
                  <a:pt x="93605" y="112358"/>
                  <a:pt x="96965" y="110613"/>
                  <a:pt x="100013" y="108503"/>
                </a:cubicBezTo>
                <a:close/>
              </a:path>
            </a:pathLst>
          </a:custGeom>
          <a:solidFill>
            <a:srgbClr val="FFFFFF"/>
          </a:solidFill>
          <a:ln/>
        </p:spPr>
      </p:sp>
      <p:sp>
        <p:nvSpPr>
          <p:cNvPr id="59" name="Text 57"/>
          <p:cNvSpPr/>
          <p:nvPr/>
        </p:nvSpPr>
        <p:spPr>
          <a:xfrm>
            <a:off x="10149780" y="4248150"/>
            <a:ext cx="1123950" cy="190500"/>
          </a:xfrm>
          <a:prstGeom prst="rect">
            <a:avLst/>
          </a:prstGeom>
          <a:noFill/>
          <a:ln/>
        </p:spPr>
        <p:txBody>
          <a:bodyPr wrap="square" lIns="0" tIns="0" rIns="0" bIns="0" rtlCol="0" anchor="ctr"/>
          <a:lstStyle/>
          <a:p>
            <a:pPr>
              <a:lnSpc>
                <a:spcPct val="120000"/>
              </a:lnSpc>
            </a:pPr>
            <a:r>
              <a:rPr lang="en-US" sz="1050" b="1" dirty="0">
                <a:solidFill>
                  <a:srgbClr val="1E3A8A"/>
                </a:solidFill>
                <a:latin typeface="MiSans" pitchFamily="34" charset="0"/>
                <a:ea typeface="MiSans" pitchFamily="34" charset="-122"/>
                <a:cs typeface="MiSans" pitchFamily="34" charset="-120"/>
              </a:rPr>
              <a:t>Flux de Revenus</a:t>
            </a:r>
            <a:endParaRPr lang="en-US" sz="1600" dirty="0"/>
          </a:p>
        </p:txBody>
      </p:sp>
      <p:sp>
        <p:nvSpPr>
          <p:cNvPr id="60" name="Text 58"/>
          <p:cNvSpPr/>
          <p:nvPr/>
        </p:nvSpPr>
        <p:spPr>
          <a:xfrm>
            <a:off x="9768780" y="4572000"/>
            <a:ext cx="1952625" cy="6858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Maintien </a:t>
            </a:r>
            <a:r>
              <a:rPr lang="en-US" sz="1050" b="1" dirty="0">
                <a:solidFill>
                  <a:srgbClr val="374151"/>
                </a:solidFill>
                <a:latin typeface="MiSans" pitchFamily="34" charset="0"/>
                <a:ea typeface="MiSans" pitchFamily="34" charset="-122"/>
                <a:cs typeface="MiSans" pitchFamily="34" charset="-120"/>
              </a:rPr>
              <a:t>certifications</a:t>
            </a:r>
            <a:r>
              <a:rPr lang="en-US" sz="1050" dirty="0">
                <a:solidFill>
                  <a:srgbClr val="374151"/>
                </a:solidFill>
                <a:latin typeface="MiSans" pitchFamily="34" charset="0"/>
                <a:ea typeface="MiSans" pitchFamily="34" charset="-122"/>
                <a:cs typeface="MiSans" pitchFamily="34" charset="-120"/>
              </a:rPr>
              <a:t> = </a:t>
            </a:r>
            <a:r>
              <a:rPr lang="en-US" sz="1050" dirty="0" err="1">
                <a:solidFill>
                  <a:srgbClr val="374151"/>
                </a:solidFill>
                <a:latin typeface="MiSans" pitchFamily="34" charset="0"/>
                <a:ea typeface="MiSans" pitchFamily="34" charset="-122"/>
                <a:cs typeface="MiSans" pitchFamily="34" charset="-120"/>
              </a:rPr>
              <a:t>accès</a:t>
            </a:r>
            <a:r>
              <a:rPr lang="en-US" sz="1050" dirty="0">
                <a:solidFill>
                  <a:srgbClr val="374151"/>
                </a:solidFill>
                <a:latin typeface="MiSans" pitchFamily="34" charset="0"/>
                <a:ea typeface="MiSans" pitchFamily="34" charset="-122"/>
                <a:cs typeface="MiSans" pitchFamily="34" charset="-120"/>
              </a:rPr>
              <a:t> </a:t>
            </a:r>
            <a:r>
              <a:rPr lang="en-US" sz="1050" dirty="0" err="1">
                <a:solidFill>
                  <a:srgbClr val="374151"/>
                </a:solidFill>
                <a:latin typeface="MiSans" pitchFamily="34" charset="0"/>
                <a:ea typeface="MiSans" pitchFamily="34" charset="-122"/>
                <a:cs typeface="MiSans" pitchFamily="34" charset="-120"/>
              </a:rPr>
              <a:t>marché</a:t>
            </a:r>
            <a:r>
              <a:rPr lang="en-US" sz="1050" dirty="0">
                <a:solidFill>
                  <a:srgbClr val="374151"/>
                </a:solidFill>
                <a:latin typeface="MiSans" pitchFamily="34" charset="0"/>
                <a:ea typeface="MiSans" pitchFamily="34" charset="-122"/>
                <a:cs typeface="MiSans" pitchFamily="34" charset="-120"/>
              </a:rPr>
              <a:t> – </a:t>
            </a:r>
            <a:r>
              <a:rPr lang="en-US" sz="1050" b="1" dirty="0" err="1">
                <a:solidFill>
                  <a:srgbClr val="374151"/>
                </a:solidFill>
                <a:latin typeface="MiSans" pitchFamily="34" charset="0"/>
                <a:ea typeface="MiSans" pitchFamily="34" charset="-122"/>
                <a:cs typeface="MiSans" pitchFamily="34" charset="-120"/>
              </a:rPr>
              <a:t>Avantage</a:t>
            </a:r>
            <a:r>
              <a:rPr lang="en-US" sz="1050" b="1" dirty="0">
                <a:solidFill>
                  <a:srgbClr val="374151"/>
                </a:solidFill>
                <a:latin typeface="MiSans" pitchFamily="34" charset="0"/>
                <a:ea typeface="MiSans" pitchFamily="34" charset="-122"/>
                <a:cs typeface="MiSans" pitchFamily="34" charset="-120"/>
              </a:rPr>
              <a:t> </a:t>
            </a:r>
            <a:r>
              <a:rPr lang="en-US" sz="1050" b="1" dirty="0" err="1">
                <a:solidFill>
                  <a:srgbClr val="374151"/>
                </a:solidFill>
                <a:latin typeface="MiSans" pitchFamily="34" charset="0"/>
                <a:ea typeface="MiSans" pitchFamily="34" charset="-122"/>
                <a:cs typeface="MiSans" pitchFamily="34" charset="-120"/>
              </a:rPr>
              <a:t>Concurrentiel</a:t>
            </a:r>
            <a:endParaRPr lang="en-US" sz="1050" b="1" dirty="0">
              <a:solidFill>
                <a:srgbClr val="374151"/>
              </a:solidFill>
              <a:latin typeface="MiSans" pitchFamily="34" charset="0"/>
              <a:ea typeface="MiSans" pitchFamily="34" charset="-122"/>
              <a:cs typeface="MiSans" pitchFamily="34" charset="-120"/>
            </a:endParaRPr>
          </a:p>
          <a:p>
            <a:pPr>
              <a:lnSpc>
                <a:spcPct val="120000"/>
              </a:lnSpc>
            </a:pPr>
            <a:endParaRPr lang="en-US" sz="1600" dirty="0"/>
          </a:p>
        </p:txBody>
      </p:sp>
      <p:sp>
        <p:nvSpPr>
          <p:cNvPr id="61" name="Text 59"/>
          <p:cNvSpPr/>
          <p:nvPr/>
        </p:nvSpPr>
        <p:spPr>
          <a:xfrm>
            <a:off x="9768779" y="5060900"/>
            <a:ext cx="195262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a:t>
            </a:r>
            <a:r>
              <a:rPr lang="en-US" sz="1050" b="1" dirty="0">
                <a:solidFill>
                  <a:srgbClr val="374151"/>
                </a:solidFill>
                <a:latin typeface="MiSans" pitchFamily="34" charset="0"/>
                <a:ea typeface="MiSans" pitchFamily="34" charset="-122"/>
                <a:cs typeface="MiSans" pitchFamily="34" charset="-120"/>
              </a:rPr>
              <a:t>Réduction rebuts = économies</a:t>
            </a:r>
            <a:endParaRPr lang="en-US" sz="1600" b="1"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6878" y="226127"/>
            <a:ext cx="2148204" cy="339190"/>
          </a:xfrm>
          <a:custGeom>
            <a:avLst/>
            <a:gdLst/>
            <a:ahLst/>
            <a:cxnLst/>
            <a:rect l="l" t="t" r="r" b="b"/>
            <a:pathLst>
              <a:path w="2148204" h="339190">
                <a:moveTo>
                  <a:pt x="169595" y="0"/>
                </a:moveTo>
                <a:lnTo>
                  <a:pt x="1978609" y="0"/>
                </a:lnTo>
                <a:cubicBezTo>
                  <a:pt x="2072274" y="0"/>
                  <a:pt x="2148204" y="75930"/>
                  <a:pt x="2148204" y="169595"/>
                </a:cubicBezTo>
                <a:lnTo>
                  <a:pt x="2148204" y="169595"/>
                </a:lnTo>
                <a:cubicBezTo>
                  <a:pt x="2148204" y="263260"/>
                  <a:pt x="2072274" y="339190"/>
                  <a:pt x="1978609" y="339190"/>
                </a:cubicBezTo>
                <a:lnTo>
                  <a:pt x="169595" y="339190"/>
                </a:lnTo>
                <a:cubicBezTo>
                  <a:pt x="75993" y="339190"/>
                  <a:pt x="0" y="263197"/>
                  <a:pt x="0" y="169595"/>
                </a:cubicBezTo>
                <a:lnTo>
                  <a:pt x="0" y="169595"/>
                </a:lnTo>
                <a:cubicBezTo>
                  <a:pt x="0" y="75993"/>
                  <a:pt x="75993" y="0"/>
                  <a:pt x="169595" y="0"/>
                </a:cubicBezTo>
                <a:close/>
              </a:path>
            </a:pathLst>
          </a:custGeom>
          <a:solidFill>
            <a:srgbClr val="8B5CF6"/>
          </a:solidFill>
          <a:ln/>
        </p:spPr>
      </p:sp>
      <p:sp>
        <p:nvSpPr>
          <p:cNvPr id="3" name="Text 1"/>
          <p:cNvSpPr/>
          <p:nvPr/>
        </p:nvSpPr>
        <p:spPr>
          <a:xfrm>
            <a:off x="527629" y="301502"/>
            <a:ext cx="1912655" cy="188439"/>
          </a:xfrm>
          <a:prstGeom prst="rect">
            <a:avLst/>
          </a:prstGeom>
          <a:noFill/>
          <a:ln/>
        </p:spPr>
        <p:txBody>
          <a:bodyPr wrap="square" lIns="0" tIns="0" rIns="0" bIns="0" rtlCol="0" anchor="ctr"/>
          <a:lstStyle/>
          <a:p>
            <a:pPr>
              <a:lnSpc>
                <a:spcPct val="120000"/>
              </a:lnSpc>
            </a:pPr>
            <a:r>
              <a:rPr lang="en-US" sz="1039" b="1" kern="0" spc="26" dirty="0">
                <a:solidFill>
                  <a:srgbClr val="FFFFFF"/>
                </a:solidFill>
                <a:latin typeface="MiSans" pitchFamily="34" charset="0"/>
                <a:ea typeface="MiSans" pitchFamily="34" charset="-122"/>
                <a:cs typeface="MiSans" pitchFamily="34" charset="-120"/>
              </a:rPr>
              <a:t>DISCOVERY - PERSONA 1/3</a:t>
            </a:r>
            <a:endParaRPr lang="en-US" sz="1600" dirty="0"/>
          </a:p>
        </p:txBody>
      </p:sp>
      <p:sp>
        <p:nvSpPr>
          <p:cNvPr id="4" name="Text 2"/>
          <p:cNvSpPr/>
          <p:nvPr/>
        </p:nvSpPr>
        <p:spPr>
          <a:xfrm>
            <a:off x="376878" y="979883"/>
            <a:ext cx="11607839" cy="376878"/>
          </a:xfrm>
          <a:prstGeom prst="rect">
            <a:avLst/>
          </a:prstGeom>
          <a:noFill/>
          <a:ln/>
        </p:spPr>
        <p:txBody>
          <a:bodyPr wrap="square" lIns="0" tIns="0" rIns="0" bIns="0" rtlCol="0" anchor="ctr"/>
          <a:lstStyle/>
          <a:p>
            <a:pPr>
              <a:lnSpc>
                <a:spcPct val="90000"/>
              </a:lnSpc>
            </a:pPr>
            <a:r>
              <a:rPr lang="en-US" sz="2671" b="1" dirty="0">
                <a:solidFill>
                  <a:srgbClr val="1E3A8A"/>
                </a:solidFill>
                <a:latin typeface="Noto Sans SC" pitchFamily="34" charset="0"/>
                <a:ea typeface="Noto Sans SC" pitchFamily="34" charset="-122"/>
                <a:cs typeface="Noto Sans SC" pitchFamily="34" charset="-120"/>
              </a:rPr>
              <a:t>Persona &amp; Experience Map : Sophie</a:t>
            </a:r>
            <a:endParaRPr lang="en-US" sz="1600" dirty="0"/>
          </a:p>
        </p:txBody>
      </p:sp>
      <p:sp>
        <p:nvSpPr>
          <p:cNvPr id="5" name="Shape 3"/>
          <p:cNvSpPr/>
          <p:nvPr/>
        </p:nvSpPr>
        <p:spPr>
          <a:xfrm>
            <a:off x="376878" y="1582887"/>
            <a:ext cx="5568371" cy="979883"/>
          </a:xfrm>
          <a:custGeom>
            <a:avLst/>
            <a:gdLst/>
            <a:ahLst/>
            <a:cxnLst/>
            <a:rect l="l" t="t" r="r" b="b"/>
            <a:pathLst>
              <a:path w="5568371" h="979883">
                <a:moveTo>
                  <a:pt x="150755" y="0"/>
                </a:moveTo>
                <a:lnTo>
                  <a:pt x="5417616" y="0"/>
                </a:lnTo>
                <a:cubicBezTo>
                  <a:pt x="5500876" y="0"/>
                  <a:pt x="5568371" y="67495"/>
                  <a:pt x="5568371" y="150755"/>
                </a:cubicBezTo>
                <a:lnTo>
                  <a:pt x="5568371" y="829128"/>
                </a:lnTo>
                <a:cubicBezTo>
                  <a:pt x="5568371" y="912387"/>
                  <a:pt x="5500876" y="979883"/>
                  <a:pt x="5417616" y="979883"/>
                </a:cubicBezTo>
                <a:lnTo>
                  <a:pt x="150755" y="979883"/>
                </a:lnTo>
                <a:cubicBezTo>
                  <a:pt x="67495" y="979883"/>
                  <a:pt x="0" y="912387"/>
                  <a:pt x="0" y="829128"/>
                </a:cubicBezTo>
                <a:lnTo>
                  <a:pt x="0" y="150755"/>
                </a:lnTo>
                <a:cubicBezTo>
                  <a:pt x="0" y="67551"/>
                  <a:pt x="67551" y="0"/>
                  <a:pt x="150755" y="0"/>
                </a:cubicBezTo>
                <a:close/>
              </a:path>
            </a:pathLst>
          </a:custGeom>
          <a:solidFill>
            <a:srgbClr val="8B5CF6"/>
          </a:solidFill>
          <a:ln/>
        </p:spPr>
      </p:sp>
      <p:sp>
        <p:nvSpPr>
          <p:cNvPr id="6" name="Shape 4"/>
          <p:cNvSpPr/>
          <p:nvPr/>
        </p:nvSpPr>
        <p:spPr>
          <a:xfrm>
            <a:off x="565317" y="1771326"/>
            <a:ext cx="603005" cy="603005"/>
          </a:xfrm>
          <a:custGeom>
            <a:avLst/>
            <a:gdLst/>
            <a:ahLst/>
            <a:cxnLst/>
            <a:rect l="l" t="t" r="r" b="b"/>
            <a:pathLst>
              <a:path w="603005" h="603005">
                <a:moveTo>
                  <a:pt x="301502" y="0"/>
                </a:moveTo>
                <a:lnTo>
                  <a:pt x="301502" y="0"/>
                </a:lnTo>
                <a:cubicBezTo>
                  <a:pt x="467906" y="0"/>
                  <a:pt x="603005" y="135099"/>
                  <a:pt x="603005" y="301502"/>
                </a:cubicBezTo>
                <a:lnTo>
                  <a:pt x="603005" y="301502"/>
                </a:lnTo>
                <a:cubicBezTo>
                  <a:pt x="603005" y="467906"/>
                  <a:pt x="467906" y="603005"/>
                  <a:pt x="301502" y="603005"/>
                </a:cubicBezTo>
                <a:lnTo>
                  <a:pt x="301502" y="603005"/>
                </a:lnTo>
                <a:cubicBezTo>
                  <a:pt x="135099" y="603005"/>
                  <a:pt x="0" y="467906"/>
                  <a:pt x="0" y="301502"/>
                </a:cubicBezTo>
                <a:lnTo>
                  <a:pt x="0" y="301502"/>
                </a:lnTo>
                <a:cubicBezTo>
                  <a:pt x="0" y="135099"/>
                  <a:pt x="135099" y="0"/>
                  <a:pt x="301502" y="0"/>
                </a:cubicBezTo>
                <a:close/>
              </a:path>
            </a:pathLst>
          </a:custGeom>
          <a:solidFill>
            <a:srgbClr val="FFFFFF"/>
          </a:solidFill>
          <a:ln/>
        </p:spPr>
      </p:sp>
      <p:sp>
        <p:nvSpPr>
          <p:cNvPr id="7" name="Shape 5"/>
          <p:cNvSpPr/>
          <p:nvPr/>
        </p:nvSpPr>
        <p:spPr>
          <a:xfrm>
            <a:off x="745512" y="1931499"/>
            <a:ext cx="247326" cy="282658"/>
          </a:xfrm>
          <a:custGeom>
            <a:avLst/>
            <a:gdLst/>
            <a:ahLst/>
            <a:cxnLst/>
            <a:rect l="l" t="t" r="r" b="b"/>
            <a:pathLst>
              <a:path w="247326" h="282658">
                <a:moveTo>
                  <a:pt x="123663" y="136913"/>
                </a:moveTo>
                <a:cubicBezTo>
                  <a:pt x="160226" y="136913"/>
                  <a:pt x="189911" y="107228"/>
                  <a:pt x="189911" y="70665"/>
                </a:cubicBezTo>
                <a:cubicBezTo>
                  <a:pt x="189911" y="34101"/>
                  <a:pt x="160226" y="4417"/>
                  <a:pt x="123663" y="4417"/>
                </a:cubicBezTo>
                <a:cubicBezTo>
                  <a:pt x="87100" y="4417"/>
                  <a:pt x="57415" y="34101"/>
                  <a:pt x="57415" y="70665"/>
                </a:cubicBezTo>
                <a:cubicBezTo>
                  <a:pt x="57415" y="107228"/>
                  <a:pt x="87100" y="136913"/>
                  <a:pt x="123663" y="136913"/>
                </a:cubicBezTo>
                <a:close/>
                <a:moveTo>
                  <a:pt x="107267" y="167828"/>
                </a:moveTo>
                <a:cubicBezTo>
                  <a:pt x="52888" y="167828"/>
                  <a:pt x="8833" y="211883"/>
                  <a:pt x="8833" y="266262"/>
                </a:cubicBezTo>
                <a:cubicBezTo>
                  <a:pt x="8833" y="275316"/>
                  <a:pt x="16176" y="282658"/>
                  <a:pt x="25229" y="282658"/>
                </a:cubicBezTo>
                <a:lnTo>
                  <a:pt x="222097" y="282658"/>
                </a:lnTo>
                <a:cubicBezTo>
                  <a:pt x="231151" y="282658"/>
                  <a:pt x="238493" y="275316"/>
                  <a:pt x="238493" y="266262"/>
                </a:cubicBezTo>
                <a:cubicBezTo>
                  <a:pt x="238493" y="211883"/>
                  <a:pt x="194438" y="167828"/>
                  <a:pt x="140059" y="167828"/>
                </a:cubicBezTo>
                <a:lnTo>
                  <a:pt x="107267" y="167828"/>
                </a:lnTo>
                <a:close/>
              </a:path>
            </a:pathLst>
          </a:custGeom>
          <a:solidFill>
            <a:srgbClr val="8B5CF6"/>
          </a:solidFill>
          <a:ln/>
        </p:spPr>
      </p:sp>
      <p:sp>
        <p:nvSpPr>
          <p:cNvPr id="8" name="Text 6"/>
          <p:cNvSpPr/>
          <p:nvPr/>
        </p:nvSpPr>
        <p:spPr>
          <a:xfrm>
            <a:off x="1319073" y="1790170"/>
            <a:ext cx="1611153" cy="301502"/>
          </a:xfrm>
          <a:prstGeom prst="rect">
            <a:avLst/>
          </a:prstGeom>
          <a:noFill/>
          <a:ln/>
        </p:spPr>
        <p:txBody>
          <a:bodyPr wrap="square" lIns="0" tIns="0" rIns="0" bIns="0" rtlCol="0" anchor="ctr"/>
          <a:lstStyle/>
          <a:p>
            <a:pPr>
              <a:lnSpc>
                <a:spcPct val="110000"/>
              </a:lnSpc>
            </a:pPr>
            <a:r>
              <a:rPr lang="en-US" sz="1781" b="1" dirty="0">
                <a:solidFill>
                  <a:srgbClr val="FFFFFF"/>
                </a:solidFill>
                <a:latin typeface="Noto Sans SC" pitchFamily="34" charset="0"/>
                <a:ea typeface="Noto Sans SC" pitchFamily="34" charset="-122"/>
                <a:cs typeface="Noto Sans SC" pitchFamily="34" charset="-120"/>
              </a:rPr>
              <a:t>Sophie Martin</a:t>
            </a:r>
            <a:endParaRPr lang="en-US" sz="1600" dirty="0"/>
          </a:p>
        </p:txBody>
      </p:sp>
      <p:sp>
        <p:nvSpPr>
          <p:cNvPr id="9" name="Text 7"/>
          <p:cNvSpPr/>
          <p:nvPr/>
        </p:nvSpPr>
        <p:spPr>
          <a:xfrm>
            <a:off x="1319073" y="2091672"/>
            <a:ext cx="1582887" cy="263815"/>
          </a:xfrm>
          <a:prstGeom prst="rect">
            <a:avLst/>
          </a:prstGeom>
          <a:noFill/>
          <a:ln/>
        </p:spPr>
        <p:txBody>
          <a:bodyPr wrap="square" lIns="0" tIns="0" rIns="0" bIns="0" rtlCol="0" anchor="ctr"/>
          <a:lstStyle/>
          <a:p>
            <a:pPr>
              <a:lnSpc>
                <a:spcPct val="130000"/>
              </a:lnSpc>
            </a:pPr>
            <a:r>
              <a:rPr lang="en-US" sz="1335" dirty="0">
                <a:solidFill>
                  <a:srgbClr val="FFFFFF">
                    <a:alpha val="80000"/>
                  </a:srgbClr>
                </a:solidFill>
                <a:latin typeface="MiSans" pitchFamily="34" charset="0"/>
                <a:ea typeface="MiSans" pitchFamily="34" charset="-122"/>
                <a:cs typeface="MiSans" pitchFamily="34" charset="-120"/>
              </a:rPr>
              <a:t>Inspectrice Qualité</a:t>
            </a:r>
            <a:endParaRPr lang="en-US" sz="1600" dirty="0"/>
          </a:p>
        </p:txBody>
      </p:sp>
      <p:sp>
        <p:nvSpPr>
          <p:cNvPr id="10" name="Shape 8"/>
          <p:cNvSpPr/>
          <p:nvPr/>
        </p:nvSpPr>
        <p:spPr>
          <a:xfrm>
            <a:off x="376878" y="2713521"/>
            <a:ext cx="5568371" cy="3768779"/>
          </a:xfrm>
          <a:custGeom>
            <a:avLst/>
            <a:gdLst/>
            <a:ahLst/>
            <a:cxnLst/>
            <a:rect l="l" t="t" r="r" b="b"/>
            <a:pathLst>
              <a:path w="5568371" h="3768779">
                <a:moveTo>
                  <a:pt x="150751" y="0"/>
                </a:moveTo>
                <a:lnTo>
                  <a:pt x="5417620" y="0"/>
                </a:lnTo>
                <a:cubicBezTo>
                  <a:pt x="5500877" y="0"/>
                  <a:pt x="5568371" y="67494"/>
                  <a:pt x="5568371" y="150751"/>
                </a:cubicBezTo>
                <a:lnTo>
                  <a:pt x="5568371" y="3618028"/>
                </a:lnTo>
                <a:cubicBezTo>
                  <a:pt x="5568371" y="3701285"/>
                  <a:pt x="5500877" y="3768779"/>
                  <a:pt x="5417620" y="3768779"/>
                </a:cubicBezTo>
                <a:lnTo>
                  <a:pt x="150751" y="3768779"/>
                </a:lnTo>
                <a:cubicBezTo>
                  <a:pt x="67494" y="3768779"/>
                  <a:pt x="0" y="3701285"/>
                  <a:pt x="0" y="3618028"/>
                </a:cubicBezTo>
                <a:lnTo>
                  <a:pt x="0" y="150751"/>
                </a:lnTo>
                <a:cubicBezTo>
                  <a:pt x="0" y="67549"/>
                  <a:pt x="67549" y="0"/>
                  <a:pt x="150751" y="0"/>
                </a:cubicBezTo>
                <a:close/>
              </a:path>
            </a:pathLst>
          </a:custGeom>
          <a:solidFill>
            <a:srgbClr val="F3F4F6"/>
          </a:solidFill>
          <a:ln/>
        </p:spPr>
      </p:sp>
      <p:sp>
        <p:nvSpPr>
          <p:cNvPr id="11" name="Shape 9"/>
          <p:cNvSpPr/>
          <p:nvPr/>
        </p:nvSpPr>
        <p:spPr>
          <a:xfrm>
            <a:off x="588872" y="2939648"/>
            <a:ext cx="188439" cy="188439"/>
          </a:xfrm>
          <a:custGeom>
            <a:avLst/>
            <a:gdLst/>
            <a:ahLst/>
            <a:cxnLst/>
            <a:rect l="l" t="t" r="r" b="b"/>
            <a:pathLst>
              <a:path w="188439" h="188439">
                <a:moveTo>
                  <a:pt x="73609" y="17666"/>
                </a:moveTo>
                <a:lnTo>
                  <a:pt x="114830" y="17666"/>
                </a:lnTo>
                <a:cubicBezTo>
                  <a:pt x="116449" y="17666"/>
                  <a:pt x="117774" y="18991"/>
                  <a:pt x="117774" y="20611"/>
                </a:cubicBezTo>
                <a:lnTo>
                  <a:pt x="117774" y="35332"/>
                </a:lnTo>
                <a:lnTo>
                  <a:pt x="70665" y="35332"/>
                </a:lnTo>
                <a:lnTo>
                  <a:pt x="70665" y="20611"/>
                </a:lnTo>
                <a:cubicBezTo>
                  <a:pt x="70665" y="18991"/>
                  <a:pt x="71990" y="17666"/>
                  <a:pt x="73609" y="17666"/>
                </a:cubicBezTo>
                <a:close/>
                <a:moveTo>
                  <a:pt x="52998" y="20611"/>
                </a:moveTo>
                <a:lnTo>
                  <a:pt x="52998" y="35332"/>
                </a:lnTo>
                <a:lnTo>
                  <a:pt x="23555" y="35332"/>
                </a:lnTo>
                <a:cubicBezTo>
                  <a:pt x="10563" y="35332"/>
                  <a:pt x="0" y="45895"/>
                  <a:pt x="0" y="58887"/>
                </a:cubicBezTo>
                <a:lnTo>
                  <a:pt x="0" y="94219"/>
                </a:lnTo>
                <a:lnTo>
                  <a:pt x="188439" y="94219"/>
                </a:lnTo>
                <a:lnTo>
                  <a:pt x="188439" y="58887"/>
                </a:lnTo>
                <a:cubicBezTo>
                  <a:pt x="188439" y="45895"/>
                  <a:pt x="177876" y="35332"/>
                  <a:pt x="164884" y="35332"/>
                </a:cubicBezTo>
                <a:lnTo>
                  <a:pt x="135440" y="35332"/>
                </a:lnTo>
                <a:lnTo>
                  <a:pt x="135440" y="20611"/>
                </a:lnTo>
                <a:cubicBezTo>
                  <a:pt x="135440" y="9238"/>
                  <a:pt x="126203" y="0"/>
                  <a:pt x="114830" y="0"/>
                </a:cubicBezTo>
                <a:lnTo>
                  <a:pt x="73609" y="0"/>
                </a:lnTo>
                <a:cubicBezTo>
                  <a:pt x="62236" y="0"/>
                  <a:pt x="52998" y="9238"/>
                  <a:pt x="52998" y="20611"/>
                </a:cubicBezTo>
                <a:close/>
                <a:moveTo>
                  <a:pt x="188439" y="111886"/>
                </a:moveTo>
                <a:lnTo>
                  <a:pt x="117774" y="111886"/>
                </a:lnTo>
                <a:lnTo>
                  <a:pt x="117774" y="117774"/>
                </a:lnTo>
                <a:cubicBezTo>
                  <a:pt x="117774" y="124289"/>
                  <a:pt x="112511" y="129552"/>
                  <a:pt x="105997" y="129552"/>
                </a:cubicBezTo>
                <a:lnTo>
                  <a:pt x="82442" y="129552"/>
                </a:lnTo>
                <a:cubicBezTo>
                  <a:pt x="75928" y="129552"/>
                  <a:pt x="70665" y="124289"/>
                  <a:pt x="70665" y="117774"/>
                </a:cubicBezTo>
                <a:lnTo>
                  <a:pt x="70665" y="111886"/>
                </a:lnTo>
                <a:lnTo>
                  <a:pt x="0" y="111886"/>
                </a:lnTo>
                <a:lnTo>
                  <a:pt x="0" y="153107"/>
                </a:lnTo>
                <a:cubicBezTo>
                  <a:pt x="0" y="166099"/>
                  <a:pt x="10563" y="176662"/>
                  <a:pt x="23555" y="176662"/>
                </a:cubicBezTo>
                <a:lnTo>
                  <a:pt x="164884" y="176662"/>
                </a:lnTo>
                <a:cubicBezTo>
                  <a:pt x="177876" y="176662"/>
                  <a:pt x="188439" y="166099"/>
                  <a:pt x="188439" y="153107"/>
                </a:cubicBezTo>
                <a:lnTo>
                  <a:pt x="188439" y="111886"/>
                </a:lnTo>
                <a:close/>
              </a:path>
            </a:pathLst>
          </a:custGeom>
          <a:solidFill>
            <a:srgbClr val="8B5CF6"/>
          </a:solidFill>
          <a:ln/>
        </p:spPr>
      </p:sp>
      <p:sp>
        <p:nvSpPr>
          <p:cNvPr id="12" name="Text 10"/>
          <p:cNvSpPr/>
          <p:nvPr/>
        </p:nvSpPr>
        <p:spPr>
          <a:xfrm>
            <a:off x="876241" y="2901960"/>
            <a:ext cx="518207" cy="263815"/>
          </a:xfrm>
          <a:prstGeom prst="rect">
            <a:avLst/>
          </a:prstGeom>
          <a:noFill/>
          <a:ln/>
        </p:spPr>
        <p:txBody>
          <a:bodyPr wrap="square" lIns="0" tIns="0" rIns="0" bIns="0" rtlCol="0" anchor="ctr"/>
          <a:lstStyle/>
          <a:p>
            <a:pPr>
              <a:lnSpc>
                <a:spcPct val="130000"/>
              </a:lnSpc>
            </a:pPr>
            <a:r>
              <a:rPr lang="en-US" sz="1335" b="1" dirty="0">
                <a:solidFill>
                  <a:srgbClr val="1E3A8A"/>
                </a:solidFill>
                <a:latin typeface="MiSans" pitchFamily="34" charset="0"/>
                <a:ea typeface="MiSans" pitchFamily="34" charset="-122"/>
                <a:cs typeface="MiSans" pitchFamily="34" charset="-120"/>
              </a:rPr>
              <a:t>Profil</a:t>
            </a:r>
            <a:endParaRPr lang="en-US" sz="1600" dirty="0"/>
          </a:p>
        </p:txBody>
      </p:sp>
      <p:sp>
        <p:nvSpPr>
          <p:cNvPr id="13" name="Text 11"/>
          <p:cNvSpPr/>
          <p:nvPr/>
        </p:nvSpPr>
        <p:spPr>
          <a:xfrm>
            <a:off x="565317" y="3278838"/>
            <a:ext cx="5266869" cy="244971"/>
          </a:xfrm>
          <a:prstGeom prst="rect">
            <a:avLst/>
          </a:prstGeom>
          <a:noFill/>
          <a:ln/>
        </p:spPr>
        <p:txBody>
          <a:bodyPr wrap="square" lIns="0" tIns="0" rIns="0" bIns="0" rtlCol="0" anchor="ctr"/>
          <a:lstStyle/>
          <a:p>
            <a:pPr>
              <a:lnSpc>
                <a:spcPct val="140000"/>
              </a:lnSpc>
            </a:pPr>
            <a:r>
              <a:rPr lang="en-US" sz="1187" b="1" dirty="0">
                <a:solidFill>
                  <a:srgbClr val="1E3A8A"/>
                </a:solidFill>
                <a:latin typeface="MiSans" pitchFamily="34" charset="0"/>
                <a:ea typeface="MiSans" pitchFamily="34" charset="-122"/>
                <a:cs typeface="MiSans" pitchFamily="34" charset="-120"/>
              </a:rPr>
              <a:t>8 ans d'expérience</a:t>
            </a:r>
            <a:r>
              <a:rPr lang="en-US" sz="1187" dirty="0">
                <a:solidFill>
                  <a:srgbClr val="374151"/>
                </a:solidFill>
                <a:latin typeface="MiSans" pitchFamily="34" charset="0"/>
                <a:ea typeface="MiSans" pitchFamily="34" charset="-122"/>
                <a:cs typeface="MiSans" pitchFamily="34" charset="-120"/>
              </a:rPr>
              <a:t>, équipe de </a:t>
            </a:r>
            <a:r>
              <a:rPr lang="en-US" sz="1187" b="1" dirty="0">
                <a:solidFill>
                  <a:srgbClr val="1E3A8A"/>
                </a:solidFill>
                <a:latin typeface="MiSans" pitchFamily="34" charset="0"/>
                <a:ea typeface="MiSans" pitchFamily="34" charset="-122"/>
                <a:cs typeface="MiSans" pitchFamily="34" charset="-120"/>
              </a:rPr>
              <a:t>9 inspecteurs</a:t>
            </a:r>
            <a:endParaRPr lang="en-US" sz="1600" dirty="0"/>
          </a:p>
        </p:txBody>
      </p:sp>
      <p:sp>
        <p:nvSpPr>
          <p:cNvPr id="14" name="Shape 12"/>
          <p:cNvSpPr/>
          <p:nvPr/>
        </p:nvSpPr>
        <p:spPr>
          <a:xfrm>
            <a:off x="588872" y="3712247"/>
            <a:ext cx="188439" cy="188439"/>
          </a:xfrm>
          <a:custGeom>
            <a:avLst/>
            <a:gdLst/>
            <a:ahLst/>
            <a:cxnLst/>
            <a:rect l="l" t="t" r="r" b="b"/>
            <a:pathLst>
              <a:path w="188439" h="188439">
                <a:moveTo>
                  <a:pt x="94219" y="0"/>
                </a:moveTo>
                <a:cubicBezTo>
                  <a:pt x="99630" y="0"/>
                  <a:pt x="104598" y="2981"/>
                  <a:pt x="107175" y="7729"/>
                </a:cubicBezTo>
                <a:lnTo>
                  <a:pt x="186672" y="154947"/>
                </a:lnTo>
                <a:cubicBezTo>
                  <a:pt x="189138" y="159511"/>
                  <a:pt x="189028" y="165031"/>
                  <a:pt x="186378" y="169485"/>
                </a:cubicBezTo>
                <a:cubicBezTo>
                  <a:pt x="183728" y="173938"/>
                  <a:pt x="178907" y="176662"/>
                  <a:pt x="173717" y="176662"/>
                </a:cubicBezTo>
                <a:lnTo>
                  <a:pt x="14722" y="176662"/>
                </a:lnTo>
                <a:cubicBezTo>
                  <a:pt x="9532" y="176662"/>
                  <a:pt x="4748" y="173938"/>
                  <a:pt x="2061" y="169485"/>
                </a:cubicBezTo>
                <a:cubicBezTo>
                  <a:pt x="-626" y="165031"/>
                  <a:pt x="-699" y="159511"/>
                  <a:pt x="1767" y="154947"/>
                </a:cubicBezTo>
                <a:lnTo>
                  <a:pt x="81264" y="7729"/>
                </a:lnTo>
                <a:cubicBezTo>
                  <a:pt x="83841" y="2981"/>
                  <a:pt x="88809" y="0"/>
                  <a:pt x="94219" y="0"/>
                </a:cubicBezTo>
                <a:close/>
                <a:moveTo>
                  <a:pt x="94219" y="61832"/>
                </a:moveTo>
                <a:cubicBezTo>
                  <a:pt x="89324" y="61832"/>
                  <a:pt x="85386" y="65770"/>
                  <a:pt x="85386" y="70665"/>
                </a:cubicBezTo>
                <a:lnTo>
                  <a:pt x="85386" y="111886"/>
                </a:lnTo>
                <a:cubicBezTo>
                  <a:pt x="85386" y="116781"/>
                  <a:pt x="89324" y="120719"/>
                  <a:pt x="94219" y="120719"/>
                </a:cubicBezTo>
                <a:cubicBezTo>
                  <a:pt x="99114" y="120719"/>
                  <a:pt x="103053" y="116781"/>
                  <a:pt x="103053" y="111886"/>
                </a:cubicBezTo>
                <a:lnTo>
                  <a:pt x="103053" y="70665"/>
                </a:lnTo>
                <a:cubicBezTo>
                  <a:pt x="103053" y="65770"/>
                  <a:pt x="99114" y="61832"/>
                  <a:pt x="94219" y="61832"/>
                </a:cubicBezTo>
                <a:close/>
                <a:moveTo>
                  <a:pt x="104046" y="141329"/>
                </a:moveTo>
                <a:cubicBezTo>
                  <a:pt x="104270" y="137682"/>
                  <a:pt x="102451" y="134211"/>
                  <a:pt x="99324" y="132320"/>
                </a:cubicBezTo>
                <a:cubicBezTo>
                  <a:pt x="96197" y="130428"/>
                  <a:pt x="92279" y="130428"/>
                  <a:pt x="89152" y="132320"/>
                </a:cubicBezTo>
                <a:cubicBezTo>
                  <a:pt x="86025" y="134211"/>
                  <a:pt x="84206" y="137682"/>
                  <a:pt x="84429" y="141329"/>
                </a:cubicBezTo>
                <a:cubicBezTo>
                  <a:pt x="84206" y="144977"/>
                  <a:pt x="86025" y="148447"/>
                  <a:pt x="89152" y="150339"/>
                </a:cubicBezTo>
                <a:cubicBezTo>
                  <a:pt x="92279" y="152230"/>
                  <a:pt x="96197" y="152230"/>
                  <a:pt x="99324" y="150339"/>
                </a:cubicBezTo>
                <a:cubicBezTo>
                  <a:pt x="102451" y="148447"/>
                  <a:pt x="104270" y="144977"/>
                  <a:pt x="104046" y="141329"/>
                </a:cubicBezTo>
                <a:close/>
              </a:path>
            </a:pathLst>
          </a:custGeom>
          <a:solidFill>
            <a:srgbClr val="F97316"/>
          </a:solidFill>
          <a:ln/>
        </p:spPr>
      </p:sp>
      <p:sp>
        <p:nvSpPr>
          <p:cNvPr id="15" name="Text 13"/>
          <p:cNvSpPr/>
          <p:nvPr/>
        </p:nvSpPr>
        <p:spPr>
          <a:xfrm>
            <a:off x="876241" y="3674560"/>
            <a:ext cx="1074102" cy="263815"/>
          </a:xfrm>
          <a:prstGeom prst="rect">
            <a:avLst/>
          </a:prstGeom>
          <a:noFill/>
          <a:ln/>
        </p:spPr>
        <p:txBody>
          <a:bodyPr wrap="square" lIns="0" tIns="0" rIns="0" bIns="0" rtlCol="0" anchor="ctr"/>
          <a:lstStyle/>
          <a:p>
            <a:pPr>
              <a:lnSpc>
                <a:spcPct val="130000"/>
              </a:lnSpc>
            </a:pPr>
            <a:r>
              <a:rPr lang="en-US" sz="1335" b="1" dirty="0">
                <a:solidFill>
                  <a:srgbClr val="1E3A8A"/>
                </a:solidFill>
                <a:latin typeface="MiSans" pitchFamily="34" charset="0"/>
                <a:ea typeface="MiSans" pitchFamily="34" charset="-122"/>
                <a:cs typeface="MiSans" pitchFamily="34" charset="-120"/>
              </a:rPr>
              <a:t>Frustrations</a:t>
            </a:r>
            <a:endParaRPr lang="en-US" sz="1600" dirty="0"/>
          </a:p>
        </p:txBody>
      </p:sp>
      <p:sp>
        <p:nvSpPr>
          <p:cNvPr id="16" name="Shape 14"/>
          <p:cNvSpPr/>
          <p:nvPr/>
        </p:nvSpPr>
        <p:spPr>
          <a:xfrm>
            <a:off x="565317" y="4089125"/>
            <a:ext cx="301502" cy="301502"/>
          </a:xfrm>
          <a:custGeom>
            <a:avLst/>
            <a:gdLst/>
            <a:ahLst/>
            <a:cxnLst/>
            <a:rect l="l" t="t" r="r" b="b"/>
            <a:pathLst>
              <a:path w="301502" h="301502">
                <a:moveTo>
                  <a:pt x="75376" y="0"/>
                </a:moveTo>
                <a:lnTo>
                  <a:pt x="226127" y="0"/>
                </a:lnTo>
                <a:cubicBezTo>
                  <a:pt x="267728" y="0"/>
                  <a:pt x="301502" y="33775"/>
                  <a:pt x="301502" y="75376"/>
                </a:cubicBezTo>
                <a:lnTo>
                  <a:pt x="301502" y="226127"/>
                </a:lnTo>
                <a:cubicBezTo>
                  <a:pt x="301502" y="267728"/>
                  <a:pt x="267728" y="301502"/>
                  <a:pt x="226127" y="301502"/>
                </a:cubicBezTo>
                <a:lnTo>
                  <a:pt x="75376" y="301502"/>
                </a:lnTo>
                <a:cubicBezTo>
                  <a:pt x="33775" y="301502"/>
                  <a:pt x="0" y="267728"/>
                  <a:pt x="0" y="226127"/>
                </a:cubicBezTo>
                <a:lnTo>
                  <a:pt x="0" y="75376"/>
                </a:lnTo>
                <a:cubicBezTo>
                  <a:pt x="0" y="33775"/>
                  <a:pt x="33775" y="0"/>
                  <a:pt x="75376" y="0"/>
                </a:cubicBezTo>
                <a:close/>
              </a:path>
            </a:pathLst>
          </a:custGeom>
          <a:solidFill>
            <a:srgbClr val="F97316"/>
          </a:solidFill>
          <a:ln/>
        </p:spPr>
      </p:sp>
      <p:sp>
        <p:nvSpPr>
          <p:cNvPr id="17" name="Text 15"/>
          <p:cNvSpPr/>
          <p:nvPr/>
        </p:nvSpPr>
        <p:spPr>
          <a:xfrm>
            <a:off x="679264" y="4145657"/>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1</a:t>
            </a:r>
            <a:endParaRPr lang="en-US" sz="1600" dirty="0"/>
          </a:p>
        </p:txBody>
      </p:sp>
      <p:sp>
        <p:nvSpPr>
          <p:cNvPr id="18" name="Text 16"/>
          <p:cNvSpPr/>
          <p:nvPr/>
        </p:nvSpPr>
        <p:spPr>
          <a:xfrm>
            <a:off x="979883" y="4051437"/>
            <a:ext cx="1441558"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Jugement personnel</a:t>
            </a:r>
            <a:endParaRPr lang="en-US" sz="1600" dirty="0"/>
          </a:p>
        </p:txBody>
      </p:sp>
      <p:sp>
        <p:nvSpPr>
          <p:cNvPr id="19" name="Shape 17"/>
          <p:cNvSpPr/>
          <p:nvPr/>
        </p:nvSpPr>
        <p:spPr>
          <a:xfrm>
            <a:off x="565317" y="4541379"/>
            <a:ext cx="301502" cy="301502"/>
          </a:xfrm>
          <a:custGeom>
            <a:avLst/>
            <a:gdLst/>
            <a:ahLst/>
            <a:cxnLst/>
            <a:rect l="l" t="t" r="r" b="b"/>
            <a:pathLst>
              <a:path w="301502" h="301502">
                <a:moveTo>
                  <a:pt x="75376" y="0"/>
                </a:moveTo>
                <a:lnTo>
                  <a:pt x="226127" y="0"/>
                </a:lnTo>
                <a:cubicBezTo>
                  <a:pt x="267728" y="0"/>
                  <a:pt x="301502" y="33775"/>
                  <a:pt x="301502" y="75376"/>
                </a:cubicBezTo>
                <a:lnTo>
                  <a:pt x="301502" y="226127"/>
                </a:lnTo>
                <a:cubicBezTo>
                  <a:pt x="301502" y="267728"/>
                  <a:pt x="267728" y="301502"/>
                  <a:pt x="226127" y="301502"/>
                </a:cubicBezTo>
                <a:lnTo>
                  <a:pt x="75376" y="301502"/>
                </a:lnTo>
                <a:cubicBezTo>
                  <a:pt x="33775" y="301502"/>
                  <a:pt x="0" y="267728"/>
                  <a:pt x="0" y="226127"/>
                </a:cubicBezTo>
                <a:lnTo>
                  <a:pt x="0" y="75376"/>
                </a:lnTo>
                <a:cubicBezTo>
                  <a:pt x="0" y="33775"/>
                  <a:pt x="33775" y="0"/>
                  <a:pt x="75376" y="0"/>
                </a:cubicBezTo>
                <a:close/>
              </a:path>
            </a:pathLst>
          </a:custGeom>
          <a:solidFill>
            <a:srgbClr val="F97316"/>
          </a:solidFill>
          <a:ln/>
        </p:spPr>
      </p:sp>
      <p:sp>
        <p:nvSpPr>
          <p:cNvPr id="20" name="Text 18"/>
          <p:cNvSpPr/>
          <p:nvPr/>
        </p:nvSpPr>
        <p:spPr>
          <a:xfrm>
            <a:off x="679264" y="4597910"/>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2</a:t>
            </a:r>
            <a:endParaRPr lang="en-US" sz="1600" dirty="0"/>
          </a:p>
        </p:txBody>
      </p:sp>
      <p:sp>
        <p:nvSpPr>
          <p:cNvPr id="21" name="Text 19"/>
          <p:cNvSpPr/>
          <p:nvPr/>
        </p:nvSpPr>
        <p:spPr>
          <a:xfrm>
            <a:off x="979883" y="4503691"/>
            <a:ext cx="1121212"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Fatigue visuelle</a:t>
            </a:r>
            <a:endParaRPr lang="en-US" sz="1600" dirty="0"/>
          </a:p>
        </p:txBody>
      </p:sp>
      <p:sp>
        <p:nvSpPr>
          <p:cNvPr id="22" name="Shape 20"/>
          <p:cNvSpPr/>
          <p:nvPr/>
        </p:nvSpPr>
        <p:spPr>
          <a:xfrm>
            <a:off x="565317" y="4993632"/>
            <a:ext cx="301502" cy="301502"/>
          </a:xfrm>
          <a:custGeom>
            <a:avLst/>
            <a:gdLst/>
            <a:ahLst/>
            <a:cxnLst/>
            <a:rect l="l" t="t" r="r" b="b"/>
            <a:pathLst>
              <a:path w="301502" h="301502">
                <a:moveTo>
                  <a:pt x="75376" y="0"/>
                </a:moveTo>
                <a:lnTo>
                  <a:pt x="226127" y="0"/>
                </a:lnTo>
                <a:cubicBezTo>
                  <a:pt x="267728" y="0"/>
                  <a:pt x="301502" y="33775"/>
                  <a:pt x="301502" y="75376"/>
                </a:cubicBezTo>
                <a:lnTo>
                  <a:pt x="301502" y="226127"/>
                </a:lnTo>
                <a:cubicBezTo>
                  <a:pt x="301502" y="267728"/>
                  <a:pt x="267728" y="301502"/>
                  <a:pt x="226127" y="301502"/>
                </a:cubicBezTo>
                <a:lnTo>
                  <a:pt x="75376" y="301502"/>
                </a:lnTo>
                <a:cubicBezTo>
                  <a:pt x="33775" y="301502"/>
                  <a:pt x="0" y="267728"/>
                  <a:pt x="0" y="226127"/>
                </a:cubicBezTo>
                <a:lnTo>
                  <a:pt x="0" y="75376"/>
                </a:lnTo>
                <a:cubicBezTo>
                  <a:pt x="0" y="33775"/>
                  <a:pt x="33775" y="0"/>
                  <a:pt x="75376" y="0"/>
                </a:cubicBezTo>
                <a:close/>
              </a:path>
            </a:pathLst>
          </a:custGeom>
          <a:solidFill>
            <a:srgbClr val="F97316"/>
          </a:solidFill>
          <a:ln/>
        </p:spPr>
      </p:sp>
      <p:sp>
        <p:nvSpPr>
          <p:cNvPr id="23" name="Text 21"/>
          <p:cNvSpPr/>
          <p:nvPr/>
        </p:nvSpPr>
        <p:spPr>
          <a:xfrm>
            <a:off x="679264" y="5050164"/>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3</a:t>
            </a:r>
            <a:endParaRPr lang="en-US" sz="1600" dirty="0"/>
          </a:p>
        </p:txBody>
      </p:sp>
      <p:sp>
        <p:nvSpPr>
          <p:cNvPr id="24" name="Text 22"/>
          <p:cNvSpPr/>
          <p:nvPr/>
        </p:nvSpPr>
        <p:spPr>
          <a:xfrm>
            <a:off x="979883" y="4955944"/>
            <a:ext cx="1545199"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Cas limites stressants</a:t>
            </a:r>
            <a:endParaRPr lang="en-US" sz="1600" dirty="0"/>
          </a:p>
        </p:txBody>
      </p:sp>
      <p:sp>
        <p:nvSpPr>
          <p:cNvPr id="25" name="Shape 23"/>
          <p:cNvSpPr/>
          <p:nvPr/>
        </p:nvSpPr>
        <p:spPr>
          <a:xfrm>
            <a:off x="6247782" y="1582887"/>
            <a:ext cx="5568371" cy="678380"/>
          </a:xfrm>
          <a:custGeom>
            <a:avLst/>
            <a:gdLst/>
            <a:ahLst/>
            <a:cxnLst/>
            <a:rect l="l" t="t" r="r" b="b"/>
            <a:pathLst>
              <a:path w="5568371" h="678380">
                <a:moveTo>
                  <a:pt x="150750" y="0"/>
                </a:moveTo>
                <a:lnTo>
                  <a:pt x="5417621" y="0"/>
                </a:lnTo>
                <a:cubicBezTo>
                  <a:pt x="5500878" y="0"/>
                  <a:pt x="5568371" y="67493"/>
                  <a:pt x="5568371" y="150750"/>
                </a:cubicBezTo>
                <a:lnTo>
                  <a:pt x="5568371" y="527631"/>
                </a:lnTo>
                <a:cubicBezTo>
                  <a:pt x="5568371" y="610887"/>
                  <a:pt x="5500878" y="678380"/>
                  <a:pt x="5417621" y="678380"/>
                </a:cubicBezTo>
                <a:lnTo>
                  <a:pt x="150750" y="678380"/>
                </a:lnTo>
                <a:cubicBezTo>
                  <a:pt x="67549" y="678380"/>
                  <a:pt x="0" y="610832"/>
                  <a:pt x="0" y="527631"/>
                </a:cubicBezTo>
                <a:lnTo>
                  <a:pt x="0" y="150750"/>
                </a:lnTo>
                <a:cubicBezTo>
                  <a:pt x="0" y="67549"/>
                  <a:pt x="67549" y="0"/>
                  <a:pt x="150750" y="0"/>
                </a:cubicBezTo>
                <a:close/>
              </a:path>
            </a:pathLst>
          </a:custGeom>
          <a:solidFill>
            <a:srgbClr val="1E3A8A"/>
          </a:solidFill>
          <a:ln/>
        </p:spPr>
      </p:sp>
      <p:sp>
        <p:nvSpPr>
          <p:cNvPr id="26" name="Shape 24"/>
          <p:cNvSpPr/>
          <p:nvPr/>
        </p:nvSpPr>
        <p:spPr>
          <a:xfrm>
            <a:off x="6464486" y="1809014"/>
            <a:ext cx="226127" cy="226127"/>
          </a:xfrm>
          <a:custGeom>
            <a:avLst/>
            <a:gdLst/>
            <a:ahLst/>
            <a:cxnLst/>
            <a:rect l="l" t="t" r="r" b="b"/>
            <a:pathLst>
              <a:path w="226127" h="226127">
                <a:moveTo>
                  <a:pt x="226127" y="42399"/>
                </a:moveTo>
                <a:cubicBezTo>
                  <a:pt x="226127" y="64570"/>
                  <a:pt x="200025" y="97650"/>
                  <a:pt x="188763" y="110855"/>
                </a:cubicBezTo>
                <a:cubicBezTo>
                  <a:pt x="187085" y="112798"/>
                  <a:pt x="184611" y="113549"/>
                  <a:pt x="182359" y="113063"/>
                </a:cubicBezTo>
                <a:lnTo>
                  <a:pt x="141329" y="113063"/>
                </a:lnTo>
                <a:cubicBezTo>
                  <a:pt x="133512" y="113063"/>
                  <a:pt x="127196" y="119379"/>
                  <a:pt x="127196" y="127196"/>
                </a:cubicBezTo>
                <a:cubicBezTo>
                  <a:pt x="127196" y="135014"/>
                  <a:pt x="133512" y="141329"/>
                  <a:pt x="141329" y="141329"/>
                </a:cubicBezTo>
                <a:lnTo>
                  <a:pt x="183728" y="141329"/>
                </a:lnTo>
                <a:cubicBezTo>
                  <a:pt x="207136" y="141329"/>
                  <a:pt x="226127" y="160320"/>
                  <a:pt x="226127" y="183728"/>
                </a:cubicBezTo>
                <a:cubicBezTo>
                  <a:pt x="226127" y="207136"/>
                  <a:pt x="207136" y="226127"/>
                  <a:pt x="183728" y="226127"/>
                </a:cubicBezTo>
                <a:lnTo>
                  <a:pt x="61655" y="226127"/>
                </a:lnTo>
                <a:cubicBezTo>
                  <a:pt x="65497" y="221754"/>
                  <a:pt x="70179" y="216145"/>
                  <a:pt x="74904" y="209874"/>
                </a:cubicBezTo>
                <a:cubicBezTo>
                  <a:pt x="77687" y="206164"/>
                  <a:pt x="80558" y="202101"/>
                  <a:pt x="83296" y="197861"/>
                </a:cubicBezTo>
                <a:lnTo>
                  <a:pt x="183728" y="197861"/>
                </a:lnTo>
                <a:cubicBezTo>
                  <a:pt x="191545" y="197861"/>
                  <a:pt x="197861" y="191545"/>
                  <a:pt x="197861" y="183728"/>
                </a:cubicBezTo>
                <a:cubicBezTo>
                  <a:pt x="197861" y="175911"/>
                  <a:pt x="191545" y="169595"/>
                  <a:pt x="183728" y="169595"/>
                </a:cubicBezTo>
                <a:lnTo>
                  <a:pt x="141329" y="169595"/>
                </a:lnTo>
                <a:cubicBezTo>
                  <a:pt x="117922" y="169595"/>
                  <a:pt x="98930" y="150604"/>
                  <a:pt x="98930" y="127196"/>
                </a:cubicBezTo>
                <a:cubicBezTo>
                  <a:pt x="98930" y="103789"/>
                  <a:pt x="117922" y="84798"/>
                  <a:pt x="141329" y="84798"/>
                </a:cubicBezTo>
                <a:lnTo>
                  <a:pt x="158907" y="84798"/>
                </a:lnTo>
                <a:cubicBezTo>
                  <a:pt x="149632" y="70885"/>
                  <a:pt x="141329" y="54898"/>
                  <a:pt x="141329" y="42399"/>
                </a:cubicBezTo>
                <a:cubicBezTo>
                  <a:pt x="141329" y="18991"/>
                  <a:pt x="160320" y="0"/>
                  <a:pt x="183728" y="0"/>
                </a:cubicBezTo>
                <a:cubicBezTo>
                  <a:pt x="207136" y="0"/>
                  <a:pt x="226127" y="18991"/>
                  <a:pt x="226127" y="42399"/>
                </a:cubicBezTo>
                <a:close/>
                <a:moveTo>
                  <a:pt x="51718" y="216013"/>
                </a:moveTo>
                <a:cubicBezTo>
                  <a:pt x="50039" y="217912"/>
                  <a:pt x="48538" y="219590"/>
                  <a:pt x="47257" y="221004"/>
                </a:cubicBezTo>
                <a:lnTo>
                  <a:pt x="46462" y="221887"/>
                </a:lnTo>
                <a:lnTo>
                  <a:pt x="46374" y="221799"/>
                </a:lnTo>
                <a:cubicBezTo>
                  <a:pt x="43724" y="223830"/>
                  <a:pt x="39926" y="223565"/>
                  <a:pt x="37541" y="221004"/>
                </a:cubicBezTo>
                <a:cubicBezTo>
                  <a:pt x="26411" y="208902"/>
                  <a:pt x="0" y="177766"/>
                  <a:pt x="0" y="155462"/>
                </a:cubicBezTo>
                <a:cubicBezTo>
                  <a:pt x="0" y="132054"/>
                  <a:pt x="18991" y="113063"/>
                  <a:pt x="42399" y="113063"/>
                </a:cubicBezTo>
                <a:cubicBezTo>
                  <a:pt x="65806" y="113063"/>
                  <a:pt x="84798" y="132054"/>
                  <a:pt x="84798" y="155462"/>
                </a:cubicBezTo>
                <a:cubicBezTo>
                  <a:pt x="84798" y="168712"/>
                  <a:pt x="75479" y="185053"/>
                  <a:pt x="65586" y="198700"/>
                </a:cubicBezTo>
                <a:cubicBezTo>
                  <a:pt x="60860" y="205192"/>
                  <a:pt x="56002" y="211066"/>
                  <a:pt x="51983" y="215704"/>
                </a:cubicBezTo>
                <a:lnTo>
                  <a:pt x="51718" y="216013"/>
                </a:lnTo>
                <a:close/>
                <a:moveTo>
                  <a:pt x="56532" y="155462"/>
                </a:moveTo>
                <a:cubicBezTo>
                  <a:pt x="56532" y="147662"/>
                  <a:pt x="50199" y="141329"/>
                  <a:pt x="42399" y="141329"/>
                </a:cubicBezTo>
                <a:cubicBezTo>
                  <a:pt x="34599" y="141329"/>
                  <a:pt x="28266" y="147662"/>
                  <a:pt x="28266" y="155462"/>
                </a:cubicBezTo>
                <a:cubicBezTo>
                  <a:pt x="28266" y="163262"/>
                  <a:pt x="34599" y="169595"/>
                  <a:pt x="42399" y="169595"/>
                </a:cubicBezTo>
                <a:cubicBezTo>
                  <a:pt x="50199" y="169595"/>
                  <a:pt x="56532" y="163262"/>
                  <a:pt x="56532" y="155462"/>
                </a:cubicBezTo>
                <a:close/>
                <a:moveTo>
                  <a:pt x="183728" y="56532"/>
                </a:moveTo>
                <a:cubicBezTo>
                  <a:pt x="191528" y="56532"/>
                  <a:pt x="197861" y="50199"/>
                  <a:pt x="197861" y="42399"/>
                </a:cubicBezTo>
                <a:cubicBezTo>
                  <a:pt x="197861" y="34599"/>
                  <a:pt x="191528" y="28266"/>
                  <a:pt x="183728" y="28266"/>
                </a:cubicBezTo>
                <a:cubicBezTo>
                  <a:pt x="175928" y="28266"/>
                  <a:pt x="169595" y="34599"/>
                  <a:pt x="169595" y="42399"/>
                </a:cubicBezTo>
                <a:cubicBezTo>
                  <a:pt x="169595" y="50199"/>
                  <a:pt x="175928" y="56532"/>
                  <a:pt x="183728" y="56532"/>
                </a:cubicBezTo>
                <a:close/>
              </a:path>
            </a:pathLst>
          </a:custGeom>
          <a:solidFill>
            <a:srgbClr val="FFFFFF"/>
          </a:solidFill>
          <a:ln/>
        </p:spPr>
      </p:sp>
      <p:sp>
        <p:nvSpPr>
          <p:cNvPr id="27" name="Text 25"/>
          <p:cNvSpPr/>
          <p:nvPr/>
        </p:nvSpPr>
        <p:spPr>
          <a:xfrm>
            <a:off x="6831942" y="1771326"/>
            <a:ext cx="1837280" cy="301502"/>
          </a:xfrm>
          <a:prstGeom prst="rect">
            <a:avLst/>
          </a:prstGeom>
          <a:noFill/>
          <a:ln/>
        </p:spPr>
        <p:txBody>
          <a:bodyPr wrap="square" lIns="0" tIns="0" rIns="0" bIns="0" rtlCol="0" anchor="ctr"/>
          <a:lstStyle/>
          <a:p>
            <a:pPr>
              <a:lnSpc>
                <a:spcPct val="110000"/>
              </a:lnSpc>
            </a:pPr>
            <a:r>
              <a:rPr lang="en-US" sz="1781" b="1" dirty="0">
                <a:solidFill>
                  <a:srgbClr val="FFFFFF"/>
                </a:solidFill>
                <a:latin typeface="Noto Sans SC" pitchFamily="34" charset="0"/>
                <a:ea typeface="Noto Sans SC" pitchFamily="34" charset="-122"/>
                <a:cs typeface="Noto Sans SC" pitchFamily="34" charset="-120"/>
              </a:rPr>
              <a:t>Experience Map</a:t>
            </a:r>
            <a:endParaRPr lang="en-US" sz="1600" dirty="0"/>
          </a:p>
        </p:txBody>
      </p:sp>
      <p:sp>
        <p:nvSpPr>
          <p:cNvPr id="28" name="Shape 26"/>
          <p:cNvSpPr/>
          <p:nvPr/>
        </p:nvSpPr>
        <p:spPr>
          <a:xfrm>
            <a:off x="6247782" y="2412019"/>
            <a:ext cx="5568371" cy="3382479"/>
          </a:xfrm>
          <a:custGeom>
            <a:avLst/>
            <a:gdLst/>
            <a:ahLst/>
            <a:cxnLst/>
            <a:rect l="l" t="t" r="r" b="b"/>
            <a:pathLst>
              <a:path w="5568371" h="3382479">
                <a:moveTo>
                  <a:pt x="150757" y="0"/>
                </a:moveTo>
                <a:lnTo>
                  <a:pt x="5417614" y="0"/>
                </a:lnTo>
                <a:cubicBezTo>
                  <a:pt x="5500875" y="0"/>
                  <a:pt x="5568371" y="67496"/>
                  <a:pt x="5568371" y="150757"/>
                </a:cubicBezTo>
                <a:lnTo>
                  <a:pt x="5568371" y="3231722"/>
                </a:lnTo>
                <a:cubicBezTo>
                  <a:pt x="5568371" y="3314983"/>
                  <a:pt x="5500875" y="3382479"/>
                  <a:pt x="5417614" y="3382479"/>
                </a:cubicBezTo>
                <a:lnTo>
                  <a:pt x="150757" y="3382479"/>
                </a:lnTo>
                <a:cubicBezTo>
                  <a:pt x="67496" y="3382479"/>
                  <a:pt x="0" y="3314983"/>
                  <a:pt x="0" y="3231722"/>
                </a:cubicBezTo>
                <a:lnTo>
                  <a:pt x="0" y="150757"/>
                </a:lnTo>
                <a:cubicBezTo>
                  <a:pt x="0" y="67552"/>
                  <a:pt x="67552" y="0"/>
                  <a:pt x="150757" y="0"/>
                </a:cubicBezTo>
                <a:close/>
              </a:path>
            </a:pathLst>
          </a:custGeom>
          <a:solidFill>
            <a:srgbClr val="F3F4F6"/>
          </a:solidFill>
          <a:ln/>
        </p:spPr>
      </p:sp>
      <p:sp>
        <p:nvSpPr>
          <p:cNvPr id="29" name="Shape 27"/>
          <p:cNvSpPr/>
          <p:nvPr/>
        </p:nvSpPr>
        <p:spPr>
          <a:xfrm>
            <a:off x="6436221" y="2600457"/>
            <a:ext cx="452253" cy="452253"/>
          </a:xfrm>
          <a:custGeom>
            <a:avLst/>
            <a:gdLst/>
            <a:ahLst/>
            <a:cxnLst/>
            <a:rect l="l" t="t" r="r" b="b"/>
            <a:pathLst>
              <a:path w="452253" h="452253">
                <a:moveTo>
                  <a:pt x="226127" y="0"/>
                </a:moveTo>
                <a:lnTo>
                  <a:pt x="226127" y="0"/>
                </a:lnTo>
                <a:cubicBezTo>
                  <a:pt x="351013" y="0"/>
                  <a:pt x="452253" y="101240"/>
                  <a:pt x="452253" y="226127"/>
                </a:cubicBezTo>
                <a:lnTo>
                  <a:pt x="452253" y="226127"/>
                </a:lnTo>
                <a:cubicBezTo>
                  <a:pt x="452253" y="351013"/>
                  <a:pt x="351013" y="452253"/>
                  <a:pt x="226127" y="452253"/>
                </a:cubicBezTo>
                <a:lnTo>
                  <a:pt x="226127" y="452253"/>
                </a:lnTo>
                <a:cubicBezTo>
                  <a:pt x="101240" y="452253"/>
                  <a:pt x="0" y="351013"/>
                  <a:pt x="0" y="226127"/>
                </a:cubicBezTo>
                <a:lnTo>
                  <a:pt x="0" y="226127"/>
                </a:lnTo>
                <a:cubicBezTo>
                  <a:pt x="0" y="101240"/>
                  <a:pt x="101240" y="0"/>
                  <a:pt x="226127" y="0"/>
                </a:cubicBezTo>
                <a:close/>
              </a:path>
            </a:pathLst>
          </a:custGeom>
          <a:solidFill>
            <a:srgbClr val="6B7280"/>
          </a:solidFill>
          <a:ln/>
        </p:spPr>
      </p:sp>
      <p:sp>
        <p:nvSpPr>
          <p:cNvPr id="30" name="Text 28"/>
          <p:cNvSpPr/>
          <p:nvPr/>
        </p:nvSpPr>
        <p:spPr>
          <a:xfrm>
            <a:off x="6620390" y="2713521"/>
            <a:ext cx="160173" cy="226127"/>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1</a:t>
            </a:r>
            <a:endParaRPr lang="en-US" sz="1600" dirty="0"/>
          </a:p>
        </p:txBody>
      </p:sp>
      <p:sp>
        <p:nvSpPr>
          <p:cNvPr id="31" name="Text 29"/>
          <p:cNvSpPr/>
          <p:nvPr/>
        </p:nvSpPr>
        <p:spPr>
          <a:xfrm>
            <a:off x="7039225" y="2713521"/>
            <a:ext cx="4126813"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Réception lot</a:t>
            </a:r>
            <a:endParaRPr lang="en-US" sz="1600" dirty="0"/>
          </a:p>
        </p:txBody>
      </p:sp>
      <p:sp>
        <p:nvSpPr>
          <p:cNvPr id="32" name="Text 30"/>
          <p:cNvSpPr/>
          <p:nvPr/>
        </p:nvSpPr>
        <p:spPr>
          <a:xfrm>
            <a:off x="11240531" y="2656989"/>
            <a:ext cx="527629" cy="339190"/>
          </a:xfrm>
          <a:prstGeom prst="rect">
            <a:avLst/>
          </a:prstGeom>
          <a:noFill/>
          <a:ln/>
        </p:spPr>
        <p:txBody>
          <a:bodyPr wrap="square" lIns="0" tIns="0" rIns="0" bIns="0" rtlCol="0" anchor="ctr"/>
          <a:lstStyle/>
          <a:p>
            <a:pPr>
              <a:lnSpc>
                <a:spcPct val="100000"/>
              </a:lnSpc>
            </a:pPr>
            <a:r>
              <a:rPr lang="en-US" sz="2226"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33" name="Shape 31"/>
          <p:cNvSpPr/>
          <p:nvPr/>
        </p:nvSpPr>
        <p:spPr>
          <a:xfrm>
            <a:off x="6436221" y="3125731"/>
            <a:ext cx="452253" cy="452253"/>
          </a:xfrm>
          <a:custGeom>
            <a:avLst/>
            <a:gdLst/>
            <a:ahLst/>
            <a:cxnLst/>
            <a:rect l="l" t="t" r="r" b="b"/>
            <a:pathLst>
              <a:path w="452253" h="452253">
                <a:moveTo>
                  <a:pt x="226127" y="0"/>
                </a:moveTo>
                <a:lnTo>
                  <a:pt x="226127" y="0"/>
                </a:lnTo>
                <a:cubicBezTo>
                  <a:pt x="351013" y="0"/>
                  <a:pt x="452253" y="101240"/>
                  <a:pt x="452253" y="226127"/>
                </a:cubicBezTo>
                <a:lnTo>
                  <a:pt x="452253" y="226127"/>
                </a:lnTo>
                <a:cubicBezTo>
                  <a:pt x="452253" y="351013"/>
                  <a:pt x="351013" y="452253"/>
                  <a:pt x="226127" y="452253"/>
                </a:cubicBezTo>
                <a:lnTo>
                  <a:pt x="226127" y="452253"/>
                </a:lnTo>
                <a:cubicBezTo>
                  <a:pt x="101240" y="452253"/>
                  <a:pt x="0" y="351013"/>
                  <a:pt x="0" y="226127"/>
                </a:cubicBezTo>
                <a:lnTo>
                  <a:pt x="0" y="226127"/>
                </a:lnTo>
                <a:cubicBezTo>
                  <a:pt x="0" y="101240"/>
                  <a:pt x="101240" y="0"/>
                  <a:pt x="226127" y="0"/>
                </a:cubicBezTo>
                <a:close/>
              </a:path>
            </a:pathLst>
          </a:custGeom>
          <a:solidFill>
            <a:srgbClr val="10B981"/>
          </a:solidFill>
          <a:ln/>
        </p:spPr>
      </p:sp>
      <p:sp>
        <p:nvSpPr>
          <p:cNvPr id="34" name="Text 32"/>
          <p:cNvSpPr/>
          <p:nvPr/>
        </p:nvSpPr>
        <p:spPr>
          <a:xfrm>
            <a:off x="6620390" y="3238794"/>
            <a:ext cx="160173" cy="226127"/>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2</a:t>
            </a:r>
            <a:endParaRPr lang="en-US" sz="1600" dirty="0"/>
          </a:p>
        </p:txBody>
      </p:sp>
      <p:sp>
        <p:nvSpPr>
          <p:cNvPr id="35" name="Text 33"/>
          <p:cNvSpPr/>
          <p:nvPr/>
        </p:nvSpPr>
        <p:spPr>
          <a:xfrm>
            <a:off x="7039225" y="3144575"/>
            <a:ext cx="4126813"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Contrôle dimensionnel</a:t>
            </a:r>
            <a:endParaRPr lang="en-US" sz="1600" dirty="0"/>
          </a:p>
        </p:txBody>
      </p:sp>
      <p:sp>
        <p:nvSpPr>
          <p:cNvPr id="36" name="Text 34"/>
          <p:cNvSpPr/>
          <p:nvPr/>
        </p:nvSpPr>
        <p:spPr>
          <a:xfrm>
            <a:off x="7039225" y="3370702"/>
            <a:ext cx="4117391" cy="188439"/>
          </a:xfrm>
          <a:prstGeom prst="rect">
            <a:avLst/>
          </a:prstGeom>
          <a:noFill/>
          <a:ln/>
        </p:spPr>
        <p:txBody>
          <a:bodyPr wrap="square" lIns="0" tIns="0" rIns="0" bIns="0" rtlCol="0" anchor="ctr"/>
          <a:lstStyle/>
          <a:p>
            <a:pPr>
              <a:lnSpc>
                <a:spcPct val="120000"/>
              </a:lnSpc>
            </a:pPr>
            <a:r>
              <a:rPr lang="en-US" sz="1039" dirty="0">
                <a:solidFill>
                  <a:srgbClr val="6B7280"/>
                </a:solidFill>
                <a:latin typeface="MiSans" pitchFamily="34" charset="0"/>
                <a:ea typeface="MiSans" pitchFamily="34" charset="-122"/>
                <a:cs typeface="MiSans" pitchFamily="34" charset="-120"/>
              </a:rPr>
              <a:t>Outillé, objectif</a:t>
            </a:r>
            <a:endParaRPr lang="en-US" sz="1600" dirty="0"/>
          </a:p>
        </p:txBody>
      </p:sp>
      <p:sp>
        <p:nvSpPr>
          <p:cNvPr id="37" name="Text 35"/>
          <p:cNvSpPr/>
          <p:nvPr/>
        </p:nvSpPr>
        <p:spPr>
          <a:xfrm>
            <a:off x="11240531" y="3182263"/>
            <a:ext cx="527629" cy="339190"/>
          </a:xfrm>
          <a:prstGeom prst="rect">
            <a:avLst/>
          </a:prstGeom>
          <a:noFill/>
          <a:ln/>
        </p:spPr>
        <p:txBody>
          <a:bodyPr wrap="square" lIns="0" tIns="0" rIns="0" bIns="0" rtlCol="0" anchor="ctr"/>
          <a:lstStyle/>
          <a:p>
            <a:pPr>
              <a:lnSpc>
                <a:spcPct val="100000"/>
              </a:lnSpc>
            </a:pPr>
            <a:r>
              <a:rPr lang="en-US" sz="2226"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38" name="Shape 36"/>
          <p:cNvSpPr/>
          <p:nvPr/>
        </p:nvSpPr>
        <p:spPr>
          <a:xfrm>
            <a:off x="6360845" y="3651005"/>
            <a:ext cx="5342244" cy="678380"/>
          </a:xfrm>
          <a:custGeom>
            <a:avLst/>
            <a:gdLst/>
            <a:ahLst/>
            <a:cxnLst/>
            <a:rect l="l" t="t" r="r" b="b"/>
            <a:pathLst>
              <a:path w="5342244" h="678380">
                <a:moveTo>
                  <a:pt x="113066" y="0"/>
                </a:moveTo>
                <a:lnTo>
                  <a:pt x="5229179" y="0"/>
                </a:lnTo>
                <a:cubicBezTo>
                  <a:pt x="5291623" y="0"/>
                  <a:pt x="5342244" y="50621"/>
                  <a:pt x="5342244" y="113066"/>
                </a:cubicBezTo>
                <a:lnTo>
                  <a:pt x="5342244" y="565315"/>
                </a:lnTo>
                <a:cubicBezTo>
                  <a:pt x="5342244" y="627759"/>
                  <a:pt x="5291623" y="678380"/>
                  <a:pt x="5229179" y="678380"/>
                </a:cubicBezTo>
                <a:lnTo>
                  <a:pt x="113066" y="678380"/>
                </a:lnTo>
                <a:cubicBezTo>
                  <a:pt x="50621" y="678380"/>
                  <a:pt x="0" y="627759"/>
                  <a:pt x="0" y="565315"/>
                </a:cubicBezTo>
                <a:lnTo>
                  <a:pt x="0" y="113066"/>
                </a:lnTo>
                <a:cubicBezTo>
                  <a:pt x="0" y="50663"/>
                  <a:pt x="50663" y="0"/>
                  <a:pt x="113066" y="0"/>
                </a:cubicBezTo>
                <a:close/>
              </a:path>
            </a:pathLst>
          </a:custGeom>
          <a:solidFill>
            <a:srgbClr val="F97316">
              <a:alpha val="10196"/>
            </a:srgbClr>
          </a:solidFill>
          <a:ln/>
        </p:spPr>
      </p:sp>
      <p:sp>
        <p:nvSpPr>
          <p:cNvPr id="39" name="Shape 37"/>
          <p:cNvSpPr/>
          <p:nvPr/>
        </p:nvSpPr>
        <p:spPr>
          <a:xfrm>
            <a:off x="6473908" y="3764068"/>
            <a:ext cx="452253" cy="452253"/>
          </a:xfrm>
          <a:custGeom>
            <a:avLst/>
            <a:gdLst/>
            <a:ahLst/>
            <a:cxnLst/>
            <a:rect l="l" t="t" r="r" b="b"/>
            <a:pathLst>
              <a:path w="452253" h="452253">
                <a:moveTo>
                  <a:pt x="226127" y="0"/>
                </a:moveTo>
                <a:lnTo>
                  <a:pt x="226127" y="0"/>
                </a:lnTo>
                <a:cubicBezTo>
                  <a:pt x="351013" y="0"/>
                  <a:pt x="452253" y="101240"/>
                  <a:pt x="452253" y="226127"/>
                </a:cubicBezTo>
                <a:lnTo>
                  <a:pt x="452253" y="226127"/>
                </a:lnTo>
                <a:cubicBezTo>
                  <a:pt x="452253" y="351013"/>
                  <a:pt x="351013" y="452253"/>
                  <a:pt x="226127" y="452253"/>
                </a:cubicBezTo>
                <a:lnTo>
                  <a:pt x="226127" y="452253"/>
                </a:lnTo>
                <a:cubicBezTo>
                  <a:pt x="101240" y="452253"/>
                  <a:pt x="0" y="351013"/>
                  <a:pt x="0" y="226127"/>
                </a:cubicBezTo>
                <a:lnTo>
                  <a:pt x="0" y="226127"/>
                </a:lnTo>
                <a:cubicBezTo>
                  <a:pt x="0" y="101240"/>
                  <a:pt x="101240" y="0"/>
                  <a:pt x="226127" y="0"/>
                </a:cubicBezTo>
                <a:close/>
              </a:path>
            </a:pathLst>
          </a:custGeom>
          <a:solidFill>
            <a:srgbClr val="F97316"/>
          </a:solidFill>
          <a:ln/>
        </p:spPr>
      </p:sp>
      <p:sp>
        <p:nvSpPr>
          <p:cNvPr id="40" name="Text 38"/>
          <p:cNvSpPr/>
          <p:nvPr/>
        </p:nvSpPr>
        <p:spPr>
          <a:xfrm>
            <a:off x="6658078" y="3877131"/>
            <a:ext cx="160173" cy="226127"/>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3</a:t>
            </a:r>
            <a:endParaRPr lang="en-US" sz="1600" dirty="0"/>
          </a:p>
        </p:txBody>
      </p:sp>
      <p:sp>
        <p:nvSpPr>
          <p:cNvPr id="41" name="Text 39"/>
          <p:cNvSpPr/>
          <p:nvPr/>
        </p:nvSpPr>
        <p:spPr>
          <a:xfrm>
            <a:off x="7076913" y="3782912"/>
            <a:ext cx="3024445" cy="226127"/>
          </a:xfrm>
          <a:prstGeom prst="rect">
            <a:avLst/>
          </a:prstGeom>
          <a:noFill/>
          <a:ln/>
        </p:spPr>
        <p:txBody>
          <a:bodyPr wrap="square" lIns="0" tIns="0" rIns="0" bIns="0" rtlCol="0" anchor="ctr"/>
          <a:lstStyle/>
          <a:p>
            <a:pPr>
              <a:lnSpc>
                <a:spcPct val="130000"/>
              </a:lnSpc>
            </a:pPr>
            <a:r>
              <a:rPr lang="en-US" sz="1187" b="1" dirty="0">
                <a:solidFill>
                  <a:srgbClr val="F97316"/>
                </a:solidFill>
                <a:latin typeface="MiSans" pitchFamily="34" charset="0"/>
                <a:ea typeface="MiSans" pitchFamily="34" charset="-122"/>
                <a:cs typeface="MiSans" pitchFamily="34" charset="-120"/>
              </a:rPr>
              <a:t>Contrôle visuel</a:t>
            </a:r>
            <a:endParaRPr lang="en-US" sz="1600" dirty="0"/>
          </a:p>
        </p:txBody>
      </p:sp>
      <p:sp>
        <p:nvSpPr>
          <p:cNvPr id="42" name="Text 40"/>
          <p:cNvSpPr/>
          <p:nvPr/>
        </p:nvSpPr>
        <p:spPr>
          <a:xfrm>
            <a:off x="7076913" y="4009039"/>
            <a:ext cx="3015023" cy="188439"/>
          </a:xfrm>
          <a:prstGeom prst="rect">
            <a:avLst/>
          </a:prstGeom>
          <a:noFill/>
          <a:ln/>
        </p:spPr>
        <p:txBody>
          <a:bodyPr wrap="square" lIns="0" tIns="0" rIns="0" bIns="0" rtlCol="0" anchor="ctr"/>
          <a:lstStyle/>
          <a:p>
            <a:pPr>
              <a:lnSpc>
                <a:spcPct val="120000"/>
              </a:lnSpc>
            </a:pPr>
            <a:r>
              <a:rPr lang="en-US" sz="1039" dirty="0">
                <a:solidFill>
                  <a:srgbClr val="374151"/>
                </a:solidFill>
                <a:latin typeface="MiSans" pitchFamily="34" charset="0"/>
                <a:ea typeface="MiSans" pitchFamily="34" charset="-122"/>
                <a:cs typeface="MiSans" pitchFamily="34" charset="-120"/>
              </a:rPr>
              <a:t>Subjectif, fatigue</a:t>
            </a:r>
            <a:endParaRPr lang="en-US" sz="1600" dirty="0"/>
          </a:p>
        </p:txBody>
      </p:sp>
      <p:sp>
        <p:nvSpPr>
          <p:cNvPr id="43" name="Shape 41"/>
          <p:cNvSpPr/>
          <p:nvPr/>
        </p:nvSpPr>
        <p:spPr>
          <a:xfrm>
            <a:off x="10178942" y="3839444"/>
            <a:ext cx="876241" cy="301502"/>
          </a:xfrm>
          <a:custGeom>
            <a:avLst/>
            <a:gdLst/>
            <a:ahLst/>
            <a:cxnLst/>
            <a:rect l="l" t="t" r="r" b="b"/>
            <a:pathLst>
              <a:path w="876241" h="301502">
                <a:moveTo>
                  <a:pt x="150751" y="0"/>
                </a:moveTo>
                <a:lnTo>
                  <a:pt x="725490" y="0"/>
                </a:lnTo>
                <a:cubicBezTo>
                  <a:pt x="808692" y="0"/>
                  <a:pt x="876241" y="67549"/>
                  <a:pt x="876241" y="150751"/>
                </a:cubicBezTo>
                <a:lnTo>
                  <a:pt x="876241" y="150751"/>
                </a:lnTo>
                <a:cubicBezTo>
                  <a:pt x="876241" y="233953"/>
                  <a:pt x="808692" y="301502"/>
                  <a:pt x="725490" y="301502"/>
                </a:cubicBezTo>
                <a:lnTo>
                  <a:pt x="150751" y="301502"/>
                </a:lnTo>
                <a:cubicBezTo>
                  <a:pt x="67549" y="301502"/>
                  <a:pt x="0" y="233953"/>
                  <a:pt x="0" y="150751"/>
                </a:cubicBezTo>
                <a:lnTo>
                  <a:pt x="0" y="150751"/>
                </a:lnTo>
                <a:cubicBezTo>
                  <a:pt x="0" y="67549"/>
                  <a:pt x="67549" y="0"/>
                  <a:pt x="150751" y="0"/>
                </a:cubicBezTo>
                <a:close/>
              </a:path>
            </a:pathLst>
          </a:custGeom>
          <a:solidFill>
            <a:srgbClr val="F97316"/>
          </a:solidFill>
          <a:ln/>
        </p:spPr>
      </p:sp>
      <p:sp>
        <p:nvSpPr>
          <p:cNvPr id="44" name="Text 42"/>
          <p:cNvSpPr/>
          <p:nvPr/>
        </p:nvSpPr>
        <p:spPr>
          <a:xfrm>
            <a:off x="10292005" y="3933663"/>
            <a:ext cx="703554" cy="131907"/>
          </a:xfrm>
          <a:prstGeom prst="rect">
            <a:avLst/>
          </a:prstGeom>
          <a:noFill/>
          <a:ln/>
        </p:spPr>
        <p:txBody>
          <a:bodyPr wrap="square" lIns="0" tIns="0" rIns="0" bIns="0" rtlCol="0" anchor="ctr"/>
          <a:lstStyle/>
          <a:p>
            <a:pPr>
              <a:lnSpc>
                <a:spcPct val="110000"/>
              </a:lnSpc>
            </a:pPr>
            <a:r>
              <a:rPr lang="en-US" sz="890" b="1" dirty="0">
                <a:solidFill>
                  <a:srgbClr val="FFFFFF"/>
                </a:solidFill>
                <a:latin typeface="MiSans" pitchFamily="34" charset="0"/>
                <a:ea typeface="MiSans" pitchFamily="34" charset="-122"/>
                <a:cs typeface="MiSans" pitchFamily="34" charset="-120"/>
              </a:rPr>
              <a:t>PAIN POINT</a:t>
            </a:r>
            <a:endParaRPr lang="en-US" sz="1600" dirty="0"/>
          </a:p>
        </p:txBody>
      </p:sp>
      <p:sp>
        <p:nvSpPr>
          <p:cNvPr id="45" name="Text 43"/>
          <p:cNvSpPr/>
          <p:nvPr/>
        </p:nvSpPr>
        <p:spPr>
          <a:xfrm>
            <a:off x="11202843" y="3820600"/>
            <a:ext cx="527629" cy="339190"/>
          </a:xfrm>
          <a:prstGeom prst="rect">
            <a:avLst/>
          </a:prstGeom>
          <a:noFill/>
          <a:ln/>
        </p:spPr>
        <p:txBody>
          <a:bodyPr wrap="square" lIns="0" tIns="0" rIns="0" bIns="0" rtlCol="0" anchor="ctr"/>
          <a:lstStyle/>
          <a:p>
            <a:pPr>
              <a:lnSpc>
                <a:spcPct val="100000"/>
              </a:lnSpc>
            </a:pPr>
            <a:r>
              <a:rPr lang="en-US" sz="2226"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46" name="Shape 44"/>
          <p:cNvSpPr/>
          <p:nvPr/>
        </p:nvSpPr>
        <p:spPr>
          <a:xfrm>
            <a:off x="6360845" y="4402405"/>
            <a:ext cx="5342244" cy="678380"/>
          </a:xfrm>
          <a:custGeom>
            <a:avLst/>
            <a:gdLst/>
            <a:ahLst/>
            <a:cxnLst/>
            <a:rect l="l" t="t" r="r" b="b"/>
            <a:pathLst>
              <a:path w="5342244" h="678380">
                <a:moveTo>
                  <a:pt x="113066" y="0"/>
                </a:moveTo>
                <a:lnTo>
                  <a:pt x="5229179" y="0"/>
                </a:lnTo>
                <a:cubicBezTo>
                  <a:pt x="5291623" y="0"/>
                  <a:pt x="5342244" y="50621"/>
                  <a:pt x="5342244" y="113066"/>
                </a:cubicBezTo>
                <a:lnTo>
                  <a:pt x="5342244" y="565315"/>
                </a:lnTo>
                <a:cubicBezTo>
                  <a:pt x="5342244" y="627759"/>
                  <a:pt x="5291623" y="678380"/>
                  <a:pt x="5229179" y="678380"/>
                </a:cubicBezTo>
                <a:lnTo>
                  <a:pt x="113066" y="678380"/>
                </a:lnTo>
                <a:cubicBezTo>
                  <a:pt x="50621" y="678380"/>
                  <a:pt x="0" y="627759"/>
                  <a:pt x="0" y="565315"/>
                </a:cubicBezTo>
                <a:lnTo>
                  <a:pt x="0" y="113066"/>
                </a:lnTo>
                <a:cubicBezTo>
                  <a:pt x="0" y="50663"/>
                  <a:pt x="50663" y="0"/>
                  <a:pt x="113066" y="0"/>
                </a:cubicBezTo>
                <a:close/>
              </a:path>
            </a:pathLst>
          </a:custGeom>
          <a:solidFill>
            <a:srgbClr val="F97316">
              <a:alpha val="10196"/>
            </a:srgbClr>
          </a:solidFill>
          <a:ln/>
        </p:spPr>
      </p:sp>
      <p:sp>
        <p:nvSpPr>
          <p:cNvPr id="47" name="Shape 45"/>
          <p:cNvSpPr/>
          <p:nvPr/>
        </p:nvSpPr>
        <p:spPr>
          <a:xfrm>
            <a:off x="6473908" y="4515468"/>
            <a:ext cx="452253" cy="452253"/>
          </a:xfrm>
          <a:custGeom>
            <a:avLst/>
            <a:gdLst/>
            <a:ahLst/>
            <a:cxnLst/>
            <a:rect l="l" t="t" r="r" b="b"/>
            <a:pathLst>
              <a:path w="452253" h="452253">
                <a:moveTo>
                  <a:pt x="226127" y="0"/>
                </a:moveTo>
                <a:lnTo>
                  <a:pt x="226127" y="0"/>
                </a:lnTo>
                <a:cubicBezTo>
                  <a:pt x="351013" y="0"/>
                  <a:pt x="452253" y="101240"/>
                  <a:pt x="452253" y="226127"/>
                </a:cubicBezTo>
                <a:lnTo>
                  <a:pt x="452253" y="226127"/>
                </a:lnTo>
                <a:cubicBezTo>
                  <a:pt x="452253" y="351013"/>
                  <a:pt x="351013" y="452253"/>
                  <a:pt x="226127" y="452253"/>
                </a:cubicBezTo>
                <a:lnTo>
                  <a:pt x="226127" y="452253"/>
                </a:lnTo>
                <a:cubicBezTo>
                  <a:pt x="101240" y="452253"/>
                  <a:pt x="0" y="351013"/>
                  <a:pt x="0" y="226127"/>
                </a:cubicBezTo>
                <a:lnTo>
                  <a:pt x="0" y="226127"/>
                </a:lnTo>
                <a:cubicBezTo>
                  <a:pt x="0" y="101240"/>
                  <a:pt x="101240" y="0"/>
                  <a:pt x="226127" y="0"/>
                </a:cubicBezTo>
                <a:close/>
              </a:path>
            </a:pathLst>
          </a:custGeom>
          <a:solidFill>
            <a:srgbClr val="F97316"/>
          </a:solidFill>
          <a:ln/>
        </p:spPr>
      </p:sp>
      <p:sp>
        <p:nvSpPr>
          <p:cNvPr id="48" name="Text 46"/>
          <p:cNvSpPr/>
          <p:nvPr/>
        </p:nvSpPr>
        <p:spPr>
          <a:xfrm>
            <a:off x="6658078" y="4628532"/>
            <a:ext cx="160173" cy="226127"/>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4</a:t>
            </a:r>
            <a:endParaRPr lang="en-US" sz="1600" dirty="0"/>
          </a:p>
        </p:txBody>
      </p:sp>
      <p:sp>
        <p:nvSpPr>
          <p:cNvPr id="49" name="Text 47"/>
          <p:cNvSpPr/>
          <p:nvPr/>
        </p:nvSpPr>
        <p:spPr>
          <a:xfrm>
            <a:off x="7076913" y="4534312"/>
            <a:ext cx="3024445" cy="226127"/>
          </a:xfrm>
          <a:prstGeom prst="rect">
            <a:avLst/>
          </a:prstGeom>
          <a:noFill/>
          <a:ln/>
        </p:spPr>
        <p:txBody>
          <a:bodyPr wrap="square" lIns="0" tIns="0" rIns="0" bIns="0" rtlCol="0" anchor="ctr"/>
          <a:lstStyle/>
          <a:p>
            <a:pPr>
              <a:lnSpc>
                <a:spcPct val="130000"/>
              </a:lnSpc>
            </a:pPr>
            <a:r>
              <a:rPr lang="en-US" sz="1187" b="1" dirty="0">
                <a:solidFill>
                  <a:srgbClr val="F97316"/>
                </a:solidFill>
                <a:latin typeface="MiSans" pitchFamily="34" charset="0"/>
                <a:ea typeface="MiSans" pitchFamily="34" charset="-122"/>
                <a:cs typeface="MiSans" pitchFamily="34" charset="-120"/>
              </a:rPr>
              <a:t>Décision conformité</a:t>
            </a:r>
            <a:endParaRPr lang="en-US" sz="1600" dirty="0"/>
          </a:p>
        </p:txBody>
      </p:sp>
      <p:sp>
        <p:nvSpPr>
          <p:cNvPr id="50" name="Text 48"/>
          <p:cNvSpPr/>
          <p:nvPr/>
        </p:nvSpPr>
        <p:spPr>
          <a:xfrm>
            <a:off x="7076913" y="4760439"/>
            <a:ext cx="3015023" cy="188439"/>
          </a:xfrm>
          <a:prstGeom prst="rect">
            <a:avLst/>
          </a:prstGeom>
          <a:noFill/>
          <a:ln/>
        </p:spPr>
        <p:txBody>
          <a:bodyPr wrap="square" lIns="0" tIns="0" rIns="0" bIns="0" rtlCol="0" anchor="ctr"/>
          <a:lstStyle/>
          <a:p>
            <a:pPr>
              <a:lnSpc>
                <a:spcPct val="120000"/>
              </a:lnSpc>
            </a:pPr>
            <a:r>
              <a:rPr lang="en-US" sz="1039" dirty="0">
                <a:solidFill>
                  <a:srgbClr val="374151"/>
                </a:solidFill>
                <a:latin typeface="MiSans" pitchFamily="34" charset="0"/>
                <a:ea typeface="MiSans" pitchFamily="34" charset="-122"/>
                <a:cs typeface="MiSans" pitchFamily="34" charset="-120"/>
              </a:rPr>
              <a:t>Responsabilité</a:t>
            </a:r>
            <a:endParaRPr lang="en-US" sz="1600" dirty="0"/>
          </a:p>
        </p:txBody>
      </p:sp>
      <p:sp>
        <p:nvSpPr>
          <p:cNvPr id="51" name="Shape 49"/>
          <p:cNvSpPr/>
          <p:nvPr/>
        </p:nvSpPr>
        <p:spPr>
          <a:xfrm>
            <a:off x="10178942" y="4590844"/>
            <a:ext cx="876241" cy="301502"/>
          </a:xfrm>
          <a:custGeom>
            <a:avLst/>
            <a:gdLst/>
            <a:ahLst/>
            <a:cxnLst/>
            <a:rect l="l" t="t" r="r" b="b"/>
            <a:pathLst>
              <a:path w="876241" h="301502">
                <a:moveTo>
                  <a:pt x="150751" y="0"/>
                </a:moveTo>
                <a:lnTo>
                  <a:pt x="725490" y="0"/>
                </a:lnTo>
                <a:cubicBezTo>
                  <a:pt x="808692" y="0"/>
                  <a:pt x="876241" y="67549"/>
                  <a:pt x="876241" y="150751"/>
                </a:cubicBezTo>
                <a:lnTo>
                  <a:pt x="876241" y="150751"/>
                </a:lnTo>
                <a:cubicBezTo>
                  <a:pt x="876241" y="233953"/>
                  <a:pt x="808692" y="301502"/>
                  <a:pt x="725490" y="301502"/>
                </a:cubicBezTo>
                <a:lnTo>
                  <a:pt x="150751" y="301502"/>
                </a:lnTo>
                <a:cubicBezTo>
                  <a:pt x="67549" y="301502"/>
                  <a:pt x="0" y="233953"/>
                  <a:pt x="0" y="150751"/>
                </a:cubicBezTo>
                <a:lnTo>
                  <a:pt x="0" y="150751"/>
                </a:lnTo>
                <a:cubicBezTo>
                  <a:pt x="0" y="67549"/>
                  <a:pt x="67549" y="0"/>
                  <a:pt x="150751" y="0"/>
                </a:cubicBezTo>
                <a:close/>
              </a:path>
            </a:pathLst>
          </a:custGeom>
          <a:solidFill>
            <a:srgbClr val="F97316"/>
          </a:solidFill>
          <a:ln/>
        </p:spPr>
      </p:sp>
      <p:sp>
        <p:nvSpPr>
          <p:cNvPr id="52" name="Text 50"/>
          <p:cNvSpPr/>
          <p:nvPr/>
        </p:nvSpPr>
        <p:spPr>
          <a:xfrm>
            <a:off x="10292005" y="4685063"/>
            <a:ext cx="703554" cy="131907"/>
          </a:xfrm>
          <a:prstGeom prst="rect">
            <a:avLst/>
          </a:prstGeom>
          <a:noFill/>
          <a:ln/>
        </p:spPr>
        <p:txBody>
          <a:bodyPr wrap="square" lIns="0" tIns="0" rIns="0" bIns="0" rtlCol="0" anchor="ctr"/>
          <a:lstStyle/>
          <a:p>
            <a:pPr>
              <a:lnSpc>
                <a:spcPct val="110000"/>
              </a:lnSpc>
            </a:pPr>
            <a:r>
              <a:rPr lang="en-US" sz="890" b="1" dirty="0">
                <a:solidFill>
                  <a:srgbClr val="FFFFFF"/>
                </a:solidFill>
                <a:latin typeface="MiSans" pitchFamily="34" charset="0"/>
                <a:ea typeface="MiSans" pitchFamily="34" charset="-122"/>
                <a:cs typeface="MiSans" pitchFamily="34" charset="-120"/>
              </a:rPr>
              <a:t>PAIN POINT</a:t>
            </a:r>
            <a:endParaRPr lang="en-US" sz="1600" dirty="0"/>
          </a:p>
        </p:txBody>
      </p:sp>
      <p:sp>
        <p:nvSpPr>
          <p:cNvPr id="53" name="Text 51"/>
          <p:cNvSpPr/>
          <p:nvPr/>
        </p:nvSpPr>
        <p:spPr>
          <a:xfrm>
            <a:off x="11202843" y="4572000"/>
            <a:ext cx="527629" cy="339190"/>
          </a:xfrm>
          <a:prstGeom prst="rect">
            <a:avLst/>
          </a:prstGeom>
          <a:noFill/>
          <a:ln/>
        </p:spPr>
        <p:txBody>
          <a:bodyPr wrap="square" lIns="0" tIns="0" rIns="0" bIns="0" rtlCol="0" anchor="ctr"/>
          <a:lstStyle/>
          <a:p>
            <a:pPr>
              <a:lnSpc>
                <a:spcPct val="100000"/>
              </a:lnSpc>
            </a:pPr>
            <a:r>
              <a:rPr lang="en-US" sz="2226"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54" name="Shape 52"/>
          <p:cNvSpPr/>
          <p:nvPr/>
        </p:nvSpPr>
        <p:spPr>
          <a:xfrm>
            <a:off x="6436221" y="5153805"/>
            <a:ext cx="452253" cy="452253"/>
          </a:xfrm>
          <a:custGeom>
            <a:avLst/>
            <a:gdLst/>
            <a:ahLst/>
            <a:cxnLst/>
            <a:rect l="l" t="t" r="r" b="b"/>
            <a:pathLst>
              <a:path w="452253" h="452253">
                <a:moveTo>
                  <a:pt x="226127" y="0"/>
                </a:moveTo>
                <a:lnTo>
                  <a:pt x="226127" y="0"/>
                </a:lnTo>
                <a:cubicBezTo>
                  <a:pt x="351013" y="0"/>
                  <a:pt x="452253" y="101240"/>
                  <a:pt x="452253" y="226127"/>
                </a:cubicBezTo>
                <a:lnTo>
                  <a:pt x="452253" y="226127"/>
                </a:lnTo>
                <a:cubicBezTo>
                  <a:pt x="452253" y="351013"/>
                  <a:pt x="351013" y="452253"/>
                  <a:pt x="226127" y="452253"/>
                </a:cubicBezTo>
                <a:lnTo>
                  <a:pt x="226127" y="452253"/>
                </a:lnTo>
                <a:cubicBezTo>
                  <a:pt x="101240" y="452253"/>
                  <a:pt x="0" y="351013"/>
                  <a:pt x="0" y="226127"/>
                </a:cubicBezTo>
                <a:lnTo>
                  <a:pt x="0" y="226127"/>
                </a:lnTo>
                <a:cubicBezTo>
                  <a:pt x="0" y="101240"/>
                  <a:pt x="101240" y="0"/>
                  <a:pt x="226127" y="0"/>
                </a:cubicBezTo>
                <a:close/>
              </a:path>
            </a:pathLst>
          </a:custGeom>
          <a:solidFill>
            <a:srgbClr val="6B7280"/>
          </a:solidFill>
          <a:ln/>
        </p:spPr>
      </p:sp>
      <p:sp>
        <p:nvSpPr>
          <p:cNvPr id="55" name="Text 53"/>
          <p:cNvSpPr/>
          <p:nvPr/>
        </p:nvSpPr>
        <p:spPr>
          <a:xfrm>
            <a:off x="6620390" y="5266869"/>
            <a:ext cx="160173" cy="226127"/>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5</a:t>
            </a:r>
            <a:endParaRPr lang="en-US" sz="1600" dirty="0"/>
          </a:p>
        </p:txBody>
      </p:sp>
      <p:sp>
        <p:nvSpPr>
          <p:cNvPr id="56" name="Text 54"/>
          <p:cNvSpPr/>
          <p:nvPr/>
        </p:nvSpPr>
        <p:spPr>
          <a:xfrm>
            <a:off x="7039225" y="5172649"/>
            <a:ext cx="4126813"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Rédaction rapport</a:t>
            </a:r>
            <a:endParaRPr lang="en-US" sz="1600" dirty="0"/>
          </a:p>
        </p:txBody>
      </p:sp>
      <p:sp>
        <p:nvSpPr>
          <p:cNvPr id="57" name="Text 55"/>
          <p:cNvSpPr/>
          <p:nvPr/>
        </p:nvSpPr>
        <p:spPr>
          <a:xfrm>
            <a:off x="7039225" y="5398776"/>
            <a:ext cx="4117391" cy="188439"/>
          </a:xfrm>
          <a:prstGeom prst="rect">
            <a:avLst/>
          </a:prstGeom>
          <a:noFill/>
          <a:ln/>
        </p:spPr>
        <p:txBody>
          <a:bodyPr wrap="square" lIns="0" tIns="0" rIns="0" bIns="0" rtlCol="0" anchor="ctr"/>
          <a:lstStyle/>
          <a:p>
            <a:pPr>
              <a:lnSpc>
                <a:spcPct val="120000"/>
              </a:lnSpc>
            </a:pPr>
            <a:r>
              <a:rPr lang="en-US" sz="1039" dirty="0">
                <a:solidFill>
                  <a:srgbClr val="6B7280"/>
                </a:solidFill>
                <a:latin typeface="MiSans" pitchFamily="34" charset="0"/>
                <a:ea typeface="MiSans" pitchFamily="34" charset="-122"/>
                <a:cs typeface="MiSans" pitchFamily="34" charset="-120"/>
              </a:rPr>
              <a:t>Répétitif</a:t>
            </a:r>
            <a:endParaRPr lang="en-US" sz="1600" dirty="0"/>
          </a:p>
        </p:txBody>
      </p:sp>
      <p:sp>
        <p:nvSpPr>
          <p:cNvPr id="58" name="Text 56"/>
          <p:cNvSpPr/>
          <p:nvPr/>
        </p:nvSpPr>
        <p:spPr>
          <a:xfrm>
            <a:off x="11240531" y="5210337"/>
            <a:ext cx="527629" cy="339190"/>
          </a:xfrm>
          <a:prstGeom prst="rect">
            <a:avLst/>
          </a:prstGeom>
          <a:noFill/>
          <a:ln/>
        </p:spPr>
        <p:txBody>
          <a:bodyPr wrap="square" lIns="0" tIns="0" rIns="0" bIns="0" rtlCol="0" anchor="ctr"/>
          <a:lstStyle/>
          <a:p>
            <a:pPr>
              <a:lnSpc>
                <a:spcPct val="100000"/>
              </a:lnSpc>
            </a:pPr>
            <a:r>
              <a:rPr lang="en-US" sz="2226"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59" name="Shape 57"/>
          <p:cNvSpPr/>
          <p:nvPr/>
        </p:nvSpPr>
        <p:spPr>
          <a:xfrm>
            <a:off x="6247782" y="5945249"/>
            <a:ext cx="5568371" cy="537051"/>
          </a:xfrm>
          <a:custGeom>
            <a:avLst/>
            <a:gdLst/>
            <a:ahLst/>
            <a:cxnLst/>
            <a:rect l="l" t="t" r="r" b="b"/>
            <a:pathLst>
              <a:path w="5568371" h="537051">
                <a:moveTo>
                  <a:pt x="113065" y="0"/>
                </a:moveTo>
                <a:lnTo>
                  <a:pt x="5455306" y="0"/>
                </a:lnTo>
                <a:cubicBezTo>
                  <a:pt x="5517750" y="0"/>
                  <a:pt x="5568371" y="50621"/>
                  <a:pt x="5568371" y="113065"/>
                </a:cubicBezTo>
                <a:lnTo>
                  <a:pt x="5568371" y="423986"/>
                </a:lnTo>
                <a:cubicBezTo>
                  <a:pt x="5568371" y="486430"/>
                  <a:pt x="5517750" y="537051"/>
                  <a:pt x="5455306" y="537051"/>
                </a:cubicBezTo>
                <a:lnTo>
                  <a:pt x="113065" y="537051"/>
                </a:lnTo>
                <a:cubicBezTo>
                  <a:pt x="50663" y="537051"/>
                  <a:pt x="0" y="486388"/>
                  <a:pt x="0" y="423986"/>
                </a:cubicBezTo>
                <a:lnTo>
                  <a:pt x="0" y="113065"/>
                </a:lnTo>
                <a:cubicBezTo>
                  <a:pt x="0" y="50663"/>
                  <a:pt x="50663" y="0"/>
                  <a:pt x="113065" y="0"/>
                </a:cubicBezTo>
                <a:close/>
              </a:path>
            </a:pathLst>
          </a:custGeom>
          <a:solidFill>
            <a:srgbClr val="F97316"/>
          </a:solidFill>
          <a:ln/>
        </p:spPr>
      </p:sp>
      <p:sp>
        <p:nvSpPr>
          <p:cNvPr id="60" name="Shape 58"/>
          <p:cNvSpPr/>
          <p:nvPr/>
        </p:nvSpPr>
        <p:spPr>
          <a:xfrm>
            <a:off x="6422088" y="6119555"/>
            <a:ext cx="188439" cy="188439"/>
          </a:xfrm>
          <a:custGeom>
            <a:avLst/>
            <a:gdLst/>
            <a:ahLst/>
            <a:cxnLst/>
            <a:rect l="l" t="t" r="r" b="b"/>
            <a:pathLst>
              <a:path w="188439" h="188439">
                <a:moveTo>
                  <a:pt x="94219" y="188439"/>
                </a:moveTo>
                <a:cubicBezTo>
                  <a:pt x="146221" y="188439"/>
                  <a:pt x="188439" y="146221"/>
                  <a:pt x="188439" y="94219"/>
                </a:cubicBezTo>
                <a:cubicBezTo>
                  <a:pt x="188439" y="42218"/>
                  <a:pt x="146221" y="0"/>
                  <a:pt x="94219" y="0"/>
                </a:cubicBezTo>
                <a:cubicBezTo>
                  <a:pt x="42218" y="0"/>
                  <a:pt x="0" y="42218"/>
                  <a:pt x="0" y="94219"/>
                </a:cubicBezTo>
                <a:cubicBezTo>
                  <a:pt x="0" y="146221"/>
                  <a:pt x="42218" y="188439"/>
                  <a:pt x="94219" y="188439"/>
                </a:cubicBezTo>
                <a:close/>
                <a:moveTo>
                  <a:pt x="94219" y="50054"/>
                </a:moveTo>
                <a:cubicBezTo>
                  <a:pt x="99114" y="50054"/>
                  <a:pt x="103053" y="53992"/>
                  <a:pt x="103053" y="58887"/>
                </a:cubicBezTo>
                <a:lnTo>
                  <a:pt x="103053" y="100108"/>
                </a:lnTo>
                <a:cubicBezTo>
                  <a:pt x="103053" y="105003"/>
                  <a:pt x="99114" y="108941"/>
                  <a:pt x="94219" y="108941"/>
                </a:cubicBezTo>
                <a:cubicBezTo>
                  <a:pt x="89324" y="108941"/>
                  <a:pt x="85386" y="105003"/>
                  <a:pt x="85386" y="100108"/>
                </a:cubicBezTo>
                <a:lnTo>
                  <a:pt x="85386" y="58887"/>
                </a:lnTo>
                <a:cubicBezTo>
                  <a:pt x="85386" y="53992"/>
                  <a:pt x="89324" y="50054"/>
                  <a:pt x="94219" y="50054"/>
                </a:cubicBezTo>
                <a:close/>
                <a:moveTo>
                  <a:pt x="84393" y="129552"/>
                </a:moveTo>
                <a:cubicBezTo>
                  <a:pt x="84169" y="125904"/>
                  <a:pt x="85988" y="122434"/>
                  <a:pt x="89115" y="120542"/>
                </a:cubicBezTo>
                <a:cubicBezTo>
                  <a:pt x="92242" y="118651"/>
                  <a:pt x="96160" y="118651"/>
                  <a:pt x="99287" y="120542"/>
                </a:cubicBezTo>
                <a:cubicBezTo>
                  <a:pt x="102414" y="122434"/>
                  <a:pt x="104233" y="125904"/>
                  <a:pt x="104009" y="129552"/>
                </a:cubicBezTo>
                <a:cubicBezTo>
                  <a:pt x="104233" y="133199"/>
                  <a:pt x="102414" y="136670"/>
                  <a:pt x="99287" y="138561"/>
                </a:cubicBezTo>
                <a:cubicBezTo>
                  <a:pt x="96160" y="140453"/>
                  <a:pt x="92242" y="140453"/>
                  <a:pt x="89115" y="138561"/>
                </a:cubicBezTo>
                <a:cubicBezTo>
                  <a:pt x="85988" y="136670"/>
                  <a:pt x="84169" y="133199"/>
                  <a:pt x="84393" y="129552"/>
                </a:cubicBezTo>
                <a:close/>
              </a:path>
            </a:pathLst>
          </a:custGeom>
          <a:solidFill>
            <a:srgbClr val="FFFFFF"/>
          </a:solidFill>
          <a:ln/>
        </p:spPr>
      </p:sp>
      <p:sp>
        <p:nvSpPr>
          <p:cNvPr id="61" name="Text 59"/>
          <p:cNvSpPr/>
          <p:nvPr/>
        </p:nvSpPr>
        <p:spPr>
          <a:xfrm>
            <a:off x="6747145" y="6096000"/>
            <a:ext cx="3749935" cy="235549"/>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Friction : Étapes 3-4 — Contrôle visuel &amp; Décision</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6878" y="226127"/>
            <a:ext cx="2148204" cy="339190"/>
          </a:xfrm>
          <a:custGeom>
            <a:avLst/>
            <a:gdLst/>
            <a:ahLst/>
            <a:cxnLst/>
            <a:rect l="l" t="t" r="r" b="b"/>
            <a:pathLst>
              <a:path w="2148204" h="339190">
                <a:moveTo>
                  <a:pt x="169595" y="0"/>
                </a:moveTo>
                <a:lnTo>
                  <a:pt x="1978609" y="0"/>
                </a:lnTo>
                <a:cubicBezTo>
                  <a:pt x="2072274" y="0"/>
                  <a:pt x="2148204" y="75930"/>
                  <a:pt x="2148204" y="169595"/>
                </a:cubicBezTo>
                <a:lnTo>
                  <a:pt x="2148204" y="169595"/>
                </a:lnTo>
                <a:cubicBezTo>
                  <a:pt x="2148204" y="263260"/>
                  <a:pt x="2072274" y="339190"/>
                  <a:pt x="1978609" y="339190"/>
                </a:cubicBezTo>
                <a:lnTo>
                  <a:pt x="169595" y="339190"/>
                </a:lnTo>
                <a:cubicBezTo>
                  <a:pt x="75993" y="339190"/>
                  <a:pt x="0" y="263197"/>
                  <a:pt x="0" y="169595"/>
                </a:cubicBezTo>
                <a:lnTo>
                  <a:pt x="0" y="169595"/>
                </a:lnTo>
                <a:cubicBezTo>
                  <a:pt x="0" y="75993"/>
                  <a:pt x="75993" y="0"/>
                  <a:pt x="169595" y="0"/>
                </a:cubicBezTo>
                <a:close/>
              </a:path>
            </a:pathLst>
          </a:custGeom>
          <a:solidFill>
            <a:srgbClr val="3B82F6"/>
          </a:solidFill>
          <a:ln/>
        </p:spPr>
      </p:sp>
      <p:sp>
        <p:nvSpPr>
          <p:cNvPr id="3" name="Text 1"/>
          <p:cNvSpPr/>
          <p:nvPr/>
        </p:nvSpPr>
        <p:spPr>
          <a:xfrm>
            <a:off x="527629" y="301502"/>
            <a:ext cx="1912655" cy="188439"/>
          </a:xfrm>
          <a:prstGeom prst="rect">
            <a:avLst/>
          </a:prstGeom>
          <a:noFill/>
          <a:ln/>
        </p:spPr>
        <p:txBody>
          <a:bodyPr wrap="square" lIns="0" tIns="0" rIns="0" bIns="0" rtlCol="0" anchor="ctr"/>
          <a:lstStyle/>
          <a:p>
            <a:pPr>
              <a:lnSpc>
                <a:spcPct val="120000"/>
              </a:lnSpc>
            </a:pPr>
            <a:r>
              <a:rPr lang="en-US" sz="1039" b="1" kern="0" spc="26" dirty="0">
                <a:solidFill>
                  <a:srgbClr val="FFFFFF"/>
                </a:solidFill>
                <a:latin typeface="MiSans" pitchFamily="34" charset="0"/>
                <a:ea typeface="MiSans" pitchFamily="34" charset="-122"/>
                <a:cs typeface="MiSans" pitchFamily="34" charset="-120"/>
              </a:rPr>
              <a:t>DISCOVERY - PERSONA 2/3</a:t>
            </a:r>
            <a:endParaRPr lang="en-US" sz="1600" dirty="0"/>
          </a:p>
        </p:txBody>
      </p:sp>
      <p:sp>
        <p:nvSpPr>
          <p:cNvPr id="4" name="Text 2"/>
          <p:cNvSpPr/>
          <p:nvPr/>
        </p:nvSpPr>
        <p:spPr>
          <a:xfrm>
            <a:off x="376878" y="979883"/>
            <a:ext cx="11607839" cy="376878"/>
          </a:xfrm>
          <a:prstGeom prst="rect">
            <a:avLst/>
          </a:prstGeom>
          <a:noFill/>
          <a:ln/>
        </p:spPr>
        <p:txBody>
          <a:bodyPr wrap="square" lIns="0" tIns="0" rIns="0" bIns="0" rtlCol="0" anchor="ctr"/>
          <a:lstStyle/>
          <a:p>
            <a:pPr>
              <a:lnSpc>
                <a:spcPct val="90000"/>
              </a:lnSpc>
            </a:pPr>
            <a:r>
              <a:rPr lang="en-US" sz="2671" b="1" dirty="0">
                <a:solidFill>
                  <a:srgbClr val="1E3A8A"/>
                </a:solidFill>
                <a:latin typeface="Noto Sans SC" pitchFamily="34" charset="0"/>
                <a:ea typeface="Noto Sans SC" pitchFamily="34" charset="-122"/>
                <a:cs typeface="Noto Sans SC" pitchFamily="34" charset="-120"/>
              </a:rPr>
              <a:t>Persona &amp; Experience Map : Marc</a:t>
            </a:r>
            <a:endParaRPr lang="en-US" sz="1600" dirty="0"/>
          </a:p>
        </p:txBody>
      </p:sp>
      <p:sp>
        <p:nvSpPr>
          <p:cNvPr id="5" name="Shape 3"/>
          <p:cNvSpPr/>
          <p:nvPr/>
        </p:nvSpPr>
        <p:spPr>
          <a:xfrm>
            <a:off x="376878" y="1582887"/>
            <a:ext cx="5568371" cy="979883"/>
          </a:xfrm>
          <a:custGeom>
            <a:avLst/>
            <a:gdLst/>
            <a:ahLst/>
            <a:cxnLst/>
            <a:rect l="l" t="t" r="r" b="b"/>
            <a:pathLst>
              <a:path w="5568371" h="979883">
                <a:moveTo>
                  <a:pt x="150755" y="0"/>
                </a:moveTo>
                <a:lnTo>
                  <a:pt x="5417616" y="0"/>
                </a:lnTo>
                <a:cubicBezTo>
                  <a:pt x="5500876" y="0"/>
                  <a:pt x="5568371" y="67495"/>
                  <a:pt x="5568371" y="150755"/>
                </a:cubicBezTo>
                <a:lnTo>
                  <a:pt x="5568371" y="829128"/>
                </a:lnTo>
                <a:cubicBezTo>
                  <a:pt x="5568371" y="912387"/>
                  <a:pt x="5500876" y="979883"/>
                  <a:pt x="5417616" y="979883"/>
                </a:cubicBezTo>
                <a:lnTo>
                  <a:pt x="150755" y="979883"/>
                </a:lnTo>
                <a:cubicBezTo>
                  <a:pt x="67495" y="979883"/>
                  <a:pt x="0" y="912387"/>
                  <a:pt x="0" y="829128"/>
                </a:cubicBezTo>
                <a:lnTo>
                  <a:pt x="0" y="150755"/>
                </a:lnTo>
                <a:cubicBezTo>
                  <a:pt x="0" y="67551"/>
                  <a:pt x="67551" y="0"/>
                  <a:pt x="150755" y="0"/>
                </a:cubicBezTo>
                <a:close/>
              </a:path>
            </a:pathLst>
          </a:custGeom>
          <a:solidFill>
            <a:srgbClr val="3B82F6"/>
          </a:solidFill>
          <a:ln/>
        </p:spPr>
      </p:sp>
      <p:sp>
        <p:nvSpPr>
          <p:cNvPr id="6" name="Shape 4"/>
          <p:cNvSpPr/>
          <p:nvPr/>
        </p:nvSpPr>
        <p:spPr>
          <a:xfrm>
            <a:off x="565317" y="1771326"/>
            <a:ext cx="603005" cy="603005"/>
          </a:xfrm>
          <a:custGeom>
            <a:avLst/>
            <a:gdLst/>
            <a:ahLst/>
            <a:cxnLst/>
            <a:rect l="l" t="t" r="r" b="b"/>
            <a:pathLst>
              <a:path w="603005" h="603005">
                <a:moveTo>
                  <a:pt x="301502" y="0"/>
                </a:moveTo>
                <a:lnTo>
                  <a:pt x="301502" y="0"/>
                </a:lnTo>
                <a:cubicBezTo>
                  <a:pt x="467906" y="0"/>
                  <a:pt x="603005" y="135099"/>
                  <a:pt x="603005" y="301502"/>
                </a:cubicBezTo>
                <a:lnTo>
                  <a:pt x="603005" y="301502"/>
                </a:lnTo>
                <a:cubicBezTo>
                  <a:pt x="603005" y="467906"/>
                  <a:pt x="467906" y="603005"/>
                  <a:pt x="301502" y="603005"/>
                </a:cubicBezTo>
                <a:lnTo>
                  <a:pt x="301502" y="603005"/>
                </a:lnTo>
                <a:cubicBezTo>
                  <a:pt x="135099" y="603005"/>
                  <a:pt x="0" y="467906"/>
                  <a:pt x="0" y="301502"/>
                </a:cubicBezTo>
                <a:lnTo>
                  <a:pt x="0" y="301502"/>
                </a:lnTo>
                <a:cubicBezTo>
                  <a:pt x="0" y="135099"/>
                  <a:pt x="135099" y="0"/>
                  <a:pt x="301502" y="0"/>
                </a:cubicBezTo>
                <a:close/>
              </a:path>
            </a:pathLst>
          </a:custGeom>
          <a:solidFill>
            <a:srgbClr val="FFFFFF"/>
          </a:solidFill>
          <a:ln/>
        </p:spPr>
      </p:sp>
      <p:sp>
        <p:nvSpPr>
          <p:cNvPr id="7" name="Shape 5"/>
          <p:cNvSpPr/>
          <p:nvPr/>
        </p:nvSpPr>
        <p:spPr>
          <a:xfrm>
            <a:off x="745512" y="1931499"/>
            <a:ext cx="247326" cy="282658"/>
          </a:xfrm>
          <a:custGeom>
            <a:avLst/>
            <a:gdLst/>
            <a:ahLst/>
            <a:cxnLst/>
            <a:rect l="l" t="t" r="r" b="b"/>
            <a:pathLst>
              <a:path w="247326" h="282658">
                <a:moveTo>
                  <a:pt x="123663" y="136913"/>
                </a:moveTo>
                <a:cubicBezTo>
                  <a:pt x="87100" y="136913"/>
                  <a:pt x="57415" y="107228"/>
                  <a:pt x="57415" y="70665"/>
                </a:cubicBezTo>
                <a:cubicBezTo>
                  <a:pt x="57415" y="34101"/>
                  <a:pt x="87100" y="4417"/>
                  <a:pt x="123663" y="4417"/>
                </a:cubicBezTo>
                <a:cubicBezTo>
                  <a:pt x="160226" y="4417"/>
                  <a:pt x="189911" y="34101"/>
                  <a:pt x="189911" y="70665"/>
                </a:cubicBezTo>
                <a:cubicBezTo>
                  <a:pt x="189911" y="107228"/>
                  <a:pt x="160226" y="136913"/>
                  <a:pt x="123663" y="136913"/>
                </a:cubicBezTo>
                <a:close/>
                <a:moveTo>
                  <a:pt x="106825" y="167828"/>
                </a:moveTo>
                <a:lnTo>
                  <a:pt x="140501" y="167828"/>
                </a:lnTo>
                <a:cubicBezTo>
                  <a:pt x="145856" y="167828"/>
                  <a:pt x="150162" y="172135"/>
                  <a:pt x="150162" y="177490"/>
                </a:cubicBezTo>
                <a:cubicBezTo>
                  <a:pt x="150162" y="179808"/>
                  <a:pt x="149334" y="182017"/>
                  <a:pt x="147844" y="183783"/>
                </a:cubicBezTo>
                <a:lnTo>
                  <a:pt x="132717" y="201449"/>
                </a:lnTo>
                <a:lnTo>
                  <a:pt x="149831" y="264992"/>
                </a:lnTo>
                <a:lnTo>
                  <a:pt x="150162" y="264992"/>
                </a:lnTo>
                <a:lnTo>
                  <a:pt x="169264" y="188531"/>
                </a:lnTo>
                <a:cubicBezTo>
                  <a:pt x="170478" y="183728"/>
                  <a:pt x="175392" y="180802"/>
                  <a:pt x="180029" y="182569"/>
                </a:cubicBezTo>
                <a:cubicBezTo>
                  <a:pt x="214202" y="195597"/>
                  <a:pt x="238493" y="228721"/>
                  <a:pt x="238493" y="267477"/>
                </a:cubicBezTo>
                <a:cubicBezTo>
                  <a:pt x="238493" y="275813"/>
                  <a:pt x="231703" y="282603"/>
                  <a:pt x="223366" y="282603"/>
                </a:cubicBezTo>
                <a:lnTo>
                  <a:pt x="23960" y="282658"/>
                </a:lnTo>
                <a:cubicBezTo>
                  <a:pt x="15624" y="282658"/>
                  <a:pt x="8833" y="275868"/>
                  <a:pt x="8833" y="267532"/>
                </a:cubicBezTo>
                <a:cubicBezTo>
                  <a:pt x="8833" y="228777"/>
                  <a:pt x="33124" y="195653"/>
                  <a:pt x="67297" y="182624"/>
                </a:cubicBezTo>
                <a:cubicBezTo>
                  <a:pt x="71934" y="180857"/>
                  <a:pt x="76848" y="183783"/>
                  <a:pt x="78062" y="188586"/>
                </a:cubicBezTo>
                <a:lnTo>
                  <a:pt x="97164" y="265047"/>
                </a:lnTo>
                <a:lnTo>
                  <a:pt x="97495" y="265047"/>
                </a:lnTo>
                <a:lnTo>
                  <a:pt x="114609" y="201505"/>
                </a:lnTo>
                <a:lnTo>
                  <a:pt x="99483" y="183838"/>
                </a:lnTo>
                <a:cubicBezTo>
                  <a:pt x="97992" y="182072"/>
                  <a:pt x="97164" y="179864"/>
                  <a:pt x="97164" y="177545"/>
                </a:cubicBezTo>
                <a:cubicBezTo>
                  <a:pt x="97164" y="172190"/>
                  <a:pt x="101470" y="167884"/>
                  <a:pt x="106825" y="167884"/>
                </a:cubicBezTo>
                <a:close/>
              </a:path>
            </a:pathLst>
          </a:custGeom>
          <a:solidFill>
            <a:srgbClr val="3B82F6"/>
          </a:solidFill>
          <a:ln/>
        </p:spPr>
      </p:sp>
      <p:sp>
        <p:nvSpPr>
          <p:cNvPr id="8" name="Text 6"/>
          <p:cNvSpPr/>
          <p:nvPr/>
        </p:nvSpPr>
        <p:spPr>
          <a:xfrm>
            <a:off x="1319073" y="1790170"/>
            <a:ext cx="1959765" cy="301502"/>
          </a:xfrm>
          <a:prstGeom prst="rect">
            <a:avLst/>
          </a:prstGeom>
          <a:noFill/>
          <a:ln/>
        </p:spPr>
        <p:txBody>
          <a:bodyPr wrap="square" lIns="0" tIns="0" rIns="0" bIns="0" rtlCol="0" anchor="ctr"/>
          <a:lstStyle/>
          <a:p>
            <a:pPr>
              <a:lnSpc>
                <a:spcPct val="110000"/>
              </a:lnSpc>
            </a:pPr>
            <a:r>
              <a:rPr lang="en-US" sz="1781" b="1" dirty="0">
                <a:solidFill>
                  <a:srgbClr val="FFFFFF"/>
                </a:solidFill>
                <a:latin typeface="Noto Sans SC" pitchFamily="34" charset="0"/>
                <a:ea typeface="Noto Sans SC" pitchFamily="34" charset="-122"/>
                <a:cs typeface="Noto Sans SC" pitchFamily="34" charset="-120"/>
              </a:rPr>
              <a:t>Marc Dubois</a:t>
            </a:r>
            <a:endParaRPr lang="en-US" sz="1600" dirty="0"/>
          </a:p>
        </p:txBody>
      </p:sp>
      <p:sp>
        <p:nvSpPr>
          <p:cNvPr id="9" name="Text 7"/>
          <p:cNvSpPr/>
          <p:nvPr/>
        </p:nvSpPr>
        <p:spPr>
          <a:xfrm>
            <a:off x="1319073" y="2091672"/>
            <a:ext cx="1931499" cy="263815"/>
          </a:xfrm>
          <a:prstGeom prst="rect">
            <a:avLst/>
          </a:prstGeom>
          <a:noFill/>
          <a:ln/>
        </p:spPr>
        <p:txBody>
          <a:bodyPr wrap="square" lIns="0" tIns="0" rIns="0" bIns="0" rtlCol="0" anchor="ctr"/>
          <a:lstStyle/>
          <a:p>
            <a:pPr>
              <a:lnSpc>
                <a:spcPct val="130000"/>
              </a:lnSpc>
            </a:pPr>
            <a:r>
              <a:rPr lang="en-US" sz="1335" dirty="0">
                <a:solidFill>
                  <a:srgbClr val="FFFFFF">
                    <a:alpha val="80000"/>
                  </a:srgbClr>
                </a:solidFill>
                <a:latin typeface="MiSans" pitchFamily="34" charset="0"/>
                <a:ea typeface="MiSans" pitchFamily="34" charset="-122"/>
                <a:cs typeface="MiSans" pitchFamily="34" charset="-120"/>
              </a:rPr>
              <a:t>Responsable Production</a:t>
            </a:r>
            <a:endParaRPr lang="en-US" sz="1600" dirty="0"/>
          </a:p>
        </p:txBody>
      </p:sp>
      <p:sp>
        <p:nvSpPr>
          <p:cNvPr id="10" name="Shape 8"/>
          <p:cNvSpPr/>
          <p:nvPr/>
        </p:nvSpPr>
        <p:spPr>
          <a:xfrm>
            <a:off x="376878" y="2713521"/>
            <a:ext cx="5568371" cy="3768779"/>
          </a:xfrm>
          <a:custGeom>
            <a:avLst/>
            <a:gdLst/>
            <a:ahLst/>
            <a:cxnLst/>
            <a:rect l="l" t="t" r="r" b="b"/>
            <a:pathLst>
              <a:path w="5568371" h="3768779">
                <a:moveTo>
                  <a:pt x="150751" y="0"/>
                </a:moveTo>
                <a:lnTo>
                  <a:pt x="5417620" y="0"/>
                </a:lnTo>
                <a:cubicBezTo>
                  <a:pt x="5500877" y="0"/>
                  <a:pt x="5568371" y="67494"/>
                  <a:pt x="5568371" y="150751"/>
                </a:cubicBezTo>
                <a:lnTo>
                  <a:pt x="5568371" y="3618028"/>
                </a:lnTo>
                <a:cubicBezTo>
                  <a:pt x="5568371" y="3701285"/>
                  <a:pt x="5500877" y="3768779"/>
                  <a:pt x="5417620" y="3768779"/>
                </a:cubicBezTo>
                <a:lnTo>
                  <a:pt x="150751" y="3768779"/>
                </a:lnTo>
                <a:cubicBezTo>
                  <a:pt x="67494" y="3768779"/>
                  <a:pt x="0" y="3701285"/>
                  <a:pt x="0" y="3618028"/>
                </a:cubicBezTo>
                <a:lnTo>
                  <a:pt x="0" y="150751"/>
                </a:lnTo>
                <a:cubicBezTo>
                  <a:pt x="0" y="67549"/>
                  <a:pt x="67549" y="0"/>
                  <a:pt x="150751" y="0"/>
                </a:cubicBezTo>
                <a:close/>
              </a:path>
            </a:pathLst>
          </a:custGeom>
          <a:solidFill>
            <a:srgbClr val="F3F4F6"/>
          </a:solidFill>
          <a:ln/>
        </p:spPr>
      </p:sp>
      <p:sp>
        <p:nvSpPr>
          <p:cNvPr id="11" name="Shape 9"/>
          <p:cNvSpPr/>
          <p:nvPr/>
        </p:nvSpPr>
        <p:spPr>
          <a:xfrm>
            <a:off x="588872" y="2939648"/>
            <a:ext cx="188439" cy="188439"/>
          </a:xfrm>
          <a:custGeom>
            <a:avLst/>
            <a:gdLst/>
            <a:ahLst/>
            <a:cxnLst/>
            <a:rect l="l" t="t" r="r" b="b"/>
            <a:pathLst>
              <a:path w="188439" h="188439">
                <a:moveTo>
                  <a:pt x="73609" y="17666"/>
                </a:moveTo>
                <a:lnTo>
                  <a:pt x="114830" y="17666"/>
                </a:lnTo>
                <a:cubicBezTo>
                  <a:pt x="116449" y="17666"/>
                  <a:pt x="117774" y="18991"/>
                  <a:pt x="117774" y="20611"/>
                </a:cubicBezTo>
                <a:lnTo>
                  <a:pt x="117774" y="35332"/>
                </a:lnTo>
                <a:lnTo>
                  <a:pt x="70665" y="35332"/>
                </a:lnTo>
                <a:lnTo>
                  <a:pt x="70665" y="20611"/>
                </a:lnTo>
                <a:cubicBezTo>
                  <a:pt x="70665" y="18991"/>
                  <a:pt x="71990" y="17666"/>
                  <a:pt x="73609" y="17666"/>
                </a:cubicBezTo>
                <a:close/>
                <a:moveTo>
                  <a:pt x="52998" y="20611"/>
                </a:moveTo>
                <a:lnTo>
                  <a:pt x="52998" y="35332"/>
                </a:lnTo>
                <a:lnTo>
                  <a:pt x="23555" y="35332"/>
                </a:lnTo>
                <a:cubicBezTo>
                  <a:pt x="10563" y="35332"/>
                  <a:pt x="0" y="45895"/>
                  <a:pt x="0" y="58887"/>
                </a:cubicBezTo>
                <a:lnTo>
                  <a:pt x="0" y="94219"/>
                </a:lnTo>
                <a:lnTo>
                  <a:pt x="188439" y="94219"/>
                </a:lnTo>
                <a:lnTo>
                  <a:pt x="188439" y="58887"/>
                </a:lnTo>
                <a:cubicBezTo>
                  <a:pt x="188439" y="45895"/>
                  <a:pt x="177876" y="35332"/>
                  <a:pt x="164884" y="35332"/>
                </a:cubicBezTo>
                <a:lnTo>
                  <a:pt x="135440" y="35332"/>
                </a:lnTo>
                <a:lnTo>
                  <a:pt x="135440" y="20611"/>
                </a:lnTo>
                <a:cubicBezTo>
                  <a:pt x="135440" y="9238"/>
                  <a:pt x="126203" y="0"/>
                  <a:pt x="114830" y="0"/>
                </a:cubicBezTo>
                <a:lnTo>
                  <a:pt x="73609" y="0"/>
                </a:lnTo>
                <a:cubicBezTo>
                  <a:pt x="62236" y="0"/>
                  <a:pt x="52998" y="9238"/>
                  <a:pt x="52998" y="20611"/>
                </a:cubicBezTo>
                <a:close/>
                <a:moveTo>
                  <a:pt x="188439" y="111886"/>
                </a:moveTo>
                <a:lnTo>
                  <a:pt x="117774" y="111886"/>
                </a:lnTo>
                <a:lnTo>
                  <a:pt x="117774" y="117774"/>
                </a:lnTo>
                <a:cubicBezTo>
                  <a:pt x="117774" y="124289"/>
                  <a:pt x="112511" y="129552"/>
                  <a:pt x="105997" y="129552"/>
                </a:cubicBezTo>
                <a:lnTo>
                  <a:pt x="82442" y="129552"/>
                </a:lnTo>
                <a:cubicBezTo>
                  <a:pt x="75928" y="129552"/>
                  <a:pt x="70665" y="124289"/>
                  <a:pt x="70665" y="117774"/>
                </a:cubicBezTo>
                <a:lnTo>
                  <a:pt x="70665" y="111886"/>
                </a:lnTo>
                <a:lnTo>
                  <a:pt x="0" y="111886"/>
                </a:lnTo>
                <a:lnTo>
                  <a:pt x="0" y="153107"/>
                </a:lnTo>
                <a:cubicBezTo>
                  <a:pt x="0" y="166099"/>
                  <a:pt x="10563" y="176662"/>
                  <a:pt x="23555" y="176662"/>
                </a:cubicBezTo>
                <a:lnTo>
                  <a:pt x="164884" y="176662"/>
                </a:lnTo>
                <a:cubicBezTo>
                  <a:pt x="177876" y="176662"/>
                  <a:pt x="188439" y="166099"/>
                  <a:pt x="188439" y="153107"/>
                </a:cubicBezTo>
                <a:lnTo>
                  <a:pt x="188439" y="111886"/>
                </a:lnTo>
                <a:close/>
              </a:path>
            </a:pathLst>
          </a:custGeom>
          <a:solidFill>
            <a:srgbClr val="3B82F6"/>
          </a:solidFill>
          <a:ln/>
        </p:spPr>
      </p:sp>
      <p:sp>
        <p:nvSpPr>
          <p:cNvPr id="12" name="Text 10"/>
          <p:cNvSpPr/>
          <p:nvPr/>
        </p:nvSpPr>
        <p:spPr>
          <a:xfrm>
            <a:off x="876241" y="2901960"/>
            <a:ext cx="518207" cy="263815"/>
          </a:xfrm>
          <a:prstGeom prst="rect">
            <a:avLst/>
          </a:prstGeom>
          <a:noFill/>
          <a:ln/>
        </p:spPr>
        <p:txBody>
          <a:bodyPr wrap="square" lIns="0" tIns="0" rIns="0" bIns="0" rtlCol="0" anchor="ctr"/>
          <a:lstStyle/>
          <a:p>
            <a:pPr>
              <a:lnSpc>
                <a:spcPct val="130000"/>
              </a:lnSpc>
            </a:pPr>
            <a:r>
              <a:rPr lang="en-US" sz="1335" b="1" dirty="0">
                <a:solidFill>
                  <a:srgbClr val="1E3A8A"/>
                </a:solidFill>
                <a:latin typeface="MiSans" pitchFamily="34" charset="0"/>
                <a:ea typeface="MiSans" pitchFamily="34" charset="-122"/>
                <a:cs typeface="MiSans" pitchFamily="34" charset="-120"/>
              </a:rPr>
              <a:t>Profil</a:t>
            </a:r>
            <a:endParaRPr lang="en-US" sz="1600" dirty="0"/>
          </a:p>
        </p:txBody>
      </p:sp>
      <p:sp>
        <p:nvSpPr>
          <p:cNvPr id="13" name="Text 11"/>
          <p:cNvSpPr/>
          <p:nvPr/>
        </p:nvSpPr>
        <p:spPr>
          <a:xfrm>
            <a:off x="565317" y="3278838"/>
            <a:ext cx="5266869" cy="244971"/>
          </a:xfrm>
          <a:prstGeom prst="rect">
            <a:avLst/>
          </a:prstGeom>
          <a:noFill/>
          <a:ln/>
        </p:spPr>
        <p:txBody>
          <a:bodyPr wrap="square" lIns="0" tIns="0" rIns="0" bIns="0" rtlCol="0" anchor="ctr"/>
          <a:lstStyle/>
          <a:p>
            <a:pPr>
              <a:lnSpc>
                <a:spcPct val="140000"/>
              </a:lnSpc>
            </a:pPr>
            <a:r>
              <a:rPr lang="en-US" sz="1187" b="1" dirty="0">
                <a:solidFill>
                  <a:srgbClr val="1E3A8A"/>
                </a:solidFill>
                <a:latin typeface="MiSans" pitchFamily="34" charset="0"/>
                <a:ea typeface="MiSans" pitchFamily="34" charset="-122"/>
                <a:cs typeface="MiSans" pitchFamily="34" charset="-120"/>
              </a:rPr>
              <a:t>20 ans</a:t>
            </a:r>
            <a:r>
              <a:rPr lang="en-US" sz="1187" dirty="0">
                <a:solidFill>
                  <a:srgbClr val="374151"/>
                </a:solidFill>
                <a:latin typeface="MiSans" pitchFamily="34" charset="0"/>
                <a:ea typeface="MiSans" pitchFamily="34" charset="-122"/>
                <a:cs typeface="MiSans" pitchFamily="34" charset="-120"/>
              </a:rPr>
              <a:t> en environnement industriel</a:t>
            </a:r>
            <a:endParaRPr lang="en-US" sz="1600" dirty="0"/>
          </a:p>
        </p:txBody>
      </p:sp>
      <p:sp>
        <p:nvSpPr>
          <p:cNvPr id="14" name="Shape 12"/>
          <p:cNvSpPr/>
          <p:nvPr/>
        </p:nvSpPr>
        <p:spPr>
          <a:xfrm>
            <a:off x="588872" y="3712247"/>
            <a:ext cx="188439" cy="188439"/>
          </a:xfrm>
          <a:custGeom>
            <a:avLst/>
            <a:gdLst/>
            <a:ahLst/>
            <a:cxnLst/>
            <a:rect l="l" t="t" r="r" b="b"/>
            <a:pathLst>
              <a:path w="188439" h="188439">
                <a:moveTo>
                  <a:pt x="94219" y="0"/>
                </a:moveTo>
                <a:cubicBezTo>
                  <a:pt x="99630" y="0"/>
                  <a:pt x="104598" y="2981"/>
                  <a:pt x="107175" y="7729"/>
                </a:cubicBezTo>
                <a:lnTo>
                  <a:pt x="186672" y="154947"/>
                </a:lnTo>
                <a:cubicBezTo>
                  <a:pt x="189138" y="159511"/>
                  <a:pt x="189028" y="165031"/>
                  <a:pt x="186378" y="169485"/>
                </a:cubicBezTo>
                <a:cubicBezTo>
                  <a:pt x="183728" y="173938"/>
                  <a:pt x="178907" y="176662"/>
                  <a:pt x="173717" y="176662"/>
                </a:cubicBezTo>
                <a:lnTo>
                  <a:pt x="14722" y="176662"/>
                </a:lnTo>
                <a:cubicBezTo>
                  <a:pt x="9532" y="176662"/>
                  <a:pt x="4748" y="173938"/>
                  <a:pt x="2061" y="169485"/>
                </a:cubicBezTo>
                <a:cubicBezTo>
                  <a:pt x="-626" y="165031"/>
                  <a:pt x="-699" y="159511"/>
                  <a:pt x="1767" y="154947"/>
                </a:cubicBezTo>
                <a:lnTo>
                  <a:pt x="81264" y="7729"/>
                </a:lnTo>
                <a:cubicBezTo>
                  <a:pt x="83841" y="2981"/>
                  <a:pt x="88809" y="0"/>
                  <a:pt x="94219" y="0"/>
                </a:cubicBezTo>
                <a:close/>
                <a:moveTo>
                  <a:pt x="94219" y="61832"/>
                </a:moveTo>
                <a:cubicBezTo>
                  <a:pt x="89324" y="61832"/>
                  <a:pt x="85386" y="65770"/>
                  <a:pt x="85386" y="70665"/>
                </a:cubicBezTo>
                <a:lnTo>
                  <a:pt x="85386" y="111886"/>
                </a:lnTo>
                <a:cubicBezTo>
                  <a:pt x="85386" y="116781"/>
                  <a:pt x="89324" y="120719"/>
                  <a:pt x="94219" y="120719"/>
                </a:cubicBezTo>
                <a:cubicBezTo>
                  <a:pt x="99114" y="120719"/>
                  <a:pt x="103053" y="116781"/>
                  <a:pt x="103053" y="111886"/>
                </a:cubicBezTo>
                <a:lnTo>
                  <a:pt x="103053" y="70665"/>
                </a:lnTo>
                <a:cubicBezTo>
                  <a:pt x="103053" y="65770"/>
                  <a:pt x="99114" y="61832"/>
                  <a:pt x="94219" y="61832"/>
                </a:cubicBezTo>
                <a:close/>
                <a:moveTo>
                  <a:pt x="104046" y="141329"/>
                </a:moveTo>
                <a:cubicBezTo>
                  <a:pt x="104270" y="137682"/>
                  <a:pt x="102451" y="134211"/>
                  <a:pt x="99324" y="132320"/>
                </a:cubicBezTo>
                <a:cubicBezTo>
                  <a:pt x="96197" y="130428"/>
                  <a:pt x="92279" y="130428"/>
                  <a:pt x="89152" y="132320"/>
                </a:cubicBezTo>
                <a:cubicBezTo>
                  <a:pt x="86025" y="134211"/>
                  <a:pt x="84206" y="137682"/>
                  <a:pt x="84429" y="141329"/>
                </a:cubicBezTo>
                <a:cubicBezTo>
                  <a:pt x="84206" y="144977"/>
                  <a:pt x="86025" y="148447"/>
                  <a:pt x="89152" y="150339"/>
                </a:cubicBezTo>
                <a:cubicBezTo>
                  <a:pt x="92279" y="152230"/>
                  <a:pt x="96197" y="152230"/>
                  <a:pt x="99324" y="150339"/>
                </a:cubicBezTo>
                <a:cubicBezTo>
                  <a:pt x="102451" y="148447"/>
                  <a:pt x="104270" y="144977"/>
                  <a:pt x="104046" y="141329"/>
                </a:cubicBezTo>
                <a:close/>
              </a:path>
            </a:pathLst>
          </a:custGeom>
          <a:solidFill>
            <a:srgbClr val="F97316"/>
          </a:solidFill>
          <a:ln/>
        </p:spPr>
      </p:sp>
      <p:sp>
        <p:nvSpPr>
          <p:cNvPr id="15" name="Text 13"/>
          <p:cNvSpPr/>
          <p:nvPr/>
        </p:nvSpPr>
        <p:spPr>
          <a:xfrm>
            <a:off x="876241" y="3674560"/>
            <a:ext cx="1074102" cy="263815"/>
          </a:xfrm>
          <a:prstGeom prst="rect">
            <a:avLst/>
          </a:prstGeom>
          <a:noFill/>
          <a:ln/>
        </p:spPr>
        <p:txBody>
          <a:bodyPr wrap="square" lIns="0" tIns="0" rIns="0" bIns="0" rtlCol="0" anchor="ctr"/>
          <a:lstStyle/>
          <a:p>
            <a:pPr>
              <a:lnSpc>
                <a:spcPct val="130000"/>
              </a:lnSpc>
            </a:pPr>
            <a:r>
              <a:rPr lang="en-US" sz="1335" b="1" dirty="0">
                <a:solidFill>
                  <a:srgbClr val="1E3A8A"/>
                </a:solidFill>
                <a:latin typeface="MiSans" pitchFamily="34" charset="0"/>
                <a:ea typeface="MiSans" pitchFamily="34" charset="-122"/>
                <a:cs typeface="MiSans" pitchFamily="34" charset="-120"/>
              </a:rPr>
              <a:t>Frustrations</a:t>
            </a:r>
            <a:endParaRPr lang="en-US" sz="1600" dirty="0"/>
          </a:p>
        </p:txBody>
      </p:sp>
      <p:sp>
        <p:nvSpPr>
          <p:cNvPr id="16" name="Shape 14"/>
          <p:cNvSpPr/>
          <p:nvPr/>
        </p:nvSpPr>
        <p:spPr>
          <a:xfrm>
            <a:off x="565317" y="4089125"/>
            <a:ext cx="301502" cy="301502"/>
          </a:xfrm>
          <a:custGeom>
            <a:avLst/>
            <a:gdLst/>
            <a:ahLst/>
            <a:cxnLst/>
            <a:rect l="l" t="t" r="r" b="b"/>
            <a:pathLst>
              <a:path w="301502" h="301502">
                <a:moveTo>
                  <a:pt x="75376" y="0"/>
                </a:moveTo>
                <a:lnTo>
                  <a:pt x="226127" y="0"/>
                </a:lnTo>
                <a:cubicBezTo>
                  <a:pt x="267728" y="0"/>
                  <a:pt x="301502" y="33775"/>
                  <a:pt x="301502" y="75376"/>
                </a:cubicBezTo>
                <a:lnTo>
                  <a:pt x="301502" y="226127"/>
                </a:lnTo>
                <a:cubicBezTo>
                  <a:pt x="301502" y="267728"/>
                  <a:pt x="267728" y="301502"/>
                  <a:pt x="226127" y="301502"/>
                </a:cubicBezTo>
                <a:lnTo>
                  <a:pt x="75376" y="301502"/>
                </a:lnTo>
                <a:cubicBezTo>
                  <a:pt x="33775" y="301502"/>
                  <a:pt x="0" y="267728"/>
                  <a:pt x="0" y="226127"/>
                </a:cubicBezTo>
                <a:lnTo>
                  <a:pt x="0" y="75376"/>
                </a:lnTo>
                <a:cubicBezTo>
                  <a:pt x="0" y="33775"/>
                  <a:pt x="33775" y="0"/>
                  <a:pt x="75376" y="0"/>
                </a:cubicBezTo>
                <a:close/>
              </a:path>
            </a:pathLst>
          </a:custGeom>
          <a:solidFill>
            <a:srgbClr val="F97316"/>
          </a:solidFill>
          <a:ln/>
        </p:spPr>
      </p:sp>
      <p:sp>
        <p:nvSpPr>
          <p:cNvPr id="17" name="Text 15"/>
          <p:cNvSpPr/>
          <p:nvPr/>
        </p:nvSpPr>
        <p:spPr>
          <a:xfrm>
            <a:off x="679264" y="4145657"/>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1</a:t>
            </a:r>
            <a:endParaRPr lang="en-US" sz="1600" dirty="0"/>
          </a:p>
        </p:txBody>
      </p:sp>
      <p:sp>
        <p:nvSpPr>
          <p:cNvPr id="18" name="Text 16"/>
          <p:cNvSpPr/>
          <p:nvPr/>
        </p:nvSpPr>
        <p:spPr>
          <a:xfrm>
            <a:off x="979883" y="4051437"/>
            <a:ext cx="1903233"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Aucune visibilité temps réel</a:t>
            </a:r>
            <a:endParaRPr lang="en-US" sz="1600" dirty="0"/>
          </a:p>
        </p:txBody>
      </p:sp>
      <p:sp>
        <p:nvSpPr>
          <p:cNvPr id="19" name="Shape 17"/>
          <p:cNvSpPr/>
          <p:nvPr/>
        </p:nvSpPr>
        <p:spPr>
          <a:xfrm>
            <a:off x="565317" y="4541379"/>
            <a:ext cx="301502" cy="301502"/>
          </a:xfrm>
          <a:custGeom>
            <a:avLst/>
            <a:gdLst/>
            <a:ahLst/>
            <a:cxnLst/>
            <a:rect l="l" t="t" r="r" b="b"/>
            <a:pathLst>
              <a:path w="301502" h="301502">
                <a:moveTo>
                  <a:pt x="75376" y="0"/>
                </a:moveTo>
                <a:lnTo>
                  <a:pt x="226127" y="0"/>
                </a:lnTo>
                <a:cubicBezTo>
                  <a:pt x="267728" y="0"/>
                  <a:pt x="301502" y="33775"/>
                  <a:pt x="301502" y="75376"/>
                </a:cubicBezTo>
                <a:lnTo>
                  <a:pt x="301502" y="226127"/>
                </a:lnTo>
                <a:cubicBezTo>
                  <a:pt x="301502" y="267728"/>
                  <a:pt x="267728" y="301502"/>
                  <a:pt x="226127" y="301502"/>
                </a:cubicBezTo>
                <a:lnTo>
                  <a:pt x="75376" y="301502"/>
                </a:lnTo>
                <a:cubicBezTo>
                  <a:pt x="33775" y="301502"/>
                  <a:pt x="0" y="267728"/>
                  <a:pt x="0" y="226127"/>
                </a:cubicBezTo>
                <a:lnTo>
                  <a:pt x="0" y="75376"/>
                </a:lnTo>
                <a:cubicBezTo>
                  <a:pt x="0" y="33775"/>
                  <a:pt x="33775" y="0"/>
                  <a:pt x="75376" y="0"/>
                </a:cubicBezTo>
                <a:close/>
              </a:path>
            </a:pathLst>
          </a:custGeom>
          <a:solidFill>
            <a:srgbClr val="F97316"/>
          </a:solidFill>
          <a:ln/>
        </p:spPr>
      </p:sp>
      <p:sp>
        <p:nvSpPr>
          <p:cNvPr id="20" name="Text 18"/>
          <p:cNvSpPr/>
          <p:nvPr/>
        </p:nvSpPr>
        <p:spPr>
          <a:xfrm>
            <a:off x="679264" y="4597910"/>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2</a:t>
            </a:r>
            <a:endParaRPr lang="en-US" sz="1600" dirty="0"/>
          </a:p>
        </p:txBody>
      </p:sp>
      <p:sp>
        <p:nvSpPr>
          <p:cNvPr id="21" name="Text 19"/>
          <p:cNvSpPr/>
          <p:nvPr/>
        </p:nvSpPr>
        <p:spPr>
          <a:xfrm>
            <a:off x="979883" y="4503691"/>
            <a:ext cx="1140056"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Rapports tardifs</a:t>
            </a:r>
            <a:endParaRPr lang="en-US" sz="1600" dirty="0"/>
          </a:p>
        </p:txBody>
      </p:sp>
      <p:sp>
        <p:nvSpPr>
          <p:cNvPr id="22" name="Shape 20"/>
          <p:cNvSpPr/>
          <p:nvPr/>
        </p:nvSpPr>
        <p:spPr>
          <a:xfrm>
            <a:off x="565317" y="4993632"/>
            <a:ext cx="301502" cy="301502"/>
          </a:xfrm>
          <a:custGeom>
            <a:avLst/>
            <a:gdLst/>
            <a:ahLst/>
            <a:cxnLst/>
            <a:rect l="l" t="t" r="r" b="b"/>
            <a:pathLst>
              <a:path w="301502" h="301502">
                <a:moveTo>
                  <a:pt x="75376" y="0"/>
                </a:moveTo>
                <a:lnTo>
                  <a:pt x="226127" y="0"/>
                </a:lnTo>
                <a:cubicBezTo>
                  <a:pt x="267728" y="0"/>
                  <a:pt x="301502" y="33775"/>
                  <a:pt x="301502" y="75376"/>
                </a:cubicBezTo>
                <a:lnTo>
                  <a:pt x="301502" y="226127"/>
                </a:lnTo>
                <a:cubicBezTo>
                  <a:pt x="301502" y="267728"/>
                  <a:pt x="267728" y="301502"/>
                  <a:pt x="226127" y="301502"/>
                </a:cubicBezTo>
                <a:lnTo>
                  <a:pt x="75376" y="301502"/>
                </a:lnTo>
                <a:cubicBezTo>
                  <a:pt x="33775" y="301502"/>
                  <a:pt x="0" y="267728"/>
                  <a:pt x="0" y="226127"/>
                </a:cubicBezTo>
                <a:lnTo>
                  <a:pt x="0" y="75376"/>
                </a:lnTo>
                <a:cubicBezTo>
                  <a:pt x="0" y="33775"/>
                  <a:pt x="33775" y="0"/>
                  <a:pt x="75376" y="0"/>
                </a:cubicBezTo>
                <a:close/>
              </a:path>
            </a:pathLst>
          </a:custGeom>
          <a:solidFill>
            <a:srgbClr val="F97316"/>
          </a:solidFill>
          <a:ln/>
        </p:spPr>
      </p:sp>
      <p:sp>
        <p:nvSpPr>
          <p:cNvPr id="23" name="Text 21"/>
          <p:cNvSpPr/>
          <p:nvPr/>
        </p:nvSpPr>
        <p:spPr>
          <a:xfrm>
            <a:off x="679264" y="5050164"/>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3</a:t>
            </a:r>
            <a:endParaRPr lang="en-US" sz="1600" dirty="0"/>
          </a:p>
        </p:txBody>
      </p:sp>
      <p:sp>
        <p:nvSpPr>
          <p:cNvPr id="24" name="Text 22"/>
          <p:cNvSpPr/>
          <p:nvPr/>
        </p:nvSpPr>
        <p:spPr>
          <a:xfrm>
            <a:off x="979883" y="4955944"/>
            <a:ext cx="2355487"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Zéro corrélation défauts/machines</a:t>
            </a:r>
            <a:endParaRPr lang="en-US" sz="1600" dirty="0"/>
          </a:p>
        </p:txBody>
      </p:sp>
      <p:sp>
        <p:nvSpPr>
          <p:cNvPr id="25" name="Shape 23"/>
          <p:cNvSpPr/>
          <p:nvPr/>
        </p:nvSpPr>
        <p:spPr>
          <a:xfrm>
            <a:off x="6247782" y="1582887"/>
            <a:ext cx="5568371" cy="678380"/>
          </a:xfrm>
          <a:custGeom>
            <a:avLst/>
            <a:gdLst/>
            <a:ahLst/>
            <a:cxnLst/>
            <a:rect l="l" t="t" r="r" b="b"/>
            <a:pathLst>
              <a:path w="5568371" h="678380">
                <a:moveTo>
                  <a:pt x="150750" y="0"/>
                </a:moveTo>
                <a:lnTo>
                  <a:pt x="5417621" y="0"/>
                </a:lnTo>
                <a:cubicBezTo>
                  <a:pt x="5500878" y="0"/>
                  <a:pt x="5568371" y="67493"/>
                  <a:pt x="5568371" y="150750"/>
                </a:cubicBezTo>
                <a:lnTo>
                  <a:pt x="5568371" y="527631"/>
                </a:lnTo>
                <a:cubicBezTo>
                  <a:pt x="5568371" y="610887"/>
                  <a:pt x="5500878" y="678380"/>
                  <a:pt x="5417621" y="678380"/>
                </a:cubicBezTo>
                <a:lnTo>
                  <a:pt x="150750" y="678380"/>
                </a:lnTo>
                <a:cubicBezTo>
                  <a:pt x="67549" y="678380"/>
                  <a:pt x="0" y="610832"/>
                  <a:pt x="0" y="527631"/>
                </a:cubicBezTo>
                <a:lnTo>
                  <a:pt x="0" y="150750"/>
                </a:lnTo>
                <a:cubicBezTo>
                  <a:pt x="0" y="67549"/>
                  <a:pt x="67549" y="0"/>
                  <a:pt x="150750" y="0"/>
                </a:cubicBezTo>
                <a:close/>
              </a:path>
            </a:pathLst>
          </a:custGeom>
          <a:solidFill>
            <a:srgbClr val="1E3A8A"/>
          </a:solidFill>
          <a:ln/>
        </p:spPr>
      </p:sp>
      <p:sp>
        <p:nvSpPr>
          <p:cNvPr id="26" name="Shape 24"/>
          <p:cNvSpPr/>
          <p:nvPr/>
        </p:nvSpPr>
        <p:spPr>
          <a:xfrm>
            <a:off x="6464486" y="1809014"/>
            <a:ext cx="226127" cy="226127"/>
          </a:xfrm>
          <a:custGeom>
            <a:avLst/>
            <a:gdLst/>
            <a:ahLst/>
            <a:cxnLst/>
            <a:rect l="l" t="t" r="r" b="b"/>
            <a:pathLst>
              <a:path w="226127" h="226127">
                <a:moveTo>
                  <a:pt x="226127" y="42399"/>
                </a:moveTo>
                <a:cubicBezTo>
                  <a:pt x="226127" y="64570"/>
                  <a:pt x="200025" y="97650"/>
                  <a:pt x="188763" y="110855"/>
                </a:cubicBezTo>
                <a:cubicBezTo>
                  <a:pt x="187085" y="112798"/>
                  <a:pt x="184611" y="113549"/>
                  <a:pt x="182359" y="113063"/>
                </a:cubicBezTo>
                <a:lnTo>
                  <a:pt x="141329" y="113063"/>
                </a:lnTo>
                <a:cubicBezTo>
                  <a:pt x="133512" y="113063"/>
                  <a:pt x="127196" y="119379"/>
                  <a:pt x="127196" y="127196"/>
                </a:cubicBezTo>
                <a:cubicBezTo>
                  <a:pt x="127196" y="135014"/>
                  <a:pt x="133512" y="141329"/>
                  <a:pt x="141329" y="141329"/>
                </a:cubicBezTo>
                <a:lnTo>
                  <a:pt x="183728" y="141329"/>
                </a:lnTo>
                <a:cubicBezTo>
                  <a:pt x="207136" y="141329"/>
                  <a:pt x="226127" y="160320"/>
                  <a:pt x="226127" y="183728"/>
                </a:cubicBezTo>
                <a:cubicBezTo>
                  <a:pt x="226127" y="207136"/>
                  <a:pt x="207136" y="226127"/>
                  <a:pt x="183728" y="226127"/>
                </a:cubicBezTo>
                <a:lnTo>
                  <a:pt x="61655" y="226127"/>
                </a:lnTo>
                <a:cubicBezTo>
                  <a:pt x="65497" y="221754"/>
                  <a:pt x="70179" y="216145"/>
                  <a:pt x="74904" y="209874"/>
                </a:cubicBezTo>
                <a:cubicBezTo>
                  <a:pt x="77687" y="206164"/>
                  <a:pt x="80558" y="202101"/>
                  <a:pt x="83296" y="197861"/>
                </a:cubicBezTo>
                <a:lnTo>
                  <a:pt x="183728" y="197861"/>
                </a:lnTo>
                <a:cubicBezTo>
                  <a:pt x="191545" y="197861"/>
                  <a:pt x="197861" y="191545"/>
                  <a:pt x="197861" y="183728"/>
                </a:cubicBezTo>
                <a:cubicBezTo>
                  <a:pt x="197861" y="175911"/>
                  <a:pt x="191545" y="169595"/>
                  <a:pt x="183728" y="169595"/>
                </a:cubicBezTo>
                <a:lnTo>
                  <a:pt x="141329" y="169595"/>
                </a:lnTo>
                <a:cubicBezTo>
                  <a:pt x="117922" y="169595"/>
                  <a:pt x="98930" y="150604"/>
                  <a:pt x="98930" y="127196"/>
                </a:cubicBezTo>
                <a:cubicBezTo>
                  <a:pt x="98930" y="103789"/>
                  <a:pt x="117922" y="84798"/>
                  <a:pt x="141329" y="84798"/>
                </a:cubicBezTo>
                <a:lnTo>
                  <a:pt x="158907" y="84798"/>
                </a:lnTo>
                <a:cubicBezTo>
                  <a:pt x="149632" y="70885"/>
                  <a:pt x="141329" y="54898"/>
                  <a:pt x="141329" y="42399"/>
                </a:cubicBezTo>
                <a:cubicBezTo>
                  <a:pt x="141329" y="18991"/>
                  <a:pt x="160320" y="0"/>
                  <a:pt x="183728" y="0"/>
                </a:cubicBezTo>
                <a:cubicBezTo>
                  <a:pt x="207136" y="0"/>
                  <a:pt x="226127" y="18991"/>
                  <a:pt x="226127" y="42399"/>
                </a:cubicBezTo>
                <a:close/>
                <a:moveTo>
                  <a:pt x="51718" y="216013"/>
                </a:moveTo>
                <a:cubicBezTo>
                  <a:pt x="50039" y="217912"/>
                  <a:pt x="48538" y="219590"/>
                  <a:pt x="47257" y="221004"/>
                </a:cubicBezTo>
                <a:lnTo>
                  <a:pt x="46462" y="221887"/>
                </a:lnTo>
                <a:lnTo>
                  <a:pt x="46374" y="221799"/>
                </a:lnTo>
                <a:cubicBezTo>
                  <a:pt x="43724" y="223830"/>
                  <a:pt x="39926" y="223565"/>
                  <a:pt x="37541" y="221004"/>
                </a:cubicBezTo>
                <a:cubicBezTo>
                  <a:pt x="26411" y="208902"/>
                  <a:pt x="0" y="177766"/>
                  <a:pt x="0" y="155462"/>
                </a:cubicBezTo>
                <a:cubicBezTo>
                  <a:pt x="0" y="132054"/>
                  <a:pt x="18991" y="113063"/>
                  <a:pt x="42399" y="113063"/>
                </a:cubicBezTo>
                <a:cubicBezTo>
                  <a:pt x="65806" y="113063"/>
                  <a:pt x="84798" y="132054"/>
                  <a:pt x="84798" y="155462"/>
                </a:cubicBezTo>
                <a:cubicBezTo>
                  <a:pt x="84798" y="168712"/>
                  <a:pt x="75479" y="185053"/>
                  <a:pt x="65586" y="198700"/>
                </a:cubicBezTo>
                <a:cubicBezTo>
                  <a:pt x="60860" y="205192"/>
                  <a:pt x="56002" y="211066"/>
                  <a:pt x="51983" y="215704"/>
                </a:cubicBezTo>
                <a:lnTo>
                  <a:pt x="51718" y="216013"/>
                </a:lnTo>
                <a:close/>
                <a:moveTo>
                  <a:pt x="56532" y="155462"/>
                </a:moveTo>
                <a:cubicBezTo>
                  <a:pt x="56532" y="147662"/>
                  <a:pt x="50199" y="141329"/>
                  <a:pt x="42399" y="141329"/>
                </a:cubicBezTo>
                <a:cubicBezTo>
                  <a:pt x="34599" y="141329"/>
                  <a:pt x="28266" y="147662"/>
                  <a:pt x="28266" y="155462"/>
                </a:cubicBezTo>
                <a:cubicBezTo>
                  <a:pt x="28266" y="163262"/>
                  <a:pt x="34599" y="169595"/>
                  <a:pt x="42399" y="169595"/>
                </a:cubicBezTo>
                <a:cubicBezTo>
                  <a:pt x="50199" y="169595"/>
                  <a:pt x="56532" y="163262"/>
                  <a:pt x="56532" y="155462"/>
                </a:cubicBezTo>
                <a:close/>
                <a:moveTo>
                  <a:pt x="183728" y="56532"/>
                </a:moveTo>
                <a:cubicBezTo>
                  <a:pt x="191528" y="56532"/>
                  <a:pt x="197861" y="50199"/>
                  <a:pt x="197861" y="42399"/>
                </a:cubicBezTo>
                <a:cubicBezTo>
                  <a:pt x="197861" y="34599"/>
                  <a:pt x="191528" y="28266"/>
                  <a:pt x="183728" y="28266"/>
                </a:cubicBezTo>
                <a:cubicBezTo>
                  <a:pt x="175928" y="28266"/>
                  <a:pt x="169595" y="34599"/>
                  <a:pt x="169595" y="42399"/>
                </a:cubicBezTo>
                <a:cubicBezTo>
                  <a:pt x="169595" y="50199"/>
                  <a:pt x="175928" y="56532"/>
                  <a:pt x="183728" y="56532"/>
                </a:cubicBezTo>
                <a:close/>
              </a:path>
            </a:pathLst>
          </a:custGeom>
          <a:solidFill>
            <a:srgbClr val="FFFFFF"/>
          </a:solidFill>
          <a:ln/>
        </p:spPr>
      </p:sp>
      <p:sp>
        <p:nvSpPr>
          <p:cNvPr id="27" name="Text 25"/>
          <p:cNvSpPr/>
          <p:nvPr/>
        </p:nvSpPr>
        <p:spPr>
          <a:xfrm>
            <a:off x="6831942" y="1771326"/>
            <a:ext cx="1837280" cy="301502"/>
          </a:xfrm>
          <a:prstGeom prst="rect">
            <a:avLst/>
          </a:prstGeom>
          <a:noFill/>
          <a:ln/>
        </p:spPr>
        <p:txBody>
          <a:bodyPr wrap="square" lIns="0" tIns="0" rIns="0" bIns="0" rtlCol="0" anchor="ctr"/>
          <a:lstStyle/>
          <a:p>
            <a:pPr>
              <a:lnSpc>
                <a:spcPct val="110000"/>
              </a:lnSpc>
            </a:pPr>
            <a:r>
              <a:rPr lang="en-US" sz="1781" b="1" dirty="0">
                <a:solidFill>
                  <a:srgbClr val="FFFFFF"/>
                </a:solidFill>
                <a:latin typeface="Noto Sans SC" pitchFamily="34" charset="0"/>
                <a:ea typeface="Noto Sans SC" pitchFamily="34" charset="-122"/>
                <a:cs typeface="Noto Sans SC" pitchFamily="34" charset="-120"/>
              </a:rPr>
              <a:t>Experience Map</a:t>
            </a:r>
            <a:endParaRPr lang="en-US" sz="1600" dirty="0"/>
          </a:p>
        </p:txBody>
      </p:sp>
      <p:sp>
        <p:nvSpPr>
          <p:cNvPr id="28" name="Shape 26"/>
          <p:cNvSpPr/>
          <p:nvPr/>
        </p:nvSpPr>
        <p:spPr>
          <a:xfrm>
            <a:off x="6247782" y="2412019"/>
            <a:ext cx="5568371" cy="3542652"/>
          </a:xfrm>
          <a:custGeom>
            <a:avLst/>
            <a:gdLst/>
            <a:ahLst/>
            <a:cxnLst/>
            <a:rect l="l" t="t" r="r" b="b"/>
            <a:pathLst>
              <a:path w="5568371" h="3542652">
                <a:moveTo>
                  <a:pt x="150740" y="0"/>
                </a:moveTo>
                <a:lnTo>
                  <a:pt x="5417631" y="0"/>
                </a:lnTo>
                <a:cubicBezTo>
                  <a:pt x="5500882" y="0"/>
                  <a:pt x="5568371" y="67489"/>
                  <a:pt x="5568371" y="150740"/>
                </a:cubicBezTo>
                <a:lnTo>
                  <a:pt x="5568371" y="3391912"/>
                </a:lnTo>
                <a:cubicBezTo>
                  <a:pt x="5568371" y="3475164"/>
                  <a:pt x="5500882" y="3542652"/>
                  <a:pt x="5417631" y="3542652"/>
                </a:cubicBezTo>
                <a:lnTo>
                  <a:pt x="150740" y="3542652"/>
                </a:lnTo>
                <a:cubicBezTo>
                  <a:pt x="67489" y="3542652"/>
                  <a:pt x="0" y="3475164"/>
                  <a:pt x="0" y="3391912"/>
                </a:cubicBezTo>
                <a:lnTo>
                  <a:pt x="0" y="150740"/>
                </a:lnTo>
                <a:cubicBezTo>
                  <a:pt x="0" y="67544"/>
                  <a:pt x="67544" y="0"/>
                  <a:pt x="150740" y="0"/>
                </a:cubicBezTo>
                <a:close/>
              </a:path>
            </a:pathLst>
          </a:custGeom>
          <a:solidFill>
            <a:srgbClr val="F3F4F6"/>
          </a:solidFill>
          <a:ln/>
        </p:spPr>
      </p:sp>
      <p:sp>
        <p:nvSpPr>
          <p:cNvPr id="29" name="Shape 27"/>
          <p:cNvSpPr/>
          <p:nvPr/>
        </p:nvSpPr>
        <p:spPr>
          <a:xfrm>
            <a:off x="6398533" y="2562770"/>
            <a:ext cx="376878" cy="376878"/>
          </a:xfrm>
          <a:custGeom>
            <a:avLst/>
            <a:gdLst/>
            <a:ahLst/>
            <a:cxnLst/>
            <a:rect l="l" t="t" r="r" b="b"/>
            <a:pathLst>
              <a:path w="376878" h="376878">
                <a:moveTo>
                  <a:pt x="188439" y="0"/>
                </a:moveTo>
                <a:lnTo>
                  <a:pt x="188439" y="0"/>
                </a:lnTo>
                <a:cubicBezTo>
                  <a:pt x="292511" y="0"/>
                  <a:pt x="376878" y="84367"/>
                  <a:pt x="376878" y="188439"/>
                </a:cubicBezTo>
                <a:lnTo>
                  <a:pt x="376878" y="188439"/>
                </a:lnTo>
                <a:cubicBezTo>
                  <a:pt x="376878" y="292511"/>
                  <a:pt x="292511" y="376878"/>
                  <a:pt x="188439" y="376878"/>
                </a:cubicBezTo>
                <a:lnTo>
                  <a:pt x="188439" y="376878"/>
                </a:lnTo>
                <a:cubicBezTo>
                  <a:pt x="84367" y="376878"/>
                  <a:pt x="0" y="292511"/>
                  <a:pt x="0" y="188439"/>
                </a:cubicBezTo>
                <a:lnTo>
                  <a:pt x="0" y="188439"/>
                </a:lnTo>
                <a:cubicBezTo>
                  <a:pt x="0" y="84367"/>
                  <a:pt x="84367" y="0"/>
                  <a:pt x="188439" y="0"/>
                </a:cubicBezTo>
                <a:close/>
              </a:path>
            </a:pathLst>
          </a:custGeom>
          <a:solidFill>
            <a:srgbClr val="6B7280"/>
          </a:solidFill>
          <a:ln/>
        </p:spPr>
      </p:sp>
      <p:sp>
        <p:nvSpPr>
          <p:cNvPr id="30" name="Text 28"/>
          <p:cNvSpPr/>
          <p:nvPr/>
        </p:nvSpPr>
        <p:spPr>
          <a:xfrm>
            <a:off x="6550167" y="2656989"/>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1</a:t>
            </a:r>
            <a:endParaRPr lang="en-US" sz="1600" dirty="0"/>
          </a:p>
        </p:txBody>
      </p:sp>
      <p:sp>
        <p:nvSpPr>
          <p:cNvPr id="31" name="Text 29"/>
          <p:cNvSpPr/>
          <p:nvPr/>
        </p:nvSpPr>
        <p:spPr>
          <a:xfrm>
            <a:off x="6888474" y="2656989"/>
            <a:ext cx="4418893" cy="188439"/>
          </a:xfrm>
          <a:prstGeom prst="rect">
            <a:avLst/>
          </a:prstGeom>
          <a:noFill/>
          <a:ln/>
        </p:spPr>
        <p:txBody>
          <a:bodyPr wrap="square" lIns="0" tIns="0" rIns="0" bIns="0" rtlCol="0" anchor="ctr"/>
          <a:lstStyle/>
          <a:p>
            <a:pPr>
              <a:lnSpc>
                <a:spcPct val="120000"/>
              </a:lnSpc>
            </a:pPr>
            <a:r>
              <a:rPr lang="en-US" sz="1039" b="1" dirty="0">
                <a:solidFill>
                  <a:srgbClr val="374151"/>
                </a:solidFill>
                <a:latin typeface="MiSans" pitchFamily="34" charset="0"/>
                <a:ea typeface="MiSans" pitchFamily="34" charset="-122"/>
                <a:cs typeface="MiSans" pitchFamily="34" charset="-120"/>
              </a:rPr>
              <a:t>Lancement production</a:t>
            </a:r>
            <a:endParaRPr lang="en-US" sz="1600" dirty="0"/>
          </a:p>
        </p:txBody>
      </p:sp>
      <p:sp>
        <p:nvSpPr>
          <p:cNvPr id="32" name="Text 30"/>
          <p:cNvSpPr/>
          <p:nvPr/>
        </p:nvSpPr>
        <p:spPr>
          <a:xfrm>
            <a:off x="11355949" y="2600457"/>
            <a:ext cx="423988" cy="301502"/>
          </a:xfrm>
          <a:prstGeom prst="rect">
            <a:avLst/>
          </a:prstGeom>
          <a:noFill/>
          <a:ln/>
        </p:spPr>
        <p:txBody>
          <a:bodyPr wrap="square" lIns="0" tIns="0" rIns="0" bIns="0" rtlCol="0" anchor="ctr"/>
          <a:lstStyle/>
          <a:p>
            <a:pPr>
              <a:lnSpc>
                <a:spcPct val="110000"/>
              </a:lnSpc>
            </a:pPr>
            <a:r>
              <a:rPr lang="en-US" sz="1781"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33" name="Shape 31"/>
          <p:cNvSpPr/>
          <p:nvPr/>
        </p:nvSpPr>
        <p:spPr>
          <a:xfrm>
            <a:off x="6398533" y="3075383"/>
            <a:ext cx="376878" cy="376878"/>
          </a:xfrm>
          <a:custGeom>
            <a:avLst/>
            <a:gdLst/>
            <a:ahLst/>
            <a:cxnLst/>
            <a:rect l="l" t="t" r="r" b="b"/>
            <a:pathLst>
              <a:path w="376878" h="376878">
                <a:moveTo>
                  <a:pt x="188439" y="0"/>
                </a:moveTo>
                <a:lnTo>
                  <a:pt x="188439" y="0"/>
                </a:lnTo>
                <a:cubicBezTo>
                  <a:pt x="292511" y="0"/>
                  <a:pt x="376878" y="84367"/>
                  <a:pt x="376878" y="188439"/>
                </a:cubicBezTo>
                <a:lnTo>
                  <a:pt x="376878" y="188439"/>
                </a:lnTo>
                <a:cubicBezTo>
                  <a:pt x="376878" y="292511"/>
                  <a:pt x="292511" y="376878"/>
                  <a:pt x="188439" y="376878"/>
                </a:cubicBezTo>
                <a:lnTo>
                  <a:pt x="188439" y="376878"/>
                </a:lnTo>
                <a:cubicBezTo>
                  <a:pt x="84367" y="376878"/>
                  <a:pt x="0" y="292511"/>
                  <a:pt x="0" y="188439"/>
                </a:cubicBezTo>
                <a:lnTo>
                  <a:pt x="0" y="188439"/>
                </a:lnTo>
                <a:cubicBezTo>
                  <a:pt x="0" y="84367"/>
                  <a:pt x="84367" y="0"/>
                  <a:pt x="188439" y="0"/>
                </a:cubicBezTo>
                <a:close/>
              </a:path>
            </a:pathLst>
          </a:custGeom>
          <a:solidFill>
            <a:srgbClr val="F97316">
              <a:alpha val="50196"/>
            </a:srgbClr>
          </a:solidFill>
          <a:ln/>
        </p:spPr>
      </p:sp>
      <p:sp>
        <p:nvSpPr>
          <p:cNvPr id="34" name="Text 32"/>
          <p:cNvSpPr/>
          <p:nvPr/>
        </p:nvSpPr>
        <p:spPr>
          <a:xfrm>
            <a:off x="6550167" y="3169602"/>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2</a:t>
            </a:r>
            <a:endParaRPr lang="en-US" sz="1600" dirty="0"/>
          </a:p>
        </p:txBody>
      </p:sp>
      <p:sp>
        <p:nvSpPr>
          <p:cNvPr id="35" name="Text 33"/>
          <p:cNvSpPr/>
          <p:nvPr/>
        </p:nvSpPr>
        <p:spPr>
          <a:xfrm>
            <a:off x="6888474" y="3094226"/>
            <a:ext cx="4418893" cy="188439"/>
          </a:xfrm>
          <a:prstGeom prst="rect">
            <a:avLst/>
          </a:prstGeom>
          <a:noFill/>
          <a:ln/>
        </p:spPr>
        <p:txBody>
          <a:bodyPr wrap="square" lIns="0" tIns="0" rIns="0" bIns="0" rtlCol="0" anchor="ctr"/>
          <a:lstStyle/>
          <a:p>
            <a:pPr>
              <a:lnSpc>
                <a:spcPct val="120000"/>
              </a:lnSpc>
            </a:pPr>
            <a:r>
              <a:rPr lang="en-US" sz="1039" b="1" dirty="0">
                <a:solidFill>
                  <a:srgbClr val="374151"/>
                </a:solidFill>
                <a:latin typeface="MiSans" pitchFamily="34" charset="0"/>
                <a:ea typeface="MiSans" pitchFamily="34" charset="-122"/>
                <a:cs typeface="MiSans" pitchFamily="34" charset="-120"/>
              </a:rPr>
              <a:t>Suivi de production</a:t>
            </a:r>
            <a:endParaRPr lang="en-US" sz="1600" dirty="0"/>
          </a:p>
        </p:txBody>
      </p:sp>
      <p:sp>
        <p:nvSpPr>
          <p:cNvPr id="36" name="Text 34"/>
          <p:cNvSpPr/>
          <p:nvPr/>
        </p:nvSpPr>
        <p:spPr>
          <a:xfrm>
            <a:off x="6888474" y="3282665"/>
            <a:ext cx="4409471" cy="150751"/>
          </a:xfrm>
          <a:prstGeom prst="rect">
            <a:avLst/>
          </a:prstGeom>
          <a:noFill/>
          <a:ln/>
        </p:spPr>
        <p:txBody>
          <a:bodyPr wrap="square" lIns="0" tIns="0" rIns="0" bIns="0" rtlCol="0" anchor="ctr"/>
          <a:lstStyle/>
          <a:p>
            <a:pPr>
              <a:lnSpc>
                <a:spcPct val="110000"/>
              </a:lnSpc>
            </a:pPr>
            <a:r>
              <a:rPr lang="en-US" sz="890" dirty="0">
                <a:solidFill>
                  <a:srgbClr val="6B7280"/>
                </a:solidFill>
                <a:latin typeface="MiSans" pitchFamily="34" charset="0"/>
                <a:ea typeface="MiSans" pitchFamily="34" charset="-122"/>
                <a:cs typeface="MiSans" pitchFamily="34" charset="-120"/>
              </a:rPr>
              <a:t>Pas d'indicateur qualité temps réel</a:t>
            </a:r>
            <a:endParaRPr lang="en-US" sz="1600" dirty="0"/>
          </a:p>
        </p:txBody>
      </p:sp>
      <p:sp>
        <p:nvSpPr>
          <p:cNvPr id="37" name="Text 35"/>
          <p:cNvSpPr/>
          <p:nvPr/>
        </p:nvSpPr>
        <p:spPr>
          <a:xfrm>
            <a:off x="11355949" y="3113070"/>
            <a:ext cx="423988" cy="301502"/>
          </a:xfrm>
          <a:prstGeom prst="rect">
            <a:avLst/>
          </a:prstGeom>
          <a:noFill/>
          <a:ln/>
        </p:spPr>
        <p:txBody>
          <a:bodyPr wrap="square" lIns="0" tIns="0" rIns="0" bIns="0" rtlCol="0" anchor="ctr"/>
          <a:lstStyle/>
          <a:p>
            <a:pPr>
              <a:lnSpc>
                <a:spcPct val="110000"/>
              </a:lnSpc>
            </a:pPr>
            <a:r>
              <a:rPr lang="en-US" sz="1781"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38" name="Shape 36"/>
          <p:cNvSpPr/>
          <p:nvPr/>
        </p:nvSpPr>
        <p:spPr>
          <a:xfrm>
            <a:off x="6323157" y="3587848"/>
            <a:ext cx="5417620" cy="527629"/>
          </a:xfrm>
          <a:custGeom>
            <a:avLst/>
            <a:gdLst/>
            <a:ahLst/>
            <a:cxnLst/>
            <a:rect l="l" t="t" r="r" b="b"/>
            <a:pathLst>
              <a:path w="5417620" h="527629">
                <a:moveTo>
                  <a:pt x="113066" y="0"/>
                </a:moveTo>
                <a:lnTo>
                  <a:pt x="5304554" y="0"/>
                </a:lnTo>
                <a:cubicBezTo>
                  <a:pt x="5366999" y="0"/>
                  <a:pt x="5417620" y="50621"/>
                  <a:pt x="5417620" y="113066"/>
                </a:cubicBezTo>
                <a:lnTo>
                  <a:pt x="5417620" y="414563"/>
                </a:lnTo>
                <a:cubicBezTo>
                  <a:pt x="5417620" y="477008"/>
                  <a:pt x="5366999" y="527629"/>
                  <a:pt x="5304554" y="527629"/>
                </a:cubicBezTo>
                <a:lnTo>
                  <a:pt x="113066" y="527629"/>
                </a:lnTo>
                <a:cubicBezTo>
                  <a:pt x="50621" y="527629"/>
                  <a:pt x="0" y="477008"/>
                  <a:pt x="0" y="414563"/>
                </a:cubicBezTo>
                <a:lnTo>
                  <a:pt x="0" y="113066"/>
                </a:lnTo>
                <a:cubicBezTo>
                  <a:pt x="0" y="50663"/>
                  <a:pt x="50663" y="0"/>
                  <a:pt x="113066" y="0"/>
                </a:cubicBezTo>
                <a:close/>
              </a:path>
            </a:pathLst>
          </a:custGeom>
          <a:solidFill>
            <a:srgbClr val="F97316">
              <a:alpha val="10196"/>
            </a:srgbClr>
          </a:solidFill>
          <a:ln/>
        </p:spPr>
      </p:sp>
      <p:sp>
        <p:nvSpPr>
          <p:cNvPr id="39" name="Shape 37"/>
          <p:cNvSpPr/>
          <p:nvPr/>
        </p:nvSpPr>
        <p:spPr>
          <a:xfrm>
            <a:off x="6398533" y="3663224"/>
            <a:ext cx="376878" cy="376878"/>
          </a:xfrm>
          <a:custGeom>
            <a:avLst/>
            <a:gdLst/>
            <a:ahLst/>
            <a:cxnLst/>
            <a:rect l="l" t="t" r="r" b="b"/>
            <a:pathLst>
              <a:path w="376878" h="376878">
                <a:moveTo>
                  <a:pt x="188439" y="0"/>
                </a:moveTo>
                <a:lnTo>
                  <a:pt x="188439" y="0"/>
                </a:lnTo>
                <a:cubicBezTo>
                  <a:pt x="292511" y="0"/>
                  <a:pt x="376878" y="84367"/>
                  <a:pt x="376878" y="188439"/>
                </a:cubicBezTo>
                <a:lnTo>
                  <a:pt x="376878" y="188439"/>
                </a:lnTo>
                <a:cubicBezTo>
                  <a:pt x="376878" y="292511"/>
                  <a:pt x="292511" y="376878"/>
                  <a:pt x="188439" y="376878"/>
                </a:cubicBezTo>
                <a:lnTo>
                  <a:pt x="188439" y="376878"/>
                </a:lnTo>
                <a:cubicBezTo>
                  <a:pt x="84367" y="376878"/>
                  <a:pt x="0" y="292511"/>
                  <a:pt x="0" y="188439"/>
                </a:cubicBezTo>
                <a:lnTo>
                  <a:pt x="0" y="188439"/>
                </a:lnTo>
                <a:cubicBezTo>
                  <a:pt x="0" y="84367"/>
                  <a:pt x="84367" y="0"/>
                  <a:pt x="188439" y="0"/>
                </a:cubicBezTo>
                <a:close/>
              </a:path>
            </a:pathLst>
          </a:custGeom>
          <a:solidFill>
            <a:srgbClr val="F97316"/>
          </a:solidFill>
          <a:ln/>
        </p:spPr>
      </p:sp>
      <p:sp>
        <p:nvSpPr>
          <p:cNvPr id="40" name="Text 38"/>
          <p:cNvSpPr/>
          <p:nvPr/>
        </p:nvSpPr>
        <p:spPr>
          <a:xfrm>
            <a:off x="6550167" y="3757443"/>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3</a:t>
            </a:r>
            <a:endParaRPr lang="en-US" sz="1600" dirty="0"/>
          </a:p>
        </p:txBody>
      </p:sp>
      <p:sp>
        <p:nvSpPr>
          <p:cNvPr id="41" name="Text 39"/>
          <p:cNvSpPr/>
          <p:nvPr/>
        </p:nvSpPr>
        <p:spPr>
          <a:xfrm>
            <a:off x="6888474" y="3682068"/>
            <a:ext cx="3881842" cy="188439"/>
          </a:xfrm>
          <a:prstGeom prst="rect">
            <a:avLst/>
          </a:prstGeom>
          <a:noFill/>
          <a:ln/>
        </p:spPr>
        <p:txBody>
          <a:bodyPr wrap="square" lIns="0" tIns="0" rIns="0" bIns="0" rtlCol="0" anchor="ctr"/>
          <a:lstStyle/>
          <a:p>
            <a:pPr>
              <a:lnSpc>
                <a:spcPct val="120000"/>
              </a:lnSpc>
            </a:pPr>
            <a:r>
              <a:rPr lang="en-US" sz="1039" b="1" dirty="0">
                <a:solidFill>
                  <a:srgbClr val="F97316"/>
                </a:solidFill>
                <a:latin typeface="MiSans" pitchFamily="34" charset="0"/>
                <a:ea typeface="MiSans" pitchFamily="34" charset="-122"/>
                <a:cs typeface="MiSans" pitchFamily="34" charset="-120"/>
              </a:rPr>
              <a:t>Réception résultats contrôle</a:t>
            </a:r>
            <a:endParaRPr lang="en-US" sz="1600" dirty="0"/>
          </a:p>
        </p:txBody>
      </p:sp>
      <p:sp>
        <p:nvSpPr>
          <p:cNvPr id="42" name="Text 40"/>
          <p:cNvSpPr/>
          <p:nvPr/>
        </p:nvSpPr>
        <p:spPr>
          <a:xfrm>
            <a:off x="6888474" y="3870507"/>
            <a:ext cx="3872420" cy="150751"/>
          </a:xfrm>
          <a:prstGeom prst="rect">
            <a:avLst/>
          </a:prstGeom>
          <a:noFill/>
          <a:ln/>
        </p:spPr>
        <p:txBody>
          <a:bodyPr wrap="square" lIns="0" tIns="0" rIns="0" bIns="0" rtlCol="0" anchor="ctr"/>
          <a:lstStyle/>
          <a:p>
            <a:pPr>
              <a:lnSpc>
                <a:spcPct val="110000"/>
              </a:lnSpc>
            </a:pPr>
            <a:r>
              <a:rPr lang="en-US" sz="890" dirty="0">
                <a:solidFill>
                  <a:srgbClr val="374151"/>
                </a:solidFill>
                <a:latin typeface="MiSans" pitchFamily="34" charset="0"/>
                <a:ea typeface="MiSans" pitchFamily="34" charset="-122"/>
                <a:cs typeface="MiSans" pitchFamily="34" charset="-120"/>
              </a:rPr>
              <a:t>Tardifs</a:t>
            </a:r>
            <a:endParaRPr lang="en-US" sz="1600" dirty="0"/>
          </a:p>
        </p:txBody>
      </p:sp>
      <p:sp>
        <p:nvSpPr>
          <p:cNvPr id="43" name="Shape 41"/>
          <p:cNvSpPr/>
          <p:nvPr/>
        </p:nvSpPr>
        <p:spPr>
          <a:xfrm>
            <a:off x="10821990" y="3719755"/>
            <a:ext cx="423988" cy="263815"/>
          </a:xfrm>
          <a:custGeom>
            <a:avLst/>
            <a:gdLst/>
            <a:ahLst/>
            <a:cxnLst/>
            <a:rect l="l" t="t" r="r" b="b"/>
            <a:pathLst>
              <a:path w="423988" h="263815">
                <a:moveTo>
                  <a:pt x="131907" y="0"/>
                </a:moveTo>
                <a:lnTo>
                  <a:pt x="292080" y="0"/>
                </a:lnTo>
                <a:cubicBezTo>
                  <a:pt x="364882" y="0"/>
                  <a:pt x="423988" y="59106"/>
                  <a:pt x="423988" y="131907"/>
                </a:cubicBezTo>
                <a:lnTo>
                  <a:pt x="423988" y="131907"/>
                </a:lnTo>
                <a:cubicBezTo>
                  <a:pt x="423988" y="204709"/>
                  <a:pt x="364882" y="263815"/>
                  <a:pt x="292080" y="263815"/>
                </a:cubicBezTo>
                <a:lnTo>
                  <a:pt x="131907" y="263815"/>
                </a:lnTo>
                <a:cubicBezTo>
                  <a:pt x="59106" y="263815"/>
                  <a:pt x="0" y="204709"/>
                  <a:pt x="0" y="131907"/>
                </a:cubicBezTo>
                <a:lnTo>
                  <a:pt x="0" y="131907"/>
                </a:lnTo>
                <a:cubicBezTo>
                  <a:pt x="0" y="59106"/>
                  <a:pt x="59106" y="0"/>
                  <a:pt x="131907" y="0"/>
                </a:cubicBezTo>
                <a:close/>
              </a:path>
            </a:pathLst>
          </a:custGeom>
          <a:solidFill>
            <a:srgbClr val="F97316"/>
          </a:solidFill>
          <a:ln/>
        </p:spPr>
      </p:sp>
      <p:sp>
        <p:nvSpPr>
          <p:cNvPr id="44" name="Text 42"/>
          <p:cNvSpPr/>
          <p:nvPr/>
        </p:nvSpPr>
        <p:spPr>
          <a:xfrm>
            <a:off x="10897366" y="3795131"/>
            <a:ext cx="326677" cy="131907"/>
          </a:xfrm>
          <a:prstGeom prst="rect">
            <a:avLst/>
          </a:prstGeom>
          <a:noFill/>
          <a:ln/>
        </p:spPr>
        <p:txBody>
          <a:bodyPr wrap="square" lIns="0" tIns="0" rIns="0" bIns="0" rtlCol="0" anchor="ctr"/>
          <a:lstStyle/>
          <a:p>
            <a:pPr>
              <a:lnSpc>
                <a:spcPct val="110000"/>
              </a:lnSpc>
            </a:pPr>
            <a:r>
              <a:rPr lang="en-US" sz="890" b="1" dirty="0">
                <a:solidFill>
                  <a:srgbClr val="FFFFFF"/>
                </a:solidFill>
                <a:latin typeface="MiSans" pitchFamily="34" charset="0"/>
                <a:ea typeface="MiSans" pitchFamily="34" charset="-122"/>
                <a:cs typeface="MiSans" pitchFamily="34" charset="-120"/>
              </a:rPr>
              <a:t>PAIN</a:t>
            </a:r>
            <a:endParaRPr lang="en-US" sz="1600" dirty="0"/>
          </a:p>
        </p:txBody>
      </p:sp>
      <p:sp>
        <p:nvSpPr>
          <p:cNvPr id="45" name="Text 43"/>
          <p:cNvSpPr/>
          <p:nvPr/>
        </p:nvSpPr>
        <p:spPr>
          <a:xfrm>
            <a:off x="11355949" y="3700912"/>
            <a:ext cx="423988" cy="301502"/>
          </a:xfrm>
          <a:prstGeom prst="rect">
            <a:avLst/>
          </a:prstGeom>
          <a:noFill/>
          <a:ln/>
        </p:spPr>
        <p:txBody>
          <a:bodyPr wrap="square" lIns="0" tIns="0" rIns="0" bIns="0" rtlCol="0" anchor="ctr"/>
          <a:lstStyle/>
          <a:p>
            <a:pPr>
              <a:lnSpc>
                <a:spcPct val="110000"/>
              </a:lnSpc>
            </a:pPr>
            <a:r>
              <a:rPr lang="en-US" sz="1781"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46" name="Shape 44"/>
          <p:cNvSpPr/>
          <p:nvPr/>
        </p:nvSpPr>
        <p:spPr>
          <a:xfrm>
            <a:off x="6323157" y="4251212"/>
            <a:ext cx="5417620" cy="527629"/>
          </a:xfrm>
          <a:custGeom>
            <a:avLst/>
            <a:gdLst/>
            <a:ahLst/>
            <a:cxnLst/>
            <a:rect l="l" t="t" r="r" b="b"/>
            <a:pathLst>
              <a:path w="5417620" h="527629">
                <a:moveTo>
                  <a:pt x="113066" y="0"/>
                </a:moveTo>
                <a:lnTo>
                  <a:pt x="5304554" y="0"/>
                </a:lnTo>
                <a:cubicBezTo>
                  <a:pt x="5366999" y="0"/>
                  <a:pt x="5417620" y="50621"/>
                  <a:pt x="5417620" y="113066"/>
                </a:cubicBezTo>
                <a:lnTo>
                  <a:pt x="5417620" y="414563"/>
                </a:lnTo>
                <a:cubicBezTo>
                  <a:pt x="5417620" y="477008"/>
                  <a:pt x="5366999" y="527629"/>
                  <a:pt x="5304554" y="527629"/>
                </a:cubicBezTo>
                <a:lnTo>
                  <a:pt x="113066" y="527629"/>
                </a:lnTo>
                <a:cubicBezTo>
                  <a:pt x="50621" y="527629"/>
                  <a:pt x="0" y="477008"/>
                  <a:pt x="0" y="414563"/>
                </a:cubicBezTo>
                <a:lnTo>
                  <a:pt x="0" y="113066"/>
                </a:lnTo>
                <a:cubicBezTo>
                  <a:pt x="0" y="50663"/>
                  <a:pt x="50663" y="0"/>
                  <a:pt x="113066" y="0"/>
                </a:cubicBezTo>
                <a:close/>
              </a:path>
            </a:pathLst>
          </a:custGeom>
          <a:solidFill>
            <a:srgbClr val="F97316">
              <a:alpha val="10196"/>
            </a:srgbClr>
          </a:solidFill>
          <a:ln/>
        </p:spPr>
      </p:sp>
      <p:sp>
        <p:nvSpPr>
          <p:cNvPr id="47" name="Shape 45"/>
          <p:cNvSpPr/>
          <p:nvPr/>
        </p:nvSpPr>
        <p:spPr>
          <a:xfrm>
            <a:off x="6398533" y="4326588"/>
            <a:ext cx="376878" cy="376878"/>
          </a:xfrm>
          <a:custGeom>
            <a:avLst/>
            <a:gdLst/>
            <a:ahLst/>
            <a:cxnLst/>
            <a:rect l="l" t="t" r="r" b="b"/>
            <a:pathLst>
              <a:path w="376878" h="376878">
                <a:moveTo>
                  <a:pt x="188439" y="0"/>
                </a:moveTo>
                <a:lnTo>
                  <a:pt x="188439" y="0"/>
                </a:lnTo>
                <a:cubicBezTo>
                  <a:pt x="292511" y="0"/>
                  <a:pt x="376878" y="84367"/>
                  <a:pt x="376878" y="188439"/>
                </a:cubicBezTo>
                <a:lnTo>
                  <a:pt x="376878" y="188439"/>
                </a:lnTo>
                <a:cubicBezTo>
                  <a:pt x="376878" y="292511"/>
                  <a:pt x="292511" y="376878"/>
                  <a:pt x="188439" y="376878"/>
                </a:cubicBezTo>
                <a:lnTo>
                  <a:pt x="188439" y="376878"/>
                </a:lnTo>
                <a:cubicBezTo>
                  <a:pt x="84367" y="376878"/>
                  <a:pt x="0" y="292511"/>
                  <a:pt x="0" y="188439"/>
                </a:cubicBezTo>
                <a:lnTo>
                  <a:pt x="0" y="188439"/>
                </a:lnTo>
                <a:cubicBezTo>
                  <a:pt x="0" y="84367"/>
                  <a:pt x="84367" y="0"/>
                  <a:pt x="188439" y="0"/>
                </a:cubicBezTo>
                <a:close/>
              </a:path>
            </a:pathLst>
          </a:custGeom>
          <a:solidFill>
            <a:srgbClr val="F97316"/>
          </a:solidFill>
          <a:ln/>
        </p:spPr>
      </p:sp>
      <p:sp>
        <p:nvSpPr>
          <p:cNvPr id="48" name="Text 46"/>
          <p:cNvSpPr/>
          <p:nvPr/>
        </p:nvSpPr>
        <p:spPr>
          <a:xfrm>
            <a:off x="6550167" y="4420807"/>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4</a:t>
            </a:r>
            <a:endParaRPr lang="en-US" sz="1600" dirty="0"/>
          </a:p>
        </p:txBody>
      </p:sp>
      <p:sp>
        <p:nvSpPr>
          <p:cNvPr id="49" name="Text 47"/>
          <p:cNvSpPr/>
          <p:nvPr/>
        </p:nvSpPr>
        <p:spPr>
          <a:xfrm>
            <a:off x="6888474" y="4345432"/>
            <a:ext cx="3881842" cy="188439"/>
          </a:xfrm>
          <a:prstGeom prst="rect">
            <a:avLst/>
          </a:prstGeom>
          <a:noFill/>
          <a:ln/>
        </p:spPr>
        <p:txBody>
          <a:bodyPr wrap="square" lIns="0" tIns="0" rIns="0" bIns="0" rtlCol="0" anchor="ctr"/>
          <a:lstStyle/>
          <a:p>
            <a:pPr>
              <a:lnSpc>
                <a:spcPct val="120000"/>
              </a:lnSpc>
            </a:pPr>
            <a:r>
              <a:rPr lang="en-US" sz="1039" b="1" dirty="0">
                <a:solidFill>
                  <a:srgbClr val="F97316"/>
                </a:solidFill>
                <a:latin typeface="MiSans" pitchFamily="34" charset="0"/>
                <a:ea typeface="MiSans" pitchFamily="34" charset="-122"/>
                <a:cs typeface="MiSans" pitchFamily="34" charset="-120"/>
              </a:rPr>
              <a:t>Analyse non-conformités</a:t>
            </a:r>
            <a:endParaRPr lang="en-US" sz="1600" dirty="0"/>
          </a:p>
        </p:txBody>
      </p:sp>
      <p:sp>
        <p:nvSpPr>
          <p:cNvPr id="50" name="Text 48"/>
          <p:cNvSpPr/>
          <p:nvPr/>
        </p:nvSpPr>
        <p:spPr>
          <a:xfrm>
            <a:off x="6888474" y="4533871"/>
            <a:ext cx="3872420" cy="150751"/>
          </a:xfrm>
          <a:prstGeom prst="rect">
            <a:avLst/>
          </a:prstGeom>
          <a:noFill/>
          <a:ln/>
        </p:spPr>
        <p:txBody>
          <a:bodyPr wrap="square" lIns="0" tIns="0" rIns="0" bIns="0" rtlCol="0" anchor="ctr"/>
          <a:lstStyle/>
          <a:p>
            <a:pPr>
              <a:lnSpc>
                <a:spcPct val="110000"/>
              </a:lnSpc>
            </a:pPr>
            <a:r>
              <a:rPr lang="en-US" sz="890" dirty="0">
                <a:solidFill>
                  <a:srgbClr val="374151"/>
                </a:solidFill>
                <a:latin typeface="MiSans" pitchFamily="34" charset="0"/>
                <a:ea typeface="MiSans" pitchFamily="34" charset="-122"/>
                <a:cs typeface="MiSans" pitchFamily="34" charset="-120"/>
              </a:rPr>
              <a:t>Données éparses</a:t>
            </a:r>
            <a:endParaRPr lang="en-US" sz="1600" dirty="0"/>
          </a:p>
        </p:txBody>
      </p:sp>
      <p:sp>
        <p:nvSpPr>
          <p:cNvPr id="51" name="Shape 49"/>
          <p:cNvSpPr/>
          <p:nvPr/>
        </p:nvSpPr>
        <p:spPr>
          <a:xfrm>
            <a:off x="10821990" y="4383119"/>
            <a:ext cx="423988" cy="263815"/>
          </a:xfrm>
          <a:custGeom>
            <a:avLst/>
            <a:gdLst/>
            <a:ahLst/>
            <a:cxnLst/>
            <a:rect l="l" t="t" r="r" b="b"/>
            <a:pathLst>
              <a:path w="423988" h="263815">
                <a:moveTo>
                  <a:pt x="131907" y="0"/>
                </a:moveTo>
                <a:lnTo>
                  <a:pt x="292080" y="0"/>
                </a:lnTo>
                <a:cubicBezTo>
                  <a:pt x="364882" y="0"/>
                  <a:pt x="423988" y="59106"/>
                  <a:pt x="423988" y="131907"/>
                </a:cubicBezTo>
                <a:lnTo>
                  <a:pt x="423988" y="131907"/>
                </a:lnTo>
                <a:cubicBezTo>
                  <a:pt x="423988" y="204709"/>
                  <a:pt x="364882" y="263815"/>
                  <a:pt x="292080" y="263815"/>
                </a:cubicBezTo>
                <a:lnTo>
                  <a:pt x="131907" y="263815"/>
                </a:lnTo>
                <a:cubicBezTo>
                  <a:pt x="59106" y="263815"/>
                  <a:pt x="0" y="204709"/>
                  <a:pt x="0" y="131907"/>
                </a:cubicBezTo>
                <a:lnTo>
                  <a:pt x="0" y="131907"/>
                </a:lnTo>
                <a:cubicBezTo>
                  <a:pt x="0" y="59106"/>
                  <a:pt x="59106" y="0"/>
                  <a:pt x="131907" y="0"/>
                </a:cubicBezTo>
                <a:close/>
              </a:path>
            </a:pathLst>
          </a:custGeom>
          <a:solidFill>
            <a:srgbClr val="F97316"/>
          </a:solidFill>
          <a:ln/>
        </p:spPr>
      </p:sp>
      <p:sp>
        <p:nvSpPr>
          <p:cNvPr id="52" name="Text 50"/>
          <p:cNvSpPr/>
          <p:nvPr/>
        </p:nvSpPr>
        <p:spPr>
          <a:xfrm>
            <a:off x="10897366" y="4458495"/>
            <a:ext cx="326677" cy="131907"/>
          </a:xfrm>
          <a:prstGeom prst="rect">
            <a:avLst/>
          </a:prstGeom>
          <a:noFill/>
          <a:ln/>
        </p:spPr>
        <p:txBody>
          <a:bodyPr wrap="square" lIns="0" tIns="0" rIns="0" bIns="0" rtlCol="0" anchor="ctr"/>
          <a:lstStyle/>
          <a:p>
            <a:pPr>
              <a:lnSpc>
                <a:spcPct val="110000"/>
              </a:lnSpc>
            </a:pPr>
            <a:r>
              <a:rPr lang="en-US" sz="890" b="1" dirty="0">
                <a:solidFill>
                  <a:srgbClr val="FFFFFF"/>
                </a:solidFill>
                <a:latin typeface="MiSans" pitchFamily="34" charset="0"/>
                <a:ea typeface="MiSans" pitchFamily="34" charset="-122"/>
                <a:cs typeface="MiSans" pitchFamily="34" charset="-120"/>
              </a:rPr>
              <a:t>PAIN</a:t>
            </a:r>
            <a:endParaRPr lang="en-US" sz="1600" dirty="0"/>
          </a:p>
        </p:txBody>
      </p:sp>
      <p:sp>
        <p:nvSpPr>
          <p:cNvPr id="53" name="Text 51"/>
          <p:cNvSpPr/>
          <p:nvPr/>
        </p:nvSpPr>
        <p:spPr>
          <a:xfrm>
            <a:off x="11355949" y="4364276"/>
            <a:ext cx="423988" cy="301502"/>
          </a:xfrm>
          <a:prstGeom prst="rect">
            <a:avLst/>
          </a:prstGeom>
          <a:noFill/>
          <a:ln/>
        </p:spPr>
        <p:txBody>
          <a:bodyPr wrap="square" lIns="0" tIns="0" rIns="0" bIns="0" rtlCol="0" anchor="ctr"/>
          <a:lstStyle/>
          <a:p>
            <a:pPr>
              <a:lnSpc>
                <a:spcPct val="110000"/>
              </a:lnSpc>
            </a:pPr>
            <a:r>
              <a:rPr lang="en-US" sz="1781"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54" name="Shape 52"/>
          <p:cNvSpPr/>
          <p:nvPr/>
        </p:nvSpPr>
        <p:spPr>
          <a:xfrm>
            <a:off x="6398533" y="4914429"/>
            <a:ext cx="376878" cy="376878"/>
          </a:xfrm>
          <a:custGeom>
            <a:avLst/>
            <a:gdLst/>
            <a:ahLst/>
            <a:cxnLst/>
            <a:rect l="l" t="t" r="r" b="b"/>
            <a:pathLst>
              <a:path w="376878" h="376878">
                <a:moveTo>
                  <a:pt x="188439" y="0"/>
                </a:moveTo>
                <a:lnTo>
                  <a:pt x="188439" y="0"/>
                </a:lnTo>
                <a:cubicBezTo>
                  <a:pt x="292511" y="0"/>
                  <a:pt x="376878" y="84367"/>
                  <a:pt x="376878" y="188439"/>
                </a:cubicBezTo>
                <a:lnTo>
                  <a:pt x="376878" y="188439"/>
                </a:lnTo>
                <a:cubicBezTo>
                  <a:pt x="376878" y="292511"/>
                  <a:pt x="292511" y="376878"/>
                  <a:pt x="188439" y="376878"/>
                </a:cubicBezTo>
                <a:lnTo>
                  <a:pt x="188439" y="376878"/>
                </a:lnTo>
                <a:cubicBezTo>
                  <a:pt x="84367" y="376878"/>
                  <a:pt x="0" y="292511"/>
                  <a:pt x="0" y="188439"/>
                </a:cubicBezTo>
                <a:lnTo>
                  <a:pt x="0" y="188439"/>
                </a:lnTo>
                <a:cubicBezTo>
                  <a:pt x="0" y="84367"/>
                  <a:pt x="84367" y="0"/>
                  <a:pt x="188439" y="0"/>
                </a:cubicBezTo>
                <a:close/>
              </a:path>
            </a:pathLst>
          </a:custGeom>
          <a:solidFill>
            <a:srgbClr val="F97316">
              <a:alpha val="70196"/>
            </a:srgbClr>
          </a:solidFill>
          <a:ln/>
        </p:spPr>
      </p:sp>
      <p:sp>
        <p:nvSpPr>
          <p:cNvPr id="55" name="Text 53"/>
          <p:cNvSpPr/>
          <p:nvPr/>
        </p:nvSpPr>
        <p:spPr>
          <a:xfrm>
            <a:off x="6550167" y="5008648"/>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5</a:t>
            </a:r>
            <a:endParaRPr lang="en-US" sz="1600" dirty="0"/>
          </a:p>
        </p:txBody>
      </p:sp>
      <p:sp>
        <p:nvSpPr>
          <p:cNvPr id="56" name="Text 54"/>
          <p:cNvSpPr/>
          <p:nvPr/>
        </p:nvSpPr>
        <p:spPr>
          <a:xfrm>
            <a:off x="6888474" y="4933273"/>
            <a:ext cx="4418893" cy="188439"/>
          </a:xfrm>
          <a:prstGeom prst="rect">
            <a:avLst/>
          </a:prstGeom>
          <a:noFill/>
          <a:ln/>
        </p:spPr>
        <p:txBody>
          <a:bodyPr wrap="square" lIns="0" tIns="0" rIns="0" bIns="0" rtlCol="0" anchor="ctr"/>
          <a:lstStyle/>
          <a:p>
            <a:pPr>
              <a:lnSpc>
                <a:spcPct val="120000"/>
              </a:lnSpc>
            </a:pPr>
            <a:r>
              <a:rPr lang="en-US" sz="1039" b="1" dirty="0">
                <a:solidFill>
                  <a:srgbClr val="374151"/>
                </a:solidFill>
                <a:latin typeface="MiSans" pitchFamily="34" charset="0"/>
                <a:ea typeface="MiSans" pitchFamily="34" charset="-122"/>
                <a:cs typeface="MiSans" pitchFamily="34" charset="-120"/>
              </a:rPr>
              <a:t>Décision livraison</a:t>
            </a:r>
            <a:endParaRPr lang="en-US" sz="1600" dirty="0"/>
          </a:p>
        </p:txBody>
      </p:sp>
      <p:sp>
        <p:nvSpPr>
          <p:cNvPr id="57" name="Text 55"/>
          <p:cNvSpPr/>
          <p:nvPr/>
        </p:nvSpPr>
        <p:spPr>
          <a:xfrm>
            <a:off x="6888474" y="5121712"/>
            <a:ext cx="4409471" cy="150751"/>
          </a:xfrm>
          <a:prstGeom prst="rect">
            <a:avLst/>
          </a:prstGeom>
          <a:noFill/>
          <a:ln/>
        </p:spPr>
        <p:txBody>
          <a:bodyPr wrap="square" lIns="0" tIns="0" rIns="0" bIns="0" rtlCol="0" anchor="ctr"/>
          <a:lstStyle/>
          <a:p>
            <a:pPr>
              <a:lnSpc>
                <a:spcPct val="110000"/>
              </a:lnSpc>
            </a:pPr>
            <a:r>
              <a:rPr lang="en-US" sz="890" dirty="0">
                <a:solidFill>
                  <a:srgbClr val="6B7280"/>
                </a:solidFill>
                <a:latin typeface="MiSans" pitchFamily="34" charset="0"/>
                <a:ea typeface="MiSans" pitchFamily="34" charset="-122"/>
                <a:cs typeface="MiSans" pitchFamily="34" charset="-120"/>
              </a:rPr>
              <a:t>Sous incertitude</a:t>
            </a:r>
            <a:endParaRPr lang="en-US" sz="1600" dirty="0"/>
          </a:p>
        </p:txBody>
      </p:sp>
      <p:sp>
        <p:nvSpPr>
          <p:cNvPr id="58" name="Text 56"/>
          <p:cNvSpPr/>
          <p:nvPr/>
        </p:nvSpPr>
        <p:spPr>
          <a:xfrm>
            <a:off x="11355949" y="4952117"/>
            <a:ext cx="423988" cy="301502"/>
          </a:xfrm>
          <a:prstGeom prst="rect">
            <a:avLst/>
          </a:prstGeom>
          <a:noFill/>
          <a:ln/>
        </p:spPr>
        <p:txBody>
          <a:bodyPr wrap="square" lIns="0" tIns="0" rIns="0" bIns="0" rtlCol="0" anchor="ctr"/>
          <a:lstStyle/>
          <a:p>
            <a:pPr>
              <a:lnSpc>
                <a:spcPct val="110000"/>
              </a:lnSpc>
            </a:pPr>
            <a:r>
              <a:rPr lang="en-US" sz="1781"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59" name="Shape 57"/>
          <p:cNvSpPr/>
          <p:nvPr/>
        </p:nvSpPr>
        <p:spPr>
          <a:xfrm>
            <a:off x="6398533" y="5427042"/>
            <a:ext cx="376878" cy="376878"/>
          </a:xfrm>
          <a:custGeom>
            <a:avLst/>
            <a:gdLst/>
            <a:ahLst/>
            <a:cxnLst/>
            <a:rect l="l" t="t" r="r" b="b"/>
            <a:pathLst>
              <a:path w="376878" h="376878">
                <a:moveTo>
                  <a:pt x="188439" y="0"/>
                </a:moveTo>
                <a:lnTo>
                  <a:pt x="188439" y="0"/>
                </a:lnTo>
                <a:cubicBezTo>
                  <a:pt x="292511" y="0"/>
                  <a:pt x="376878" y="84367"/>
                  <a:pt x="376878" y="188439"/>
                </a:cubicBezTo>
                <a:lnTo>
                  <a:pt x="376878" y="188439"/>
                </a:lnTo>
                <a:cubicBezTo>
                  <a:pt x="376878" y="292511"/>
                  <a:pt x="292511" y="376878"/>
                  <a:pt x="188439" y="376878"/>
                </a:cubicBezTo>
                <a:lnTo>
                  <a:pt x="188439" y="376878"/>
                </a:lnTo>
                <a:cubicBezTo>
                  <a:pt x="84367" y="376878"/>
                  <a:pt x="0" y="292511"/>
                  <a:pt x="0" y="188439"/>
                </a:cubicBezTo>
                <a:lnTo>
                  <a:pt x="0" y="188439"/>
                </a:lnTo>
                <a:cubicBezTo>
                  <a:pt x="0" y="84367"/>
                  <a:pt x="84367" y="0"/>
                  <a:pt x="188439" y="0"/>
                </a:cubicBezTo>
                <a:close/>
              </a:path>
            </a:pathLst>
          </a:custGeom>
          <a:solidFill>
            <a:srgbClr val="6B7280"/>
          </a:solidFill>
          <a:ln/>
        </p:spPr>
      </p:sp>
      <p:sp>
        <p:nvSpPr>
          <p:cNvPr id="60" name="Text 58"/>
          <p:cNvSpPr/>
          <p:nvPr/>
        </p:nvSpPr>
        <p:spPr>
          <a:xfrm>
            <a:off x="6550167" y="5521261"/>
            <a:ext cx="141329"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6</a:t>
            </a:r>
            <a:endParaRPr lang="en-US" sz="1600" dirty="0"/>
          </a:p>
        </p:txBody>
      </p:sp>
      <p:sp>
        <p:nvSpPr>
          <p:cNvPr id="61" name="Text 59"/>
          <p:cNvSpPr/>
          <p:nvPr/>
        </p:nvSpPr>
        <p:spPr>
          <a:xfrm>
            <a:off x="6888474" y="5445886"/>
            <a:ext cx="4418893" cy="188439"/>
          </a:xfrm>
          <a:prstGeom prst="rect">
            <a:avLst/>
          </a:prstGeom>
          <a:noFill/>
          <a:ln/>
        </p:spPr>
        <p:txBody>
          <a:bodyPr wrap="square" lIns="0" tIns="0" rIns="0" bIns="0" rtlCol="0" anchor="ctr"/>
          <a:lstStyle/>
          <a:p>
            <a:pPr>
              <a:lnSpc>
                <a:spcPct val="120000"/>
              </a:lnSpc>
            </a:pPr>
            <a:r>
              <a:rPr lang="en-US" sz="1039" b="1" dirty="0">
                <a:solidFill>
                  <a:srgbClr val="374151"/>
                </a:solidFill>
                <a:latin typeface="MiSans" pitchFamily="34" charset="0"/>
                <a:ea typeface="MiSans" pitchFamily="34" charset="-122"/>
                <a:cs typeface="MiSans" pitchFamily="34" charset="-120"/>
              </a:rPr>
              <a:t>Reporting Direction</a:t>
            </a:r>
            <a:endParaRPr lang="en-US" sz="1600" dirty="0"/>
          </a:p>
        </p:txBody>
      </p:sp>
      <p:sp>
        <p:nvSpPr>
          <p:cNvPr id="62" name="Text 60"/>
          <p:cNvSpPr/>
          <p:nvPr/>
        </p:nvSpPr>
        <p:spPr>
          <a:xfrm>
            <a:off x="6888474" y="5634325"/>
            <a:ext cx="4409471" cy="150751"/>
          </a:xfrm>
          <a:prstGeom prst="rect">
            <a:avLst/>
          </a:prstGeom>
          <a:noFill/>
          <a:ln/>
        </p:spPr>
        <p:txBody>
          <a:bodyPr wrap="square" lIns="0" tIns="0" rIns="0" bIns="0" rtlCol="0" anchor="ctr"/>
          <a:lstStyle/>
          <a:p>
            <a:pPr>
              <a:lnSpc>
                <a:spcPct val="110000"/>
              </a:lnSpc>
            </a:pPr>
            <a:r>
              <a:rPr lang="en-US" sz="890" dirty="0">
                <a:solidFill>
                  <a:srgbClr val="6B7280"/>
                </a:solidFill>
                <a:latin typeface="MiSans" pitchFamily="34" charset="0"/>
                <a:ea typeface="MiSans" pitchFamily="34" charset="-122"/>
                <a:cs typeface="MiSans" pitchFamily="34" charset="-120"/>
              </a:rPr>
              <a:t>Données manquantes</a:t>
            </a:r>
            <a:endParaRPr lang="en-US" sz="1600" dirty="0"/>
          </a:p>
        </p:txBody>
      </p:sp>
      <p:sp>
        <p:nvSpPr>
          <p:cNvPr id="63" name="Text 61"/>
          <p:cNvSpPr/>
          <p:nvPr/>
        </p:nvSpPr>
        <p:spPr>
          <a:xfrm>
            <a:off x="11355949" y="5464730"/>
            <a:ext cx="423988" cy="301502"/>
          </a:xfrm>
          <a:prstGeom prst="rect">
            <a:avLst/>
          </a:prstGeom>
          <a:noFill/>
          <a:ln/>
        </p:spPr>
        <p:txBody>
          <a:bodyPr wrap="square" lIns="0" tIns="0" rIns="0" bIns="0" rtlCol="0" anchor="ctr"/>
          <a:lstStyle/>
          <a:p>
            <a:pPr>
              <a:lnSpc>
                <a:spcPct val="110000"/>
              </a:lnSpc>
            </a:pPr>
            <a:r>
              <a:rPr lang="en-US" sz="1781" dirty="0">
                <a:solidFill>
                  <a:srgbClr val="374151"/>
                </a:solidFill>
                <a:latin typeface="Noto Sans SC" pitchFamily="34" charset="0"/>
                <a:ea typeface="Noto Sans SC" pitchFamily="34" charset="-122"/>
                <a:cs typeface="Noto Sans SC" pitchFamily="34" charset="-120"/>
              </a:rPr>
              <a:t>😩</a:t>
            </a:r>
            <a:endParaRPr lang="en-US" sz="1600" dirty="0"/>
          </a:p>
        </p:txBody>
      </p:sp>
      <p:sp>
        <p:nvSpPr>
          <p:cNvPr id="64" name="Shape 62"/>
          <p:cNvSpPr/>
          <p:nvPr/>
        </p:nvSpPr>
        <p:spPr>
          <a:xfrm>
            <a:off x="6247782" y="6067734"/>
            <a:ext cx="5568371" cy="414566"/>
          </a:xfrm>
          <a:custGeom>
            <a:avLst/>
            <a:gdLst/>
            <a:ahLst/>
            <a:cxnLst/>
            <a:rect l="l" t="t" r="r" b="b"/>
            <a:pathLst>
              <a:path w="5568371" h="414566">
                <a:moveTo>
                  <a:pt x="113065" y="0"/>
                </a:moveTo>
                <a:lnTo>
                  <a:pt x="5455306" y="0"/>
                </a:lnTo>
                <a:cubicBezTo>
                  <a:pt x="5517750" y="0"/>
                  <a:pt x="5568371" y="50621"/>
                  <a:pt x="5568371" y="113065"/>
                </a:cubicBezTo>
                <a:lnTo>
                  <a:pt x="5568371" y="301501"/>
                </a:lnTo>
                <a:cubicBezTo>
                  <a:pt x="5568371" y="363945"/>
                  <a:pt x="5517750" y="414566"/>
                  <a:pt x="5455306" y="414566"/>
                </a:cubicBezTo>
                <a:lnTo>
                  <a:pt x="113065" y="414566"/>
                </a:lnTo>
                <a:cubicBezTo>
                  <a:pt x="50663" y="414566"/>
                  <a:pt x="0" y="363903"/>
                  <a:pt x="0" y="301501"/>
                </a:cubicBezTo>
                <a:lnTo>
                  <a:pt x="0" y="113065"/>
                </a:lnTo>
                <a:cubicBezTo>
                  <a:pt x="0" y="50663"/>
                  <a:pt x="50663" y="0"/>
                  <a:pt x="113065" y="0"/>
                </a:cubicBezTo>
                <a:close/>
              </a:path>
            </a:pathLst>
          </a:custGeom>
          <a:solidFill>
            <a:srgbClr val="F97316"/>
          </a:solidFill>
          <a:ln/>
        </p:spPr>
      </p:sp>
      <p:sp>
        <p:nvSpPr>
          <p:cNvPr id="65" name="Shape 63"/>
          <p:cNvSpPr/>
          <p:nvPr/>
        </p:nvSpPr>
        <p:spPr>
          <a:xfrm>
            <a:off x="6384400" y="6190219"/>
            <a:ext cx="169595" cy="169595"/>
          </a:xfrm>
          <a:custGeom>
            <a:avLst/>
            <a:gdLst/>
            <a:ahLst/>
            <a:cxnLst/>
            <a:rect l="l" t="t" r="r" b="b"/>
            <a:pathLst>
              <a:path w="169595" h="169595">
                <a:moveTo>
                  <a:pt x="84798" y="169595"/>
                </a:moveTo>
                <a:cubicBezTo>
                  <a:pt x="131599" y="169595"/>
                  <a:pt x="169595" y="131599"/>
                  <a:pt x="169595" y="84798"/>
                </a:cubicBezTo>
                <a:cubicBezTo>
                  <a:pt x="169595" y="37996"/>
                  <a:pt x="131599" y="0"/>
                  <a:pt x="84798" y="0"/>
                </a:cubicBezTo>
                <a:cubicBezTo>
                  <a:pt x="37996" y="0"/>
                  <a:pt x="0" y="37996"/>
                  <a:pt x="0" y="84798"/>
                </a:cubicBezTo>
                <a:cubicBezTo>
                  <a:pt x="0" y="131599"/>
                  <a:pt x="37996" y="169595"/>
                  <a:pt x="84798" y="169595"/>
                </a:cubicBezTo>
                <a:close/>
                <a:moveTo>
                  <a:pt x="84798" y="45049"/>
                </a:moveTo>
                <a:cubicBezTo>
                  <a:pt x="89203" y="45049"/>
                  <a:pt x="92747" y="48593"/>
                  <a:pt x="92747" y="52998"/>
                </a:cubicBezTo>
                <a:lnTo>
                  <a:pt x="92747" y="90097"/>
                </a:lnTo>
                <a:cubicBezTo>
                  <a:pt x="92747" y="94503"/>
                  <a:pt x="89203" y="98047"/>
                  <a:pt x="84798" y="98047"/>
                </a:cubicBezTo>
                <a:cubicBezTo>
                  <a:pt x="80392" y="98047"/>
                  <a:pt x="76848" y="94503"/>
                  <a:pt x="76848" y="90097"/>
                </a:cubicBezTo>
                <a:lnTo>
                  <a:pt x="76848" y="52998"/>
                </a:lnTo>
                <a:cubicBezTo>
                  <a:pt x="76848" y="48593"/>
                  <a:pt x="80392" y="45049"/>
                  <a:pt x="84798" y="45049"/>
                </a:cubicBezTo>
                <a:close/>
                <a:moveTo>
                  <a:pt x="75953" y="116597"/>
                </a:moveTo>
                <a:cubicBezTo>
                  <a:pt x="75752" y="113314"/>
                  <a:pt x="77389" y="110190"/>
                  <a:pt x="80204" y="108488"/>
                </a:cubicBezTo>
                <a:cubicBezTo>
                  <a:pt x="83018" y="106786"/>
                  <a:pt x="86544" y="106786"/>
                  <a:pt x="89358" y="108488"/>
                </a:cubicBezTo>
                <a:cubicBezTo>
                  <a:pt x="92173" y="110190"/>
                  <a:pt x="93810" y="113314"/>
                  <a:pt x="93609" y="116597"/>
                </a:cubicBezTo>
                <a:cubicBezTo>
                  <a:pt x="93810" y="119879"/>
                  <a:pt x="92173" y="123003"/>
                  <a:pt x="89358" y="124705"/>
                </a:cubicBezTo>
                <a:cubicBezTo>
                  <a:pt x="86544" y="126407"/>
                  <a:pt x="83018" y="126407"/>
                  <a:pt x="80204" y="124705"/>
                </a:cubicBezTo>
                <a:cubicBezTo>
                  <a:pt x="77389" y="123003"/>
                  <a:pt x="75752" y="119879"/>
                  <a:pt x="75953" y="116597"/>
                </a:cubicBezTo>
                <a:close/>
              </a:path>
            </a:pathLst>
          </a:custGeom>
          <a:solidFill>
            <a:srgbClr val="FFFFFF"/>
          </a:solidFill>
          <a:ln/>
        </p:spPr>
      </p:sp>
      <p:sp>
        <p:nvSpPr>
          <p:cNvPr id="66" name="Text 64"/>
          <p:cNvSpPr/>
          <p:nvPr/>
        </p:nvSpPr>
        <p:spPr>
          <a:xfrm>
            <a:off x="6685902" y="6180798"/>
            <a:ext cx="2157626" cy="188439"/>
          </a:xfrm>
          <a:prstGeom prst="rect">
            <a:avLst/>
          </a:prstGeom>
          <a:noFill/>
          <a:ln/>
        </p:spPr>
        <p:txBody>
          <a:bodyPr wrap="square" lIns="0" tIns="0" rIns="0" bIns="0"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Friction maximale : Étapes 3-4</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36099" y="201660"/>
            <a:ext cx="1915766" cy="302489"/>
          </a:xfrm>
          <a:custGeom>
            <a:avLst/>
            <a:gdLst/>
            <a:ahLst/>
            <a:cxnLst/>
            <a:rect l="l" t="t" r="r" b="b"/>
            <a:pathLst>
              <a:path w="1915766" h="302489">
                <a:moveTo>
                  <a:pt x="151245" y="0"/>
                </a:moveTo>
                <a:lnTo>
                  <a:pt x="1764521" y="0"/>
                </a:lnTo>
                <a:cubicBezTo>
                  <a:pt x="1847995" y="0"/>
                  <a:pt x="1915766" y="67770"/>
                  <a:pt x="1915766" y="151245"/>
                </a:cubicBezTo>
                <a:lnTo>
                  <a:pt x="1915766" y="151245"/>
                </a:lnTo>
                <a:cubicBezTo>
                  <a:pt x="1915766" y="234719"/>
                  <a:pt x="1847995" y="302489"/>
                  <a:pt x="1764521" y="302489"/>
                </a:cubicBezTo>
                <a:lnTo>
                  <a:pt x="151245" y="302489"/>
                </a:lnTo>
                <a:cubicBezTo>
                  <a:pt x="67715" y="302489"/>
                  <a:pt x="0" y="234775"/>
                  <a:pt x="0" y="151245"/>
                </a:cubicBezTo>
                <a:lnTo>
                  <a:pt x="0" y="151245"/>
                </a:lnTo>
                <a:cubicBezTo>
                  <a:pt x="0" y="67715"/>
                  <a:pt x="67715" y="0"/>
                  <a:pt x="151245" y="0"/>
                </a:cubicBezTo>
                <a:close/>
              </a:path>
            </a:pathLst>
          </a:custGeom>
          <a:solidFill>
            <a:srgbClr val="10B981"/>
          </a:solidFill>
          <a:ln/>
        </p:spPr>
      </p:sp>
      <p:sp>
        <p:nvSpPr>
          <p:cNvPr id="3" name="Text 1"/>
          <p:cNvSpPr/>
          <p:nvPr/>
        </p:nvSpPr>
        <p:spPr>
          <a:xfrm>
            <a:off x="470539" y="268879"/>
            <a:ext cx="1705704" cy="168050"/>
          </a:xfrm>
          <a:prstGeom prst="rect">
            <a:avLst/>
          </a:prstGeom>
          <a:noFill/>
          <a:ln/>
        </p:spPr>
        <p:txBody>
          <a:bodyPr wrap="square" lIns="0" tIns="0" rIns="0" bIns="0" rtlCol="0" anchor="ctr"/>
          <a:lstStyle/>
          <a:p>
            <a:pPr>
              <a:lnSpc>
                <a:spcPct val="120000"/>
              </a:lnSpc>
            </a:pPr>
            <a:r>
              <a:rPr lang="en-US" sz="926" b="1" kern="0" spc="23" dirty="0">
                <a:solidFill>
                  <a:srgbClr val="FFFFFF"/>
                </a:solidFill>
                <a:latin typeface="MiSans" pitchFamily="34" charset="0"/>
                <a:ea typeface="MiSans" pitchFamily="34" charset="-122"/>
                <a:cs typeface="MiSans" pitchFamily="34" charset="-120"/>
              </a:rPr>
              <a:t>DISCOVERY - PERSONA 3/3</a:t>
            </a:r>
            <a:endParaRPr lang="en-US" sz="1600" dirty="0"/>
          </a:p>
        </p:txBody>
      </p:sp>
      <p:sp>
        <p:nvSpPr>
          <p:cNvPr id="4" name="Text 2"/>
          <p:cNvSpPr/>
          <p:nvPr/>
        </p:nvSpPr>
        <p:spPr>
          <a:xfrm>
            <a:off x="336099" y="873858"/>
            <a:ext cx="11671046" cy="336099"/>
          </a:xfrm>
          <a:prstGeom prst="rect">
            <a:avLst/>
          </a:prstGeom>
          <a:noFill/>
          <a:ln/>
        </p:spPr>
        <p:txBody>
          <a:bodyPr wrap="square" lIns="0" tIns="0" rIns="0" bIns="0" rtlCol="0" anchor="ctr"/>
          <a:lstStyle/>
          <a:p>
            <a:pPr>
              <a:lnSpc>
                <a:spcPct val="90000"/>
              </a:lnSpc>
            </a:pPr>
            <a:r>
              <a:rPr lang="en-US" sz="2382" b="1" dirty="0">
                <a:solidFill>
                  <a:srgbClr val="1E3A8A"/>
                </a:solidFill>
                <a:latin typeface="Noto Sans SC" pitchFamily="34" charset="0"/>
                <a:ea typeface="Noto Sans SC" pitchFamily="34" charset="-122"/>
                <a:cs typeface="Noto Sans SC" pitchFamily="34" charset="-120"/>
              </a:rPr>
              <a:t>Parties Prenantes Complémentaires</a:t>
            </a:r>
            <a:endParaRPr lang="en-US" sz="1600" dirty="0"/>
          </a:p>
        </p:txBody>
      </p:sp>
      <p:sp>
        <p:nvSpPr>
          <p:cNvPr id="5" name="Shape 3"/>
          <p:cNvSpPr/>
          <p:nvPr/>
        </p:nvSpPr>
        <p:spPr>
          <a:xfrm>
            <a:off x="336099" y="1411617"/>
            <a:ext cx="5621260" cy="873858"/>
          </a:xfrm>
          <a:custGeom>
            <a:avLst/>
            <a:gdLst/>
            <a:ahLst/>
            <a:cxnLst/>
            <a:rect l="l" t="t" r="r" b="b"/>
            <a:pathLst>
              <a:path w="5621260" h="873858">
                <a:moveTo>
                  <a:pt x="134443" y="0"/>
                </a:moveTo>
                <a:lnTo>
                  <a:pt x="5486817" y="0"/>
                </a:lnTo>
                <a:cubicBezTo>
                  <a:pt x="5561068" y="0"/>
                  <a:pt x="5621260" y="60192"/>
                  <a:pt x="5621260" y="134443"/>
                </a:cubicBezTo>
                <a:lnTo>
                  <a:pt x="5621260" y="739415"/>
                </a:lnTo>
                <a:cubicBezTo>
                  <a:pt x="5621260" y="813666"/>
                  <a:pt x="5561068" y="873858"/>
                  <a:pt x="5486817" y="873858"/>
                </a:cubicBezTo>
                <a:lnTo>
                  <a:pt x="134443" y="873858"/>
                </a:lnTo>
                <a:cubicBezTo>
                  <a:pt x="60242" y="873858"/>
                  <a:pt x="0" y="813616"/>
                  <a:pt x="0" y="739415"/>
                </a:cubicBezTo>
                <a:lnTo>
                  <a:pt x="0" y="134443"/>
                </a:lnTo>
                <a:cubicBezTo>
                  <a:pt x="0" y="60242"/>
                  <a:pt x="60242" y="0"/>
                  <a:pt x="134443" y="0"/>
                </a:cubicBezTo>
                <a:close/>
              </a:path>
            </a:pathLst>
          </a:custGeom>
          <a:solidFill>
            <a:srgbClr val="10B981"/>
          </a:solidFill>
          <a:ln/>
        </p:spPr>
      </p:sp>
      <p:sp>
        <p:nvSpPr>
          <p:cNvPr id="6" name="Shape 4"/>
          <p:cNvSpPr/>
          <p:nvPr/>
        </p:nvSpPr>
        <p:spPr>
          <a:xfrm>
            <a:off x="504149" y="1579666"/>
            <a:ext cx="537759" cy="537759"/>
          </a:xfrm>
          <a:custGeom>
            <a:avLst/>
            <a:gdLst/>
            <a:ahLst/>
            <a:cxnLst/>
            <a:rect l="l" t="t" r="r" b="b"/>
            <a:pathLst>
              <a:path w="537759" h="537759">
                <a:moveTo>
                  <a:pt x="268879" y="0"/>
                </a:moveTo>
                <a:lnTo>
                  <a:pt x="268879" y="0"/>
                </a:lnTo>
                <a:cubicBezTo>
                  <a:pt x="417377" y="0"/>
                  <a:pt x="537759" y="120381"/>
                  <a:pt x="537759" y="268879"/>
                </a:cubicBezTo>
                <a:lnTo>
                  <a:pt x="537759" y="268879"/>
                </a:lnTo>
                <a:cubicBezTo>
                  <a:pt x="537759" y="417377"/>
                  <a:pt x="417377" y="537759"/>
                  <a:pt x="268879" y="537759"/>
                </a:cubicBezTo>
                <a:lnTo>
                  <a:pt x="268879" y="537759"/>
                </a:lnTo>
                <a:cubicBezTo>
                  <a:pt x="120381" y="537759"/>
                  <a:pt x="0" y="417377"/>
                  <a:pt x="0" y="268879"/>
                </a:cubicBezTo>
                <a:lnTo>
                  <a:pt x="0" y="268879"/>
                </a:lnTo>
                <a:cubicBezTo>
                  <a:pt x="0" y="120381"/>
                  <a:pt x="120381" y="0"/>
                  <a:pt x="268879" y="0"/>
                </a:cubicBezTo>
                <a:close/>
              </a:path>
            </a:pathLst>
          </a:custGeom>
          <a:solidFill>
            <a:srgbClr val="FFFFFF"/>
          </a:solidFill>
          <a:ln/>
        </p:spPr>
      </p:sp>
      <p:sp>
        <p:nvSpPr>
          <p:cNvPr id="7" name="Shape 5"/>
          <p:cNvSpPr/>
          <p:nvPr/>
        </p:nvSpPr>
        <p:spPr>
          <a:xfrm>
            <a:off x="617582" y="1722509"/>
            <a:ext cx="315093" cy="252074"/>
          </a:xfrm>
          <a:custGeom>
            <a:avLst/>
            <a:gdLst/>
            <a:ahLst/>
            <a:cxnLst/>
            <a:rect l="l" t="t" r="r" b="b"/>
            <a:pathLst>
              <a:path w="315093" h="252074">
                <a:moveTo>
                  <a:pt x="204761" y="103636"/>
                </a:moveTo>
                <a:cubicBezTo>
                  <a:pt x="210768" y="102011"/>
                  <a:pt x="217070" y="104867"/>
                  <a:pt x="219777" y="110430"/>
                </a:cubicBezTo>
                <a:lnTo>
                  <a:pt x="228935" y="128942"/>
                </a:lnTo>
                <a:cubicBezTo>
                  <a:pt x="234006" y="129631"/>
                  <a:pt x="238978" y="131010"/>
                  <a:pt x="243656" y="132930"/>
                </a:cubicBezTo>
                <a:lnTo>
                  <a:pt x="260887" y="121459"/>
                </a:lnTo>
                <a:cubicBezTo>
                  <a:pt x="266057" y="118012"/>
                  <a:pt x="272900" y="118701"/>
                  <a:pt x="277282" y="123083"/>
                </a:cubicBezTo>
                <a:lnTo>
                  <a:pt x="286735" y="132536"/>
                </a:lnTo>
                <a:cubicBezTo>
                  <a:pt x="291116" y="136918"/>
                  <a:pt x="291806" y="143810"/>
                  <a:pt x="288359" y="148931"/>
                </a:cubicBezTo>
                <a:lnTo>
                  <a:pt x="276888" y="166113"/>
                </a:lnTo>
                <a:cubicBezTo>
                  <a:pt x="277823" y="168427"/>
                  <a:pt x="278660" y="170840"/>
                  <a:pt x="279350" y="173350"/>
                </a:cubicBezTo>
                <a:cubicBezTo>
                  <a:pt x="280039" y="175861"/>
                  <a:pt x="280482" y="178323"/>
                  <a:pt x="280827" y="180834"/>
                </a:cubicBezTo>
                <a:lnTo>
                  <a:pt x="299388" y="189991"/>
                </a:lnTo>
                <a:cubicBezTo>
                  <a:pt x="304951" y="192748"/>
                  <a:pt x="307807" y="199050"/>
                  <a:pt x="306182" y="205007"/>
                </a:cubicBezTo>
                <a:lnTo>
                  <a:pt x="302735" y="217907"/>
                </a:lnTo>
                <a:cubicBezTo>
                  <a:pt x="301111" y="223864"/>
                  <a:pt x="295547" y="227901"/>
                  <a:pt x="289344" y="227507"/>
                </a:cubicBezTo>
                <a:lnTo>
                  <a:pt x="268666" y="226178"/>
                </a:lnTo>
                <a:cubicBezTo>
                  <a:pt x="265564" y="230166"/>
                  <a:pt x="261970" y="233858"/>
                  <a:pt x="257884" y="237009"/>
                </a:cubicBezTo>
                <a:lnTo>
                  <a:pt x="259213" y="257638"/>
                </a:lnTo>
                <a:cubicBezTo>
                  <a:pt x="259607" y="263841"/>
                  <a:pt x="255570" y="269454"/>
                  <a:pt x="249613" y="271029"/>
                </a:cubicBezTo>
                <a:lnTo>
                  <a:pt x="236714" y="274476"/>
                </a:lnTo>
                <a:cubicBezTo>
                  <a:pt x="230707" y="276100"/>
                  <a:pt x="224455" y="273245"/>
                  <a:pt x="221697" y="267681"/>
                </a:cubicBezTo>
                <a:lnTo>
                  <a:pt x="212540" y="249170"/>
                </a:lnTo>
                <a:cubicBezTo>
                  <a:pt x="207469" y="248480"/>
                  <a:pt x="202497" y="247102"/>
                  <a:pt x="197819" y="245182"/>
                </a:cubicBezTo>
                <a:lnTo>
                  <a:pt x="180588" y="256653"/>
                </a:lnTo>
                <a:cubicBezTo>
                  <a:pt x="175418" y="260099"/>
                  <a:pt x="168575" y="259410"/>
                  <a:pt x="164193" y="255028"/>
                </a:cubicBezTo>
                <a:lnTo>
                  <a:pt x="154740" y="245576"/>
                </a:lnTo>
                <a:cubicBezTo>
                  <a:pt x="150358" y="241194"/>
                  <a:pt x="149669" y="234350"/>
                  <a:pt x="153116" y="229181"/>
                </a:cubicBezTo>
                <a:lnTo>
                  <a:pt x="164587" y="211949"/>
                </a:lnTo>
                <a:cubicBezTo>
                  <a:pt x="163651" y="209635"/>
                  <a:pt x="162814" y="207223"/>
                  <a:pt x="162125" y="204712"/>
                </a:cubicBezTo>
                <a:cubicBezTo>
                  <a:pt x="161436" y="202201"/>
                  <a:pt x="160993" y="199690"/>
                  <a:pt x="160648" y="197229"/>
                </a:cubicBezTo>
                <a:lnTo>
                  <a:pt x="142087" y="188071"/>
                </a:lnTo>
                <a:cubicBezTo>
                  <a:pt x="136524" y="185314"/>
                  <a:pt x="133718" y="179012"/>
                  <a:pt x="135293" y="173055"/>
                </a:cubicBezTo>
                <a:lnTo>
                  <a:pt x="138739" y="160156"/>
                </a:lnTo>
                <a:cubicBezTo>
                  <a:pt x="140364" y="154199"/>
                  <a:pt x="145927" y="150162"/>
                  <a:pt x="152131" y="150555"/>
                </a:cubicBezTo>
                <a:lnTo>
                  <a:pt x="172760" y="151885"/>
                </a:lnTo>
                <a:cubicBezTo>
                  <a:pt x="175861" y="147897"/>
                  <a:pt x="179455" y="144204"/>
                  <a:pt x="183542" y="141053"/>
                </a:cubicBezTo>
                <a:lnTo>
                  <a:pt x="182212" y="120474"/>
                </a:lnTo>
                <a:cubicBezTo>
                  <a:pt x="181819" y="114270"/>
                  <a:pt x="185856" y="108658"/>
                  <a:pt x="191813" y="107082"/>
                </a:cubicBezTo>
                <a:lnTo>
                  <a:pt x="204712" y="103636"/>
                </a:lnTo>
                <a:close/>
                <a:moveTo>
                  <a:pt x="220762" y="167393"/>
                </a:moveTo>
                <a:cubicBezTo>
                  <a:pt x="208806" y="167407"/>
                  <a:pt x="199110" y="177125"/>
                  <a:pt x="199124" y="189080"/>
                </a:cubicBezTo>
                <a:cubicBezTo>
                  <a:pt x="199138" y="201036"/>
                  <a:pt x="208855" y="210732"/>
                  <a:pt x="220811" y="210718"/>
                </a:cubicBezTo>
                <a:cubicBezTo>
                  <a:pt x="232767" y="210705"/>
                  <a:pt x="242463" y="200987"/>
                  <a:pt x="242449" y="189031"/>
                </a:cubicBezTo>
                <a:cubicBezTo>
                  <a:pt x="242436" y="177075"/>
                  <a:pt x="232718" y="167380"/>
                  <a:pt x="220762" y="167393"/>
                </a:cubicBezTo>
                <a:close/>
                <a:moveTo>
                  <a:pt x="110726" y="-22401"/>
                </a:moveTo>
                <a:lnTo>
                  <a:pt x="123625" y="-18955"/>
                </a:lnTo>
                <a:cubicBezTo>
                  <a:pt x="129582" y="-17330"/>
                  <a:pt x="133619" y="-11718"/>
                  <a:pt x="133225" y="-5563"/>
                </a:cubicBezTo>
                <a:lnTo>
                  <a:pt x="131896" y="15016"/>
                </a:lnTo>
                <a:cubicBezTo>
                  <a:pt x="135982" y="18167"/>
                  <a:pt x="139576" y="21810"/>
                  <a:pt x="142678" y="25847"/>
                </a:cubicBezTo>
                <a:lnTo>
                  <a:pt x="163356" y="24518"/>
                </a:lnTo>
                <a:cubicBezTo>
                  <a:pt x="169510" y="24124"/>
                  <a:pt x="175123" y="28161"/>
                  <a:pt x="176748" y="34119"/>
                </a:cubicBezTo>
                <a:lnTo>
                  <a:pt x="180194" y="47018"/>
                </a:lnTo>
                <a:cubicBezTo>
                  <a:pt x="181769" y="52975"/>
                  <a:pt x="178963" y="59277"/>
                  <a:pt x="173400" y="62034"/>
                </a:cubicBezTo>
                <a:lnTo>
                  <a:pt x="154839" y="71191"/>
                </a:lnTo>
                <a:cubicBezTo>
                  <a:pt x="154494" y="73702"/>
                  <a:pt x="154002" y="76213"/>
                  <a:pt x="153362" y="78675"/>
                </a:cubicBezTo>
                <a:cubicBezTo>
                  <a:pt x="152722" y="81136"/>
                  <a:pt x="151835" y="83598"/>
                  <a:pt x="150900" y="85912"/>
                </a:cubicBezTo>
                <a:lnTo>
                  <a:pt x="162371" y="103144"/>
                </a:lnTo>
                <a:cubicBezTo>
                  <a:pt x="165818" y="108313"/>
                  <a:pt x="165128" y="115157"/>
                  <a:pt x="160747" y="119538"/>
                </a:cubicBezTo>
                <a:lnTo>
                  <a:pt x="151294" y="128991"/>
                </a:lnTo>
                <a:cubicBezTo>
                  <a:pt x="146912" y="133373"/>
                  <a:pt x="140069" y="134062"/>
                  <a:pt x="134899" y="130616"/>
                </a:cubicBezTo>
                <a:lnTo>
                  <a:pt x="117668" y="119145"/>
                </a:lnTo>
                <a:cubicBezTo>
                  <a:pt x="112990" y="121065"/>
                  <a:pt x="108018" y="122443"/>
                  <a:pt x="102947" y="123132"/>
                </a:cubicBezTo>
                <a:lnTo>
                  <a:pt x="93789" y="141644"/>
                </a:lnTo>
                <a:cubicBezTo>
                  <a:pt x="91032" y="147208"/>
                  <a:pt x="84730" y="150014"/>
                  <a:pt x="78773" y="148438"/>
                </a:cubicBezTo>
                <a:lnTo>
                  <a:pt x="65874" y="144992"/>
                </a:lnTo>
                <a:cubicBezTo>
                  <a:pt x="59868" y="143367"/>
                  <a:pt x="55880" y="137755"/>
                  <a:pt x="56274" y="131601"/>
                </a:cubicBezTo>
                <a:lnTo>
                  <a:pt x="57603" y="110972"/>
                </a:lnTo>
                <a:cubicBezTo>
                  <a:pt x="53517" y="107821"/>
                  <a:pt x="49923" y="104178"/>
                  <a:pt x="46821" y="100141"/>
                </a:cubicBezTo>
                <a:lnTo>
                  <a:pt x="26143" y="101470"/>
                </a:lnTo>
                <a:cubicBezTo>
                  <a:pt x="19989" y="101864"/>
                  <a:pt x="14376" y="97827"/>
                  <a:pt x="12751" y="91869"/>
                </a:cubicBezTo>
                <a:lnTo>
                  <a:pt x="9305" y="78970"/>
                </a:lnTo>
                <a:cubicBezTo>
                  <a:pt x="7730" y="73013"/>
                  <a:pt x="10536" y="66711"/>
                  <a:pt x="16099" y="63954"/>
                </a:cubicBezTo>
                <a:lnTo>
                  <a:pt x="34660" y="54797"/>
                </a:lnTo>
                <a:cubicBezTo>
                  <a:pt x="35005" y="52286"/>
                  <a:pt x="35497" y="49824"/>
                  <a:pt x="36137" y="47313"/>
                </a:cubicBezTo>
                <a:cubicBezTo>
                  <a:pt x="36826" y="44802"/>
                  <a:pt x="37614" y="42390"/>
                  <a:pt x="38599" y="40076"/>
                </a:cubicBezTo>
                <a:lnTo>
                  <a:pt x="27128" y="22893"/>
                </a:lnTo>
                <a:cubicBezTo>
                  <a:pt x="23681" y="17724"/>
                  <a:pt x="24370" y="10881"/>
                  <a:pt x="28752" y="6499"/>
                </a:cubicBezTo>
                <a:lnTo>
                  <a:pt x="38205" y="-2954"/>
                </a:lnTo>
                <a:cubicBezTo>
                  <a:pt x="42587" y="-7336"/>
                  <a:pt x="49430" y="-8025"/>
                  <a:pt x="54600" y="-4579"/>
                </a:cubicBezTo>
                <a:lnTo>
                  <a:pt x="71831" y="6893"/>
                </a:lnTo>
                <a:cubicBezTo>
                  <a:pt x="76509" y="4973"/>
                  <a:pt x="81481" y="3594"/>
                  <a:pt x="86552" y="2905"/>
                </a:cubicBezTo>
                <a:lnTo>
                  <a:pt x="95710" y="-15607"/>
                </a:lnTo>
                <a:cubicBezTo>
                  <a:pt x="98467" y="-21170"/>
                  <a:pt x="104719" y="-23977"/>
                  <a:pt x="110726" y="-22401"/>
                </a:cubicBezTo>
                <a:close/>
                <a:moveTo>
                  <a:pt x="94725" y="41356"/>
                </a:moveTo>
                <a:cubicBezTo>
                  <a:pt x="82769" y="41356"/>
                  <a:pt x="73062" y="51063"/>
                  <a:pt x="73062" y="63019"/>
                </a:cubicBezTo>
                <a:cubicBezTo>
                  <a:pt x="73062" y="74975"/>
                  <a:pt x="82769" y="84681"/>
                  <a:pt x="94725" y="84681"/>
                </a:cubicBezTo>
                <a:cubicBezTo>
                  <a:pt x="106681" y="84681"/>
                  <a:pt x="116387" y="74975"/>
                  <a:pt x="116387" y="63019"/>
                </a:cubicBezTo>
                <a:cubicBezTo>
                  <a:pt x="116387" y="51063"/>
                  <a:pt x="106681" y="41356"/>
                  <a:pt x="94725" y="41356"/>
                </a:cubicBezTo>
                <a:close/>
              </a:path>
            </a:pathLst>
          </a:custGeom>
          <a:solidFill>
            <a:srgbClr val="10B981"/>
          </a:solidFill>
          <a:ln/>
        </p:spPr>
      </p:sp>
      <p:sp>
        <p:nvSpPr>
          <p:cNvPr id="8" name="Text 6"/>
          <p:cNvSpPr/>
          <p:nvPr/>
        </p:nvSpPr>
        <p:spPr>
          <a:xfrm>
            <a:off x="1176347" y="1596471"/>
            <a:ext cx="1478837" cy="268879"/>
          </a:xfrm>
          <a:prstGeom prst="rect">
            <a:avLst/>
          </a:prstGeom>
          <a:noFill/>
          <a:ln/>
        </p:spPr>
        <p:txBody>
          <a:bodyPr wrap="square" lIns="0" tIns="0" rIns="0" bIns="0" rtlCol="0" anchor="ctr"/>
          <a:lstStyle/>
          <a:p>
            <a:pPr>
              <a:lnSpc>
                <a:spcPct val="110000"/>
              </a:lnSpc>
            </a:pPr>
            <a:r>
              <a:rPr lang="en-US" sz="1588" b="1" dirty="0">
                <a:solidFill>
                  <a:srgbClr val="FFFFFF"/>
                </a:solidFill>
                <a:latin typeface="Noto Sans SC" pitchFamily="34" charset="0"/>
                <a:ea typeface="Noto Sans SC" pitchFamily="34" charset="-122"/>
                <a:cs typeface="Noto Sans SC" pitchFamily="34" charset="-120"/>
              </a:rPr>
              <a:t>Thomas Leroy</a:t>
            </a:r>
            <a:endParaRPr lang="en-US" sz="1600" dirty="0"/>
          </a:p>
        </p:txBody>
      </p:sp>
      <p:sp>
        <p:nvSpPr>
          <p:cNvPr id="9" name="Text 7"/>
          <p:cNvSpPr/>
          <p:nvPr/>
        </p:nvSpPr>
        <p:spPr>
          <a:xfrm>
            <a:off x="1176347" y="1865351"/>
            <a:ext cx="1453629" cy="235269"/>
          </a:xfrm>
          <a:prstGeom prst="rect">
            <a:avLst/>
          </a:prstGeom>
          <a:noFill/>
          <a:ln/>
        </p:spPr>
        <p:txBody>
          <a:bodyPr wrap="square" lIns="0" tIns="0" rIns="0" bIns="0" rtlCol="0" anchor="ctr"/>
          <a:lstStyle/>
          <a:p>
            <a:pPr>
              <a:lnSpc>
                <a:spcPct val="130000"/>
              </a:lnSpc>
            </a:pPr>
            <a:r>
              <a:rPr lang="en-US" sz="1191" dirty="0">
                <a:solidFill>
                  <a:srgbClr val="FFFFFF">
                    <a:alpha val="80000"/>
                  </a:srgbClr>
                </a:solidFill>
                <a:latin typeface="MiSans" pitchFamily="34" charset="0"/>
                <a:ea typeface="MiSans" pitchFamily="34" charset="-122"/>
                <a:cs typeface="MiSans" pitchFamily="34" charset="-120"/>
              </a:rPr>
              <a:t>Ingénieur Process</a:t>
            </a:r>
            <a:endParaRPr lang="en-US" sz="1600" dirty="0"/>
          </a:p>
        </p:txBody>
      </p:sp>
      <p:sp>
        <p:nvSpPr>
          <p:cNvPr id="10" name="Shape 8"/>
          <p:cNvSpPr/>
          <p:nvPr/>
        </p:nvSpPr>
        <p:spPr>
          <a:xfrm>
            <a:off x="336099" y="2419915"/>
            <a:ext cx="5621260" cy="3360992"/>
          </a:xfrm>
          <a:custGeom>
            <a:avLst/>
            <a:gdLst/>
            <a:ahLst/>
            <a:cxnLst/>
            <a:rect l="l" t="t" r="r" b="b"/>
            <a:pathLst>
              <a:path w="5621260" h="3360992">
                <a:moveTo>
                  <a:pt x="134440" y="0"/>
                </a:moveTo>
                <a:lnTo>
                  <a:pt x="5486820" y="0"/>
                </a:lnTo>
                <a:cubicBezTo>
                  <a:pt x="5561069" y="0"/>
                  <a:pt x="5621260" y="60191"/>
                  <a:pt x="5621260" y="134440"/>
                </a:cubicBezTo>
                <a:lnTo>
                  <a:pt x="5621260" y="3226553"/>
                </a:lnTo>
                <a:cubicBezTo>
                  <a:pt x="5621260" y="3300802"/>
                  <a:pt x="5561069" y="3360992"/>
                  <a:pt x="5486820" y="3360992"/>
                </a:cubicBezTo>
                <a:lnTo>
                  <a:pt x="134440" y="3360992"/>
                </a:lnTo>
                <a:cubicBezTo>
                  <a:pt x="60191" y="3360992"/>
                  <a:pt x="0" y="3300802"/>
                  <a:pt x="0" y="3226553"/>
                </a:cubicBezTo>
                <a:lnTo>
                  <a:pt x="0" y="134440"/>
                </a:lnTo>
                <a:cubicBezTo>
                  <a:pt x="0" y="60191"/>
                  <a:pt x="60191" y="0"/>
                  <a:pt x="134440" y="0"/>
                </a:cubicBezTo>
                <a:close/>
              </a:path>
            </a:pathLst>
          </a:custGeom>
          <a:solidFill>
            <a:srgbClr val="F3F4F6"/>
          </a:solidFill>
          <a:ln/>
        </p:spPr>
      </p:sp>
      <p:sp>
        <p:nvSpPr>
          <p:cNvPr id="11" name="Shape 9"/>
          <p:cNvSpPr/>
          <p:nvPr/>
        </p:nvSpPr>
        <p:spPr>
          <a:xfrm>
            <a:off x="525155" y="2621574"/>
            <a:ext cx="168050" cy="168050"/>
          </a:xfrm>
          <a:custGeom>
            <a:avLst/>
            <a:gdLst/>
            <a:ahLst/>
            <a:cxnLst/>
            <a:rect l="l" t="t" r="r" b="b"/>
            <a:pathLst>
              <a:path w="168050" h="168050">
                <a:moveTo>
                  <a:pt x="43916" y="11914"/>
                </a:moveTo>
                <a:cubicBezTo>
                  <a:pt x="47494" y="14409"/>
                  <a:pt x="48347" y="19332"/>
                  <a:pt x="45853" y="22877"/>
                </a:cubicBezTo>
                <a:lnTo>
                  <a:pt x="27472" y="49135"/>
                </a:lnTo>
                <a:cubicBezTo>
                  <a:pt x="26126" y="51039"/>
                  <a:pt x="24026" y="52253"/>
                  <a:pt x="21695" y="52450"/>
                </a:cubicBezTo>
                <a:cubicBezTo>
                  <a:pt x="19365" y="52647"/>
                  <a:pt x="17068" y="51859"/>
                  <a:pt x="15426" y="50218"/>
                </a:cubicBezTo>
                <a:lnTo>
                  <a:pt x="2298" y="37089"/>
                </a:lnTo>
                <a:cubicBezTo>
                  <a:pt x="-755" y="34004"/>
                  <a:pt x="-755" y="29015"/>
                  <a:pt x="2298" y="25930"/>
                </a:cubicBezTo>
                <a:cubicBezTo>
                  <a:pt x="5350" y="22844"/>
                  <a:pt x="10372" y="22877"/>
                  <a:pt x="13457" y="25930"/>
                </a:cubicBezTo>
                <a:lnTo>
                  <a:pt x="19956" y="32428"/>
                </a:lnTo>
                <a:lnTo>
                  <a:pt x="32953" y="13851"/>
                </a:lnTo>
                <a:cubicBezTo>
                  <a:pt x="35448" y="10273"/>
                  <a:pt x="40371" y="9420"/>
                  <a:pt x="43916" y="11914"/>
                </a:cubicBezTo>
                <a:close/>
                <a:moveTo>
                  <a:pt x="43916" y="64430"/>
                </a:moveTo>
                <a:cubicBezTo>
                  <a:pt x="47494" y="66924"/>
                  <a:pt x="48347" y="71848"/>
                  <a:pt x="45853" y="75393"/>
                </a:cubicBezTo>
                <a:lnTo>
                  <a:pt x="27472" y="101650"/>
                </a:lnTo>
                <a:cubicBezTo>
                  <a:pt x="26126" y="103554"/>
                  <a:pt x="24026" y="104768"/>
                  <a:pt x="21695" y="104965"/>
                </a:cubicBezTo>
                <a:cubicBezTo>
                  <a:pt x="19365" y="105162"/>
                  <a:pt x="17068" y="104375"/>
                  <a:pt x="15426" y="102733"/>
                </a:cubicBezTo>
                <a:lnTo>
                  <a:pt x="2298" y="89605"/>
                </a:lnTo>
                <a:cubicBezTo>
                  <a:pt x="-788" y="86519"/>
                  <a:pt x="-788" y="81530"/>
                  <a:pt x="2298" y="78478"/>
                </a:cubicBezTo>
                <a:cubicBezTo>
                  <a:pt x="5383" y="75425"/>
                  <a:pt x="10372" y="75393"/>
                  <a:pt x="13424" y="78478"/>
                </a:cubicBezTo>
                <a:lnTo>
                  <a:pt x="19923" y="84977"/>
                </a:lnTo>
                <a:lnTo>
                  <a:pt x="32921" y="66399"/>
                </a:lnTo>
                <a:cubicBezTo>
                  <a:pt x="35415" y="62822"/>
                  <a:pt x="40338" y="61968"/>
                  <a:pt x="43883" y="64463"/>
                </a:cubicBezTo>
                <a:close/>
                <a:moveTo>
                  <a:pt x="73522" y="31509"/>
                </a:moveTo>
                <a:cubicBezTo>
                  <a:pt x="73522" y="25700"/>
                  <a:pt x="78215" y="21006"/>
                  <a:pt x="84025" y="21006"/>
                </a:cubicBezTo>
                <a:lnTo>
                  <a:pt x="157547" y="21006"/>
                </a:lnTo>
                <a:cubicBezTo>
                  <a:pt x="163356" y="21006"/>
                  <a:pt x="168050" y="25700"/>
                  <a:pt x="168050" y="31509"/>
                </a:cubicBezTo>
                <a:cubicBezTo>
                  <a:pt x="168050" y="37319"/>
                  <a:pt x="163356" y="42012"/>
                  <a:pt x="157547" y="42012"/>
                </a:cubicBezTo>
                <a:lnTo>
                  <a:pt x="84025" y="42012"/>
                </a:lnTo>
                <a:cubicBezTo>
                  <a:pt x="78215" y="42012"/>
                  <a:pt x="73522" y="37319"/>
                  <a:pt x="73522" y="31509"/>
                </a:cubicBezTo>
                <a:close/>
                <a:moveTo>
                  <a:pt x="73522" y="84025"/>
                </a:moveTo>
                <a:cubicBezTo>
                  <a:pt x="73522" y="78215"/>
                  <a:pt x="78215" y="73522"/>
                  <a:pt x="84025" y="73522"/>
                </a:cubicBezTo>
                <a:lnTo>
                  <a:pt x="157547" y="73522"/>
                </a:lnTo>
                <a:cubicBezTo>
                  <a:pt x="163356" y="73522"/>
                  <a:pt x="168050" y="78215"/>
                  <a:pt x="168050" y="84025"/>
                </a:cubicBezTo>
                <a:cubicBezTo>
                  <a:pt x="168050" y="89834"/>
                  <a:pt x="163356" y="94528"/>
                  <a:pt x="157547" y="94528"/>
                </a:cubicBezTo>
                <a:lnTo>
                  <a:pt x="84025" y="94528"/>
                </a:lnTo>
                <a:cubicBezTo>
                  <a:pt x="78215" y="94528"/>
                  <a:pt x="73522" y="89834"/>
                  <a:pt x="73522" y="84025"/>
                </a:cubicBezTo>
                <a:close/>
                <a:moveTo>
                  <a:pt x="52516" y="136540"/>
                </a:moveTo>
                <a:cubicBezTo>
                  <a:pt x="52516" y="130731"/>
                  <a:pt x="57209" y="126037"/>
                  <a:pt x="63019" y="126037"/>
                </a:cubicBezTo>
                <a:lnTo>
                  <a:pt x="157547" y="126037"/>
                </a:lnTo>
                <a:cubicBezTo>
                  <a:pt x="163356" y="126037"/>
                  <a:pt x="168050" y="130731"/>
                  <a:pt x="168050" y="136540"/>
                </a:cubicBezTo>
                <a:cubicBezTo>
                  <a:pt x="168050" y="142350"/>
                  <a:pt x="163356" y="147043"/>
                  <a:pt x="157547" y="147043"/>
                </a:cubicBezTo>
                <a:lnTo>
                  <a:pt x="63019" y="147043"/>
                </a:lnTo>
                <a:cubicBezTo>
                  <a:pt x="57209" y="147043"/>
                  <a:pt x="52516" y="142350"/>
                  <a:pt x="52516" y="136540"/>
                </a:cubicBezTo>
                <a:close/>
                <a:moveTo>
                  <a:pt x="21006" y="123411"/>
                </a:moveTo>
                <a:cubicBezTo>
                  <a:pt x="28252" y="123411"/>
                  <a:pt x="34135" y="129294"/>
                  <a:pt x="34135" y="136540"/>
                </a:cubicBezTo>
                <a:cubicBezTo>
                  <a:pt x="34135" y="143786"/>
                  <a:pt x="28252" y="149669"/>
                  <a:pt x="21006" y="149669"/>
                </a:cubicBezTo>
                <a:cubicBezTo>
                  <a:pt x="13760" y="149669"/>
                  <a:pt x="7877" y="143786"/>
                  <a:pt x="7877" y="136540"/>
                </a:cubicBezTo>
                <a:cubicBezTo>
                  <a:pt x="7877" y="129294"/>
                  <a:pt x="13760" y="123411"/>
                  <a:pt x="21006" y="123411"/>
                </a:cubicBezTo>
                <a:close/>
              </a:path>
            </a:pathLst>
          </a:custGeom>
          <a:solidFill>
            <a:srgbClr val="10B981"/>
          </a:solidFill>
          <a:ln/>
        </p:spPr>
      </p:sp>
      <p:sp>
        <p:nvSpPr>
          <p:cNvPr id="12" name="Text 10"/>
          <p:cNvSpPr/>
          <p:nvPr/>
        </p:nvSpPr>
        <p:spPr>
          <a:xfrm>
            <a:off x="781431" y="2587964"/>
            <a:ext cx="638589" cy="235269"/>
          </a:xfrm>
          <a:prstGeom prst="rect">
            <a:avLst/>
          </a:prstGeom>
          <a:noFill/>
          <a:ln/>
        </p:spPr>
        <p:txBody>
          <a:bodyPr wrap="square" lIns="0" tIns="0" rIns="0" bIns="0" rtlCol="0" anchor="ctr"/>
          <a:lstStyle/>
          <a:p>
            <a:pPr>
              <a:lnSpc>
                <a:spcPct val="130000"/>
              </a:lnSpc>
            </a:pPr>
            <a:r>
              <a:rPr lang="en-US" sz="1191" b="1" dirty="0">
                <a:solidFill>
                  <a:srgbClr val="1E3A8A"/>
                </a:solidFill>
                <a:latin typeface="MiSans" pitchFamily="34" charset="0"/>
                <a:ea typeface="MiSans" pitchFamily="34" charset="-122"/>
                <a:cs typeface="MiSans" pitchFamily="34" charset="-120"/>
              </a:rPr>
              <a:t>Mission</a:t>
            </a:r>
            <a:endParaRPr lang="en-US" sz="1600" dirty="0"/>
          </a:p>
        </p:txBody>
      </p:sp>
      <p:sp>
        <p:nvSpPr>
          <p:cNvPr id="13" name="Text 11"/>
          <p:cNvSpPr/>
          <p:nvPr/>
        </p:nvSpPr>
        <p:spPr>
          <a:xfrm>
            <a:off x="504149" y="2924063"/>
            <a:ext cx="5352380" cy="218465"/>
          </a:xfrm>
          <a:prstGeom prst="rect">
            <a:avLst/>
          </a:prstGeom>
          <a:noFill/>
          <a:ln/>
        </p:spPr>
        <p:txBody>
          <a:bodyPr wrap="square" lIns="0" tIns="0" rIns="0" bIns="0" rtlCol="0" anchor="ctr"/>
          <a:lstStyle/>
          <a:p>
            <a:pPr>
              <a:lnSpc>
                <a:spcPct val="140000"/>
              </a:lnSpc>
            </a:pPr>
            <a:r>
              <a:rPr lang="en-US" sz="1059" dirty="0">
                <a:solidFill>
                  <a:srgbClr val="374151"/>
                </a:solidFill>
                <a:latin typeface="MiSans" pitchFamily="34" charset="0"/>
                <a:ea typeface="MiSans" pitchFamily="34" charset="-122"/>
                <a:cs typeface="MiSans" pitchFamily="34" charset="-120"/>
              </a:rPr>
              <a:t>Amélioration continue, </a:t>
            </a:r>
            <a:r>
              <a:rPr lang="en-US" sz="1059" b="1" dirty="0">
                <a:solidFill>
                  <a:srgbClr val="1E3A8A"/>
                </a:solidFill>
                <a:latin typeface="MiSans" pitchFamily="34" charset="0"/>
                <a:ea typeface="MiSans" pitchFamily="34" charset="-122"/>
                <a:cs typeface="MiSans" pitchFamily="34" charset="-120"/>
              </a:rPr>
              <a:t>optimisation paramètres machines</a:t>
            </a:r>
            <a:endParaRPr lang="en-US" sz="1600" dirty="0"/>
          </a:p>
        </p:txBody>
      </p:sp>
      <p:sp>
        <p:nvSpPr>
          <p:cNvPr id="14" name="Shape 12"/>
          <p:cNvSpPr/>
          <p:nvPr/>
        </p:nvSpPr>
        <p:spPr>
          <a:xfrm>
            <a:off x="525155" y="3671884"/>
            <a:ext cx="168050" cy="168050"/>
          </a:xfrm>
          <a:custGeom>
            <a:avLst/>
            <a:gdLst/>
            <a:ahLst/>
            <a:cxnLst/>
            <a:rect l="l" t="t" r="r" b="b"/>
            <a:pathLst>
              <a:path w="168050" h="168050">
                <a:moveTo>
                  <a:pt x="84025" y="0"/>
                </a:moveTo>
                <a:cubicBezTo>
                  <a:pt x="88850" y="0"/>
                  <a:pt x="93281" y="2659"/>
                  <a:pt x="95578" y="6893"/>
                </a:cubicBezTo>
                <a:lnTo>
                  <a:pt x="166474" y="138181"/>
                </a:lnTo>
                <a:cubicBezTo>
                  <a:pt x="168673" y="142251"/>
                  <a:pt x="168575" y="147175"/>
                  <a:pt x="166212" y="151146"/>
                </a:cubicBezTo>
                <a:cubicBezTo>
                  <a:pt x="163848" y="155118"/>
                  <a:pt x="159549" y="157547"/>
                  <a:pt x="154921" y="157547"/>
                </a:cubicBezTo>
                <a:lnTo>
                  <a:pt x="13129" y="157547"/>
                </a:lnTo>
                <a:cubicBezTo>
                  <a:pt x="8501" y="157547"/>
                  <a:pt x="4234" y="155118"/>
                  <a:pt x="1838" y="151146"/>
                </a:cubicBezTo>
                <a:cubicBezTo>
                  <a:pt x="-558" y="147175"/>
                  <a:pt x="-624" y="142251"/>
                  <a:pt x="1575" y="138181"/>
                </a:cubicBezTo>
                <a:lnTo>
                  <a:pt x="72471" y="6893"/>
                </a:lnTo>
                <a:cubicBezTo>
                  <a:pt x="74769" y="2659"/>
                  <a:pt x="79200" y="0"/>
                  <a:pt x="84025" y="0"/>
                </a:cubicBezTo>
                <a:close/>
                <a:moveTo>
                  <a:pt x="84025" y="55141"/>
                </a:moveTo>
                <a:cubicBezTo>
                  <a:pt x="79659" y="55141"/>
                  <a:pt x="76147" y="58653"/>
                  <a:pt x="76147" y="63019"/>
                </a:cubicBezTo>
                <a:lnTo>
                  <a:pt x="76147" y="99779"/>
                </a:lnTo>
                <a:cubicBezTo>
                  <a:pt x="76147" y="104145"/>
                  <a:pt x="79659" y="107657"/>
                  <a:pt x="84025" y="107657"/>
                </a:cubicBezTo>
                <a:cubicBezTo>
                  <a:pt x="88390" y="107657"/>
                  <a:pt x="91902" y="104145"/>
                  <a:pt x="91902" y="99779"/>
                </a:cubicBezTo>
                <a:lnTo>
                  <a:pt x="91902" y="63019"/>
                </a:lnTo>
                <a:cubicBezTo>
                  <a:pt x="91902" y="58653"/>
                  <a:pt x="88390" y="55141"/>
                  <a:pt x="84025" y="55141"/>
                </a:cubicBezTo>
                <a:close/>
                <a:moveTo>
                  <a:pt x="92788" y="126037"/>
                </a:moveTo>
                <a:cubicBezTo>
                  <a:pt x="92988" y="122784"/>
                  <a:pt x="91365" y="119689"/>
                  <a:pt x="88577" y="118003"/>
                </a:cubicBezTo>
                <a:cubicBezTo>
                  <a:pt x="85788" y="116316"/>
                  <a:pt x="82294" y="116316"/>
                  <a:pt x="79506" y="118003"/>
                </a:cubicBezTo>
                <a:cubicBezTo>
                  <a:pt x="76717" y="119689"/>
                  <a:pt x="75095" y="122784"/>
                  <a:pt x="75294" y="126037"/>
                </a:cubicBezTo>
                <a:cubicBezTo>
                  <a:pt x="75095" y="129290"/>
                  <a:pt x="76717" y="132385"/>
                  <a:pt x="79506" y="134072"/>
                </a:cubicBezTo>
                <a:cubicBezTo>
                  <a:pt x="82294" y="135758"/>
                  <a:pt x="85788" y="135758"/>
                  <a:pt x="88577" y="134072"/>
                </a:cubicBezTo>
                <a:cubicBezTo>
                  <a:pt x="91365" y="132385"/>
                  <a:pt x="92988" y="129290"/>
                  <a:pt x="92788" y="126037"/>
                </a:cubicBezTo>
                <a:close/>
              </a:path>
            </a:pathLst>
          </a:custGeom>
          <a:solidFill>
            <a:srgbClr val="F97316"/>
          </a:solidFill>
          <a:ln/>
        </p:spPr>
      </p:sp>
      <p:sp>
        <p:nvSpPr>
          <p:cNvPr id="15" name="Text 13"/>
          <p:cNvSpPr/>
          <p:nvPr/>
        </p:nvSpPr>
        <p:spPr>
          <a:xfrm>
            <a:off x="781431" y="3638274"/>
            <a:ext cx="899065" cy="235269"/>
          </a:xfrm>
          <a:prstGeom prst="rect">
            <a:avLst/>
          </a:prstGeom>
          <a:noFill/>
          <a:ln/>
        </p:spPr>
        <p:txBody>
          <a:bodyPr wrap="square" lIns="0" tIns="0" rIns="0" bIns="0" rtlCol="0" anchor="ctr"/>
          <a:lstStyle/>
          <a:p>
            <a:pPr>
              <a:lnSpc>
                <a:spcPct val="130000"/>
              </a:lnSpc>
            </a:pPr>
            <a:r>
              <a:rPr lang="en-US" sz="1191" b="1" dirty="0">
                <a:solidFill>
                  <a:srgbClr val="1E3A8A"/>
                </a:solidFill>
                <a:latin typeface="MiSans" pitchFamily="34" charset="0"/>
                <a:ea typeface="MiSans" pitchFamily="34" charset="-122"/>
                <a:cs typeface="MiSans" pitchFamily="34" charset="-120"/>
              </a:rPr>
              <a:t>Pain Points</a:t>
            </a:r>
            <a:endParaRPr lang="en-US" sz="1600" dirty="0"/>
          </a:p>
        </p:txBody>
      </p:sp>
      <p:sp>
        <p:nvSpPr>
          <p:cNvPr id="16" name="Shape 14"/>
          <p:cNvSpPr/>
          <p:nvPr/>
        </p:nvSpPr>
        <p:spPr>
          <a:xfrm>
            <a:off x="504149" y="4041593"/>
            <a:ext cx="67220" cy="67220"/>
          </a:xfrm>
          <a:custGeom>
            <a:avLst/>
            <a:gdLst/>
            <a:ahLst/>
            <a:cxnLst/>
            <a:rect l="l" t="t" r="r" b="b"/>
            <a:pathLst>
              <a:path w="67220" h="67220">
                <a:moveTo>
                  <a:pt x="33610" y="0"/>
                </a:moveTo>
                <a:lnTo>
                  <a:pt x="33610" y="0"/>
                </a:lnTo>
                <a:cubicBezTo>
                  <a:pt x="52172" y="0"/>
                  <a:pt x="67220" y="15048"/>
                  <a:pt x="67220" y="33610"/>
                </a:cubicBezTo>
                <a:lnTo>
                  <a:pt x="67220" y="33610"/>
                </a:lnTo>
                <a:cubicBezTo>
                  <a:pt x="67220" y="52172"/>
                  <a:pt x="52172" y="67220"/>
                  <a:pt x="33610" y="67220"/>
                </a:cubicBezTo>
                <a:lnTo>
                  <a:pt x="33610" y="67220"/>
                </a:lnTo>
                <a:cubicBezTo>
                  <a:pt x="15048" y="67220"/>
                  <a:pt x="0" y="52172"/>
                  <a:pt x="0" y="33610"/>
                </a:cubicBezTo>
                <a:lnTo>
                  <a:pt x="0" y="33610"/>
                </a:lnTo>
                <a:cubicBezTo>
                  <a:pt x="0" y="15048"/>
                  <a:pt x="15048" y="0"/>
                  <a:pt x="33610" y="0"/>
                </a:cubicBezTo>
                <a:close/>
              </a:path>
            </a:pathLst>
          </a:custGeom>
          <a:solidFill>
            <a:srgbClr val="F97316"/>
          </a:solidFill>
          <a:ln/>
        </p:spPr>
      </p:sp>
      <p:sp>
        <p:nvSpPr>
          <p:cNvPr id="17" name="Text 15"/>
          <p:cNvSpPr/>
          <p:nvPr/>
        </p:nvSpPr>
        <p:spPr>
          <a:xfrm>
            <a:off x="638589" y="3974374"/>
            <a:ext cx="1142737" cy="201660"/>
          </a:xfrm>
          <a:prstGeom prst="rect">
            <a:avLst/>
          </a:prstGeom>
          <a:noFill/>
          <a:ln/>
        </p:spPr>
        <p:txBody>
          <a:bodyPr wrap="square" lIns="0" tIns="0" rIns="0" bIns="0" rtlCol="0" anchor="ctr"/>
          <a:lstStyle/>
          <a:p>
            <a:pPr>
              <a:lnSpc>
                <a:spcPct val="130000"/>
              </a:lnSpc>
            </a:pPr>
            <a:r>
              <a:rPr lang="en-US" sz="1059" dirty="0">
                <a:solidFill>
                  <a:srgbClr val="374151"/>
                </a:solidFill>
                <a:latin typeface="MiSans" pitchFamily="34" charset="0"/>
                <a:ea typeface="MiSans" pitchFamily="34" charset="-122"/>
                <a:cs typeface="MiSans" pitchFamily="34" charset="-120"/>
              </a:rPr>
              <a:t>Données éclatées</a:t>
            </a:r>
            <a:endParaRPr lang="en-US" sz="1600" dirty="0"/>
          </a:p>
        </p:txBody>
      </p:sp>
      <p:sp>
        <p:nvSpPr>
          <p:cNvPr id="18" name="Shape 16"/>
          <p:cNvSpPr/>
          <p:nvPr/>
        </p:nvSpPr>
        <p:spPr>
          <a:xfrm>
            <a:off x="504149" y="4310473"/>
            <a:ext cx="67220" cy="67220"/>
          </a:xfrm>
          <a:custGeom>
            <a:avLst/>
            <a:gdLst/>
            <a:ahLst/>
            <a:cxnLst/>
            <a:rect l="l" t="t" r="r" b="b"/>
            <a:pathLst>
              <a:path w="67220" h="67220">
                <a:moveTo>
                  <a:pt x="33610" y="0"/>
                </a:moveTo>
                <a:lnTo>
                  <a:pt x="33610" y="0"/>
                </a:lnTo>
                <a:cubicBezTo>
                  <a:pt x="52172" y="0"/>
                  <a:pt x="67220" y="15048"/>
                  <a:pt x="67220" y="33610"/>
                </a:cubicBezTo>
                <a:lnTo>
                  <a:pt x="67220" y="33610"/>
                </a:lnTo>
                <a:cubicBezTo>
                  <a:pt x="67220" y="52172"/>
                  <a:pt x="52172" y="67220"/>
                  <a:pt x="33610" y="67220"/>
                </a:cubicBezTo>
                <a:lnTo>
                  <a:pt x="33610" y="67220"/>
                </a:lnTo>
                <a:cubicBezTo>
                  <a:pt x="15048" y="67220"/>
                  <a:pt x="0" y="52172"/>
                  <a:pt x="0" y="33610"/>
                </a:cubicBezTo>
                <a:lnTo>
                  <a:pt x="0" y="33610"/>
                </a:lnTo>
                <a:cubicBezTo>
                  <a:pt x="0" y="15048"/>
                  <a:pt x="15048" y="0"/>
                  <a:pt x="33610" y="0"/>
                </a:cubicBezTo>
                <a:close/>
              </a:path>
            </a:pathLst>
          </a:custGeom>
          <a:solidFill>
            <a:srgbClr val="F97316"/>
          </a:solidFill>
          <a:ln/>
        </p:spPr>
      </p:sp>
      <p:sp>
        <p:nvSpPr>
          <p:cNvPr id="19" name="Text 17"/>
          <p:cNvSpPr/>
          <p:nvPr/>
        </p:nvSpPr>
        <p:spPr>
          <a:xfrm>
            <a:off x="638589" y="4243253"/>
            <a:ext cx="1167945" cy="201660"/>
          </a:xfrm>
          <a:prstGeom prst="rect">
            <a:avLst/>
          </a:prstGeom>
          <a:noFill/>
          <a:ln/>
        </p:spPr>
        <p:txBody>
          <a:bodyPr wrap="square" lIns="0" tIns="0" rIns="0" bIns="0" rtlCol="0" anchor="ctr"/>
          <a:lstStyle/>
          <a:p>
            <a:pPr>
              <a:lnSpc>
                <a:spcPct val="130000"/>
              </a:lnSpc>
            </a:pPr>
            <a:r>
              <a:rPr lang="en-US" sz="1059" dirty="0">
                <a:solidFill>
                  <a:srgbClr val="374151"/>
                </a:solidFill>
                <a:latin typeface="MiSans" pitchFamily="34" charset="0"/>
                <a:ea typeface="MiSans" pitchFamily="34" charset="-122"/>
                <a:cs typeface="MiSans" pitchFamily="34" charset="-120"/>
              </a:rPr>
              <a:t>Analyse au feeling</a:t>
            </a:r>
            <a:endParaRPr lang="en-US" sz="1600" dirty="0"/>
          </a:p>
        </p:txBody>
      </p:sp>
      <p:sp>
        <p:nvSpPr>
          <p:cNvPr id="20" name="Shape 18"/>
          <p:cNvSpPr/>
          <p:nvPr/>
        </p:nvSpPr>
        <p:spPr>
          <a:xfrm>
            <a:off x="504149" y="4579352"/>
            <a:ext cx="67220" cy="67220"/>
          </a:xfrm>
          <a:custGeom>
            <a:avLst/>
            <a:gdLst/>
            <a:ahLst/>
            <a:cxnLst/>
            <a:rect l="l" t="t" r="r" b="b"/>
            <a:pathLst>
              <a:path w="67220" h="67220">
                <a:moveTo>
                  <a:pt x="33610" y="0"/>
                </a:moveTo>
                <a:lnTo>
                  <a:pt x="33610" y="0"/>
                </a:lnTo>
                <a:cubicBezTo>
                  <a:pt x="52172" y="0"/>
                  <a:pt x="67220" y="15048"/>
                  <a:pt x="67220" y="33610"/>
                </a:cubicBezTo>
                <a:lnTo>
                  <a:pt x="67220" y="33610"/>
                </a:lnTo>
                <a:cubicBezTo>
                  <a:pt x="67220" y="52172"/>
                  <a:pt x="52172" y="67220"/>
                  <a:pt x="33610" y="67220"/>
                </a:cubicBezTo>
                <a:lnTo>
                  <a:pt x="33610" y="67220"/>
                </a:lnTo>
                <a:cubicBezTo>
                  <a:pt x="15048" y="67220"/>
                  <a:pt x="0" y="52172"/>
                  <a:pt x="0" y="33610"/>
                </a:cubicBezTo>
                <a:lnTo>
                  <a:pt x="0" y="33610"/>
                </a:lnTo>
                <a:cubicBezTo>
                  <a:pt x="0" y="15048"/>
                  <a:pt x="15048" y="0"/>
                  <a:pt x="33610" y="0"/>
                </a:cubicBezTo>
                <a:close/>
              </a:path>
            </a:pathLst>
          </a:custGeom>
          <a:solidFill>
            <a:srgbClr val="F97316"/>
          </a:solidFill>
          <a:ln/>
        </p:spPr>
      </p:sp>
      <p:sp>
        <p:nvSpPr>
          <p:cNvPr id="21" name="Text 19"/>
          <p:cNvSpPr/>
          <p:nvPr/>
        </p:nvSpPr>
        <p:spPr>
          <a:xfrm>
            <a:off x="638589" y="4512132"/>
            <a:ext cx="2344292" cy="201660"/>
          </a:xfrm>
          <a:prstGeom prst="rect">
            <a:avLst/>
          </a:prstGeom>
          <a:noFill/>
          <a:ln/>
        </p:spPr>
        <p:txBody>
          <a:bodyPr wrap="square" lIns="0" tIns="0" rIns="0" bIns="0" rtlCol="0" anchor="ctr"/>
          <a:lstStyle/>
          <a:p>
            <a:pPr>
              <a:lnSpc>
                <a:spcPct val="130000"/>
              </a:lnSpc>
            </a:pPr>
            <a:r>
              <a:rPr lang="en-US" sz="1059" dirty="0">
                <a:solidFill>
                  <a:srgbClr val="374151"/>
                </a:solidFill>
                <a:latin typeface="MiSans" pitchFamily="34" charset="0"/>
                <a:ea typeface="MiSans" pitchFamily="34" charset="-122"/>
                <a:cs typeface="MiSans" pitchFamily="34" charset="-120"/>
              </a:rPr>
              <a:t>Pas de corrélation défauts/paramètres</a:t>
            </a:r>
            <a:endParaRPr lang="en-US" sz="1600" dirty="0"/>
          </a:p>
        </p:txBody>
      </p:sp>
      <p:sp>
        <p:nvSpPr>
          <p:cNvPr id="22" name="Shape 20"/>
          <p:cNvSpPr/>
          <p:nvPr/>
        </p:nvSpPr>
        <p:spPr>
          <a:xfrm>
            <a:off x="504149" y="5209538"/>
            <a:ext cx="5285161" cy="403319"/>
          </a:xfrm>
          <a:custGeom>
            <a:avLst/>
            <a:gdLst/>
            <a:ahLst/>
            <a:cxnLst/>
            <a:rect l="l" t="t" r="r" b="b"/>
            <a:pathLst>
              <a:path w="5285161" h="403319">
                <a:moveTo>
                  <a:pt x="100830" y="0"/>
                </a:moveTo>
                <a:lnTo>
                  <a:pt x="5184331" y="0"/>
                </a:lnTo>
                <a:cubicBezTo>
                  <a:pt x="5240018" y="0"/>
                  <a:pt x="5285161" y="45143"/>
                  <a:pt x="5285161" y="100830"/>
                </a:cubicBezTo>
                <a:lnTo>
                  <a:pt x="5285161" y="302489"/>
                </a:lnTo>
                <a:cubicBezTo>
                  <a:pt x="5285161" y="358176"/>
                  <a:pt x="5240018" y="403319"/>
                  <a:pt x="5184331" y="403319"/>
                </a:cubicBezTo>
                <a:lnTo>
                  <a:pt x="100830" y="403319"/>
                </a:lnTo>
                <a:cubicBezTo>
                  <a:pt x="45143" y="403319"/>
                  <a:pt x="0" y="358176"/>
                  <a:pt x="0" y="302489"/>
                </a:cubicBezTo>
                <a:lnTo>
                  <a:pt x="0" y="100830"/>
                </a:lnTo>
                <a:cubicBezTo>
                  <a:pt x="0" y="45180"/>
                  <a:pt x="45180" y="0"/>
                  <a:pt x="100830" y="0"/>
                </a:cubicBezTo>
                <a:close/>
              </a:path>
            </a:pathLst>
          </a:custGeom>
          <a:solidFill>
            <a:srgbClr val="F97316">
              <a:alpha val="10196"/>
            </a:srgbClr>
          </a:solidFill>
          <a:ln/>
        </p:spPr>
      </p:sp>
      <p:sp>
        <p:nvSpPr>
          <p:cNvPr id="23" name="Text 21"/>
          <p:cNvSpPr/>
          <p:nvPr/>
        </p:nvSpPr>
        <p:spPr>
          <a:xfrm>
            <a:off x="604979" y="5310368"/>
            <a:ext cx="5150721" cy="201660"/>
          </a:xfrm>
          <a:prstGeom prst="rect">
            <a:avLst/>
          </a:prstGeom>
          <a:noFill/>
          <a:ln/>
        </p:spPr>
        <p:txBody>
          <a:bodyPr wrap="square" lIns="0" tIns="0" rIns="0" bIns="0" rtlCol="0" anchor="ctr"/>
          <a:lstStyle/>
          <a:p>
            <a:pPr>
              <a:lnSpc>
                <a:spcPct val="130000"/>
              </a:lnSpc>
            </a:pPr>
            <a:r>
              <a:rPr lang="en-US" sz="1059" b="1" dirty="0">
                <a:solidFill>
                  <a:srgbClr val="F97316"/>
                </a:solidFill>
                <a:latin typeface="MiSans" pitchFamily="34" charset="0"/>
                <a:ea typeface="MiSans" pitchFamily="34" charset="-122"/>
                <a:cs typeface="MiSans" pitchFamily="34" charset="-120"/>
              </a:rPr>
              <a:t>Friction :</a:t>
            </a:r>
            <a:r>
              <a:rPr lang="en-US" sz="1059" dirty="0">
                <a:solidFill>
                  <a:srgbClr val="374151"/>
                </a:solidFill>
                <a:latin typeface="MiSans" pitchFamily="34" charset="0"/>
                <a:ea typeface="MiSans" pitchFamily="34" charset="-122"/>
                <a:cs typeface="MiSans" pitchFamily="34" charset="-120"/>
              </a:rPr>
              <a:t> Collecte &amp; Analyse</a:t>
            </a:r>
            <a:endParaRPr lang="en-US" sz="1600" dirty="0"/>
          </a:p>
        </p:txBody>
      </p:sp>
      <p:sp>
        <p:nvSpPr>
          <p:cNvPr id="24" name="Shape 22"/>
          <p:cNvSpPr/>
          <p:nvPr/>
        </p:nvSpPr>
        <p:spPr>
          <a:xfrm>
            <a:off x="6228996" y="1411617"/>
            <a:ext cx="5621260" cy="873858"/>
          </a:xfrm>
          <a:custGeom>
            <a:avLst/>
            <a:gdLst/>
            <a:ahLst/>
            <a:cxnLst/>
            <a:rect l="l" t="t" r="r" b="b"/>
            <a:pathLst>
              <a:path w="5621260" h="873858">
                <a:moveTo>
                  <a:pt x="134443" y="0"/>
                </a:moveTo>
                <a:lnTo>
                  <a:pt x="5486817" y="0"/>
                </a:lnTo>
                <a:cubicBezTo>
                  <a:pt x="5561068" y="0"/>
                  <a:pt x="5621260" y="60192"/>
                  <a:pt x="5621260" y="134443"/>
                </a:cubicBezTo>
                <a:lnTo>
                  <a:pt x="5621260" y="739415"/>
                </a:lnTo>
                <a:cubicBezTo>
                  <a:pt x="5621260" y="813666"/>
                  <a:pt x="5561068" y="873858"/>
                  <a:pt x="5486817" y="873858"/>
                </a:cubicBezTo>
                <a:lnTo>
                  <a:pt x="134443" y="873858"/>
                </a:lnTo>
                <a:cubicBezTo>
                  <a:pt x="60242" y="873858"/>
                  <a:pt x="0" y="813616"/>
                  <a:pt x="0" y="739415"/>
                </a:cubicBezTo>
                <a:lnTo>
                  <a:pt x="0" y="134443"/>
                </a:lnTo>
                <a:cubicBezTo>
                  <a:pt x="0" y="60242"/>
                  <a:pt x="60242" y="0"/>
                  <a:pt x="134443" y="0"/>
                </a:cubicBezTo>
                <a:close/>
              </a:path>
            </a:pathLst>
          </a:custGeom>
          <a:solidFill>
            <a:srgbClr val="1E3A8A"/>
          </a:solidFill>
          <a:ln/>
        </p:spPr>
      </p:sp>
      <p:sp>
        <p:nvSpPr>
          <p:cNvPr id="25" name="Shape 23"/>
          <p:cNvSpPr/>
          <p:nvPr/>
        </p:nvSpPr>
        <p:spPr>
          <a:xfrm>
            <a:off x="6397045" y="1579666"/>
            <a:ext cx="537759" cy="537759"/>
          </a:xfrm>
          <a:custGeom>
            <a:avLst/>
            <a:gdLst/>
            <a:ahLst/>
            <a:cxnLst/>
            <a:rect l="l" t="t" r="r" b="b"/>
            <a:pathLst>
              <a:path w="537759" h="537759">
                <a:moveTo>
                  <a:pt x="268879" y="0"/>
                </a:moveTo>
                <a:lnTo>
                  <a:pt x="268879" y="0"/>
                </a:lnTo>
                <a:cubicBezTo>
                  <a:pt x="417377" y="0"/>
                  <a:pt x="537759" y="120381"/>
                  <a:pt x="537759" y="268879"/>
                </a:cubicBezTo>
                <a:lnTo>
                  <a:pt x="537759" y="268879"/>
                </a:lnTo>
                <a:cubicBezTo>
                  <a:pt x="537759" y="417377"/>
                  <a:pt x="417377" y="537759"/>
                  <a:pt x="268879" y="537759"/>
                </a:cubicBezTo>
                <a:lnTo>
                  <a:pt x="268879" y="537759"/>
                </a:lnTo>
                <a:cubicBezTo>
                  <a:pt x="120381" y="537759"/>
                  <a:pt x="0" y="417377"/>
                  <a:pt x="0" y="268879"/>
                </a:cubicBezTo>
                <a:lnTo>
                  <a:pt x="0" y="268879"/>
                </a:lnTo>
                <a:cubicBezTo>
                  <a:pt x="0" y="120381"/>
                  <a:pt x="120381" y="0"/>
                  <a:pt x="268879" y="0"/>
                </a:cubicBezTo>
                <a:close/>
              </a:path>
            </a:pathLst>
          </a:custGeom>
          <a:solidFill>
            <a:srgbClr val="FFFFFF"/>
          </a:solidFill>
          <a:ln/>
        </p:spPr>
      </p:sp>
      <p:sp>
        <p:nvSpPr>
          <p:cNvPr id="26" name="Shape 24"/>
          <p:cNvSpPr/>
          <p:nvPr/>
        </p:nvSpPr>
        <p:spPr>
          <a:xfrm>
            <a:off x="6541988" y="1722509"/>
            <a:ext cx="252074" cy="252074"/>
          </a:xfrm>
          <a:custGeom>
            <a:avLst/>
            <a:gdLst/>
            <a:ahLst/>
            <a:cxnLst/>
            <a:rect l="l" t="t" r="r" b="b"/>
            <a:pathLst>
              <a:path w="252074" h="252074">
                <a:moveTo>
                  <a:pt x="126037" y="0"/>
                </a:moveTo>
                <a:cubicBezTo>
                  <a:pt x="128302" y="0"/>
                  <a:pt x="130567" y="492"/>
                  <a:pt x="132634" y="1428"/>
                </a:cubicBezTo>
                <a:lnTo>
                  <a:pt x="225390" y="40765"/>
                </a:lnTo>
                <a:cubicBezTo>
                  <a:pt x="236221" y="45344"/>
                  <a:pt x="244296" y="56027"/>
                  <a:pt x="244246" y="68927"/>
                </a:cubicBezTo>
                <a:cubicBezTo>
                  <a:pt x="244000" y="117766"/>
                  <a:pt x="223913" y="207124"/>
                  <a:pt x="139084" y="247742"/>
                </a:cubicBezTo>
                <a:cubicBezTo>
                  <a:pt x="130862" y="251681"/>
                  <a:pt x="121311" y="251681"/>
                  <a:pt x="113089" y="247742"/>
                </a:cubicBezTo>
                <a:cubicBezTo>
                  <a:pt x="28211" y="207124"/>
                  <a:pt x="8173" y="117766"/>
                  <a:pt x="7927" y="68927"/>
                </a:cubicBezTo>
                <a:cubicBezTo>
                  <a:pt x="7877" y="56027"/>
                  <a:pt x="15952" y="45344"/>
                  <a:pt x="26783" y="40765"/>
                </a:cubicBezTo>
                <a:lnTo>
                  <a:pt x="119489" y="1428"/>
                </a:lnTo>
                <a:cubicBezTo>
                  <a:pt x="121557" y="492"/>
                  <a:pt x="123772" y="0"/>
                  <a:pt x="126037" y="0"/>
                </a:cubicBezTo>
                <a:close/>
                <a:moveTo>
                  <a:pt x="126037" y="32888"/>
                </a:moveTo>
                <a:lnTo>
                  <a:pt x="126037" y="219039"/>
                </a:lnTo>
                <a:cubicBezTo>
                  <a:pt x="193979" y="186151"/>
                  <a:pt x="212245" y="113286"/>
                  <a:pt x="212688" y="69665"/>
                </a:cubicBezTo>
                <a:lnTo>
                  <a:pt x="126037" y="32937"/>
                </a:lnTo>
                <a:lnTo>
                  <a:pt x="126037" y="32937"/>
                </a:lnTo>
                <a:close/>
              </a:path>
            </a:pathLst>
          </a:custGeom>
          <a:solidFill>
            <a:srgbClr val="1E3A8A"/>
          </a:solidFill>
          <a:ln/>
        </p:spPr>
      </p:sp>
      <p:sp>
        <p:nvSpPr>
          <p:cNvPr id="27" name="Text 25"/>
          <p:cNvSpPr/>
          <p:nvPr/>
        </p:nvSpPr>
        <p:spPr>
          <a:xfrm>
            <a:off x="7069244" y="1596471"/>
            <a:ext cx="1335994" cy="268879"/>
          </a:xfrm>
          <a:prstGeom prst="rect">
            <a:avLst/>
          </a:prstGeom>
          <a:noFill/>
          <a:ln/>
        </p:spPr>
        <p:txBody>
          <a:bodyPr wrap="square" lIns="0" tIns="0" rIns="0" bIns="0" rtlCol="0" anchor="ctr"/>
          <a:lstStyle/>
          <a:p>
            <a:pPr>
              <a:lnSpc>
                <a:spcPct val="110000"/>
              </a:lnSpc>
            </a:pPr>
            <a:r>
              <a:rPr lang="en-US" sz="1588" b="1" dirty="0">
                <a:solidFill>
                  <a:srgbClr val="FFFFFF"/>
                </a:solidFill>
                <a:latin typeface="Noto Sans SC" pitchFamily="34" charset="0"/>
                <a:ea typeface="Noto Sans SC" pitchFamily="34" charset="-122"/>
                <a:cs typeface="Noto Sans SC" pitchFamily="34" charset="-120"/>
              </a:rPr>
              <a:t>Laurent Petit</a:t>
            </a:r>
            <a:endParaRPr lang="en-US" sz="1600" dirty="0"/>
          </a:p>
        </p:txBody>
      </p:sp>
      <p:sp>
        <p:nvSpPr>
          <p:cNvPr id="28" name="Text 26"/>
          <p:cNvSpPr/>
          <p:nvPr/>
        </p:nvSpPr>
        <p:spPr>
          <a:xfrm>
            <a:off x="7069244" y="1865351"/>
            <a:ext cx="1310787" cy="235269"/>
          </a:xfrm>
          <a:prstGeom prst="rect">
            <a:avLst/>
          </a:prstGeom>
          <a:noFill/>
          <a:ln/>
        </p:spPr>
        <p:txBody>
          <a:bodyPr wrap="square" lIns="0" tIns="0" rIns="0" bIns="0" rtlCol="0" anchor="ctr"/>
          <a:lstStyle/>
          <a:p>
            <a:pPr>
              <a:lnSpc>
                <a:spcPct val="130000"/>
              </a:lnSpc>
            </a:pPr>
            <a:r>
              <a:rPr lang="en-US" sz="1191" dirty="0">
                <a:solidFill>
                  <a:srgbClr val="FFFFFF">
                    <a:alpha val="80000"/>
                  </a:srgbClr>
                </a:solidFill>
                <a:latin typeface="MiSans" pitchFamily="34" charset="0"/>
                <a:ea typeface="MiSans" pitchFamily="34" charset="-122"/>
                <a:cs typeface="MiSans" pitchFamily="34" charset="-120"/>
              </a:rPr>
              <a:t>RSSI</a:t>
            </a:r>
            <a:endParaRPr lang="en-US" sz="1600" dirty="0"/>
          </a:p>
        </p:txBody>
      </p:sp>
      <p:sp>
        <p:nvSpPr>
          <p:cNvPr id="29" name="Shape 27"/>
          <p:cNvSpPr/>
          <p:nvPr/>
        </p:nvSpPr>
        <p:spPr>
          <a:xfrm>
            <a:off x="6228996" y="2419915"/>
            <a:ext cx="5621260" cy="3360992"/>
          </a:xfrm>
          <a:custGeom>
            <a:avLst/>
            <a:gdLst/>
            <a:ahLst/>
            <a:cxnLst/>
            <a:rect l="l" t="t" r="r" b="b"/>
            <a:pathLst>
              <a:path w="5621260" h="3360992">
                <a:moveTo>
                  <a:pt x="134440" y="0"/>
                </a:moveTo>
                <a:lnTo>
                  <a:pt x="5486820" y="0"/>
                </a:lnTo>
                <a:cubicBezTo>
                  <a:pt x="5561069" y="0"/>
                  <a:pt x="5621260" y="60191"/>
                  <a:pt x="5621260" y="134440"/>
                </a:cubicBezTo>
                <a:lnTo>
                  <a:pt x="5621260" y="3226553"/>
                </a:lnTo>
                <a:cubicBezTo>
                  <a:pt x="5621260" y="3300802"/>
                  <a:pt x="5561069" y="3360992"/>
                  <a:pt x="5486820" y="3360992"/>
                </a:cubicBezTo>
                <a:lnTo>
                  <a:pt x="134440" y="3360992"/>
                </a:lnTo>
                <a:cubicBezTo>
                  <a:pt x="60191" y="3360992"/>
                  <a:pt x="0" y="3300802"/>
                  <a:pt x="0" y="3226553"/>
                </a:cubicBezTo>
                <a:lnTo>
                  <a:pt x="0" y="134440"/>
                </a:lnTo>
                <a:cubicBezTo>
                  <a:pt x="0" y="60191"/>
                  <a:pt x="60191" y="0"/>
                  <a:pt x="134440" y="0"/>
                </a:cubicBezTo>
                <a:close/>
              </a:path>
            </a:pathLst>
          </a:custGeom>
          <a:solidFill>
            <a:srgbClr val="F3F4F6"/>
          </a:solidFill>
          <a:ln/>
        </p:spPr>
      </p:sp>
      <p:sp>
        <p:nvSpPr>
          <p:cNvPr id="30" name="Shape 28"/>
          <p:cNvSpPr/>
          <p:nvPr/>
        </p:nvSpPr>
        <p:spPr>
          <a:xfrm>
            <a:off x="6439058" y="2621574"/>
            <a:ext cx="126037" cy="168050"/>
          </a:xfrm>
          <a:custGeom>
            <a:avLst/>
            <a:gdLst/>
            <a:ahLst/>
            <a:cxnLst/>
            <a:rect l="l" t="t" r="r" b="b"/>
            <a:pathLst>
              <a:path w="126037" h="168050">
                <a:moveTo>
                  <a:pt x="42012" y="31509"/>
                </a:moveTo>
                <a:lnTo>
                  <a:pt x="42012" y="52516"/>
                </a:lnTo>
                <a:lnTo>
                  <a:pt x="84025" y="52516"/>
                </a:lnTo>
                <a:lnTo>
                  <a:pt x="84025" y="31509"/>
                </a:lnTo>
                <a:cubicBezTo>
                  <a:pt x="84025" y="19923"/>
                  <a:pt x="74605" y="10503"/>
                  <a:pt x="63019" y="10503"/>
                </a:cubicBezTo>
                <a:cubicBezTo>
                  <a:pt x="51432" y="10503"/>
                  <a:pt x="42012" y="19923"/>
                  <a:pt x="42012" y="31509"/>
                </a:cubicBezTo>
                <a:close/>
                <a:moveTo>
                  <a:pt x="21006" y="52516"/>
                </a:moveTo>
                <a:lnTo>
                  <a:pt x="21006" y="31509"/>
                </a:lnTo>
                <a:cubicBezTo>
                  <a:pt x="21006" y="8304"/>
                  <a:pt x="39813" y="-10503"/>
                  <a:pt x="63019" y="-10503"/>
                </a:cubicBezTo>
                <a:cubicBezTo>
                  <a:pt x="86224" y="-10503"/>
                  <a:pt x="105031" y="8304"/>
                  <a:pt x="105031" y="31509"/>
                </a:cubicBezTo>
                <a:lnTo>
                  <a:pt x="105031" y="52516"/>
                </a:lnTo>
                <a:cubicBezTo>
                  <a:pt x="116617" y="52516"/>
                  <a:pt x="126037" y="61935"/>
                  <a:pt x="126037" y="73522"/>
                </a:cubicBezTo>
                <a:lnTo>
                  <a:pt x="126037" y="147043"/>
                </a:lnTo>
                <a:cubicBezTo>
                  <a:pt x="126037" y="158630"/>
                  <a:pt x="116617" y="168050"/>
                  <a:pt x="105031" y="168050"/>
                </a:cubicBezTo>
                <a:lnTo>
                  <a:pt x="21006" y="168050"/>
                </a:lnTo>
                <a:cubicBezTo>
                  <a:pt x="9420" y="168050"/>
                  <a:pt x="0" y="158630"/>
                  <a:pt x="0" y="147043"/>
                </a:cubicBezTo>
                <a:lnTo>
                  <a:pt x="0" y="73522"/>
                </a:lnTo>
                <a:cubicBezTo>
                  <a:pt x="0" y="61935"/>
                  <a:pt x="9420" y="52516"/>
                  <a:pt x="21006" y="52516"/>
                </a:cubicBezTo>
                <a:close/>
              </a:path>
            </a:pathLst>
          </a:custGeom>
          <a:solidFill>
            <a:srgbClr val="1E3A8A"/>
          </a:solidFill>
          <a:ln/>
        </p:spPr>
      </p:sp>
      <p:sp>
        <p:nvSpPr>
          <p:cNvPr id="31" name="Text 29"/>
          <p:cNvSpPr/>
          <p:nvPr/>
        </p:nvSpPr>
        <p:spPr>
          <a:xfrm>
            <a:off x="6674327" y="2587964"/>
            <a:ext cx="638589" cy="235269"/>
          </a:xfrm>
          <a:prstGeom prst="rect">
            <a:avLst/>
          </a:prstGeom>
          <a:noFill/>
          <a:ln/>
        </p:spPr>
        <p:txBody>
          <a:bodyPr wrap="square" lIns="0" tIns="0" rIns="0" bIns="0" rtlCol="0" anchor="ctr"/>
          <a:lstStyle/>
          <a:p>
            <a:pPr>
              <a:lnSpc>
                <a:spcPct val="130000"/>
              </a:lnSpc>
            </a:pPr>
            <a:r>
              <a:rPr lang="en-US" sz="1191" b="1" dirty="0">
                <a:solidFill>
                  <a:srgbClr val="1E3A8A"/>
                </a:solidFill>
                <a:latin typeface="MiSans" pitchFamily="34" charset="0"/>
                <a:ea typeface="MiSans" pitchFamily="34" charset="-122"/>
                <a:cs typeface="MiSans" pitchFamily="34" charset="-120"/>
              </a:rPr>
              <a:t>Mission</a:t>
            </a:r>
            <a:endParaRPr lang="en-US" sz="1600" dirty="0"/>
          </a:p>
        </p:txBody>
      </p:sp>
      <p:sp>
        <p:nvSpPr>
          <p:cNvPr id="32" name="Text 30"/>
          <p:cNvSpPr/>
          <p:nvPr/>
        </p:nvSpPr>
        <p:spPr>
          <a:xfrm>
            <a:off x="6397045" y="2924063"/>
            <a:ext cx="5352380" cy="218465"/>
          </a:xfrm>
          <a:prstGeom prst="rect">
            <a:avLst/>
          </a:prstGeom>
          <a:noFill/>
          <a:ln/>
        </p:spPr>
        <p:txBody>
          <a:bodyPr wrap="square" lIns="0" tIns="0" rIns="0" bIns="0" rtlCol="0" anchor="ctr"/>
          <a:lstStyle/>
          <a:p>
            <a:pPr>
              <a:lnSpc>
                <a:spcPct val="140000"/>
              </a:lnSpc>
            </a:pPr>
            <a:r>
              <a:rPr lang="en-US" sz="1059" dirty="0">
                <a:solidFill>
                  <a:srgbClr val="374151"/>
                </a:solidFill>
                <a:latin typeface="MiSans" pitchFamily="34" charset="0"/>
                <a:ea typeface="MiSans" pitchFamily="34" charset="-122"/>
                <a:cs typeface="MiSans" pitchFamily="34" charset="-120"/>
              </a:rPr>
              <a:t>Sécurité SI + exigences </a:t>
            </a:r>
            <a:r>
              <a:rPr lang="en-US" sz="1059" b="1" dirty="0">
                <a:solidFill>
                  <a:srgbClr val="1E3A8A"/>
                </a:solidFill>
                <a:latin typeface="MiSans" pitchFamily="34" charset="0"/>
                <a:ea typeface="MiSans" pitchFamily="34" charset="-122"/>
                <a:cs typeface="MiSans" pitchFamily="34" charset="-120"/>
              </a:rPr>
              <a:t>cyber clients défense/spatial</a:t>
            </a:r>
            <a:endParaRPr lang="en-US" sz="1600" dirty="0"/>
          </a:p>
        </p:txBody>
      </p:sp>
      <p:sp>
        <p:nvSpPr>
          <p:cNvPr id="33" name="Shape 31"/>
          <p:cNvSpPr/>
          <p:nvPr/>
        </p:nvSpPr>
        <p:spPr>
          <a:xfrm>
            <a:off x="6418051" y="3806324"/>
            <a:ext cx="168050" cy="168050"/>
          </a:xfrm>
          <a:custGeom>
            <a:avLst/>
            <a:gdLst/>
            <a:ahLst/>
            <a:cxnLst/>
            <a:rect l="l" t="t" r="r" b="b"/>
            <a:pathLst>
              <a:path w="168050" h="168050">
                <a:moveTo>
                  <a:pt x="84025" y="0"/>
                </a:moveTo>
                <a:cubicBezTo>
                  <a:pt x="88850" y="0"/>
                  <a:pt x="93281" y="2659"/>
                  <a:pt x="95578" y="6893"/>
                </a:cubicBezTo>
                <a:lnTo>
                  <a:pt x="166474" y="138181"/>
                </a:lnTo>
                <a:cubicBezTo>
                  <a:pt x="168673" y="142251"/>
                  <a:pt x="168575" y="147175"/>
                  <a:pt x="166212" y="151146"/>
                </a:cubicBezTo>
                <a:cubicBezTo>
                  <a:pt x="163848" y="155118"/>
                  <a:pt x="159549" y="157547"/>
                  <a:pt x="154921" y="157547"/>
                </a:cubicBezTo>
                <a:lnTo>
                  <a:pt x="13129" y="157547"/>
                </a:lnTo>
                <a:cubicBezTo>
                  <a:pt x="8501" y="157547"/>
                  <a:pt x="4234" y="155118"/>
                  <a:pt x="1838" y="151146"/>
                </a:cubicBezTo>
                <a:cubicBezTo>
                  <a:pt x="-558" y="147175"/>
                  <a:pt x="-624" y="142251"/>
                  <a:pt x="1575" y="138181"/>
                </a:cubicBezTo>
                <a:lnTo>
                  <a:pt x="72471" y="6893"/>
                </a:lnTo>
                <a:cubicBezTo>
                  <a:pt x="74769" y="2659"/>
                  <a:pt x="79200" y="0"/>
                  <a:pt x="84025" y="0"/>
                </a:cubicBezTo>
                <a:close/>
                <a:moveTo>
                  <a:pt x="84025" y="55141"/>
                </a:moveTo>
                <a:cubicBezTo>
                  <a:pt x="79659" y="55141"/>
                  <a:pt x="76147" y="58653"/>
                  <a:pt x="76147" y="63019"/>
                </a:cubicBezTo>
                <a:lnTo>
                  <a:pt x="76147" y="99779"/>
                </a:lnTo>
                <a:cubicBezTo>
                  <a:pt x="76147" y="104145"/>
                  <a:pt x="79659" y="107657"/>
                  <a:pt x="84025" y="107657"/>
                </a:cubicBezTo>
                <a:cubicBezTo>
                  <a:pt x="88390" y="107657"/>
                  <a:pt x="91902" y="104145"/>
                  <a:pt x="91902" y="99779"/>
                </a:cubicBezTo>
                <a:lnTo>
                  <a:pt x="91902" y="63019"/>
                </a:lnTo>
                <a:cubicBezTo>
                  <a:pt x="91902" y="58653"/>
                  <a:pt x="88390" y="55141"/>
                  <a:pt x="84025" y="55141"/>
                </a:cubicBezTo>
                <a:close/>
                <a:moveTo>
                  <a:pt x="92788" y="126037"/>
                </a:moveTo>
                <a:cubicBezTo>
                  <a:pt x="92988" y="122784"/>
                  <a:pt x="91365" y="119689"/>
                  <a:pt x="88577" y="118003"/>
                </a:cubicBezTo>
                <a:cubicBezTo>
                  <a:pt x="85788" y="116316"/>
                  <a:pt x="82294" y="116316"/>
                  <a:pt x="79506" y="118003"/>
                </a:cubicBezTo>
                <a:cubicBezTo>
                  <a:pt x="76717" y="119689"/>
                  <a:pt x="75095" y="122784"/>
                  <a:pt x="75294" y="126037"/>
                </a:cubicBezTo>
                <a:cubicBezTo>
                  <a:pt x="75095" y="129290"/>
                  <a:pt x="76717" y="132385"/>
                  <a:pt x="79506" y="134072"/>
                </a:cubicBezTo>
                <a:cubicBezTo>
                  <a:pt x="82294" y="135758"/>
                  <a:pt x="85788" y="135758"/>
                  <a:pt x="88577" y="134072"/>
                </a:cubicBezTo>
                <a:cubicBezTo>
                  <a:pt x="91365" y="132385"/>
                  <a:pt x="92988" y="129290"/>
                  <a:pt x="92788" y="126037"/>
                </a:cubicBezTo>
                <a:close/>
              </a:path>
            </a:pathLst>
          </a:custGeom>
          <a:solidFill>
            <a:srgbClr val="F97316"/>
          </a:solidFill>
          <a:ln/>
        </p:spPr>
      </p:sp>
      <p:sp>
        <p:nvSpPr>
          <p:cNvPr id="34" name="Text 32"/>
          <p:cNvSpPr/>
          <p:nvPr/>
        </p:nvSpPr>
        <p:spPr>
          <a:xfrm>
            <a:off x="6674327" y="3772714"/>
            <a:ext cx="899065" cy="235269"/>
          </a:xfrm>
          <a:prstGeom prst="rect">
            <a:avLst/>
          </a:prstGeom>
          <a:noFill/>
          <a:ln/>
        </p:spPr>
        <p:txBody>
          <a:bodyPr wrap="square" lIns="0" tIns="0" rIns="0" bIns="0" rtlCol="0" anchor="ctr"/>
          <a:lstStyle/>
          <a:p>
            <a:pPr>
              <a:lnSpc>
                <a:spcPct val="130000"/>
              </a:lnSpc>
            </a:pPr>
            <a:r>
              <a:rPr lang="en-US" sz="1191" b="1" dirty="0">
                <a:solidFill>
                  <a:srgbClr val="1E3A8A"/>
                </a:solidFill>
                <a:latin typeface="MiSans" pitchFamily="34" charset="0"/>
                <a:ea typeface="MiSans" pitchFamily="34" charset="-122"/>
                <a:cs typeface="MiSans" pitchFamily="34" charset="-120"/>
              </a:rPr>
              <a:t>Pain Points</a:t>
            </a:r>
            <a:endParaRPr lang="en-US" sz="1600" dirty="0"/>
          </a:p>
        </p:txBody>
      </p:sp>
      <p:sp>
        <p:nvSpPr>
          <p:cNvPr id="35" name="Shape 33"/>
          <p:cNvSpPr/>
          <p:nvPr/>
        </p:nvSpPr>
        <p:spPr>
          <a:xfrm>
            <a:off x="6397045" y="4176033"/>
            <a:ext cx="67220" cy="67220"/>
          </a:xfrm>
          <a:custGeom>
            <a:avLst/>
            <a:gdLst/>
            <a:ahLst/>
            <a:cxnLst/>
            <a:rect l="l" t="t" r="r" b="b"/>
            <a:pathLst>
              <a:path w="67220" h="67220">
                <a:moveTo>
                  <a:pt x="33610" y="0"/>
                </a:moveTo>
                <a:lnTo>
                  <a:pt x="33610" y="0"/>
                </a:lnTo>
                <a:cubicBezTo>
                  <a:pt x="52172" y="0"/>
                  <a:pt x="67220" y="15048"/>
                  <a:pt x="67220" y="33610"/>
                </a:cubicBezTo>
                <a:lnTo>
                  <a:pt x="67220" y="33610"/>
                </a:lnTo>
                <a:cubicBezTo>
                  <a:pt x="67220" y="52172"/>
                  <a:pt x="52172" y="67220"/>
                  <a:pt x="33610" y="67220"/>
                </a:cubicBezTo>
                <a:lnTo>
                  <a:pt x="33610" y="67220"/>
                </a:lnTo>
                <a:cubicBezTo>
                  <a:pt x="15048" y="67220"/>
                  <a:pt x="0" y="52172"/>
                  <a:pt x="0" y="33610"/>
                </a:cubicBezTo>
                <a:lnTo>
                  <a:pt x="0" y="33610"/>
                </a:lnTo>
                <a:cubicBezTo>
                  <a:pt x="0" y="15048"/>
                  <a:pt x="15048" y="0"/>
                  <a:pt x="33610" y="0"/>
                </a:cubicBezTo>
                <a:close/>
              </a:path>
            </a:pathLst>
          </a:custGeom>
          <a:solidFill>
            <a:srgbClr val="F97316"/>
          </a:solidFill>
          <a:ln/>
        </p:spPr>
      </p:sp>
      <p:sp>
        <p:nvSpPr>
          <p:cNvPr id="36" name="Text 34"/>
          <p:cNvSpPr/>
          <p:nvPr/>
        </p:nvSpPr>
        <p:spPr>
          <a:xfrm>
            <a:off x="6531485" y="4108813"/>
            <a:ext cx="1890558" cy="201660"/>
          </a:xfrm>
          <a:prstGeom prst="rect">
            <a:avLst/>
          </a:prstGeom>
          <a:noFill/>
          <a:ln/>
        </p:spPr>
        <p:txBody>
          <a:bodyPr wrap="square" lIns="0" tIns="0" rIns="0" bIns="0" rtlCol="0" anchor="ctr"/>
          <a:lstStyle/>
          <a:p>
            <a:pPr>
              <a:lnSpc>
                <a:spcPct val="130000"/>
              </a:lnSpc>
            </a:pPr>
            <a:r>
              <a:rPr lang="en-US" sz="1059" dirty="0">
                <a:solidFill>
                  <a:srgbClr val="374151"/>
                </a:solidFill>
                <a:latin typeface="MiSans" pitchFamily="34" charset="0"/>
                <a:ea typeface="MiSans" pitchFamily="34" charset="-122"/>
                <a:cs typeface="MiSans" pitchFamily="34" charset="-120"/>
              </a:rPr>
              <a:t>Données industrielles critiques</a:t>
            </a:r>
            <a:endParaRPr lang="en-US" sz="1600" dirty="0"/>
          </a:p>
        </p:txBody>
      </p:sp>
      <p:sp>
        <p:nvSpPr>
          <p:cNvPr id="37" name="Shape 35"/>
          <p:cNvSpPr/>
          <p:nvPr/>
        </p:nvSpPr>
        <p:spPr>
          <a:xfrm>
            <a:off x="6397045" y="4444912"/>
            <a:ext cx="67220" cy="67220"/>
          </a:xfrm>
          <a:custGeom>
            <a:avLst/>
            <a:gdLst/>
            <a:ahLst/>
            <a:cxnLst/>
            <a:rect l="l" t="t" r="r" b="b"/>
            <a:pathLst>
              <a:path w="67220" h="67220">
                <a:moveTo>
                  <a:pt x="33610" y="0"/>
                </a:moveTo>
                <a:lnTo>
                  <a:pt x="33610" y="0"/>
                </a:lnTo>
                <a:cubicBezTo>
                  <a:pt x="52172" y="0"/>
                  <a:pt x="67220" y="15048"/>
                  <a:pt x="67220" y="33610"/>
                </a:cubicBezTo>
                <a:lnTo>
                  <a:pt x="67220" y="33610"/>
                </a:lnTo>
                <a:cubicBezTo>
                  <a:pt x="67220" y="52172"/>
                  <a:pt x="52172" y="67220"/>
                  <a:pt x="33610" y="67220"/>
                </a:cubicBezTo>
                <a:lnTo>
                  <a:pt x="33610" y="67220"/>
                </a:lnTo>
                <a:cubicBezTo>
                  <a:pt x="15048" y="67220"/>
                  <a:pt x="0" y="52172"/>
                  <a:pt x="0" y="33610"/>
                </a:cubicBezTo>
                <a:lnTo>
                  <a:pt x="0" y="33610"/>
                </a:lnTo>
                <a:cubicBezTo>
                  <a:pt x="0" y="15048"/>
                  <a:pt x="15048" y="0"/>
                  <a:pt x="33610" y="0"/>
                </a:cubicBezTo>
                <a:close/>
              </a:path>
            </a:pathLst>
          </a:custGeom>
          <a:solidFill>
            <a:srgbClr val="F97316"/>
          </a:solidFill>
          <a:ln/>
        </p:spPr>
      </p:sp>
      <p:sp>
        <p:nvSpPr>
          <p:cNvPr id="38" name="Text 36"/>
          <p:cNvSpPr/>
          <p:nvPr/>
        </p:nvSpPr>
        <p:spPr>
          <a:xfrm>
            <a:off x="6531485" y="4377693"/>
            <a:ext cx="1814936" cy="201660"/>
          </a:xfrm>
          <a:prstGeom prst="rect">
            <a:avLst/>
          </a:prstGeom>
          <a:noFill/>
          <a:ln/>
        </p:spPr>
        <p:txBody>
          <a:bodyPr wrap="square" lIns="0" tIns="0" rIns="0" bIns="0" rtlCol="0" anchor="ctr"/>
          <a:lstStyle/>
          <a:p>
            <a:pPr>
              <a:lnSpc>
                <a:spcPct val="130000"/>
              </a:lnSpc>
            </a:pPr>
            <a:r>
              <a:rPr lang="en-US" sz="1059" dirty="0">
                <a:solidFill>
                  <a:srgbClr val="374151"/>
                </a:solidFill>
                <a:latin typeface="MiSans" pitchFamily="34" charset="0"/>
                <a:ea typeface="MiSans" pitchFamily="34" charset="-122"/>
                <a:cs typeface="MiSans" pitchFamily="34" charset="-120"/>
              </a:rPr>
              <a:t>Sources hétérogènes (OT/IT)</a:t>
            </a:r>
            <a:endParaRPr lang="en-US" sz="1600" dirty="0"/>
          </a:p>
        </p:txBody>
      </p:sp>
      <p:sp>
        <p:nvSpPr>
          <p:cNvPr id="39" name="Shape 37"/>
          <p:cNvSpPr/>
          <p:nvPr/>
        </p:nvSpPr>
        <p:spPr>
          <a:xfrm>
            <a:off x="6397045" y="5209538"/>
            <a:ext cx="5285161" cy="403319"/>
          </a:xfrm>
          <a:custGeom>
            <a:avLst/>
            <a:gdLst/>
            <a:ahLst/>
            <a:cxnLst/>
            <a:rect l="l" t="t" r="r" b="b"/>
            <a:pathLst>
              <a:path w="5285161" h="403319">
                <a:moveTo>
                  <a:pt x="100830" y="0"/>
                </a:moveTo>
                <a:lnTo>
                  <a:pt x="5184331" y="0"/>
                </a:lnTo>
                <a:cubicBezTo>
                  <a:pt x="5240018" y="0"/>
                  <a:pt x="5285161" y="45143"/>
                  <a:pt x="5285161" y="100830"/>
                </a:cubicBezTo>
                <a:lnTo>
                  <a:pt x="5285161" y="302489"/>
                </a:lnTo>
                <a:cubicBezTo>
                  <a:pt x="5285161" y="358176"/>
                  <a:pt x="5240018" y="403319"/>
                  <a:pt x="5184331" y="403319"/>
                </a:cubicBezTo>
                <a:lnTo>
                  <a:pt x="100830" y="403319"/>
                </a:lnTo>
                <a:cubicBezTo>
                  <a:pt x="45143" y="403319"/>
                  <a:pt x="0" y="358176"/>
                  <a:pt x="0" y="302489"/>
                </a:cubicBezTo>
                <a:lnTo>
                  <a:pt x="0" y="100830"/>
                </a:lnTo>
                <a:cubicBezTo>
                  <a:pt x="0" y="45180"/>
                  <a:pt x="45180" y="0"/>
                  <a:pt x="100830" y="0"/>
                </a:cubicBezTo>
                <a:close/>
              </a:path>
            </a:pathLst>
          </a:custGeom>
          <a:solidFill>
            <a:srgbClr val="F97316">
              <a:alpha val="10196"/>
            </a:srgbClr>
          </a:solidFill>
          <a:ln/>
        </p:spPr>
      </p:sp>
      <p:sp>
        <p:nvSpPr>
          <p:cNvPr id="40" name="Text 38"/>
          <p:cNvSpPr/>
          <p:nvPr/>
        </p:nvSpPr>
        <p:spPr>
          <a:xfrm>
            <a:off x="6497875" y="5310368"/>
            <a:ext cx="5150721" cy="201660"/>
          </a:xfrm>
          <a:prstGeom prst="rect">
            <a:avLst/>
          </a:prstGeom>
          <a:noFill/>
          <a:ln/>
        </p:spPr>
        <p:txBody>
          <a:bodyPr wrap="square" lIns="0" tIns="0" rIns="0" bIns="0" rtlCol="0" anchor="ctr"/>
          <a:lstStyle/>
          <a:p>
            <a:pPr>
              <a:lnSpc>
                <a:spcPct val="130000"/>
              </a:lnSpc>
            </a:pPr>
            <a:r>
              <a:rPr lang="en-US" sz="1059" b="1" dirty="0">
                <a:solidFill>
                  <a:srgbClr val="F97316"/>
                </a:solidFill>
                <a:latin typeface="MiSans" pitchFamily="34" charset="0"/>
                <a:ea typeface="MiSans" pitchFamily="34" charset="-122"/>
                <a:cs typeface="MiSans" pitchFamily="34" charset="-120"/>
              </a:rPr>
              <a:t>Friction :</a:t>
            </a:r>
            <a:r>
              <a:rPr lang="en-US" sz="1059" dirty="0">
                <a:solidFill>
                  <a:srgbClr val="374151"/>
                </a:solidFill>
                <a:latin typeface="MiSans" pitchFamily="34" charset="0"/>
                <a:ea typeface="MiSans" pitchFamily="34" charset="-122"/>
                <a:cs typeface="MiSans" pitchFamily="34" charset="-120"/>
              </a:rPr>
              <a:t> Analyse risque &amp; Conformité</a:t>
            </a:r>
            <a:endParaRPr lang="en-US" sz="1600" dirty="0"/>
          </a:p>
        </p:txBody>
      </p:sp>
      <p:sp>
        <p:nvSpPr>
          <p:cNvPr id="41" name="Shape 39"/>
          <p:cNvSpPr/>
          <p:nvPr/>
        </p:nvSpPr>
        <p:spPr>
          <a:xfrm>
            <a:off x="336099" y="5915347"/>
            <a:ext cx="11519802" cy="604979"/>
          </a:xfrm>
          <a:custGeom>
            <a:avLst/>
            <a:gdLst/>
            <a:ahLst/>
            <a:cxnLst/>
            <a:rect l="l" t="t" r="r" b="b"/>
            <a:pathLst>
              <a:path w="11519802" h="604979">
                <a:moveTo>
                  <a:pt x="100832" y="0"/>
                </a:moveTo>
                <a:lnTo>
                  <a:pt x="11418970" y="0"/>
                </a:lnTo>
                <a:cubicBezTo>
                  <a:pt x="11474658" y="0"/>
                  <a:pt x="11519802" y="45144"/>
                  <a:pt x="11519802" y="100832"/>
                </a:cubicBezTo>
                <a:lnTo>
                  <a:pt x="11519802" y="504147"/>
                </a:lnTo>
                <a:cubicBezTo>
                  <a:pt x="11519802" y="559835"/>
                  <a:pt x="11474658" y="604979"/>
                  <a:pt x="11418970" y="604979"/>
                </a:cubicBezTo>
                <a:lnTo>
                  <a:pt x="100832" y="604979"/>
                </a:lnTo>
                <a:cubicBezTo>
                  <a:pt x="45144" y="604979"/>
                  <a:pt x="0" y="559835"/>
                  <a:pt x="0" y="504147"/>
                </a:cubicBezTo>
                <a:lnTo>
                  <a:pt x="0" y="100832"/>
                </a:lnTo>
                <a:cubicBezTo>
                  <a:pt x="0" y="45181"/>
                  <a:pt x="45181" y="0"/>
                  <a:pt x="100832" y="0"/>
                </a:cubicBezTo>
                <a:close/>
              </a:path>
            </a:pathLst>
          </a:custGeom>
          <a:solidFill>
            <a:srgbClr val="1E3A8A"/>
          </a:solidFill>
          <a:ln/>
        </p:spPr>
      </p:sp>
      <p:sp>
        <p:nvSpPr>
          <p:cNvPr id="42" name="Shape 40"/>
          <p:cNvSpPr/>
          <p:nvPr/>
        </p:nvSpPr>
        <p:spPr>
          <a:xfrm>
            <a:off x="3404712" y="6049786"/>
            <a:ext cx="336099" cy="336099"/>
          </a:xfrm>
          <a:custGeom>
            <a:avLst/>
            <a:gdLst/>
            <a:ahLst/>
            <a:cxnLst/>
            <a:rect l="l" t="t" r="r" b="b"/>
            <a:pathLst>
              <a:path w="336099" h="336099">
                <a:moveTo>
                  <a:pt x="168050" y="0"/>
                </a:moveTo>
                <a:lnTo>
                  <a:pt x="168050" y="0"/>
                </a:lnTo>
                <a:cubicBezTo>
                  <a:pt x="260799" y="0"/>
                  <a:pt x="336099" y="75301"/>
                  <a:pt x="336099" y="168050"/>
                </a:cubicBezTo>
                <a:lnTo>
                  <a:pt x="336099" y="168050"/>
                </a:lnTo>
                <a:cubicBezTo>
                  <a:pt x="336099" y="260799"/>
                  <a:pt x="260799" y="336099"/>
                  <a:pt x="168050" y="336099"/>
                </a:cubicBezTo>
                <a:lnTo>
                  <a:pt x="168050" y="336099"/>
                </a:lnTo>
                <a:cubicBezTo>
                  <a:pt x="75301" y="336099"/>
                  <a:pt x="0" y="260799"/>
                  <a:pt x="0" y="168050"/>
                </a:cubicBezTo>
                <a:lnTo>
                  <a:pt x="0" y="168050"/>
                </a:lnTo>
                <a:cubicBezTo>
                  <a:pt x="0" y="75301"/>
                  <a:pt x="75301" y="0"/>
                  <a:pt x="168050" y="0"/>
                </a:cubicBezTo>
                <a:close/>
              </a:path>
            </a:pathLst>
          </a:custGeom>
          <a:solidFill>
            <a:srgbClr val="FFFFFF"/>
          </a:solidFill>
          <a:ln/>
        </p:spPr>
      </p:sp>
      <p:sp>
        <p:nvSpPr>
          <p:cNvPr id="43" name="Shape 41"/>
          <p:cNvSpPr/>
          <p:nvPr/>
        </p:nvSpPr>
        <p:spPr>
          <a:xfrm>
            <a:off x="3480334" y="6142214"/>
            <a:ext cx="189056" cy="151245"/>
          </a:xfrm>
          <a:custGeom>
            <a:avLst/>
            <a:gdLst/>
            <a:ahLst/>
            <a:cxnLst/>
            <a:rect l="l" t="t" r="r" b="b"/>
            <a:pathLst>
              <a:path w="189056" h="151245">
                <a:moveTo>
                  <a:pt x="122857" y="62182"/>
                </a:moveTo>
                <a:cubicBezTo>
                  <a:pt x="126461" y="61207"/>
                  <a:pt x="130242" y="62920"/>
                  <a:pt x="131866" y="66258"/>
                </a:cubicBezTo>
                <a:lnTo>
                  <a:pt x="137361" y="77365"/>
                </a:lnTo>
                <a:cubicBezTo>
                  <a:pt x="140403" y="77779"/>
                  <a:pt x="143387" y="78606"/>
                  <a:pt x="146193" y="79758"/>
                </a:cubicBezTo>
                <a:lnTo>
                  <a:pt x="156532" y="72875"/>
                </a:lnTo>
                <a:cubicBezTo>
                  <a:pt x="159634" y="70807"/>
                  <a:pt x="163740" y="71221"/>
                  <a:pt x="166369" y="73850"/>
                </a:cubicBezTo>
                <a:lnTo>
                  <a:pt x="172041" y="79522"/>
                </a:lnTo>
                <a:cubicBezTo>
                  <a:pt x="174670" y="82151"/>
                  <a:pt x="175083" y="86286"/>
                  <a:pt x="173016" y="89358"/>
                </a:cubicBezTo>
                <a:lnTo>
                  <a:pt x="166133" y="99668"/>
                </a:lnTo>
                <a:cubicBezTo>
                  <a:pt x="166694" y="101056"/>
                  <a:pt x="167196" y="102504"/>
                  <a:pt x="167610" y="104010"/>
                </a:cubicBezTo>
                <a:cubicBezTo>
                  <a:pt x="168023" y="105517"/>
                  <a:pt x="168289" y="106994"/>
                  <a:pt x="168496" y="108500"/>
                </a:cubicBezTo>
                <a:lnTo>
                  <a:pt x="179633" y="113995"/>
                </a:lnTo>
                <a:cubicBezTo>
                  <a:pt x="182971" y="115649"/>
                  <a:pt x="184684" y="119430"/>
                  <a:pt x="183709" y="123004"/>
                </a:cubicBezTo>
                <a:lnTo>
                  <a:pt x="181641" y="130744"/>
                </a:lnTo>
                <a:cubicBezTo>
                  <a:pt x="180666" y="134318"/>
                  <a:pt x="177328" y="136741"/>
                  <a:pt x="173606" y="136504"/>
                </a:cubicBezTo>
                <a:lnTo>
                  <a:pt x="161200" y="135707"/>
                </a:lnTo>
                <a:cubicBezTo>
                  <a:pt x="159339" y="138099"/>
                  <a:pt x="157182" y="140315"/>
                  <a:pt x="154730" y="142205"/>
                </a:cubicBezTo>
                <a:lnTo>
                  <a:pt x="155528" y="154583"/>
                </a:lnTo>
                <a:cubicBezTo>
                  <a:pt x="155764" y="158305"/>
                  <a:pt x="153342" y="161672"/>
                  <a:pt x="149768" y="162618"/>
                </a:cubicBezTo>
                <a:lnTo>
                  <a:pt x="142028" y="164685"/>
                </a:lnTo>
                <a:cubicBezTo>
                  <a:pt x="138424" y="165660"/>
                  <a:pt x="134673" y="163947"/>
                  <a:pt x="133018" y="160609"/>
                </a:cubicBezTo>
                <a:lnTo>
                  <a:pt x="127524" y="149502"/>
                </a:lnTo>
                <a:cubicBezTo>
                  <a:pt x="124481" y="149088"/>
                  <a:pt x="121498" y="148261"/>
                  <a:pt x="118692" y="147109"/>
                </a:cubicBezTo>
                <a:lnTo>
                  <a:pt x="108353" y="153992"/>
                </a:lnTo>
                <a:cubicBezTo>
                  <a:pt x="105251" y="156060"/>
                  <a:pt x="101145" y="155646"/>
                  <a:pt x="98516" y="153017"/>
                </a:cubicBezTo>
                <a:lnTo>
                  <a:pt x="92844" y="147345"/>
                </a:lnTo>
                <a:cubicBezTo>
                  <a:pt x="90215" y="144716"/>
                  <a:pt x="89802" y="140610"/>
                  <a:pt x="91869" y="137509"/>
                </a:cubicBezTo>
                <a:lnTo>
                  <a:pt x="98752" y="127170"/>
                </a:lnTo>
                <a:cubicBezTo>
                  <a:pt x="98191" y="125781"/>
                  <a:pt x="97689" y="124334"/>
                  <a:pt x="97275" y="122827"/>
                </a:cubicBezTo>
                <a:cubicBezTo>
                  <a:pt x="96862" y="121321"/>
                  <a:pt x="96596" y="119814"/>
                  <a:pt x="96389" y="118337"/>
                </a:cubicBezTo>
                <a:lnTo>
                  <a:pt x="85252" y="112843"/>
                </a:lnTo>
                <a:cubicBezTo>
                  <a:pt x="81914" y="111188"/>
                  <a:pt x="80231" y="107407"/>
                  <a:pt x="81176" y="103833"/>
                </a:cubicBezTo>
                <a:lnTo>
                  <a:pt x="83244" y="96094"/>
                </a:lnTo>
                <a:cubicBezTo>
                  <a:pt x="84218" y="92519"/>
                  <a:pt x="87556" y="90097"/>
                  <a:pt x="91279" y="90333"/>
                </a:cubicBezTo>
                <a:lnTo>
                  <a:pt x="103656" y="91131"/>
                </a:lnTo>
                <a:cubicBezTo>
                  <a:pt x="105517" y="88738"/>
                  <a:pt x="107673" y="86523"/>
                  <a:pt x="110125" y="84632"/>
                </a:cubicBezTo>
                <a:lnTo>
                  <a:pt x="109327" y="72284"/>
                </a:lnTo>
                <a:cubicBezTo>
                  <a:pt x="109091" y="68562"/>
                  <a:pt x="111513" y="65195"/>
                  <a:pt x="115088" y="64249"/>
                </a:cubicBezTo>
                <a:lnTo>
                  <a:pt x="122827" y="62182"/>
                </a:lnTo>
                <a:close/>
                <a:moveTo>
                  <a:pt x="132457" y="100436"/>
                </a:moveTo>
                <a:cubicBezTo>
                  <a:pt x="125284" y="100444"/>
                  <a:pt x="119466" y="106275"/>
                  <a:pt x="119474" y="113448"/>
                </a:cubicBezTo>
                <a:cubicBezTo>
                  <a:pt x="119483" y="120622"/>
                  <a:pt x="125313" y="126439"/>
                  <a:pt x="132487" y="126431"/>
                </a:cubicBezTo>
                <a:cubicBezTo>
                  <a:pt x="139660" y="126423"/>
                  <a:pt x="145478" y="120592"/>
                  <a:pt x="145470" y="113419"/>
                </a:cubicBezTo>
                <a:cubicBezTo>
                  <a:pt x="145461" y="106245"/>
                  <a:pt x="139631" y="100428"/>
                  <a:pt x="132457" y="100436"/>
                </a:cubicBezTo>
                <a:close/>
                <a:moveTo>
                  <a:pt x="66435" y="-13441"/>
                </a:moveTo>
                <a:lnTo>
                  <a:pt x="74175" y="-11373"/>
                </a:lnTo>
                <a:cubicBezTo>
                  <a:pt x="77749" y="-10398"/>
                  <a:pt x="80171" y="-7031"/>
                  <a:pt x="79935" y="-3338"/>
                </a:cubicBezTo>
                <a:lnTo>
                  <a:pt x="79138" y="9010"/>
                </a:lnTo>
                <a:cubicBezTo>
                  <a:pt x="81589" y="10900"/>
                  <a:pt x="83746" y="13086"/>
                  <a:pt x="85607" y="15508"/>
                </a:cubicBezTo>
                <a:lnTo>
                  <a:pt x="98014" y="14711"/>
                </a:lnTo>
                <a:cubicBezTo>
                  <a:pt x="101706" y="14475"/>
                  <a:pt x="105074" y="16897"/>
                  <a:pt x="106049" y="20471"/>
                </a:cubicBezTo>
                <a:lnTo>
                  <a:pt x="108116" y="28211"/>
                </a:lnTo>
                <a:cubicBezTo>
                  <a:pt x="109062" y="31785"/>
                  <a:pt x="107378" y="35566"/>
                  <a:pt x="104040" y="37220"/>
                </a:cubicBezTo>
                <a:lnTo>
                  <a:pt x="92903" y="42715"/>
                </a:lnTo>
                <a:cubicBezTo>
                  <a:pt x="92696" y="44221"/>
                  <a:pt x="92401" y="45728"/>
                  <a:pt x="92017" y="47205"/>
                </a:cubicBezTo>
                <a:cubicBezTo>
                  <a:pt x="91633" y="48682"/>
                  <a:pt x="91101" y="50159"/>
                  <a:pt x="90540" y="51547"/>
                </a:cubicBezTo>
                <a:lnTo>
                  <a:pt x="97423" y="61886"/>
                </a:lnTo>
                <a:cubicBezTo>
                  <a:pt x="99491" y="64988"/>
                  <a:pt x="99077" y="69094"/>
                  <a:pt x="96448" y="71723"/>
                </a:cubicBezTo>
                <a:lnTo>
                  <a:pt x="90776" y="77395"/>
                </a:lnTo>
                <a:cubicBezTo>
                  <a:pt x="88147" y="80024"/>
                  <a:pt x="84041" y="80437"/>
                  <a:pt x="80940" y="78370"/>
                </a:cubicBezTo>
                <a:lnTo>
                  <a:pt x="70601" y="71487"/>
                </a:lnTo>
                <a:cubicBezTo>
                  <a:pt x="67794" y="72639"/>
                  <a:pt x="64811" y="73466"/>
                  <a:pt x="61768" y="73879"/>
                </a:cubicBezTo>
                <a:lnTo>
                  <a:pt x="56274" y="84987"/>
                </a:lnTo>
                <a:cubicBezTo>
                  <a:pt x="54619" y="88325"/>
                  <a:pt x="50838" y="90008"/>
                  <a:pt x="47264" y="89063"/>
                </a:cubicBezTo>
                <a:lnTo>
                  <a:pt x="39524" y="86995"/>
                </a:lnTo>
                <a:cubicBezTo>
                  <a:pt x="35921" y="86020"/>
                  <a:pt x="33528" y="82653"/>
                  <a:pt x="33764" y="78960"/>
                </a:cubicBezTo>
                <a:lnTo>
                  <a:pt x="34562" y="66583"/>
                </a:lnTo>
                <a:cubicBezTo>
                  <a:pt x="32110" y="64693"/>
                  <a:pt x="29954" y="62507"/>
                  <a:pt x="28093" y="60084"/>
                </a:cubicBezTo>
                <a:lnTo>
                  <a:pt x="15686" y="60882"/>
                </a:lnTo>
                <a:cubicBezTo>
                  <a:pt x="11993" y="61118"/>
                  <a:pt x="8626" y="58696"/>
                  <a:pt x="7651" y="55122"/>
                </a:cubicBezTo>
                <a:lnTo>
                  <a:pt x="5583" y="47382"/>
                </a:lnTo>
                <a:cubicBezTo>
                  <a:pt x="4638" y="43808"/>
                  <a:pt x="6322" y="40027"/>
                  <a:pt x="9660" y="38372"/>
                </a:cubicBezTo>
                <a:lnTo>
                  <a:pt x="20796" y="32878"/>
                </a:lnTo>
                <a:cubicBezTo>
                  <a:pt x="21003" y="31371"/>
                  <a:pt x="21298" y="29894"/>
                  <a:pt x="21682" y="28388"/>
                </a:cubicBezTo>
                <a:cubicBezTo>
                  <a:pt x="22096" y="26881"/>
                  <a:pt x="22569" y="25434"/>
                  <a:pt x="23159" y="24046"/>
                </a:cubicBezTo>
                <a:lnTo>
                  <a:pt x="16277" y="13736"/>
                </a:lnTo>
                <a:cubicBezTo>
                  <a:pt x="14209" y="10634"/>
                  <a:pt x="14622" y="6528"/>
                  <a:pt x="17251" y="3899"/>
                </a:cubicBezTo>
                <a:lnTo>
                  <a:pt x="22923" y="-1772"/>
                </a:lnTo>
                <a:cubicBezTo>
                  <a:pt x="25552" y="-4401"/>
                  <a:pt x="29658" y="-4815"/>
                  <a:pt x="32760" y="-2747"/>
                </a:cubicBezTo>
                <a:lnTo>
                  <a:pt x="43099" y="4136"/>
                </a:lnTo>
                <a:cubicBezTo>
                  <a:pt x="45905" y="2984"/>
                  <a:pt x="48889" y="2156"/>
                  <a:pt x="51931" y="1743"/>
                </a:cubicBezTo>
                <a:lnTo>
                  <a:pt x="57426" y="-9364"/>
                </a:lnTo>
                <a:cubicBezTo>
                  <a:pt x="59080" y="-12702"/>
                  <a:pt x="62832" y="-14386"/>
                  <a:pt x="66435" y="-13441"/>
                </a:cubicBezTo>
                <a:close/>
                <a:moveTo>
                  <a:pt x="56835" y="24814"/>
                </a:moveTo>
                <a:cubicBezTo>
                  <a:pt x="49661" y="24814"/>
                  <a:pt x="43837" y="30638"/>
                  <a:pt x="43837" y="37811"/>
                </a:cubicBezTo>
                <a:cubicBezTo>
                  <a:pt x="43837" y="44985"/>
                  <a:pt x="49661" y="50809"/>
                  <a:pt x="56835" y="50809"/>
                </a:cubicBezTo>
                <a:cubicBezTo>
                  <a:pt x="64008" y="50809"/>
                  <a:pt x="69832" y="44985"/>
                  <a:pt x="69832" y="37811"/>
                </a:cubicBezTo>
                <a:cubicBezTo>
                  <a:pt x="69832" y="30638"/>
                  <a:pt x="64008" y="24814"/>
                  <a:pt x="56835" y="24814"/>
                </a:cubicBezTo>
                <a:close/>
              </a:path>
            </a:pathLst>
          </a:custGeom>
          <a:solidFill>
            <a:srgbClr val="10B981"/>
          </a:solidFill>
          <a:ln/>
        </p:spPr>
      </p:sp>
      <p:sp>
        <p:nvSpPr>
          <p:cNvPr id="44" name="Text 42"/>
          <p:cNvSpPr/>
          <p:nvPr/>
        </p:nvSpPr>
        <p:spPr>
          <a:xfrm>
            <a:off x="3841641" y="6112805"/>
            <a:ext cx="2705599" cy="210062"/>
          </a:xfrm>
          <a:prstGeom prst="rect">
            <a:avLst/>
          </a:prstGeom>
          <a:noFill/>
          <a:ln/>
        </p:spPr>
        <p:txBody>
          <a:bodyPr wrap="square" lIns="0" tIns="0" rIns="0" bIns="0" rtlCol="0" anchor="ctr"/>
          <a:lstStyle/>
          <a:p>
            <a:pPr>
              <a:lnSpc>
                <a:spcPct val="130000"/>
              </a:lnSpc>
            </a:pPr>
            <a:r>
              <a:rPr lang="en-US" sz="1059" b="1" dirty="0">
                <a:solidFill>
                  <a:srgbClr val="FFFFFF"/>
                </a:solidFill>
                <a:latin typeface="MiSans" pitchFamily="34" charset="0"/>
                <a:ea typeface="MiSans" pitchFamily="34" charset="-122"/>
                <a:cs typeface="MiSans" pitchFamily="34" charset="-120"/>
              </a:rPr>
              <a:t>Thomas consomme les données qualité</a:t>
            </a:r>
            <a:endParaRPr lang="en-US" sz="1600" dirty="0"/>
          </a:p>
        </p:txBody>
      </p:sp>
      <p:sp>
        <p:nvSpPr>
          <p:cNvPr id="45" name="Shape 43"/>
          <p:cNvSpPr/>
          <p:nvPr/>
        </p:nvSpPr>
        <p:spPr>
          <a:xfrm>
            <a:off x="6747849" y="6083396"/>
            <a:ext cx="8402" cy="268879"/>
          </a:xfrm>
          <a:custGeom>
            <a:avLst/>
            <a:gdLst/>
            <a:ahLst/>
            <a:cxnLst/>
            <a:rect l="l" t="t" r="r" b="b"/>
            <a:pathLst>
              <a:path w="8402" h="268879">
                <a:moveTo>
                  <a:pt x="0" y="0"/>
                </a:moveTo>
                <a:lnTo>
                  <a:pt x="8402" y="0"/>
                </a:lnTo>
                <a:lnTo>
                  <a:pt x="8402" y="268879"/>
                </a:lnTo>
                <a:lnTo>
                  <a:pt x="0" y="268879"/>
                </a:lnTo>
                <a:lnTo>
                  <a:pt x="0" y="0"/>
                </a:lnTo>
                <a:close/>
              </a:path>
            </a:pathLst>
          </a:custGeom>
          <a:solidFill>
            <a:srgbClr val="FFFFFF">
              <a:alpha val="30196"/>
            </a:srgbClr>
          </a:solidFill>
          <a:ln/>
        </p:spPr>
      </p:sp>
      <p:sp>
        <p:nvSpPr>
          <p:cNvPr id="46" name="Shape 44"/>
          <p:cNvSpPr/>
          <p:nvPr/>
        </p:nvSpPr>
        <p:spPr>
          <a:xfrm>
            <a:off x="7025131" y="6049786"/>
            <a:ext cx="336099" cy="336099"/>
          </a:xfrm>
          <a:custGeom>
            <a:avLst/>
            <a:gdLst/>
            <a:ahLst/>
            <a:cxnLst/>
            <a:rect l="l" t="t" r="r" b="b"/>
            <a:pathLst>
              <a:path w="336099" h="336099">
                <a:moveTo>
                  <a:pt x="168050" y="0"/>
                </a:moveTo>
                <a:lnTo>
                  <a:pt x="168050" y="0"/>
                </a:lnTo>
                <a:cubicBezTo>
                  <a:pt x="260799" y="0"/>
                  <a:pt x="336099" y="75301"/>
                  <a:pt x="336099" y="168050"/>
                </a:cubicBezTo>
                <a:lnTo>
                  <a:pt x="336099" y="168050"/>
                </a:lnTo>
                <a:cubicBezTo>
                  <a:pt x="336099" y="260799"/>
                  <a:pt x="260799" y="336099"/>
                  <a:pt x="168050" y="336099"/>
                </a:cubicBezTo>
                <a:lnTo>
                  <a:pt x="168050" y="336099"/>
                </a:lnTo>
                <a:cubicBezTo>
                  <a:pt x="75301" y="336099"/>
                  <a:pt x="0" y="260799"/>
                  <a:pt x="0" y="168050"/>
                </a:cubicBezTo>
                <a:lnTo>
                  <a:pt x="0" y="168050"/>
                </a:lnTo>
                <a:cubicBezTo>
                  <a:pt x="0" y="75301"/>
                  <a:pt x="75301" y="0"/>
                  <a:pt x="168050" y="0"/>
                </a:cubicBezTo>
                <a:close/>
              </a:path>
            </a:pathLst>
          </a:custGeom>
          <a:solidFill>
            <a:srgbClr val="FFFFFF"/>
          </a:solidFill>
          <a:ln/>
        </p:spPr>
      </p:sp>
      <p:sp>
        <p:nvSpPr>
          <p:cNvPr id="47" name="Shape 45"/>
          <p:cNvSpPr/>
          <p:nvPr/>
        </p:nvSpPr>
        <p:spPr>
          <a:xfrm>
            <a:off x="7119659" y="6142214"/>
            <a:ext cx="151245" cy="151245"/>
          </a:xfrm>
          <a:custGeom>
            <a:avLst/>
            <a:gdLst/>
            <a:ahLst/>
            <a:cxnLst/>
            <a:rect l="l" t="t" r="r" b="b"/>
            <a:pathLst>
              <a:path w="151245" h="151245">
                <a:moveTo>
                  <a:pt x="75622" y="0"/>
                </a:moveTo>
                <a:cubicBezTo>
                  <a:pt x="76981" y="0"/>
                  <a:pt x="78340" y="295"/>
                  <a:pt x="79581" y="857"/>
                </a:cubicBezTo>
                <a:lnTo>
                  <a:pt x="135234" y="24459"/>
                </a:lnTo>
                <a:cubicBezTo>
                  <a:pt x="141733" y="27206"/>
                  <a:pt x="146577" y="33616"/>
                  <a:pt x="146548" y="41356"/>
                </a:cubicBezTo>
                <a:cubicBezTo>
                  <a:pt x="146400" y="70660"/>
                  <a:pt x="134348" y="124275"/>
                  <a:pt x="83450" y="148645"/>
                </a:cubicBezTo>
                <a:cubicBezTo>
                  <a:pt x="78517" y="151008"/>
                  <a:pt x="72786" y="151008"/>
                  <a:pt x="67853" y="148645"/>
                </a:cubicBezTo>
                <a:cubicBezTo>
                  <a:pt x="16926" y="124275"/>
                  <a:pt x="4904" y="70660"/>
                  <a:pt x="4756" y="41356"/>
                </a:cubicBezTo>
                <a:cubicBezTo>
                  <a:pt x="4726" y="33616"/>
                  <a:pt x="9571" y="27206"/>
                  <a:pt x="16070" y="24459"/>
                </a:cubicBezTo>
                <a:lnTo>
                  <a:pt x="71694" y="857"/>
                </a:lnTo>
                <a:cubicBezTo>
                  <a:pt x="72934" y="295"/>
                  <a:pt x="74263" y="0"/>
                  <a:pt x="75622" y="0"/>
                </a:cubicBezTo>
                <a:close/>
                <a:moveTo>
                  <a:pt x="75622" y="19733"/>
                </a:moveTo>
                <a:lnTo>
                  <a:pt x="75622" y="131423"/>
                </a:lnTo>
                <a:cubicBezTo>
                  <a:pt x="116387" y="111691"/>
                  <a:pt x="127347" y="67971"/>
                  <a:pt x="127613" y="41799"/>
                </a:cubicBezTo>
                <a:lnTo>
                  <a:pt x="75622" y="19762"/>
                </a:lnTo>
                <a:lnTo>
                  <a:pt x="75622" y="19762"/>
                </a:lnTo>
                <a:close/>
              </a:path>
            </a:pathLst>
          </a:custGeom>
          <a:solidFill>
            <a:srgbClr val="1E3A8A"/>
          </a:solidFill>
          <a:ln/>
        </p:spPr>
      </p:sp>
      <p:sp>
        <p:nvSpPr>
          <p:cNvPr id="48" name="Text 46"/>
          <p:cNvSpPr/>
          <p:nvPr/>
        </p:nvSpPr>
        <p:spPr>
          <a:xfrm>
            <a:off x="7462060" y="6112805"/>
            <a:ext cx="1386409" cy="210062"/>
          </a:xfrm>
          <a:prstGeom prst="rect">
            <a:avLst/>
          </a:prstGeom>
          <a:noFill/>
          <a:ln/>
        </p:spPr>
        <p:txBody>
          <a:bodyPr wrap="square" lIns="0" tIns="0" rIns="0" bIns="0" rtlCol="0" anchor="ctr"/>
          <a:lstStyle/>
          <a:p>
            <a:pPr>
              <a:lnSpc>
                <a:spcPct val="130000"/>
              </a:lnSpc>
            </a:pPr>
            <a:r>
              <a:rPr lang="en-US" sz="1059" b="1" dirty="0">
                <a:solidFill>
                  <a:srgbClr val="FFFFFF"/>
                </a:solidFill>
                <a:latin typeface="MiSans" pitchFamily="34" charset="0"/>
                <a:ea typeface="MiSans" pitchFamily="34" charset="-122"/>
                <a:cs typeface="MiSans" pitchFamily="34" charset="-120"/>
              </a:rPr>
              <a:t>Laurent les protège</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6878" y="226127"/>
            <a:ext cx="1846702" cy="339190"/>
          </a:xfrm>
          <a:custGeom>
            <a:avLst/>
            <a:gdLst/>
            <a:ahLst/>
            <a:cxnLst/>
            <a:rect l="l" t="t" r="r" b="b"/>
            <a:pathLst>
              <a:path w="1846702" h="339190">
                <a:moveTo>
                  <a:pt x="169595" y="0"/>
                </a:moveTo>
                <a:lnTo>
                  <a:pt x="1677107" y="0"/>
                </a:lnTo>
                <a:cubicBezTo>
                  <a:pt x="1770771" y="0"/>
                  <a:pt x="1846702" y="75930"/>
                  <a:pt x="1846702" y="169595"/>
                </a:cubicBezTo>
                <a:lnTo>
                  <a:pt x="1846702" y="169595"/>
                </a:lnTo>
                <a:cubicBezTo>
                  <a:pt x="1846702" y="263260"/>
                  <a:pt x="1770771" y="339190"/>
                  <a:pt x="1677107" y="339190"/>
                </a:cubicBezTo>
                <a:lnTo>
                  <a:pt x="169595" y="339190"/>
                </a:lnTo>
                <a:cubicBezTo>
                  <a:pt x="75993" y="339190"/>
                  <a:pt x="0" y="263197"/>
                  <a:pt x="0" y="169595"/>
                </a:cubicBezTo>
                <a:lnTo>
                  <a:pt x="0" y="169595"/>
                </a:lnTo>
                <a:cubicBezTo>
                  <a:pt x="0" y="75993"/>
                  <a:pt x="75993" y="0"/>
                  <a:pt x="169595" y="0"/>
                </a:cubicBezTo>
                <a:close/>
              </a:path>
            </a:pathLst>
          </a:custGeom>
          <a:solidFill>
            <a:srgbClr val="F97316"/>
          </a:solidFill>
          <a:ln/>
        </p:spPr>
      </p:sp>
      <p:sp>
        <p:nvSpPr>
          <p:cNvPr id="3" name="Text 1"/>
          <p:cNvSpPr/>
          <p:nvPr/>
        </p:nvSpPr>
        <p:spPr>
          <a:xfrm>
            <a:off x="527629" y="301502"/>
            <a:ext cx="1611153" cy="188439"/>
          </a:xfrm>
          <a:prstGeom prst="rect">
            <a:avLst/>
          </a:prstGeom>
          <a:noFill/>
          <a:ln/>
        </p:spPr>
        <p:txBody>
          <a:bodyPr wrap="square" lIns="0" tIns="0" rIns="0" bIns="0" rtlCol="0" anchor="ctr"/>
          <a:lstStyle/>
          <a:p>
            <a:pPr>
              <a:lnSpc>
                <a:spcPct val="120000"/>
              </a:lnSpc>
            </a:pPr>
            <a:r>
              <a:rPr lang="en-US" sz="1039" b="1" kern="0" spc="26" dirty="0">
                <a:solidFill>
                  <a:srgbClr val="FFFFFF"/>
                </a:solidFill>
                <a:latin typeface="MiSans" pitchFamily="34" charset="0"/>
                <a:ea typeface="MiSans" pitchFamily="34" charset="-122"/>
                <a:cs typeface="MiSans" pitchFamily="34" charset="-120"/>
              </a:rPr>
              <a:t>DISCOVERY - TERRAIN</a:t>
            </a:r>
            <a:endParaRPr lang="en-US" sz="1600" dirty="0"/>
          </a:p>
        </p:txBody>
      </p:sp>
      <p:sp>
        <p:nvSpPr>
          <p:cNvPr id="4" name="Text 2"/>
          <p:cNvSpPr/>
          <p:nvPr/>
        </p:nvSpPr>
        <p:spPr>
          <a:xfrm>
            <a:off x="376878" y="979883"/>
            <a:ext cx="11607839" cy="376878"/>
          </a:xfrm>
          <a:prstGeom prst="rect">
            <a:avLst/>
          </a:prstGeom>
          <a:noFill/>
          <a:ln/>
        </p:spPr>
        <p:txBody>
          <a:bodyPr wrap="square" lIns="0" tIns="0" rIns="0" bIns="0" rtlCol="0" anchor="ctr"/>
          <a:lstStyle/>
          <a:p>
            <a:pPr>
              <a:lnSpc>
                <a:spcPct val="90000"/>
              </a:lnSpc>
            </a:pPr>
            <a:r>
              <a:rPr lang="en-US" sz="2671" b="1" dirty="0">
                <a:solidFill>
                  <a:srgbClr val="1E3A8A"/>
                </a:solidFill>
                <a:latin typeface="Noto Sans SC" pitchFamily="34" charset="0"/>
                <a:ea typeface="Noto Sans SC" pitchFamily="34" charset="-122"/>
                <a:cs typeface="Noto Sans SC" pitchFamily="34" charset="-120"/>
              </a:rPr>
              <a:t>Pain Points — Le vécu sur le terrain</a:t>
            </a:r>
            <a:endParaRPr lang="en-US" sz="1600" dirty="0"/>
          </a:p>
        </p:txBody>
      </p:sp>
      <p:sp>
        <p:nvSpPr>
          <p:cNvPr id="5" name="Shape 3"/>
          <p:cNvSpPr/>
          <p:nvPr/>
        </p:nvSpPr>
        <p:spPr>
          <a:xfrm>
            <a:off x="376878" y="1582887"/>
            <a:ext cx="11438244" cy="904507"/>
          </a:xfrm>
          <a:custGeom>
            <a:avLst/>
            <a:gdLst/>
            <a:ahLst/>
            <a:cxnLst/>
            <a:rect l="l" t="t" r="r" b="b"/>
            <a:pathLst>
              <a:path w="11438244" h="904507">
                <a:moveTo>
                  <a:pt x="150754" y="0"/>
                </a:moveTo>
                <a:lnTo>
                  <a:pt x="11287490" y="0"/>
                </a:lnTo>
                <a:cubicBezTo>
                  <a:pt x="11370749" y="0"/>
                  <a:pt x="11438244" y="67495"/>
                  <a:pt x="11438244" y="150754"/>
                </a:cubicBezTo>
                <a:lnTo>
                  <a:pt x="11438244" y="753753"/>
                </a:lnTo>
                <a:cubicBezTo>
                  <a:pt x="11438244" y="837012"/>
                  <a:pt x="11370749" y="904507"/>
                  <a:pt x="11287490" y="904507"/>
                </a:cubicBezTo>
                <a:lnTo>
                  <a:pt x="150754" y="904507"/>
                </a:lnTo>
                <a:cubicBezTo>
                  <a:pt x="67551" y="904507"/>
                  <a:pt x="0" y="836956"/>
                  <a:pt x="0" y="753753"/>
                </a:cubicBezTo>
                <a:lnTo>
                  <a:pt x="0" y="150754"/>
                </a:lnTo>
                <a:cubicBezTo>
                  <a:pt x="0" y="67551"/>
                  <a:pt x="67551" y="0"/>
                  <a:pt x="150754" y="0"/>
                </a:cubicBezTo>
                <a:close/>
              </a:path>
            </a:pathLst>
          </a:custGeom>
          <a:solidFill>
            <a:srgbClr val="F3F4F6"/>
          </a:solidFill>
          <a:ln/>
        </p:spPr>
      </p:sp>
      <p:sp>
        <p:nvSpPr>
          <p:cNvPr id="6" name="Shape 4"/>
          <p:cNvSpPr/>
          <p:nvPr/>
        </p:nvSpPr>
        <p:spPr>
          <a:xfrm>
            <a:off x="565317" y="1771326"/>
            <a:ext cx="527629" cy="527629"/>
          </a:xfrm>
          <a:custGeom>
            <a:avLst/>
            <a:gdLst/>
            <a:ahLst/>
            <a:cxnLst/>
            <a:rect l="l" t="t" r="r" b="b"/>
            <a:pathLst>
              <a:path w="527629" h="527629">
                <a:moveTo>
                  <a:pt x="113066" y="0"/>
                </a:moveTo>
                <a:lnTo>
                  <a:pt x="414563" y="0"/>
                </a:lnTo>
                <a:cubicBezTo>
                  <a:pt x="477008" y="0"/>
                  <a:pt x="527629" y="50621"/>
                  <a:pt x="527629" y="113066"/>
                </a:cubicBezTo>
                <a:lnTo>
                  <a:pt x="527629" y="414563"/>
                </a:lnTo>
                <a:cubicBezTo>
                  <a:pt x="527629" y="477008"/>
                  <a:pt x="477008" y="527629"/>
                  <a:pt x="414563" y="527629"/>
                </a:cubicBezTo>
                <a:lnTo>
                  <a:pt x="113066" y="527629"/>
                </a:lnTo>
                <a:cubicBezTo>
                  <a:pt x="50621" y="527629"/>
                  <a:pt x="0" y="477008"/>
                  <a:pt x="0" y="414563"/>
                </a:cubicBezTo>
                <a:lnTo>
                  <a:pt x="0" y="113066"/>
                </a:lnTo>
                <a:cubicBezTo>
                  <a:pt x="0" y="50663"/>
                  <a:pt x="50663" y="0"/>
                  <a:pt x="113066" y="0"/>
                </a:cubicBezTo>
                <a:close/>
              </a:path>
            </a:pathLst>
          </a:custGeom>
          <a:solidFill>
            <a:srgbClr val="F97316"/>
          </a:solidFill>
          <a:ln/>
        </p:spPr>
      </p:sp>
      <p:sp>
        <p:nvSpPr>
          <p:cNvPr id="7" name="Text 5"/>
          <p:cNvSpPr/>
          <p:nvPr/>
        </p:nvSpPr>
        <p:spPr>
          <a:xfrm>
            <a:off x="713860" y="1903233"/>
            <a:ext cx="320346" cy="263815"/>
          </a:xfrm>
          <a:prstGeom prst="rect">
            <a:avLst/>
          </a:prstGeom>
          <a:noFill/>
          <a:ln/>
        </p:spPr>
        <p:txBody>
          <a:bodyPr wrap="square" lIns="0" tIns="0" rIns="0" bIns="0" rtlCol="0" anchor="ctr"/>
          <a:lstStyle/>
          <a:p>
            <a:pPr>
              <a:lnSpc>
                <a:spcPct val="120000"/>
              </a:lnSpc>
            </a:pPr>
            <a:r>
              <a:rPr lang="en-US" sz="1484" b="1" dirty="0">
                <a:solidFill>
                  <a:srgbClr val="FFFFFF"/>
                </a:solidFill>
                <a:latin typeface="Noto Sans SC" pitchFamily="34" charset="0"/>
                <a:ea typeface="Noto Sans SC" pitchFamily="34" charset="-122"/>
                <a:cs typeface="Noto Sans SC" pitchFamily="34" charset="-120"/>
              </a:rPr>
              <a:t>P1</a:t>
            </a:r>
            <a:endParaRPr lang="en-US" sz="1600" dirty="0"/>
          </a:p>
        </p:txBody>
      </p:sp>
      <p:sp>
        <p:nvSpPr>
          <p:cNvPr id="8" name="Text 6"/>
          <p:cNvSpPr/>
          <p:nvPr/>
        </p:nvSpPr>
        <p:spPr>
          <a:xfrm>
            <a:off x="1319073" y="1771326"/>
            <a:ext cx="8950850" cy="263815"/>
          </a:xfrm>
          <a:prstGeom prst="rect">
            <a:avLst/>
          </a:prstGeom>
          <a:noFill/>
          <a:ln/>
        </p:spPr>
        <p:txBody>
          <a:bodyPr wrap="square" lIns="0" tIns="0" rIns="0" bIns="0" rtlCol="0" anchor="ctr"/>
          <a:lstStyle/>
          <a:p>
            <a:pPr>
              <a:lnSpc>
                <a:spcPct val="120000"/>
              </a:lnSpc>
            </a:pPr>
            <a:r>
              <a:rPr lang="en-US" sz="1484" b="1" dirty="0">
                <a:solidFill>
                  <a:srgbClr val="1E3A8A"/>
                </a:solidFill>
                <a:latin typeface="Noto Sans SC" pitchFamily="34" charset="0"/>
                <a:ea typeface="Noto Sans SC" pitchFamily="34" charset="-122"/>
                <a:cs typeface="Noto Sans SC" pitchFamily="34" charset="-120"/>
              </a:rPr>
              <a:t>Contrôle Visuel Subjectif</a:t>
            </a:r>
            <a:endParaRPr lang="en-US" sz="1600" dirty="0"/>
          </a:p>
        </p:txBody>
      </p:sp>
      <p:sp>
        <p:nvSpPr>
          <p:cNvPr id="9" name="Text 7"/>
          <p:cNvSpPr/>
          <p:nvPr/>
        </p:nvSpPr>
        <p:spPr>
          <a:xfrm>
            <a:off x="1319073" y="2072828"/>
            <a:ext cx="8932006"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Le jugement varie avec fatigue, éclairage, expérience</a:t>
            </a:r>
            <a:endParaRPr lang="en-US" sz="1600" dirty="0"/>
          </a:p>
        </p:txBody>
      </p:sp>
      <p:sp>
        <p:nvSpPr>
          <p:cNvPr id="10" name="Shape 8"/>
          <p:cNvSpPr/>
          <p:nvPr/>
        </p:nvSpPr>
        <p:spPr>
          <a:xfrm>
            <a:off x="10397119" y="1903233"/>
            <a:ext cx="640692" cy="263815"/>
          </a:xfrm>
          <a:custGeom>
            <a:avLst/>
            <a:gdLst/>
            <a:ahLst/>
            <a:cxnLst/>
            <a:rect l="l" t="t" r="r" b="b"/>
            <a:pathLst>
              <a:path w="640692" h="263815">
                <a:moveTo>
                  <a:pt x="131907" y="0"/>
                </a:moveTo>
                <a:lnTo>
                  <a:pt x="508785" y="0"/>
                </a:lnTo>
                <a:cubicBezTo>
                  <a:pt x="581587" y="0"/>
                  <a:pt x="640692" y="59106"/>
                  <a:pt x="640692" y="131907"/>
                </a:cubicBezTo>
                <a:lnTo>
                  <a:pt x="640692" y="131907"/>
                </a:lnTo>
                <a:cubicBezTo>
                  <a:pt x="640692" y="204709"/>
                  <a:pt x="581587" y="263815"/>
                  <a:pt x="508785" y="263815"/>
                </a:cubicBezTo>
                <a:lnTo>
                  <a:pt x="131907" y="263815"/>
                </a:lnTo>
                <a:cubicBezTo>
                  <a:pt x="59106" y="263815"/>
                  <a:pt x="0" y="204709"/>
                  <a:pt x="0" y="131907"/>
                </a:cubicBezTo>
                <a:lnTo>
                  <a:pt x="0" y="131907"/>
                </a:lnTo>
                <a:cubicBezTo>
                  <a:pt x="0" y="59106"/>
                  <a:pt x="59106" y="0"/>
                  <a:pt x="131907" y="0"/>
                </a:cubicBezTo>
                <a:close/>
              </a:path>
            </a:pathLst>
          </a:custGeom>
          <a:solidFill>
            <a:srgbClr val="8B5CF6"/>
          </a:solidFill>
          <a:ln/>
        </p:spPr>
      </p:sp>
      <p:sp>
        <p:nvSpPr>
          <p:cNvPr id="11" name="Text 9"/>
          <p:cNvSpPr/>
          <p:nvPr/>
        </p:nvSpPr>
        <p:spPr>
          <a:xfrm>
            <a:off x="10397119" y="1903233"/>
            <a:ext cx="706646" cy="263815"/>
          </a:xfrm>
          <a:prstGeom prst="rect">
            <a:avLst/>
          </a:prstGeom>
          <a:noFill/>
          <a:ln/>
        </p:spPr>
        <p:txBody>
          <a:bodyPr wrap="square" lIns="113063" tIns="37688" rIns="113063" bIns="37688"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Sophie</a:t>
            </a:r>
            <a:endParaRPr lang="en-US" sz="1600" dirty="0"/>
          </a:p>
        </p:txBody>
      </p:sp>
      <p:sp>
        <p:nvSpPr>
          <p:cNvPr id="12" name="Shape 10"/>
          <p:cNvSpPr/>
          <p:nvPr/>
        </p:nvSpPr>
        <p:spPr>
          <a:xfrm>
            <a:off x="11109359" y="1903233"/>
            <a:ext cx="518207" cy="263815"/>
          </a:xfrm>
          <a:custGeom>
            <a:avLst/>
            <a:gdLst/>
            <a:ahLst/>
            <a:cxnLst/>
            <a:rect l="l" t="t" r="r" b="b"/>
            <a:pathLst>
              <a:path w="518207" h="263815">
                <a:moveTo>
                  <a:pt x="131907" y="0"/>
                </a:moveTo>
                <a:lnTo>
                  <a:pt x="386300" y="0"/>
                </a:lnTo>
                <a:cubicBezTo>
                  <a:pt x="459101" y="0"/>
                  <a:pt x="518207" y="59106"/>
                  <a:pt x="518207" y="131907"/>
                </a:cubicBezTo>
                <a:lnTo>
                  <a:pt x="518207" y="131907"/>
                </a:lnTo>
                <a:cubicBezTo>
                  <a:pt x="518207" y="204709"/>
                  <a:pt x="459101" y="263815"/>
                  <a:pt x="386300" y="263815"/>
                </a:cubicBezTo>
                <a:lnTo>
                  <a:pt x="131907" y="263815"/>
                </a:lnTo>
                <a:cubicBezTo>
                  <a:pt x="59106" y="263815"/>
                  <a:pt x="0" y="204709"/>
                  <a:pt x="0" y="131907"/>
                </a:cubicBezTo>
                <a:lnTo>
                  <a:pt x="0" y="131907"/>
                </a:lnTo>
                <a:cubicBezTo>
                  <a:pt x="0" y="59106"/>
                  <a:pt x="59106" y="0"/>
                  <a:pt x="131907" y="0"/>
                </a:cubicBezTo>
                <a:close/>
              </a:path>
            </a:pathLst>
          </a:custGeom>
          <a:solidFill>
            <a:srgbClr val="3B82F6"/>
          </a:solidFill>
          <a:ln/>
        </p:spPr>
      </p:sp>
      <p:sp>
        <p:nvSpPr>
          <p:cNvPr id="13" name="Text 11"/>
          <p:cNvSpPr/>
          <p:nvPr/>
        </p:nvSpPr>
        <p:spPr>
          <a:xfrm>
            <a:off x="11109359" y="1903233"/>
            <a:ext cx="584161" cy="263815"/>
          </a:xfrm>
          <a:prstGeom prst="rect">
            <a:avLst/>
          </a:prstGeom>
          <a:noFill/>
          <a:ln/>
        </p:spPr>
        <p:txBody>
          <a:bodyPr wrap="square" lIns="113063" tIns="37688" rIns="113063" bIns="37688"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Marc</a:t>
            </a:r>
            <a:endParaRPr lang="en-US" sz="1600" dirty="0"/>
          </a:p>
        </p:txBody>
      </p:sp>
      <p:sp>
        <p:nvSpPr>
          <p:cNvPr id="14" name="Shape 12"/>
          <p:cNvSpPr/>
          <p:nvPr/>
        </p:nvSpPr>
        <p:spPr>
          <a:xfrm>
            <a:off x="376878" y="2638145"/>
            <a:ext cx="11438244" cy="904507"/>
          </a:xfrm>
          <a:custGeom>
            <a:avLst/>
            <a:gdLst/>
            <a:ahLst/>
            <a:cxnLst/>
            <a:rect l="l" t="t" r="r" b="b"/>
            <a:pathLst>
              <a:path w="11438244" h="904507">
                <a:moveTo>
                  <a:pt x="150754" y="0"/>
                </a:moveTo>
                <a:lnTo>
                  <a:pt x="11287490" y="0"/>
                </a:lnTo>
                <a:cubicBezTo>
                  <a:pt x="11370749" y="0"/>
                  <a:pt x="11438244" y="67495"/>
                  <a:pt x="11438244" y="150754"/>
                </a:cubicBezTo>
                <a:lnTo>
                  <a:pt x="11438244" y="753753"/>
                </a:lnTo>
                <a:cubicBezTo>
                  <a:pt x="11438244" y="837012"/>
                  <a:pt x="11370749" y="904507"/>
                  <a:pt x="11287490" y="904507"/>
                </a:cubicBezTo>
                <a:lnTo>
                  <a:pt x="150754" y="904507"/>
                </a:lnTo>
                <a:cubicBezTo>
                  <a:pt x="67551" y="904507"/>
                  <a:pt x="0" y="836956"/>
                  <a:pt x="0" y="753753"/>
                </a:cubicBezTo>
                <a:lnTo>
                  <a:pt x="0" y="150754"/>
                </a:lnTo>
                <a:cubicBezTo>
                  <a:pt x="0" y="67551"/>
                  <a:pt x="67551" y="0"/>
                  <a:pt x="150754" y="0"/>
                </a:cubicBezTo>
                <a:close/>
              </a:path>
            </a:pathLst>
          </a:custGeom>
          <a:solidFill>
            <a:srgbClr val="F3F4F6"/>
          </a:solidFill>
          <a:ln/>
        </p:spPr>
      </p:sp>
      <p:sp>
        <p:nvSpPr>
          <p:cNvPr id="15" name="Shape 13"/>
          <p:cNvSpPr/>
          <p:nvPr/>
        </p:nvSpPr>
        <p:spPr>
          <a:xfrm>
            <a:off x="565317" y="2826584"/>
            <a:ext cx="527629" cy="527629"/>
          </a:xfrm>
          <a:custGeom>
            <a:avLst/>
            <a:gdLst/>
            <a:ahLst/>
            <a:cxnLst/>
            <a:rect l="l" t="t" r="r" b="b"/>
            <a:pathLst>
              <a:path w="527629" h="527629">
                <a:moveTo>
                  <a:pt x="113066" y="0"/>
                </a:moveTo>
                <a:lnTo>
                  <a:pt x="414563" y="0"/>
                </a:lnTo>
                <a:cubicBezTo>
                  <a:pt x="477008" y="0"/>
                  <a:pt x="527629" y="50621"/>
                  <a:pt x="527629" y="113066"/>
                </a:cubicBezTo>
                <a:lnTo>
                  <a:pt x="527629" y="414563"/>
                </a:lnTo>
                <a:cubicBezTo>
                  <a:pt x="527629" y="477008"/>
                  <a:pt x="477008" y="527629"/>
                  <a:pt x="414563" y="527629"/>
                </a:cubicBezTo>
                <a:lnTo>
                  <a:pt x="113066" y="527629"/>
                </a:lnTo>
                <a:cubicBezTo>
                  <a:pt x="50621" y="527629"/>
                  <a:pt x="0" y="477008"/>
                  <a:pt x="0" y="414563"/>
                </a:cubicBezTo>
                <a:lnTo>
                  <a:pt x="0" y="113066"/>
                </a:lnTo>
                <a:cubicBezTo>
                  <a:pt x="0" y="50663"/>
                  <a:pt x="50663" y="0"/>
                  <a:pt x="113066" y="0"/>
                </a:cubicBezTo>
                <a:close/>
              </a:path>
            </a:pathLst>
          </a:custGeom>
          <a:solidFill>
            <a:srgbClr val="F97316"/>
          </a:solidFill>
          <a:ln/>
        </p:spPr>
      </p:sp>
      <p:sp>
        <p:nvSpPr>
          <p:cNvPr id="16" name="Text 14"/>
          <p:cNvSpPr/>
          <p:nvPr/>
        </p:nvSpPr>
        <p:spPr>
          <a:xfrm>
            <a:off x="713860" y="2958491"/>
            <a:ext cx="320346" cy="263815"/>
          </a:xfrm>
          <a:prstGeom prst="rect">
            <a:avLst/>
          </a:prstGeom>
          <a:noFill/>
          <a:ln/>
        </p:spPr>
        <p:txBody>
          <a:bodyPr wrap="square" lIns="0" tIns="0" rIns="0" bIns="0" rtlCol="0" anchor="ctr"/>
          <a:lstStyle/>
          <a:p>
            <a:pPr>
              <a:lnSpc>
                <a:spcPct val="120000"/>
              </a:lnSpc>
            </a:pPr>
            <a:r>
              <a:rPr lang="en-US" sz="1484" b="1" dirty="0">
                <a:solidFill>
                  <a:srgbClr val="FFFFFF"/>
                </a:solidFill>
                <a:latin typeface="Noto Sans SC" pitchFamily="34" charset="0"/>
                <a:ea typeface="Noto Sans SC" pitchFamily="34" charset="-122"/>
                <a:cs typeface="Noto Sans SC" pitchFamily="34" charset="-120"/>
              </a:rPr>
              <a:t>P2</a:t>
            </a:r>
            <a:endParaRPr lang="en-US" sz="1600" dirty="0"/>
          </a:p>
        </p:txBody>
      </p:sp>
      <p:sp>
        <p:nvSpPr>
          <p:cNvPr id="17" name="Text 15"/>
          <p:cNvSpPr/>
          <p:nvPr/>
        </p:nvSpPr>
        <p:spPr>
          <a:xfrm>
            <a:off x="1319073" y="2826584"/>
            <a:ext cx="8950850" cy="263815"/>
          </a:xfrm>
          <a:prstGeom prst="rect">
            <a:avLst/>
          </a:prstGeom>
          <a:noFill/>
          <a:ln/>
        </p:spPr>
        <p:txBody>
          <a:bodyPr wrap="square" lIns="0" tIns="0" rIns="0" bIns="0" rtlCol="0" anchor="ctr"/>
          <a:lstStyle/>
          <a:p>
            <a:pPr>
              <a:lnSpc>
                <a:spcPct val="120000"/>
              </a:lnSpc>
            </a:pPr>
            <a:r>
              <a:rPr lang="en-US" sz="1484" b="1" dirty="0">
                <a:solidFill>
                  <a:srgbClr val="1E3A8A"/>
                </a:solidFill>
                <a:latin typeface="Noto Sans SC" pitchFamily="34" charset="0"/>
                <a:ea typeface="Noto Sans SC" pitchFamily="34" charset="-122"/>
                <a:cs typeface="Noto Sans SC" pitchFamily="34" charset="-120"/>
              </a:rPr>
              <a:t>Le Contrôle Ralentit la Production</a:t>
            </a:r>
            <a:endParaRPr lang="en-US" sz="1600" dirty="0"/>
          </a:p>
        </p:txBody>
      </p:sp>
      <p:sp>
        <p:nvSpPr>
          <p:cNvPr id="18" name="Text 16"/>
          <p:cNvSpPr/>
          <p:nvPr/>
        </p:nvSpPr>
        <p:spPr>
          <a:xfrm>
            <a:off x="1319073" y="3128087"/>
            <a:ext cx="8932006"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9 inspecteurs pour tous les lots, pièces en attente</a:t>
            </a:r>
            <a:endParaRPr lang="en-US" sz="1600" dirty="0"/>
          </a:p>
        </p:txBody>
      </p:sp>
      <p:sp>
        <p:nvSpPr>
          <p:cNvPr id="19" name="Shape 17"/>
          <p:cNvSpPr/>
          <p:nvPr/>
        </p:nvSpPr>
        <p:spPr>
          <a:xfrm>
            <a:off x="10397119" y="2958491"/>
            <a:ext cx="640692" cy="263815"/>
          </a:xfrm>
          <a:custGeom>
            <a:avLst/>
            <a:gdLst/>
            <a:ahLst/>
            <a:cxnLst/>
            <a:rect l="l" t="t" r="r" b="b"/>
            <a:pathLst>
              <a:path w="640692" h="263815">
                <a:moveTo>
                  <a:pt x="131907" y="0"/>
                </a:moveTo>
                <a:lnTo>
                  <a:pt x="508785" y="0"/>
                </a:lnTo>
                <a:cubicBezTo>
                  <a:pt x="581587" y="0"/>
                  <a:pt x="640692" y="59106"/>
                  <a:pt x="640692" y="131907"/>
                </a:cubicBezTo>
                <a:lnTo>
                  <a:pt x="640692" y="131907"/>
                </a:lnTo>
                <a:cubicBezTo>
                  <a:pt x="640692" y="204709"/>
                  <a:pt x="581587" y="263815"/>
                  <a:pt x="508785" y="263815"/>
                </a:cubicBezTo>
                <a:lnTo>
                  <a:pt x="131907" y="263815"/>
                </a:lnTo>
                <a:cubicBezTo>
                  <a:pt x="59106" y="263815"/>
                  <a:pt x="0" y="204709"/>
                  <a:pt x="0" y="131907"/>
                </a:cubicBezTo>
                <a:lnTo>
                  <a:pt x="0" y="131907"/>
                </a:lnTo>
                <a:cubicBezTo>
                  <a:pt x="0" y="59106"/>
                  <a:pt x="59106" y="0"/>
                  <a:pt x="131907" y="0"/>
                </a:cubicBezTo>
                <a:close/>
              </a:path>
            </a:pathLst>
          </a:custGeom>
          <a:solidFill>
            <a:srgbClr val="8B5CF6"/>
          </a:solidFill>
          <a:ln/>
        </p:spPr>
      </p:sp>
      <p:sp>
        <p:nvSpPr>
          <p:cNvPr id="20" name="Text 18"/>
          <p:cNvSpPr/>
          <p:nvPr/>
        </p:nvSpPr>
        <p:spPr>
          <a:xfrm>
            <a:off x="10397119" y="2958491"/>
            <a:ext cx="706646" cy="263815"/>
          </a:xfrm>
          <a:prstGeom prst="rect">
            <a:avLst/>
          </a:prstGeom>
          <a:noFill/>
          <a:ln/>
        </p:spPr>
        <p:txBody>
          <a:bodyPr wrap="square" lIns="113063" tIns="37688" rIns="113063" bIns="37688"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Sophie</a:t>
            </a:r>
            <a:endParaRPr lang="en-US" sz="1600" dirty="0"/>
          </a:p>
        </p:txBody>
      </p:sp>
      <p:sp>
        <p:nvSpPr>
          <p:cNvPr id="21" name="Shape 19"/>
          <p:cNvSpPr/>
          <p:nvPr/>
        </p:nvSpPr>
        <p:spPr>
          <a:xfrm>
            <a:off x="11109359" y="2958491"/>
            <a:ext cx="518207" cy="263815"/>
          </a:xfrm>
          <a:custGeom>
            <a:avLst/>
            <a:gdLst/>
            <a:ahLst/>
            <a:cxnLst/>
            <a:rect l="l" t="t" r="r" b="b"/>
            <a:pathLst>
              <a:path w="518207" h="263815">
                <a:moveTo>
                  <a:pt x="131907" y="0"/>
                </a:moveTo>
                <a:lnTo>
                  <a:pt x="386300" y="0"/>
                </a:lnTo>
                <a:cubicBezTo>
                  <a:pt x="459101" y="0"/>
                  <a:pt x="518207" y="59106"/>
                  <a:pt x="518207" y="131907"/>
                </a:cubicBezTo>
                <a:lnTo>
                  <a:pt x="518207" y="131907"/>
                </a:lnTo>
                <a:cubicBezTo>
                  <a:pt x="518207" y="204709"/>
                  <a:pt x="459101" y="263815"/>
                  <a:pt x="386300" y="263815"/>
                </a:cubicBezTo>
                <a:lnTo>
                  <a:pt x="131907" y="263815"/>
                </a:lnTo>
                <a:cubicBezTo>
                  <a:pt x="59106" y="263815"/>
                  <a:pt x="0" y="204709"/>
                  <a:pt x="0" y="131907"/>
                </a:cubicBezTo>
                <a:lnTo>
                  <a:pt x="0" y="131907"/>
                </a:lnTo>
                <a:cubicBezTo>
                  <a:pt x="0" y="59106"/>
                  <a:pt x="59106" y="0"/>
                  <a:pt x="131907" y="0"/>
                </a:cubicBezTo>
                <a:close/>
              </a:path>
            </a:pathLst>
          </a:custGeom>
          <a:solidFill>
            <a:srgbClr val="3B82F6"/>
          </a:solidFill>
          <a:ln/>
        </p:spPr>
      </p:sp>
      <p:sp>
        <p:nvSpPr>
          <p:cNvPr id="22" name="Text 20"/>
          <p:cNvSpPr/>
          <p:nvPr/>
        </p:nvSpPr>
        <p:spPr>
          <a:xfrm>
            <a:off x="11109359" y="2958491"/>
            <a:ext cx="584161" cy="263815"/>
          </a:xfrm>
          <a:prstGeom prst="rect">
            <a:avLst/>
          </a:prstGeom>
          <a:noFill/>
          <a:ln/>
        </p:spPr>
        <p:txBody>
          <a:bodyPr wrap="square" lIns="113063" tIns="37688" rIns="113063" bIns="37688"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Marc</a:t>
            </a:r>
            <a:endParaRPr lang="en-US" sz="1600" dirty="0"/>
          </a:p>
        </p:txBody>
      </p:sp>
      <p:sp>
        <p:nvSpPr>
          <p:cNvPr id="23" name="Shape 21"/>
          <p:cNvSpPr/>
          <p:nvPr/>
        </p:nvSpPr>
        <p:spPr>
          <a:xfrm>
            <a:off x="376878" y="3693403"/>
            <a:ext cx="11438244" cy="904507"/>
          </a:xfrm>
          <a:custGeom>
            <a:avLst/>
            <a:gdLst/>
            <a:ahLst/>
            <a:cxnLst/>
            <a:rect l="l" t="t" r="r" b="b"/>
            <a:pathLst>
              <a:path w="11438244" h="904507">
                <a:moveTo>
                  <a:pt x="150754" y="0"/>
                </a:moveTo>
                <a:lnTo>
                  <a:pt x="11287490" y="0"/>
                </a:lnTo>
                <a:cubicBezTo>
                  <a:pt x="11370749" y="0"/>
                  <a:pt x="11438244" y="67495"/>
                  <a:pt x="11438244" y="150754"/>
                </a:cubicBezTo>
                <a:lnTo>
                  <a:pt x="11438244" y="753753"/>
                </a:lnTo>
                <a:cubicBezTo>
                  <a:pt x="11438244" y="837012"/>
                  <a:pt x="11370749" y="904507"/>
                  <a:pt x="11287490" y="904507"/>
                </a:cubicBezTo>
                <a:lnTo>
                  <a:pt x="150754" y="904507"/>
                </a:lnTo>
                <a:cubicBezTo>
                  <a:pt x="67551" y="904507"/>
                  <a:pt x="0" y="836956"/>
                  <a:pt x="0" y="753753"/>
                </a:cubicBezTo>
                <a:lnTo>
                  <a:pt x="0" y="150754"/>
                </a:lnTo>
                <a:cubicBezTo>
                  <a:pt x="0" y="67551"/>
                  <a:pt x="67551" y="0"/>
                  <a:pt x="150754" y="0"/>
                </a:cubicBezTo>
                <a:close/>
              </a:path>
            </a:pathLst>
          </a:custGeom>
          <a:solidFill>
            <a:srgbClr val="F3F4F6"/>
          </a:solidFill>
          <a:ln/>
        </p:spPr>
      </p:sp>
      <p:sp>
        <p:nvSpPr>
          <p:cNvPr id="24" name="Shape 22"/>
          <p:cNvSpPr/>
          <p:nvPr/>
        </p:nvSpPr>
        <p:spPr>
          <a:xfrm>
            <a:off x="565317" y="3881842"/>
            <a:ext cx="527629" cy="527629"/>
          </a:xfrm>
          <a:custGeom>
            <a:avLst/>
            <a:gdLst/>
            <a:ahLst/>
            <a:cxnLst/>
            <a:rect l="l" t="t" r="r" b="b"/>
            <a:pathLst>
              <a:path w="527629" h="527629">
                <a:moveTo>
                  <a:pt x="113066" y="0"/>
                </a:moveTo>
                <a:lnTo>
                  <a:pt x="414563" y="0"/>
                </a:lnTo>
                <a:cubicBezTo>
                  <a:pt x="477008" y="0"/>
                  <a:pt x="527629" y="50621"/>
                  <a:pt x="527629" y="113066"/>
                </a:cubicBezTo>
                <a:lnTo>
                  <a:pt x="527629" y="414563"/>
                </a:lnTo>
                <a:cubicBezTo>
                  <a:pt x="527629" y="477008"/>
                  <a:pt x="477008" y="527629"/>
                  <a:pt x="414563" y="527629"/>
                </a:cubicBezTo>
                <a:lnTo>
                  <a:pt x="113066" y="527629"/>
                </a:lnTo>
                <a:cubicBezTo>
                  <a:pt x="50621" y="527629"/>
                  <a:pt x="0" y="477008"/>
                  <a:pt x="0" y="414563"/>
                </a:cubicBezTo>
                <a:lnTo>
                  <a:pt x="0" y="113066"/>
                </a:lnTo>
                <a:cubicBezTo>
                  <a:pt x="0" y="50663"/>
                  <a:pt x="50663" y="0"/>
                  <a:pt x="113066" y="0"/>
                </a:cubicBezTo>
                <a:close/>
              </a:path>
            </a:pathLst>
          </a:custGeom>
          <a:solidFill>
            <a:srgbClr val="F97316"/>
          </a:solidFill>
          <a:ln/>
        </p:spPr>
      </p:sp>
      <p:sp>
        <p:nvSpPr>
          <p:cNvPr id="25" name="Text 23"/>
          <p:cNvSpPr/>
          <p:nvPr/>
        </p:nvSpPr>
        <p:spPr>
          <a:xfrm>
            <a:off x="713860" y="4013750"/>
            <a:ext cx="320346" cy="263815"/>
          </a:xfrm>
          <a:prstGeom prst="rect">
            <a:avLst/>
          </a:prstGeom>
          <a:noFill/>
          <a:ln/>
        </p:spPr>
        <p:txBody>
          <a:bodyPr wrap="square" lIns="0" tIns="0" rIns="0" bIns="0" rtlCol="0" anchor="ctr"/>
          <a:lstStyle/>
          <a:p>
            <a:pPr>
              <a:lnSpc>
                <a:spcPct val="120000"/>
              </a:lnSpc>
            </a:pPr>
            <a:r>
              <a:rPr lang="en-US" sz="1484" b="1" dirty="0">
                <a:solidFill>
                  <a:srgbClr val="FFFFFF"/>
                </a:solidFill>
                <a:latin typeface="Noto Sans SC" pitchFamily="34" charset="0"/>
                <a:ea typeface="Noto Sans SC" pitchFamily="34" charset="-122"/>
                <a:cs typeface="Noto Sans SC" pitchFamily="34" charset="-120"/>
              </a:rPr>
              <a:t>P3</a:t>
            </a:r>
            <a:endParaRPr lang="en-US" sz="1600" dirty="0"/>
          </a:p>
        </p:txBody>
      </p:sp>
      <p:sp>
        <p:nvSpPr>
          <p:cNvPr id="26" name="Text 24"/>
          <p:cNvSpPr/>
          <p:nvPr/>
        </p:nvSpPr>
        <p:spPr>
          <a:xfrm>
            <a:off x="1319073" y="3881842"/>
            <a:ext cx="9478479" cy="263815"/>
          </a:xfrm>
          <a:prstGeom prst="rect">
            <a:avLst/>
          </a:prstGeom>
          <a:noFill/>
          <a:ln/>
        </p:spPr>
        <p:txBody>
          <a:bodyPr wrap="square" lIns="0" tIns="0" rIns="0" bIns="0" rtlCol="0" anchor="ctr"/>
          <a:lstStyle/>
          <a:p>
            <a:pPr>
              <a:lnSpc>
                <a:spcPct val="120000"/>
              </a:lnSpc>
            </a:pPr>
            <a:r>
              <a:rPr lang="en-US" sz="1484" b="1" dirty="0">
                <a:solidFill>
                  <a:srgbClr val="1E3A8A"/>
                </a:solidFill>
                <a:latin typeface="Noto Sans SC" pitchFamily="34" charset="0"/>
                <a:ea typeface="Noto Sans SC" pitchFamily="34" charset="-122"/>
                <a:cs typeface="Noto Sans SC" pitchFamily="34" charset="-120"/>
              </a:rPr>
              <a:t>Aucun Lien Défauts/Process</a:t>
            </a:r>
            <a:endParaRPr lang="en-US" sz="1600" dirty="0"/>
          </a:p>
        </p:txBody>
      </p:sp>
      <p:sp>
        <p:nvSpPr>
          <p:cNvPr id="27" name="Text 25"/>
          <p:cNvSpPr/>
          <p:nvPr/>
        </p:nvSpPr>
        <p:spPr>
          <a:xfrm>
            <a:off x="1319073" y="4183345"/>
            <a:ext cx="9459635"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Impossible de remonter aux paramètres machine</a:t>
            </a:r>
            <a:endParaRPr lang="en-US" sz="1600" dirty="0"/>
          </a:p>
        </p:txBody>
      </p:sp>
      <p:sp>
        <p:nvSpPr>
          <p:cNvPr id="28" name="Shape 26"/>
          <p:cNvSpPr/>
          <p:nvPr/>
        </p:nvSpPr>
        <p:spPr>
          <a:xfrm>
            <a:off x="10926073" y="4013750"/>
            <a:ext cx="706646" cy="263815"/>
          </a:xfrm>
          <a:custGeom>
            <a:avLst/>
            <a:gdLst/>
            <a:ahLst/>
            <a:cxnLst/>
            <a:rect l="l" t="t" r="r" b="b"/>
            <a:pathLst>
              <a:path w="706646" h="263815">
                <a:moveTo>
                  <a:pt x="131907" y="0"/>
                </a:moveTo>
                <a:lnTo>
                  <a:pt x="574739" y="0"/>
                </a:lnTo>
                <a:cubicBezTo>
                  <a:pt x="647540" y="0"/>
                  <a:pt x="706646" y="59106"/>
                  <a:pt x="706646" y="131907"/>
                </a:cubicBezTo>
                <a:lnTo>
                  <a:pt x="706646" y="131907"/>
                </a:lnTo>
                <a:cubicBezTo>
                  <a:pt x="706646" y="204709"/>
                  <a:pt x="647540" y="263815"/>
                  <a:pt x="574739" y="263815"/>
                </a:cubicBezTo>
                <a:lnTo>
                  <a:pt x="131907" y="263815"/>
                </a:lnTo>
                <a:cubicBezTo>
                  <a:pt x="59106" y="263815"/>
                  <a:pt x="0" y="204709"/>
                  <a:pt x="0" y="131907"/>
                </a:cubicBezTo>
                <a:lnTo>
                  <a:pt x="0" y="131907"/>
                </a:lnTo>
                <a:cubicBezTo>
                  <a:pt x="0" y="59106"/>
                  <a:pt x="59106" y="0"/>
                  <a:pt x="131907" y="0"/>
                </a:cubicBezTo>
                <a:close/>
              </a:path>
            </a:pathLst>
          </a:custGeom>
          <a:solidFill>
            <a:srgbClr val="10B981"/>
          </a:solidFill>
          <a:ln/>
        </p:spPr>
      </p:sp>
      <p:sp>
        <p:nvSpPr>
          <p:cNvPr id="29" name="Text 27"/>
          <p:cNvSpPr/>
          <p:nvPr/>
        </p:nvSpPr>
        <p:spPr>
          <a:xfrm>
            <a:off x="10926073" y="4013750"/>
            <a:ext cx="772600" cy="263815"/>
          </a:xfrm>
          <a:prstGeom prst="rect">
            <a:avLst/>
          </a:prstGeom>
          <a:noFill/>
          <a:ln/>
        </p:spPr>
        <p:txBody>
          <a:bodyPr wrap="square" lIns="113063" tIns="37688" rIns="113063" bIns="37688"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Thomas</a:t>
            </a:r>
            <a:endParaRPr lang="en-US" sz="1600" dirty="0"/>
          </a:p>
        </p:txBody>
      </p:sp>
      <p:sp>
        <p:nvSpPr>
          <p:cNvPr id="30" name="Shape 28"/>
          <p:cNvSpPr/>
          <p:nvPr/>
        </p:nvSpPr>
        <p:spPr>
          <a:xfrm>
            <a:off x="376878" y="4748662"/>
            <a:ext cx="11438244" cy="904507"/>
          </a:xfrm>
          <a:custGeom>
            <a:avLst/>
            <a:gdLst/>
            <a:ahLst/>
            <a:cxnLst/>
            <a:rect l="l" t="t" r="r" b="b"/>
            <a:pathLst>
              <a:path w="11438244" h="904507">
                <a:moveTo>
                  <a:pt x="150754" y="0"/>
                </a:moveTo>
                <a:lnTo>
                  <a:pt x="11287490" y="0"/>
                </a:lnTo>
                <a:cubicBezTo>
                  <a:pt x="11370749" y="0"/>
                  <a:pt x="11438244" y="67495"/>
                  <a:pt x="11438244" y="150754"/>
                </a:cubicBezTo>
                <a:lnTo>
                  <a:pt x="11438244" y="753753"/>
                </a:lnTo>
                <a:cubicBezTo>
                  <a:pt x="11438244" y="837012"/>
                  <a:pt x="11370749" y="904507"/>
                  <a:pt x="11287490" y="904507"/>
                </a:cubicBezTo>
                <a:lnTo>
                  <a:pt x="150754" y="904507"/>
                </a:lnTo>
                <a:cubicBezTo>
                  <a:pt x="67551" y="904507"/>
                  <a:pt x="0" y="836956"/>
                  <a:pt x="0" y="753753"/>
                </a:cubicBezTo>
                <a:lnTo>
                  <a:pt x="0" y="150754"/>
                </a:lnTo>
                <a:cubicBezTo>
                  <a:pt x="0" y="67551"/>
                  <a:pt x="67551" y="0"/>
                  <a:pt x="150754" y="0"/>
                </a:cubicBezTo>
                <a:close/>
              </a:path>
            </a:pathLst>
          </a:custGeom>
          <a:solidFill>
            <a:srgbClr val="F3F4F6"/>
          </a:solidFill>
          <a:ln/>
        </p:spPr>
      </p:sp>
      <p:sp>
        <p:nvSpPr>
          <p:cNvPr id="31" name="Shape 29"/>
          <p:cNvSpPr/>
          <p:nvPr/>
        </p:nvSpPr>
        <p:spPr>
          <a:xfrm>
            <a:off x="565317" y="4937100"/>
            <a:ext cx="527629" cy="527629"/>
          </a:xfrm>
          <a:custGeom>
            <a:avLst/>
            <a:gdLst/>
            <a:ahLst/>
            <a:cxnLst/>
            <a:rect l="l" t="t" r="r" b="b"/>
            <a:pathLst>
              <a:path w="527629" h="527629">
                <a:moveTo>
                  <a:pt x="113066" y="0"/>
                </a:moveTo>
                <a:lnTo>
                  <a:pt x="414563" y="0"/>
                </a:lnTo>
                <a:cubicBezTo>
                  <a:pt x="477008" y="0"/>
                  <a:pt x="527629" y="50621"/>
                  <a:pt x="527629" y="113066"/>
                </a:cubicBezTo>
                <a:lnTo>
                  <a:pt x="527629" y="414563"/>
                </a:lnTo>
                <a:cubicBezTo>
                  <a:pt x="527629" y="477008"/>
                  <a:pt x="477008" y="527629"/>
                  <a:pt x="414563" y="527629"/>
                </a:cubicBezTo>
                <a:lnTo>
                  <a:pt x="113066" y="527629"/>
                </a:lnTo>
                <a:cubicBezTo>
                  <a:pt x="50621" y="527629"/>
                  <a:pt x="0" y="477008"/>
                  <a:pt x="0" y="414563"/>
                </a:cubicBezTo>
                <a:lnTo>
                  <a:pt x="0" y="113066"/>
                </a:lnTo>
                <a:cubicBezTo>
                  <a:pt x="0" y="50663"/>
                  <a:pt x="50663" y="0"/>
                  <a:pt x="113066" y="0"/>
                </a:cubicBezTo>
                <a:close/>
              </a:path>
            </a:pathLst>
          </a:custGeom>
          <a:solidFill>
            <a:srgbClr val="F97316"/>
          </a:solidFill>
          <a:ln/>
        </p:spPr>
      </p:sp>
      <p:sp>
        <p:nvSpPr>
          <p:cNvPr id="32" name="Text 30"/>
          <p:cNvSpPr/>
          <p:nvPr/>
        </p:nvSpPr>
        <p:spPr>
          <a:xfrm>
            <a:off x="713860" y="5069008"/>
            <a:ext cx="320346" cy="263815"/>
          </a:xfrm>
          <a:prstGeom prst="rect">
            <a:avLst/>
          </a:prstGeom>
          <a:noFill/>
          <a:ln/>
        </p:spPr>
        <p:txBody>
          <a:bodyPr wrap="square" lIns="0" tIns="0" rIns="0" bIns="0" rtlCol="0" anchor="ctr"/>
          <a:lstStyle/>
          <a:p>
            <a:pPr>
              <a:lnSpc>
                <a:spcPct val="120000"/>
              </a:lnSpc>
            </a:pPr>
            <a:r>
              <a:rPr lang="en-US" sz="1484" b="1" dirty="0">
                <a:solidFill>
                  <a:srgbClr val="FFFFFF"/>
                </a:solidFill>
                <a:latin typeface="Noto Sans SC" pitchFamily="34" charset="0"/>
                <a:ea typeface="Noto Sans SC" pitchFamily="34" charset="-122"/>
                <a:cs typeface="Noto Sans SC" pitchFamily="34" charset="-120"/>
              </a:rPr>
              <a:t>P4</a:t>
            </a:r>
            <a:endParaRPr lang="en-US" sz="1600" dirty="0"/>
          </a:p>
        </p:txBody>
      </p:sp>
      <p:sp>
        <p:nvSpPr>
          <p:cNvPr id="33" name="Text 31"/>
          <p:cNvSpPr/>
          <p:nvPr/>
        </p:nvSpPr>
        <p:spPr>
          <a:xfrm>
            <a:off x="1319073" y="4937100"/>
            <a:ext cx="8131141" cy="263815"/>
          </a:xfrm>
          <a:prstGeom prst="rect">
            <a:avLst/>
          </a:prstGeom>
          <a:noFill/>
          <a:ln/>
        </p:spPr>
        <p:txBody>
          <a:bodyPr wrap="square" lIns="0" tIns="0" rIns="0" bIns="0" rtlCol="0" anchor="ctr"/>
          <a:lstStyle/>
          <a:p>
            <a:pPr>
              <a:lnSpc>
                <a:spcPct val="120000"/>
              </a:lnSpc>
            </a:pPr>
            <a:r>
              <a:rPr lang="en-US" sz="1484" b="1" dirty="0">
                <a:solidFill>
                  <a:srgbClr val="1E3A8A"/>
                </a:solidFill>
                <a:latin typeface="Noto Sans SC" pitchFamily="34" charset="0"/>
                <a:ea typeface="Noto Sans SC" pitchFamily="34" charset="-122"/>
                <a:cs typeface="Noto Sans SC" pitchFamily="34" charset="-120"/>
              </a:rPr>
              <a:t>Données Éclatées &amp; Non Sécurisées</a:t>
            </a:r>
            <a:endParaRPr lang="en-US" sz="1600" dirty="0"/>
          </a:p>
        </p:txBody>
      </p:sp>
      <p:sp>
        <p:nvSpPr>
          <p:cNvPr id="34" name="Text 32"/>
          <p:cNvSpPr/>
          <p:nvPr/>
        </p:nvSpPr>
        <p:spPr>
          <a:xfrm>
            <a:off x="1319073" y="5238603"/>
            <a:ext cx="8112297"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Excel, PDF, papier — ni exploitables ni protégeables</a:t>
            </a:r>
            <a:endParaRPr lang="en-US" sz="1600" dirty="0"/>
          </a:p>
        </p:txBody>
      </p:sp>
      <p:sp>
        <p:nvSpPr>
          <p:cNvPr id="35" name="Shape 33"/>
          <p:cNvSpPr/>
          <p:nvPr/>
        </p:nvSpPr>
        <p:spPr>
          <a:xfrm>
            <a:off x="9582415" y="5069008"/>
            <a:ext cx="706646" cy="263815"/>
          </a:xfrm>
          <a:custGeom>
            <a:avLst/>
            <a:gdLst/>
            <a:ahLst/>
            <a:cxnLst/>
            <a:rect l="l" t="t" r="r" b="b"/>
            <a:pathLst>
              <a:path w="706646" h="263815">
                <a:moveTo>
                  <a:pt x="131907" y="0"/>
                </a:moveTo>
                <a:lnTo>
                  <a:pt x="574739" y="0"/>
                </a:lnTo>
                <a:cubicBezTo>
                  <a:pt x="647540" y="0"/>
                  <a:pt x="706646" y="59106"/>
                  <a:pt x="706646" y="131907"/>
                </a:cubicBezTo>
                <a:lnTo>
                  <a:pt x="706646" y="131907"/>
                </a:lnTo>
                <a:cubicBezTo>
                  <a:pt x="706646" y="204709"/>
                  <a:pt x="647540" y="263815"/>
                  <a:pt x="574739" y="263815"/>
                </a:cubicBezTo>
                <a:lnTo>
                  <a:pt x="131907" y="263815"/>
                </a:lnTo>
                <a:cubicBezTo>
                  <a:pt x="59106" y="263815"/>
                  <a:pt x="0" y="204709"/>
                  <a:pt x="0" y="131907"/>
                </a:cubicBezTo>
                <a:lnTo>
                  <a:pt x="0" y="131907"/>
                </a:lnTo>
                <a:cubicBezTo>
                  <a:pt x="0" y="59106"/>
                  <a:pt x="59106" y="0"/>
                  <a:pt x="131907" y="0"/>
                </a:cubicBezTo>
                <a:close/>
              </a:path>
            </a:pathLst>
          </a:custGeom>
          <a:solidFill>
            <a:srgbClr val="10B981"/>
          </a:solidFill>
          <a:ln/>
        </p:spPr>
      </p:sp>
      <p:sp>
        <p:nvSpPr>
          <p:cNvPr id="36" name="Text 34"/>
          <p:cNvSpPr/>
          <p:nvPr/>
        </p:nvSpPr>
        <p:spPr>
          <a:xfrm>
            <a:off x="9582415" y="5069008"/>
            <a:ext cx="772600" cy="263815"/>
          </a:xfrm>
          <a:prstGeom prst="rect">
            <a:avLst/>
          </a:prstGeom>
          <a:noFill/>
          <a:ln/>
        </p:spPr>
        <p:txBody>
          <a:bodyPr wrap="square" lIns="113063" tIns="37688" rIns="113063" bIns="37688"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Thomas</a:t>
            </a:r>
            <a:endParaRPr lang="en-US" sz="1600" dirty="0"/>
          </a:p>
        </p:txBody>
      </p:sp>
      <p:sp>
        <p:nvSpPr>
          <p:cNvPr id="37" name="Shape 35"/>
          <p:cNvSpPr/>
          <p:nvPr/>
        </p:nvSpPr>
        <p:spPr>
          <a:xfrm>
            <a:off x="10360462" y="5069008"/>
            <a:ext cx="668958" cy="263815"/>
          </a:xfrm>
          <a:custGeom>
            <a:avLst/>
            <a:gdLst/>
            <a:ahLst/>
            <a:cxnLst/>
            <a:rect l="l" t="t" r="r" b="b"/>
            <a:pathLst>
              <a:path w="668958" h="263815">
                <a:moveTo>
                  <a:pt x="131907" y="0"/>
                </a:moveTo>
                <a:lnTo>
                  <a:pt x="537051" y="0"/>
                </a:lnTo>
                <a:cubicBezTo>
                  <a:pt x="609853" y="0"/>
                  <a:pt x="668958" y="59106"/>
                  <a:pt x="668958" y="131907"/>
                </a:cubicBezTo>
                <a:lnTo>
                  <a:pt x="668958" y="131907"/>
                </a:lnTo>
                <a:cubicBezTo>
                  <a:pt x="668958" y="204709"/>
                  <a:pt x="609853" y="263815"/>
                  <a:pt x="537051" y="263815"/>
                </a:cubicBezTo>
                <a:lnTo>
                  <a:pt x="131907" y="263815"/>
                </a:lnTo>
                <a:cubicBezTo>
                  <a:pt x="59106" y="263815"/>
                  <a:pt x="0" y="204709"/>
                  <a:pt x="0" y="131907"/>
                </a:cubicBezTo>
                <a:lnTo>
                  <a:pt x="0" y="131907"/>
                </a:lnTo>
                <a:cubicBezTo>
                  <a:pt x="0" y="59106"/>
                  <a:pt x="59106" y="0"/>
                  <a:pt x="131907" y="0"/>
                </a:cubicBezTo>
                <a:close/>
              </a:path>
            </a:pathLst>
          </a:custGeom>
          <a:solidFill>
            <a:srgbClr val="1E3A8A"/>
          </a:solidFill>
          <a:ln/>
        </p:spPr>
      </p:sp>
      <p:sp>
        <p:nvSpPr>
          <p:cNvPr id="38" name="Text 36"/>
          <p:cNvSpPr/>
          <p:nvPr/>
        </p:nvSpPr>
        <p:spPr>
          <a:xfrm>
            <a:off x="10360462" y="5069008"/>
            <a:ext cx="734912" cy="263815"/>
          </a:xfrm>
          <a:prstGeom prst="rect">
            <a:avLst/>
          </a:prstGeom>
          <a:noFill/>
          <a:ln/>
        </p:spPr>
        <p:txBody>
          <a:bodyPr wrap="square" lIns="113063" tIns="37688" rIns="113063" bIns="37688"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Laurent</a:t>
            </a:r>
            <a:endParaRPr lang="en-US" sz="1600" dirty="0"/>
          </a:p>
        </p:txBody>
      </p:sp>
      <p:sp>
        <p:nvSpPr>
          <p:cNvPr id="39" name="Shape 37"/>
          <p:cNvSpPr/>
          <p:nvPr/>
        </p:nvSpPr>
        <p:spPr>
          <a:xfrm>
            <a:off x="11109359" y="5069008"/>
            <a:ext cx="518207" cy="263815"/>
          </a:xfrm>
          <a:custGeom>
            <a:avLst/>
            <a:gdLst/>
            <a:ahLst/>
            <a:cxnLst/>
            <a:rect l="l" t="t" r="r" b="b"/>
            <a:pathLst>
              <a:path w="518207" h="263815">
                <a:moveTo>
                  <a:pt x="131907" y="0"/>
                </a:moveTo>
                <a:lnTo>
                  <a:pt x="386300" y="0"/>
                </a:lnTo>
                <a:cubicBezTo>
                  <a:pt x="459101" y="0"/>
                  <a:pt x="518207" y="59106"/>
                  <a:pt x="518207" y="131907"/>
                </a:cubicBezTo>
                <a:lnTo>
                  <a:pt x="518207" y="131907"/>
                </a:lnTo>
                <a:cubicBezTo>
                  <a:pt x="518207" y="204709"/>
                  <a:pt x="459101" y="263815"/>
                  <a:pt x="386300" y="263815"/>
                </a:cubicBezTo>
                <a:lnTo>
                  <a:pt x="131907" y="263815"/>
                </a:lnTo>
                <a:cubicBezTo>
                  <a:pt x="59106" y="263815"/>
                  <a:pt x="0" y="204709"/>
                  <a:pt x="0" y="131907"/>
                </a:cubicBezTo>
                <a:lnTo>
                  <a:pt x="0" y="131907"/>
                </a:lnTo>
                <a:cubicBezTo>
                  <a:pt x="0" y="59106"/>
                  <a:pt x="59106" y="0"/>
                  <a:pt x="131907" y="0"/>
                </a:cubicBezTo>
                <a:close/>
              </a:path>
            </a:pathLst>
          </a:custGeom>
          <a:solidFill>
            <a:srgbClr val="3B82F6"/>
          </a:solidFill>
          <a:ln/>
        </p:spPr>
      </p:sp>
      <p:sp>
        <p:nvSpPr>
          <p:cNvPr id="40" name="Text 38"/>
          <p:cNvSpPr/>
          <p:nvPr/>
        </p:nvSpPr>
        <p:spPr>
          <a:xfrm>
            <a:off x="11109359" y="5069008"/>
            <a:ext cx="584161" cy="263815"/>
          </a:xfrm>
          <a:prstGeom prst="rect">
            <a:avLst/>
          </a:prstGeom>
          <a:noFill/>
          <a:ln/>
        </p:spPr>
        <p:txBody>
          <a:bodyPr wrap="square" lIns="113063" tIns="37688" rIns="113063" bIns="37688"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Marc</a:t>
            </a:r>
            <a:endParaRPr lang="en-US" sz="1600" dirty="0"/>
          </a:p>
        </p:txBody>
      </p:sp>
      <p:sp>
        <p:nvSpPr>
          <p:cNvPr id="41" name="Shape 39"/>
          <p:cNvSpPr/>
          <p:nvPr/>
        </p:nvSpPr>
        <p:spPr>
          <a:xfrm>
            <a:off x="376878" y="5803920"/>
            <a:ext cx="11438244" cy="904507"/>
          </a:xfrm>
          <a:custGeom>
            <a:avLst/>
            <a:gdLst/>
            <a:ahLst/>
            <a:cxnLst/>
            <a:rect l="l" t="t" r="r" b="b"/>
            <a:pathLst>
              <a:path w="11438244" h="904507">
                <a:moveTo>
                  <a:pt x="150754" y="0"/>
                </a:moveTo>
                <a:lnTo>
                  <a:pt x="11287490" y="0"/>
                </a:lnTo>
                <a:cubicBezTo>
                  <a:pt x="11370749" y="0"/>
                  <a:pt x="11438244" y="67495"/>
                  <a:pt x="11438244" y="150754"/>
                </a:cubicBezTo>
                <a:lnTo>
                  <a:pt x="11438244" y="753753"/>
                </a:lnTo>
                <a:cubicBezTo>
                  <a:pt x="11438244" y="837012"/>
                  <a:pt x="11370749" y="904507"/>
                  <a:pt x="11287490" y="904507"/>
                </a:cubicBezTo>
                <a:lnTo>
                  <a:pt x="150754" y="904507"/>
                </a:lnTo>
                <a:cubicBezTo>
                  <a:pt x="67551" y="904507"/>
                  <a:pt x="0" y="836956"/>
                  <a:pt x="0" y="753753"/>
                </a:cubicBezTo>
                <a:lnTo>
                  <a:pt x="0" y="150754"/>
                </a:lnTo>
                <a:cubicBezTo>
                  <a:pt x="0" y="67551"/>
                  <a:pt x="67551" y="0"/>
                  <a:pt x="150754" y="0"/>
                </a:cubicBezTo>
                <a:close/>
              </a:path>
            </a:pathLst>
          </a:custGeom>
          <a:solidFill>
            <a:srgbClr val="F3F4F6"/>
          </a:solidFill>
          <a:ln/>
        </p:spPr>
      </p:sp>
      <p:sp>
        <p:nvSpPr>
          <p:cNvPr id="42" name="Shape 40"/>
          <p:cNvSpPr/>
          <p:nvPr/>
        </p:nvSpPr>
        <p:spPr>
          <a:xfrm>
            <a:off x="565317" y="5992359"/>
            <a:ext cx="527629" cy="527629"/>
          </a:xfrm>
          <a:custGeom>
            <a:avLst/>
            <a:gdLst/>
            <a:ahLst/>
            <a:cxnLst/>
            <a:rect l="l" t="t" r="r" b="b"/>
            <a:pathLst>
              <a:path w="527629" h="527629">
                <a:moveTo>
                  <a:pt x="113066" y="0"/>
                </a:moveTo>
                <a:lnTo>
                  <a:pt x="414563" y="0"/>
                </a:lnTo>
                <a:cubicBezTo>
                  <a:pt x="477008" y="0"/>
                  <a:pt x="527629" y="50621"/>
                  <a:pt x="527629" y="113066"/>
                </a:cubicBezTo>
                <a:lnTo>
                  <a:pt x="527629" y="414563"/>
                </a:lnTo>
                <a:cubicBezTo>
                  <a:pt x="527629" y="477008"/>
                  <a:pt x="477008" y="527629"/>
                  <a:pt x="414563" y="527629"/>
                </a:cubicBezTo>
                <a:lnTo>
                  <a:pt x="113066" y="527629"/>
                </a:lnTo>
                <a:cubicBezTo>
                  <a:pt x="50621" y="527629"/>
                  <a:pt x="0" y="477008"/>
                  <a:pt x="0" y="414563"/>
                </a:cubicBezTo>
                <a:lnTo>
                  <a:pt x="0" y="113066"/>
                </a:lnTo>
                <a:cubicBezTo>
                  <a:pt x="0" y="50663"/>
                  <a:pt x="50663" y="0"/>
                  <a:pt x="113066" y="0"/>
                </a:cubicBezTo>
                <a:close/>
              </a:path>
            </a:pathLst>
          </a:custGeom>
          <a:solidFill>
            <a:srgbClr val="F97316"/>
          </a:solidFill>
          <a:ln/>
        </p:spPr>
      </p:sp>
      <p:sp>
        <p:nvSpPr>
          <p:cNvPr id="43" name="Text 41"/>
          <p:cNvSpPr/>
          <p:nvPr/>
        </p:nvSpPr>
        <p:spPr>
          <a:xfrm>
            <a:off x="713860" y="6124266"/>
            <a:ext cx="320346" cy="263815"/>
          </a:xfrm>
          <a:prstGeom prst="rect">
            <a:avLst/>
          </a:prstGeom>
          <a:noFill/>
          <a:ln/>
        </p:spPr>
        <p:txBody>
          <a:bodyPr wrap="square" lIns="0" tIns="0" rIns="0" bIns="0" rtlCol="0" anchor="ctr"/>
          <a:lstStyle/>
          <a:p>
            <a:pPr>
              <a:lnSpc>
                <a:spcPct val="120000"/>
              </a:lnSpc>
            </a:pPr>
            <a:r>
              <a:rPr lang="en-US" sz="1484" b="1" dirty="0">
                <a:solidFill>
                  <a:srgbClr val="FFFFFF"/>
                </a:solidFill>
                <a:latin typeface="Noto Sans SC" pitchFamily="34" charset="0"/>
                <a:ea typeface="Noto Sans SC" pitchFamily="34" charset="-122"/>
                <a:cs typeface="Noto Sans SC" pitchFamily="34" charset="-120"/>
              </a:rPr>
              <a:t>P5</a:t>
            </a:r>
            <a:endParaRPr lang="en-US" sz="1600" dirty="0"/>
          </a:p>
        </p:txBody>
      </p:sp>
      <p:sp>
        <p:nvSpPr>
          <p:cNvPr id="44" name="Text 42"/>
          <p:cNvSpPr/>
          <p:nvPr/>
        </p:nvSpPr>
        <p:spPr>
          <a:xfrm>
            <a:off x="1319073" y="5992359"/>
            <a:ext cx="8950850" cy="263815"/>
          </a:xfrm>
          <a:prstGeom prst="rect">
            <a:avLst/>
          </a:prstGeom>
          <a:noFill/>
          <a:ln/>
        </p:spPr>
        <p:txBody>
          <a:bodyPr wrap="square" lIns="0" tIns="0" rIns="0" bIns="0" rtlCol="0" anchor="ctr"/>
          <a:lstStyle/>
          <a:p>
            <a:pPr>
              <a:lnSpc>
                <a:spcPct val="120000"/>
              </a:lnSpc>
            </a:pPr>
            <a:r>
              <a:rPr lang="en-US" sz="1484" b="1" dirty="0">
                <a:solidFill>
                  <a:srgbClr val="1E3A8A"/>
                </a:solidFill>
                <a:latin typeface="Noto Sans SC" pitchFamily="34" charset="0"/>
                <a:ea typeface="Noto Sans SC" pitchFamily="34" charset="-122"/>
                <a:cs typeface="Noto Sans SC" pitchFamily="34" charset="-120"/>
              </a:rPr>
              <a:t>Aucun Signal d'Alerte</a:t>
            </a:r>
            <a:endParaRPr lang="en-US" sz="1600" dirty="0"/>
          </a:p>
        </p:txBody>
      </p:sp>
      <p:sp>
        <p:nvSpPr>
          <p:cNvPr id="45" name="Text 43"/>
          <p:cNvSpPr/>
          <p:nvPr/>
        </p:nvSpPr>
        <p:spPr>
          <a:xfrm>
            <a:off x="1319073" y="6293861"/>
            <a:ext cx="8932006" cy="226127"/>
          </a:xfrm>
          <a:prstGeom prst="rect">
            <a:avLst/>
          </a:prstGeom>
          <a:noFill/>
          <a:ln/>
        </p:spPr>
        <p:txBody>
          <a:bodyPr wrap="square" lIns="0" tIns="0" rIns="0" bIns="0" rtlCol="0" anchor="ctr"/>
          <a:lstStyle/>
          <a:p>
            <a:pPr>
              <a:lnSpc>
                <a:spcPct val="130000"/>
              </a:lnSpc>
            </a:pPr>
            <a:r>
              <a:rPr lang="en-US" sz="1187" dirty="0">
                <a:solidFill>
                  <a:srgbClr val="374151"/>
                </a:solidFill>
                <a:latin typeface="MiSans" pitchFamily="34" charset="0"/>
                <a:ea typeface="MiSans" pitchFamily="34" charset="-122"/>
                <a:cs typeface="MiSans" pitchFamily="34" charset="-120"/>
              </a:rPr>
              <a:t>Contrôle après production, lot entier potentiellement non conforme</a:t>
            </a:r>
            <a:endParaRPr lang="en-US" sz="1600" dirty="0"/>
          </a:p>
        </p:txBody>
      </p:sp>
      <p:sp>
        <p:nvSpPr>
          <p:cNvPr id="46" name="Shape 44"/>
          <p:cNvSpPr/>
          <p:nvPr/>
        </p:nvSpPr>
        <p:spPr>
          <a:xfrm>
            <a:off x="10397119" y="6124266"/>
            <a:ext cx="518207" cy="263815"/>
          </a:xfrm>
          <a:custGeom>
            <a:avLst/>
            <a:gdLst/>
            <a:ahLst/>
            <a:cxnLst/>
            <a:rect l="l" t="t" r="r" b="b"/>
            <a:pathLst>
              <a:path w="518207" h="263815">
                <a:moveTo>
                  <a:pt x="131907" y="0"/>
                </a:moveTo>
                <a:lnTo>
                  <a:pt x="386300" y="0"/>
                </a:lnTo>
                <a:cubicBezTo>
                  <a:pt x="459101" y="0"/>
                  <a:pt x="518207" y="59106"/>
                  <a:pt x="518207" y="131907"/>
                </a:cubicBezTo>
                <a:lnTo>
                  <a:pt x="518207" y="131907"/>
                </a:lnTo>
                <a:cubicBezTo>
                  <a:pt x="518207" y="204709"/>
                  <a:pt x="459101" y="263815"/>
                  <a:pt x="386300" y="263815"/>
                </a:cubicBezTo>
                <a:lnTo>
                  <a:pt x="131907" y="263815"/>
                </a:lnTo>
                <a:cubicBezTo>
                  <a:pt x="59106" y="263815"/>
                  <a:pt x="0" y="204709"/>
                  <a:pt x="0" y="131907"/>
                </a:cubicBezTo>
                <a:lnTo>
                  <a:pt x="0" y="131907"/>
                </a:lnTo>
                <a:cubicBezTo>
                  <a:pt x="0" y="59106"/>
                  <a:pt x="59106" y="0"/>
                  <a:pt x="131907" y="0"/>
                </a:cubicBezTo>
                <a:close/>
              </a:path>
            </a:pathLst>
          </a:custGeom>
          <a:solidFill>
            <a:srgbClr val="3B82F6"/>
          </a:solidFill>
          <a:ln/>
        </p:spPr>
      </p:sp>
      <p:sp>
        <p:nvSpPr>
          <p:cNvPr id="47" name="Text 45"/>
          <p:cNvSpPr/>
          <p:nvPr/>
        </p:nvSpPr>
        <p:spPr>
          <a:xfrm>
            <a:off x="10397119" y="6124266"/>
            <a:ext cx="584161" cy="263815"/>
          </a:xfrm>
          <a:prstGeom prst="rect">
            <a:avLst/>
          </a:prstGeom>
          <a:noFill/>
          <a:ln/>
        </p:spPr>
        <p:txBody>
          <a:bodyPr wrap="square" lIns="113063" tIns="37688" rIns="113063" bIns="37688"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Marc</a:t>
            </a:r>
            <a:endParaRPr lang="en-US" sz="1600" dirty="0"/>
          </a:p>
        </p:txBody>
      </p:sp>
      <p:sp>
        <p:nvSpPr>
          <p:cNvPr id="48" name="Shape 46"/>
          <p:cNvSpPr/>
          <p:nvPr/>
        </p:nvSpPr>
        <p:spPr>
          <a:xfrm>
            <a:off x="10991879" y="6124266"/>
            <a:ext cx="640692" cy="263815"/>
          </a:xfrm>
          <a:custGeom>
            <a:avLst/>
            <a:gdLst/>
            <a:ahLst/>
            <a:cxnLst/>
            <a:rect l="l" t="t" r="r" b="b"/>
            <a:pathLst>
              <a:path w="640692" h="263815">
                <a:moveTo>
                  <a:pt x="131907" y="0"/>
                </a:moveTo>
                <a:lnTo>
                  <a:pt x="508785" y="0"/>
                </a:lnTo>
                <a:cubicBezTo>
                  <a:pt x="581587" y="0"/>
                  <a:pt x="640692" y="59106"/>
                  <a:pt x="640692" y="131907"/>
                </a:cubicBezTo>
                <a:lnTo>
                  <a:pt x="640692" y="131907"/>
                </a:lnTo>
                <a:cubicBezTo>
                  <a:pt x="640692" y="204709"/>
                  <a:pt x="581587" y="263815"/>
                  <a:pt x="508785" y="263815"/>
                </a:cubicBezTo>
                <a:lnTo>
                  <a:pt x="131907" y="263815"/>
                </a:lnTo>
                <a:cubicBezTo>
                  <a:pt x="59106" y="263815"/>
                  <a:pt x="0" y="204709"/>
                  <a:pt x="0" y="131907"/>
                </a:cubicBezTo>
                <a:lnTo>
                  <a:pt x="0" y="131907"/>
                </a:lnTo>
                <a:cubicBezTo>
                  <a:pt x="0" y="59106"/>
                  <a:pt x="59106" y="0"/>
                  <a:pt x="131907" y="0"/>
                </a:cubicBezTo>
                <a:close/>
              </a:path>
            </a:pathLst>
          </a:custGeom>
          <a:solidFill>
            <a:srgbClr val="8B5CF6"/>
          </a:solidFill>
          <a:ln/>
        </p:spPr>
      </p:sp>
      <p:sp>
        <p:nvSpPr>
          <p:cNvPr id="49" name="Text 47"/>
          <p:cNvSpPr/>
          <p:nvPr/>
        </p:nvSpPr>
        <p:spPr>
          <a:xfrm>
            <a:off x="10991879" y="6124266"/>
            <a:ext cx="706646" cy="263815"/>
          </a:xfrm>
          <a:prstGeom prst="rect">
            <a:avLst/>
          </a:prstGeom>
          <a:noFill/>
          <a:ln/>
        </p:spPr>
        <p:txBody>
          <a:bodyPr wrap="square" lIns="113063" tIns="37688" rIns="113063" bIns="37688" rtlCol="0" anchor="ctr"/>
          <a:lstStyle/>
          <a:p>
            <a:pPr>
              <a:lnSpc>
                <a:spcPct val="120000"/>
              </a:lnSpc>
            </a:pPr>
            <a:r>
              <a:rPr lang="en-US" sz="1039" b="1" dirty="0">
                <a:solidFill>
                  <a:srgbClr val="FFFFFF"/>
                </a:solidFill>
                <a:latin typeface="MiSans" pitchFamily="34" charset="0"/>
                <a:ea typeface="MiSans" pitchFamily="34" charset="-122"/>
                <a:cs typeface="MiSans" pitchFamily="34" charset="-120"/>
              </a:rPr>
              <a:t>Sophie</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2275" y="223365"/>
            <a:ext cx="3089881" cy="335047"/>
          </a:xfrm>
          <a:custGeom>
            <a:avLst/>
            <a:gdLst/>
            <a:ahLst/>
            <a:cxnLst/>
            <a:rect l="l" t="t" r="r" b="b"/>
            <a:pathLst>
              <a:path w="3089881" h="335047">
                <a:moveTo>
                  <a:pt x="167524" y="0"/>
                </a:moveTo>
                <a:lnTo>
                  <a:pt x="2922357" y="0"/>
                </a:lnTo>
                <a:cubicBezTo>
                  <a:pt x="3014816" y="0"/>
                  <a:pt x="3089881" y="75065"/>
                  <a:pt x="3089881" y="167524"/>
                </a:cubicBezTo>
                <a:lnTo>
                  <a:pt x="3089881" y="167524"/>
                </a:lnTo>
                <a:cubicBezTo>
                  <a:pt x="3089881" y="259982"/>
                  <a:pt x="3014816" y="335047"/>
                  <a:pt x="2922357" y="335047"/>
                </a:cubicBezTo>
                <a:lnTo>
                  <a:pt x="167524" y="335047"/>
                </a:lnTo>
                <a:cubicBezTo>
                  <a:pt x="75065" y="335047"/>
                  <a:pt x="0" y="259982"/>
                  <a:pt x="0" y="167524"/>
                </a:cubicBezTo>
                <a:lnTo>
                  <a:pt x="0" y="167524"/>
                </a:lnTo>
                <a:cubicBezTo>
                  <a:pt x="0" y="75065"/>
                  <a:pt x="75065" y="0"/>
                  <a:pt x="167524" y="0"/>
                </a:cubicBezTo>
                <a:close/>
              </a:path>
            </a:pathLst>
          </a:custGeom>
          <a:solidFill>
            <a:srgbClr val="10B981"/>
          </a:solidFill>
          <a:ln/>
        </p:spPr>
      </p:sp>
      <p:sp>
        <p:nvSpPr>
          <p:cNvPr id="3" name="Text 1"/>
          <p:cNvSpPr/>
          <p:nvPr/>
        </p:nvSpPr>
        <p:spPr>
          <a:xfrm>
            <a:off x="521185" y="297820"/>
            <a:ext cx="2857209" cy="186137"/>
          </a:xfrm>
          <a:prstGeom prst="rect">
            <a:avLst/>
          </a:prstGeom>
          <a:noFill/>
          <a:ln/>
        </p:spPr>
        <p:txBody>
          <a:bodyPr wrap="square" lIns="0" tIns="0" rIns="0" bIns="0" rtlCol="0" anchor="ctr"/>
          <a:lstStyle/>
          <a:p>
            <a:pPr>
              <a:lnSpc>
                <a:spcPct val="120000"/>
              </a:lnSpc>
            </a:pPr>
            <a:r>
              <a:rPr lang="en-US" sz="1026" b="1" kern="0" spc="26" dirty="0">
                <a:solidFill>
                  <a:srgbClr val="FFFFFF"/>
                </a:solidFill>
                <a:latin typeface="MiSans" pitchFamily="34" charset="0"/>
                <a:ea typeface="MiSans" pitchFamily="34" charset="-122"/>
                <a:cs typeface="MiSans" pitchFamily="34" charset="-120"/>
              </a:rPr>
              <a:t>DISCOVERY - VALIDATION QUANTITATIVE</a:t>
            </a:r>
            <a:endParaRPr lang="en-US" sz="1600" dirty="0"/>
          </a:p>
        </p:txBody>
      </p:sp>
      <p:sp>
        <p:nvSpPr>
          <p:cNvPr id="4" name="Text 2"/>
          <p:cNvSpPr/>
          <p:nvPr/>
        </p:nvSpPr>
        <p:spPr>
          <a:xfrm>
            <a:off x="372275" y="967915"/>
            <a:ext cx="11614974" cy="372275"/>
          </a:xfrm>
          <a:prstGeom prst="rect">
            <a:avLst/>
          </a:prstGeom>
          <a:noFill/>
          <a:ln/>
        </p:spPr>
        <p:txBody>
          <a:bodyPr wrap="square" lIns="0" tIns="0" rIns="0" bIns="0" rtlCol="0" anchor="ctr"/>
          <a:lstStyle/>
          <a:p>
            <a:pPr>
              <a:lnSpc>
                <a:spcPct val="90000"/>
              </a:lnSpc>
            </a:pPr>
            <a:r>
              <a:rPr lang="en-US" sz="2638" b="1" dirty="0">
                <a:solidFill>
                  <a:srgbClr val="1E3A8A"/>
                </a:solidFill>
                <a:latin typeface="Noto Sans SC" pitchFamily="34" charset="0"/>
                <a:ea typeface="Noto Sans SC" pitchFamily="34" charset="-122"/>
                <a:cs typeface="Noto Sans SC" pitchFamily="34" charset="-120"/>
              </a:rPr>
              <a:t>Validation Quantitative des Pain Points</a:t>
            </a:r>
            <a:endParaRPr lang="en-US" sz="1600" dirty="0"/>
          </a:p>
        </p:txBody>
      </p:sp>
      <p:sp>
        <p:nvSpPr>
          <p:cNvPr id="5" name="Shape 3"/>
          <p:cNvSpPr/>
          <p:nvPr/>
        </p:nvSpPr>
        <p:spPr>
          <a:xfrm>
            <a:off x="372275" y="1563554"/>
            <a:ext cx="3694827" cy="3983340"/>
          </a:xfrm>
          <a:custGeom>
            <a:avLst/>
            <a:gdLst/>
            <a:ahLst/>
            <a:cxnLst/>
            <a:rect l="l" t="t" r="r" b="b"/>
            <a:pathLst>
              <a:path w="3694827" h="3983340">
                <a:moveTo>
                  <a:pt x="148902" y="0"/>
                </a:moveTo>
                <a:lnTo>
                  <a:pt x="3545926" y="0"/>
                </a:lnTo>
                <a:cubicBezTo>
                  <a:pt x="3628162" y="0"/>
                  <a:pt x="3694827" y="66665"/>
                  <a:pt x="3694827" y="148902"/>
                </a:cubicBezTo>
                <a:lnTo>
                  <a:pt x="3694827" y="3834439"/>
                </a:lnTo>
                <a:cubicBezTo>
                  <a:pt x="3694827" y="3916675"/>
                  <a:pt x="3628162" y="3983340"/>
                  <a:pt x="3545926" y="3983340"/>
                </a:cubicBezTo>
                <a:lnTo>
                  <a:pt x="148902" y="3983340"/>
                </a:lnTo>
                <a:cubicBezTo>
                  <a:pt x="66665" y="3983340"/>
                  <a:pt x="0" y="3916675"/>
                  <a:pt x="0" y="3834439"/>
                </a:cubicBezTo>
                <a:lnTo>
                  <a:pt x="0" y="148902"/>
                </a:lnTo>
                <a:cubicBezTo>
                  <a:pt x="0" y="66721"/>
                  <a:pt x="66721" y="0"/>
                  <a:pt x="148902" y="0"/>
                </a:cubicBezTo>
                <a:close/>
              </a:path>
            </a:pathLst>
          </a:custGeom>
          <a:solidFill>
            <a:srgbClr val="F3F4F6"/>
          </a:solidFill>
          <a:ln/>
        </p:spPr>
      </p:sp>
      <p:sp>
        <p:nvSpPr>
          <p:cNvPr id="6" name="Shape 4"/>
          <p:cNvSpPr/>
          <p:nvPr/>
        </p:nvSpPr>
        <p:spPr>
          <a:xfrm>
            <a:off x="558412" y="1786919"/>
            <a:ext cx="437423" cy="446730"/>
          </a:xfrm>
          <a:custGeom>
            <a:avLst/>
            <a:gdLst/>
            <a:ahLst/>
            <a:cxnLst/>
            <a:rect l="l" t="t" r="r" b="b"/>
            <a:pathLst>
              <a:path w="437423" h="446730">
                <a:moveTo>
                  <a:pt x="111683" y="0"/>
                </a:moveTo>
                <a:lnTo>
                  <a:pt x="325740" y="0"/>
                </a:lnTo>
                <a:cubicBezTo>
                  <a:pt x="387380" y="0"/>
                  <a:pt x="437423" y="50043"/>
                  <a:pt x="437423" y="111683"/>
                </a:cubicBezTo>
                <a:lnTo>
                  <a:pt x="437423" y="335047"/>
                </a:lnTo>
                <a:cubicBezTo>
                  <a:pt x="437423" y="396686"/>
                  <a:pt x="387380" y="446730"/>
                  <a:pt x="325740" y="446730"/>
                </a:cubicBezTo>
                <a:lnTo>
                  <a:pt x="111683" y="446730"/>
                </a:lnTo>
                <a:cubicBezTo>
                  <a:pt x="50043" y="446730"/>
                  <a:pt x="0" y="396686"/>
                  <a:pt x="0" y="335047"/>
                </a:cubicBezTo>
                <a:lnTo>
                  <a:pt x="0" y="111683"/>
                </a:lnTo>
                <a:cubicBezTo>
                  <a:pt x="0" y="50043"/>
                  <a:pt x="50043" y="0"/>
                  <a:pt x="111683" y="0"/>
                </a:cubicBezTo>
                <a:close/>
              </a:path>
            </a:pathLst>
          </a:custGeom>
          <a:solidFill>
            <a:srgbClr val="10B981"/>
          </a:solidFill>
          <a:ln/>
        </p:spPr>
      </p:sp>
      <p:sp>
        <p:nvSpPr>
          <p:cNvPr id="7" name="Shape 5"/>
          <p:cNvSpPr/>
          <p:nvPr/>
        </p:nvSpPr>
        <p:spPr>
          <a:xfrm>
            <a:off x="683764" y="1917215"/>
            <a:ext cx="186137" cy="186137"/>
          </a:xfrm>
          <a:custGeom>
            <a:avLst/>
            <a:gdLst/>
            <a:ahLst/>
            <a:cxnLst/>
            <a:rect l="l" t="t" r="r" b="b"/>
            <a:pathLst>
              <a:path w="186137" h="186137">
                <a:moveTo>
                  <a:pt x="93069" y="186137"/>
                </a:moveTo>
                <a:cubicBezTo>
                  <a:pt x="144435" y="186137"/>
                  <a:pt x="186137" y="144435"/>
                  <a:pt x="186137" y="93069"/>
                </a:cubicBezTo>
                <a:cubicBezTo>
                  <a:pt x="186137" y="41703"/>
                  <a:pt x="144435" y="0"/>
                  <a:pt x="93069" y="0"/>
                </a:cubicBezTo>
                <a:cubicBezTo>
                  <a:pt x="41703" y="0"/>
                  <a:pt x="0" y="41703"/>
                  <a:pt x="0" y="93069"/>
                </a:cubicBezTo>
                <a:cubicBezTo>
                  <a:pt x="0" y="144435"/>
                  <a:pt x="41703" y="186137"/>
                  <a:pt x="93069" y="186137"/>
                </a:cubicBezTo>
                <a:close/>
                <a:moveTo>
                  <a:pt x="123752" y="77327"/>
                </a:moveTo>
                <a:lnTo>
                  <a:pt x="94668" y="123861"/>
                </a:lnTo>
                <a:cubicBezTo>
                  <a:pt x="93141" y="126297"/>
                  <a:pt x="90524" y="127824"/>
                  <a:pt x="87652" y="127969"/>
                </a:cubicBezTo>
                <a:cubicBezTo>
                  <a:pt x="84780" y="128115"/>
                  <a:pt x="82017" y="126806"/>
                  <a:pt x="80308" y="124479"/>
                </a:cubicBezTo>
                <a:lnTo>
                  <a:pt x="62858" y="101212"/>
                </a:lnTo>
                <a:cubicBezTo>
                  <a:pt x="59949" y="97359"/>
                  <a:pt x="60749" y="91905"/>
                  <a:pt x="64603" y="88997"/>
                </a:cubicBezTo>
                <a:cubicBezTo>
                  <a:pt x="68456" y="86089"/>
                  <a:pt x="73910" y="86888"/>
                  <a:pt x="76818" y="90742"/>
                </a:cubicBezTo>
                <a:lnTo>
                  <a:pt x="86634" y="103830"/>
                </a:lnTo>
                <a:lnTo>
                  <a:pt x="108956" y="68093"/>
                </a:lnTo>
                <a:cubicBezTo>
                  <a:pt x="111501" y="64021"/>
                  <a:pt x="116881" y="62749"/>
                  <a:pt x="120989" y="65330"/>
                </a:cubicBezTo>
                <a:cubicBezTo>
                  <a:pt x="125097" y="67911"/>
                  <a:pt x="126333" y="73255"/>
                  <a:pt x="123752" y="77363"/>
                </a:cubicBezTo>
                <a:close/>
              </a:path>
            </a:pathLst>
          </a:custGeom>
          <a:solidFill>
            <a:srgbClr val="FFFFFF"/>
          </a:solidFill>
          <a:ln/>
        </p:spPr>
      </p:sp>
      <p:sp>
        <p:nvSpPr>
          <p:cNvPr id="8" name="Text 6"/>
          <p:cNvSpPr/>
          <p:nvPr/>
        </p:nvSpPr>
        <p:spPr>
          <a:xfrm>
            <a:off x="1106936" y="1749692"/>
            <a:ext cx="2857209" cy="521185"/>
          </a:xfrm>
          <a:prstGeom prst="rect">
            <a:avLst/>
          </a:prstGeom>
          <a:noFill/>
          <a:ln/>
        </p:spPr>
        <p:txBody>
          <a:bodyPr wrap="square" lIns="0" tIns="0" rIns="0" bIns="0" rtlCol="0" anchor="ctr"/>
          <a:lstStyle/>
          <a:p>
            <a:pPr>
              <a:lnSpc>
                <a:spcPct val="130000"/>
              </a:lnSpc>
            </a:pPr>
            <a:r>
              <a:rPr lang="en-US" sz="1319" b="1" dirty="0">
                <a:solidFill>
                  <a:srgbClr val="1E3A8A"/>
                </a:solidFill>
                <a:latin typeface="MiSans" pitchFamily="34" charset="0"/>
                <a:ea typeface="MiSans" pitchFamily="34" charset="-122"/>
                <a:cs typeface="MiSans" pitchFamily="34" charset="-120"/>
              </a:rPr>
              <a:t>H1 : Contrôle visuel = maillon faible</a:t>
            </a:r>
            <a:endParaRPr lang="en-US" sz="1600" dirty="0"/>
          </a:p>
        </p:txBody>
      </p:sp>
      <p:sp>
        <p:nvSpPr>
          <p:cNvPr id="9" name="Text 7"/>
          <p:cNvSpPr/>
          <p:nvPr/>
        </p:nvSpPr>
        <p:spPr>
          <a:xfrm>
            <a:off x="446730" y="2419786"/>
            <a:ext cx="3545918" cy="446730"/>
          </a:xfrm>
          <a:prstGeom prst="rect">
            <a:avLst/>
          </a:prstGeom>
          <a:noFill/>
          <a:ln/>
        </p:spPr>
        <p:txBody>
          <a:bodyPr wrap="square" lIns="0" tIns="0" rIns="0" bIns="0" rtlCol="0" anchor="ctr"/>
          <a:lstStyle/>
          <a:p>
            <a:pPr algn="ctr">
              <a:lnSpc>
                <a:spcPct val="80000"/>
              </a:lnSpc>
            </a:pPr>
            <a:r>
              <a:rPr lang="en-US" sz="3518" b="1" dirty="0">
                <a:solidFill>
                  <a:srgbClr val="F97316"/>
                </a:solidFill>
                <a:latin typeface="Noto Sans SC" pitchFamily="34" charset="0"/>
                <a:ea typeface="Noto Sans SC" pitchFamily="34" charset="-122"/>
                <a:cs typeface="Noto Sans SC" pitchFamily="34" charset="-120"/>
              </a:rPr>
              <a:t>80-85%</a:t>
            </a:r>
            <a:endParaRPr lang="en-US" sz="1600" dirty="0"/>
          </a:p>
        </p:txBody>
      </p:sp>
      <p:sp>
        <p:nvSpPr>
          <p:cNvPr id="10" name="Text 8"/>
          <p:cNvSpPr/>
          <p:nvPr/>
        </p:nvSpPr>
        <p:spPr>
          <a:xfrm>
            <a:off x="521185" y="2903744"/>
            <a:ext cx="3397008" cy="223365"/>
          </a:xfrm>
          <a:prstGeom prst="rect">
            <a:avLst/>
          </a:prstGeom>
          <a:noFill/>
          <a:ln/>
        </p:spPr>
        <p:txBody>
          <a:bodyPr wrap="square" lIns="0" tIns="0" rIns="0" bIns="0" rtlCol="0" anchor="ctr"/>
          <a:lstStyle/>
          <a:p>
            <a:pPr algn="ctr">
              <a:lnSpc>
                <a:spcPct val="130000"/>
              </a:lnSpc>
            </a:pPr>
            <a:r>
              <a:rPr lang="en-US" sz="1173" dirty="0">
                <a:solidFill>
                  <a:srgbClr val="6B7280"/>
                </a:solidFill>
                <a:latin typeface="MiSans" pitchFamily="34" charset="0"/>
                <a:ea typeface="MiSans" pitchFamily="34" charset="-122"/>
                <a:cs typeface="MiSans" pitchFamily="34" charset="-120"/>
              </a:rPr>
              <a:t>Détection humaine (Sandia 2015)</a:t>
            </a:r>
            <a:endParaRPr lang="en-US" sz="1600" dirty="0"/>
          </a:p>
        </p:txBody>
      </p:sp>
      <p:sp>
        <p:nvSpPr>
          <p:cNvPr id="11" name="Text 9"/>
          <p:cNvSpPr/>
          <p:nvPr/>
        </p:nvSpPr>
        <p:spPr>
          <a:xfrm>
            <a:off x="446730" y="3276018"/>
            <a:ext cx="3545918" cy="446730"/>
          </a:xfrm>
          <a:prstGeom prst="rect">
            <a:avLst/>
          </a:prstGeom>
          <a:noFill/>
          <a:ln/>
        </p:spPr>
        <p:txBody>
          <a:bodyPr wrap="square" lIns="0" tIns="0" rIns="0" bIns="0" rtlCol="0" anchor="ctr"/>
          <a:lstStyle/>
          <a:p>
            <a:pPr algn="ctr">
              <a:lnSpc>
                <a:spcPct val="80000"/>
              </a:lnSpc>
            </a:pPr>
            <a:r>
              <a:rPr lang="en-US" sz="3518" b="1" dirty="0">
                <a:solidFill>
                  <a:srgbClr val="F97316"/>
                </a:solidFill>
                <a:latin typeface="Noto Sans SC" pitchFamily="34" charset="0"/>
                <a:ea typeface="Noto Sans SC" pitchFamily="34" charset="-122"/>
                <a:cs typeface="Noto Sans SC" pitchFamily="34" charset="-120"/>
              </a:rPr>
              <a:t>35%</a:t>
            </a:r>
            <a:endParaRPr lang="en-US" sz="1600" dirty="0"/>
          </a:p>
        </p:txBody>
      </p:sp>
      <p:sp>
        <p:nvSpPr>
          <p:cNvPr id="12" name="Text 10"/>
          <p:cNvSpPr/>
          <p:nvPr/>
        </p:nvSpPr>
        <p:spPr>
          <a:xfrm>
            <a:off x="521185" y="3759976"/>
            <a:ext cx="3397008" cy="223365"/>
          </a:xfrm>
          <a:prstGeom prst="rect">
            <a:avLst/>
          </a:prstGeom>
          <a:noFill/>
          <a:ln/>
        </p:spPr>
        <p:txBody>
          <a:bodyPr wrap="square" lIns="0" tIns="0" rIns="0" bIns="0" rtlCol="0" anchor="ctr"/>
          <a:lstStyle/>
          <a:p>
            <a:pPr algn="ctr">
              <a:lnSpc>
                <a:spcPct val="130000"/>
              </a:lnSpc>
            </a:pPr>
            <a:r>
              <a:rPr lang="en-US" sz="1173" dirty="0">
                <a:solidFill>
                  <a:srgbClr val="6B7280"/>
                </a:solidFill>
                <a:latin typeface="MiSans" pitchFamily="34" charset="0"/>
                <a:ea typeface="MiSans" pitchFamily="34" charset="-122"/>
                <a:cs typeface="MiSans" pitchFamily="34" charset="-120"/>
              </a:rPr>
              <a:t>Faux rebuts max (Sandia 2015)</a:t>
            </a:r>
            <a:endParaRPr lang="en-US" sz="1600" dirty="0"/>
          </a:p>
        </p:txBody>
      </p:sp>
      <p:sp>
        <p:nvSpPr>
          <p:cNvPr id="13" name="Text 11"/>
          <p:cNvSpPr/>
          <p:nvPr/>
        </p:nvSpPr>
        <p:spPr>
          <a:xfrm>
            <a:off x="446730" y="4132250"/>
            <a:ext cx="3545918" cy="446730"/>
          </a:xfrm>
          <a:prstGeom prst="rect">
            <a:avLst/>
          </a:prstGeom>
          <a:noFill/>
          <a:ln/>
        </p:spPr>
        <p:txBody>
          <a:bodyPr wrap="square" lIns="0" tIns="0" rIns="0" bIns="0" rtlCol="0" anchor="ctr"/>
          <a:lstStyle/>
          <a:p>
            <a:pPr algn="ctr">
              <a:lnSpc>
                <a:spcPct val="80000"/>
              </a:lnSpc>
            </a:pPr>
            <a:r>
              <a:rPr lang="en-US" sz="3518" b="1" dirty="0">
                <a:solidFill>
                  <a:srgbClr val="F97316"/>
                </a:solidFill>
                <a:latin typeface="Noto Sans SC" pitchFamily="34" charset="0"/>
                <a:ea typeface="Noto Sans SC" pitchFamily="34" charset="-122"/>
                <a:cs typeface="Noto Sans SC" pitchFamily="34" charset="-120"/>
              </a:rPr>
              <a:t>15-30%</a:t>
            </a:r>
            <a:endParaRPr lang="en-US" sz="1600" dirty="0"/>
          </a:p>
        </p:txBody>
      </p:sp>
      <p:sp>
        <p:nvSpPr>
          <p:cNvPr id="14" name="Text 12"/>
          <p:cNvSpPr/>
          <p:nvPr/>
        </p:nvSpPr>
        <p:spPr>
          <a:xfrm>
            <a:off x="521185" y="4616208"/>
            <a:ext cx="3397008" cy="223365"/>
          </a:xfrm>
          <a:prstGeom prst="rect">
            <a:avLst/>
          </a:prstGeom>
          <a:noFill/>
          <a:ln/>
        </p:spPr>
        <p:txBody>
          <a:bodyPr wrap="square" lIns="0" tIns="0" rIns="0" bIns="0" rtlCol="0" anchor="ctr"/>
          <a:lstStyle/>
          <a:p>
            <a:pPr algn="ctr">
              <a:lnSpc>
                <a:spcPct val="130000"/>
              </a:lnSpc>
            </a:pPr>
            <a:r>
              <a:rPr lang="en-US" sz="1173" dirty="0">
                <a:solidFill>
                  <a:srgbClr val="6B7280"/>
                </a:solidFill>
                <a:latin typeface="MiSans" pitchFamily="34" charset="0"/>
                <a:ea typeface="MiSans" pitchFamily="34" charset="-122"/>
                <a:cs typeface="MiSans" pitchFamily="34" charset="-120"/>
              </a:rPr>
              <a:t>Variabilité inter-opérateurs (OSTI)</a:t>
            </a:r>
            <a:endParaRPr lang="en-US" sz="1600" dirty="0"/>
          </a:p>
        </p:txBody>
      </p:sp>
      <p:sp>
        <p:nvSpPr>
          <p:cNvPr id="15" name="Shape 13"/>
          <p:cNvSpPr/>
          <p:nvPr/>
        </p:nvSpPr>
        <p:spPr>
          <a:xfrm>
            <a:off x="558412" y="4988482"/>
            <a:ext cx="3322553" cy="372275"/>
          </a:xfrm>
          <a:custGeom>
            <a:avLst/>
            <a:gdLst/>
            <a:ahLst/>
            <a:cxnLst/>
            <a:rect l="l" t="t" r="r" b="b"/>
            <a:pathLst>
              <a:path w="3322553" h="372275">
                <a:moveTo>
                  <a:pt x="186137" y="0"/>
                </a:moveTo>
                <a:lnTo>
                  <a:pt x="3136415" y="0"/>
                </a:lnTo>
                <a:cubicBezTo>
                  <a:pt x="3239216" y="0"/>
                  <a:pt x="3322553" y="83337"/>
                  <a:pt x="3322553" y="186137"/>
                </a:cubicBezTo>
                <a:lnTo>
                  <a:pt x="3322553" y="186137"/>
                </a:lnTo>
                <a:cubicBezTo>
                  <a:pt x="3322553" y="288938"/>
                  <a:pt x="3239216" y="372275"/>
                  <a:pt x="3136415" y="372275"/>
                </a:cubicBezTo>
                <a:lnTo>
                  <a:pt x="186137" y="372275"/>
                </a:lnTo>
                <a:cubicBezTo>
                  <a:pt x="83405" y="372275"/>
                  <a:pt x="0" y="288869"/>
                  <a:pt x="0" y="186137"/>
                </a:cubicBezTo>
                <a:lnTo>
                  <a:pt x="0" y="186137"/>
                </a:lnTo>
                <a:cubicBezTo>
                  <a:pt x="0" y="83405"/>
                  <a:pt x="83405" y="0"/>
                  <a:pt x="186137" y="0"/>
                </a:cubicBezTo>
                <a:close/>
              </a:path>
            </a:pathLst>
          </a:custGeom>
          <a:solidFill>
            <a:srgbClr val="10B981"/>
          </a:solidFill>
          <a:ln/>
        </p:spPr>
      </p:sp>
      <p:sp>
        <p:nvSpPr>
          <p:cNvPr id="16" name="Text 14"/>
          <p:cNvSpPr/>
          <p:nvPr/>
        </p:nvSpPr>
        <p:spPr>
          <a:xfrm>
            <a:off x="1735586" y="5090858"/>
            <a:ext cx="965733" cy="158217"/>
          </a:xfrm>
          <a:prstGeom prst="rect">
            <a:avLst/>
          </a:prstGeom>
          <a:noFill/>
          <a:ln/>
        </p:spPr>
        <p:txBody>
          <a:bodyPr wrap="square" lIns="0" tIns="0" rIns="0" bIns="0" rtlCol="0" anchor="ctr"/>
          <a:lstStyle/>
          <a:p>
            <a:pPr algn="ctr">
              <a:lnSpc>
                <a:spcPct val="130000"/>
              </a:lnSpc>
            </a:pPr>
            <a:r>
              <a:rPr lang="en-US" sz="1173" b="1" dirty="0">
                <a:solidFill>
                  <a:srgbClr val="FFFFFF"/>
                </a:solidFill>
                <a:latin typeface="MiSans" pitchFamily="34" charset="0"/>
                <a:ea typeface="MiSans" pitchFamily="34" charset="-122"/>
                <a:cs typeface="MiSans" pitchFamily="34" charset="-120"/>
              </a:rPr>
              <a:t>VALIDÉE ✅</a:t>
            </a:r>
            <a:endParaRPr lang="en-US" sz="1600" dirty="0"/>
          </a:p>
        </p:txBody>
      </p:sp>
      <p:sp>
        <p:nvSpPr>
          <p:cNvPr id="17" name="Shape 15"/>
          <p:cNvSpPr/>
          <p:nvPr/>
        </p:nvSpPr>
        <p:spPr>
          <a:xfrm>
            <a:off x="4250768" y="1563554"/>
            <a:ext cx="3694827" cy="3983340"/>
          </a:xfrm>
          <a:custGeom>
            <a:avLst/>
            <a:gdLst/>
            <a:ahLst/>
            <a:cxnLst/>
            <a:rect l="l" t="t" r="r" b="b"/>
            <a:pathLst>
              <a:path w="3694827" h="3983340">
                <a:moveTo>
                  <a:pt x="148902" y="0"/>
                </a:moveTo>
                <a:lnTo>
                  <a:pt x="3545926" y="0"/>
                </a:lnTo>
                <a:cubicBezTo>
                  <a:pt x="3628162" y="0"/>
                  <a:pt x="3694827" y="66665"/>
                  <a:pt x="3694827" y="148902"/>
                </a:cubicBezTo>
                <a:lnTo>
                  <a:pt x="3694827" y="3834439"/>
                </a:lnTo>
                <a:cubicBezTo>
                  <a:pt x="3694827" y="3916675"/>
                  <a:pt x="3628162" y="3983340"/>
                  <a:pt x="3545926" y="3983340"/>
                </a:cubicBezTo>
                <a:lnTo>
                  <a:pt x="148902" y="3983340"/>
                </a:lnTo>
                <a:cubicBezTo>
                  <a:pt x="66665" y="3983340"/>
                  <a:pt x="0" y="3916675"/>
                  <a:pt x="0" y="3834439"/>
                </a:cubicBezTo>
                <a:lnTo>
                  <a:pt x="0" y="148902"/>
                </a:lnTo>
                <a:cubicBezTo>
                  <a:pt x="0" y="66721"/>
                  <a:pt x="66721" y="0"/>
                  <a:pt x="148902" y="0"/>
                </a:cubicBezTo>
                <a:close/>
              </a:path>
            </a:pathLst>
          </a:custGeom>
          <a:solidFill>
            <a:srgbClr val="F3F4F6"/>
          </a:solidFill>
          <a:ln/>
        </p:spPr>
      </p:sp>
      <p:sp>
        <p:nvSpPr>
          <p:cNvPr id="18" name="Shape 16"/>
          <p:cNvSpPr/>
          <p:nvPr/>
        </p:nvSpPr>
        <p:spPr>
          <a:xfrm>
            <a:off x="4436905" y="1786919"/>
            <a:ext cx="418809" cy="446730"/>
          </a:xfrm>
          <a:custGeom>
            <a:avLst/>
            <a:gdLst/>
            <a:ahLst/>
            <a:cxnLst/>
            <a:rect l="l" t="t" r="r" b="b"/>
            <a:pathLst>
              <a:path w="418809" h="446730">
                <a:moveTo>
                  <a:pt x="111684" y="0"/>
                </a:moveTo>
                <a:lnTo>
                  <a:pt x="307125" y="0"/>
                </a:lnTo>
                <a:cubicBezTo>
                  <a:pt x="368765" y="0"/>
                  <a:pt x="418809" y="50044"/>
                  <a:pt x="418809" y="111684"/>
                </a:cubicBezTo>
                <a:lnTo>
                  <a:pt x="418809" y="335046"/>
                </a:lnTo>
                <a:cubicBezTo>
                  <a:pt x="418809" y="396686"/>
                  <a:pt x="368765" y="446730"/>
                  <a:pt x="307125" y="446730"/>
                </a:cubicBezTo>
                <a:lnTo>
                  <a:pt x="111684" y="446730"/>
                </a:lnTo>
                <a:cubicBezTo>
                  <a:pt x="50044" y="446730"/>
                  <a:pt x="0" y="396686"/>
                  <a:pt x="0" y="335046"/>
                </a:cubicBezTo>
                <a:lnTo>
                  <a:pt x="0" y="111684"/>
                </a:lnTo>
                <a:cubicBezTo>
                  <a:pt x="0" y="50044"/>
                  <a:pt x="50044" y="0"/>
                  <a:pt x="111684" y="0"/>
                </a:cubicBezTo>
                <a:close/>
              </a:path>
            </a:pathLst>
          </a:custGeom>
          <a:solidFill>
            <a:srgbClr val="10B981"/>
          </a:solidFill>
          <a:ln/>
        </p:spPr>
      </p:sp>
      <p:sp>
        <p:nvSpPr>
          <p:cNvPr id="19" name="Shape 17"/>
          <p:cNvSpPr/>
          <p:nvPr/>
        </p:nvSpPr>
        <p:spPr>
          <a:xfrm>
            <a:off x="4552077" y="1917215"/>
            <a:ext cx="186137" cy="186137"/>
          </a:xfrm>
          <a:custGeom>
            <a:avLst/>
            <a:gdLst/>
            <a:ahLst/>
            <a:cxnLst/>
            <a:rect l="l" t="t" r="r" b="b"/>
            <a:pathLst>
              <a:path w="186137" h="186137">
                <a:moveTo>
                  <a:pt x="93069" y="186137"/>
                </a:moveTo>
                <a:cubicBezTo>
                  <a:pt x="144435" y="186137"/>
                  <a:pt x="186137" y="144435"/>
                  <a:pt x="186137" y="93069"/>
                </a:cubicBezTo>
                <a:cubicBezTo>
                  <a:pt x="186137" y="41703"/>
                  <a:pt x="144435" y="0"/>
                  <a:pt x="93069" y="0"/>
                </a:cubicBezTo>
                <a:cubicBezTo>
                  <a:pt x="41703" y="0"/>
                  <a:pt x="0" y="41703"/>
                  <a:pt x="0" y="93069"/>
                </a:cubicBezTo>
                <a:cubicBezTo>
                  <a:pt x="0" y="144435"/>
                  <a:pt x="41703" y="186137"/>
                  <a:pt x="93069" y="186137"/>
                </a:cubicBezTo>
                <a:close/>
                <a:moveTo>
                  <a:pt x="123752" y="77327"/>
                </a:moveTo>
                <a:lnTo>
                  <a:pt x="94668" y="123861"/>
                </a:lnTo>
                <a:cubicBezTo>
                  <a:pt x="93141" y="126297"/>
                  <a:pt x="90524" y="127824"/>
                  <a:pt x="87652" y="127969"/>
                </a:cubicBezTo>
                <a:cubicBezTo>
                  <a:pt x="84780" y="128115"/>
                  <a:pt x="82017" y="126806"/>
                  <a:pt x="80308" y="124479"/>
                </a:cubicBezTo>
                <a:lnTo>
                  <a:pt x="62858" y="101212"/>
                </a:lnTo>
                <a:cubicBezTo>
                  <a:pt x="59949" y="97359"/>
                  <a:pt x="60749" y="91905"/>
                  <a:pt x="64603" y="88997"/>
                </a:cubicBezTo>
                <a:cubicBezTo>
                  <a:pt x="68456" y="86089"/>
                  <a:pt x="73910" y="86888"/>
                  <a:pt x="76818" y="90742"/>
                </a:cubicBezTo>
                <a:lnTo>
                  <a:pt x="86634" y="103830"/>
                </a:lnTo>
                <a:lnTo>
                  <a:pt x="108956" y="68093"/>
                </a:lnTo>
                <a:cubicBezTo>
                  <a:pt x="111501" y="64021"/>
                  <a:pt x="116881" y="62749"/>
                  <a:pt x="120989" y="65330"/>
                </a:cubicBezTo>
                <a:cubicBezTo>
                  <a:pt x="125097" y="67911"/>
                  <a:pt x="126333" y="73255"/>
                  <a:pt x="123752" y="77363"/>
                </a:cubicBezTo>
                <a:close/>
              </a:path>
            </a:pathLst>
          </a:custGeom>
          <a:solidFill>
            <a:srgbClr val="FFFFFF"/>
          </a:solidFill>
          <a:ln/>
        </p:spPr>
      </p:sp>
      <p:sp>
        <p:nvSpPr>
          <p:cNvPr id="20" name="Text 18"/>
          <p:cNvSpPr/>
          <p:nvPr/>
        </p:nvSpPr>
        <p:spPr>
          <a:xfrm>
            <a:off x="4965070" y="1749692"/>
            <a:ext cx="2875823" cy="521185"/>
          </a:xfrm>
          <a:prstGeom prst="rect">
            <a:avLst/>
          </a:prstGeom>
          <a:noFill/>
          <a:ln/>
        </p:spPr>
        <p:txBody>
          <a:bodyPr wrap="square" lIns="0" tIns="0" rIns="0" bIns="0" rtlCol="0" anchor="ctr"/>
          <a:lstStyle/>
          <a:p>
            <a:pPr>
              <a:lnSpc>
                <a:spcPct val="130000"/>
              </a:lnSpc>
            </a:pPr>
            <a:r>
              <a:rPr lang="en-US" sz="1319" b="1" dirty="0">
                <a:solidFill>
                  <a:srgbClr val="1E3A8A"/>
                </a:solidFill>
                <a:latin typeface="MiSans" pitchFamily="34" charset="0"/>
                <a:ea typeface="MiSans" pitchFamily="34" charset="-122"/>
                <a:cs typeface="MiSans" pitchFamily="34" charset="-120"/>
              </a:rPr>
              <a:t>H2 : Contrôle = goulot d'étranglement</a:t>
            </a:r>
            <a:endParaRPr lang="en-US" sz="1600" dirty="0"/>
          </a:p>
        </p:txBody>
      </p:sp>
      <p:sp>
        <p:nvSpPr>
          <p:cNvPr id="21" name="Text 19"/>
          <p:cNvSpPr/>
          <p:nvPr/>
        </p:nvSpPr>
        <p:spPr>
          <a:xfrm>
            <a:off x="4325223" y="2419786"/>
            <a:ext cx="3545918" cy="446730"/>
          </a:xfrm>
          <a:prstGeom prst="rect">
            <a:avLst/>
          </a:prstGeom>
          <a:noFill/>
          <a:ln/>
        </p:spPr>
        <p:txBody>
          <a:bodyPr wrap="square" lIns="0" tIns="0" rIns="0" bIns="0" rtlCol="0" anchor="ctr"/>
          <a:lstStyle/>
          <a:p>
            <a:pPr algn="ctr">
              <a:lnSpc>
                <a:spcPct val="80000"/>
              </a:lnSpc>
            </a:pPr>
            <a:r>
              <a:rPr lang="en-US" sz="3518" b="1" dirty="0">
                <a:solidFill>
                  <a:srgbClr val="F97316"/>
                </a:solidFill>
                <a:latin typeface="Noto Sans SC" pitchFamily="34" charset="0"/>
                <a:ea typeface="Noto Sans SC" pitchFamily="34" charset="-122"/>
                <a:cs typeface="Noto Sans SC" pitchFamily="34" charset="-120"/>
              </a:rPr>
              <a:t>2-10 min</a:t>
            </a:r>
            <a:endParaRPr lang="en-US" sz="1600" dirty="0"/>
          </a:p>
        </p:txBody>
      </p:sp>
      <p:sp>
        <p:nvSpPr>
          <p:cNvPr id="22" name="Text 20"/>
          <p:cNvSpPr/>
          <p:nvPr/>
        </p:nvSpPr>
        <p:spPr>
          <a:xfrm>
            <a:off x="4399677" y="2903744"/>
            <a:ext cx="3397008" cy="223365"/>
          </a:xfrm>
          <a:prstGeom prst="rect">
            <a:avLst/>
          </a:prstGeom>
          <a:noFill/>
          <a:ln/>
        </p:spPr>
        <p:txBody>
          <a:bodyPr wrap="square" lIns="0" tIns="0" rIns="0" bIns="0" rtlCol="0" anchor="ctr"/>
          <a:lstStyle/>
          <a:p>
            <a:pPr algn="ctr">
              <a:lnSpc>
                <a:spcPct val="130000"/>
              </a:lnSpc>
            </a:pPr>
            <a:r>
              <a:rPr lang="en-US" sz="1173" dirty="0">
                <a:solidFill>
                  <a:srgbClr val="6B7280"/>
                </a:solidFill>
                <a:latin typeface="MiSans" pitchFamily="34" charset="0"/>
                <a:ea typeface="MiSans" pitchFamily="34" charset="-122"/>
                <a:cs typeface="MiSans" pitchFamily="34" charset="-120"/>
              </a:rPr>
              <a:t>Temps par pièce</a:t>
            </a:r>
            <a:endParaRPr lang="en-US" sz="1600" dirty="0"/>
          </a:p>
        </p:txBody>
      </p:sp>
      <p:sp>
        <p:nvSpPr>
          <p:cNvPr id="23" name="Text 21"/>
          <p:cNvSpPr/>
          <p:nvPr/>
        </p:nvSpPr>
        <p:spPr>
          <a:xfrm>
            <a:off x="4325223" y="3276018"/>
            <a:ext cx="3545918" cy="446730"/>
          </a:xfrm>
          <a:prstGeom prst="rect">
            <a:avLst/>
          </a:prstGeom>
          <a:noFill/>
          <a:ln/>
        </p:spPr>
        <p:txBody>
          <a:bodyPr wrap="square" lIns="0" tIns="0" rIns="0" bIns="0" rtlCol="0" anchor="ctr"/>
          <a:lstStyle/>
          <a:p>
            <a:pPr algn="ctr">
              <a:lnSpc>
                <a:spcPct val="80000"/>
              </a:lnSpc>
            </a:pPr>
            <a:r>
              <a:rPr lang="en-US" sz="3518" b="1" dirty="0">
                <a:solidFill>
                  <a:srgbClr val="F97316"/>
                </a:solidFill>
                <a:latin typeface="Noto Sans SC" pitchFamily="34" charset="0"/>
                <a:ea typeface="Noto Sans SC" pitchFamily="34" charset="-122"/>
                <a:cs typeface="Noto Sans SC" pitchFamily="34" charset="-120"/>
              </a:rPr>
              <a:t>~15%</a:t>
            </a:r>
            <a:endParaRPr lang="en-US" sz="1600" dirty="0"/>
          </a:p>
        </p:txBody>
      </p:sp>
      <p:sp>
        <p:nvSpPr>
          <p:cNvPr id="24" name="Text 22"/>
          <p:cNvSpPr/>
          <p:nvPr/>
        </p:nvSpPr>
        <p:spPr>
          <a:xfrm>
            <a:off x="4399677" y="3759976"/>
            <a:ext cx="3397008" cy="223365"/>
          </a:xfrm>
          <a:prstGeom prst="rect">
            <a:avLst/>
          </a:prstGeom>
          <a:noFill/>
          <a:ln/>
        </p:spPr>
        <p:txBody>
          <a:bodyPr wrap="square" lIns="0" tIns="0" rIns="0" bIns="0" rtlCol="0" anchor="ctr"/>
          <a:lstStyle/>
          <a:p>
            <a:pPr algn="ctr">
              <a:lnSpc>
                <a:spcPct val="130000"/>
              </a:lnSpc>
            </a:pPr>
            <a:r>
              <a:rPr lang="en-US" sz="1173" dirty="0">
                <a:solidFill>
                  <a:srgbClr val="6B7280"/>
                </a:solidFill>
                <a:latin typeface="MiSans" pitchFamily="34" charset="0"/>
                <a:ea typeface="MiSans" pitchFamily="34" charset="-122"/>
                <a:cs typeface="MiSans" pitchFamily="34" charset="-120"/>
              </a:rPr>
              <a:t>Ralentissement production (Quality Magazine)</a:t>
            </a:r>
            <a:endParaRPr lang="en-US" sz="1600" dirty="0"/>
          </a:p>
        </p:txBody>
      </p:sp>
      <p:sp>
        <p:nvSpPr>
          <p:cNvPr id="25" name="Text 23"/>
          <p:cNvSpPr/>
          <p:nvPr/>
        </p:nvSpPr>
        <p:spPr>
          <a:xfrm>
            <a:off x="4325223" y="4132250"/>
            <a:ext cx="3545918" cy="446730"/>
          </a:xfrm>
          <a:prstGeom prst="rect">
            <a:avLst/>
          </a:prstGeom>
          <a:noFill/>
          <a:ln/>
        </p:spPr>
        <p:txBody>
          <a:bodyPr wrap="square" lIns="0" tIns="0" rIns="0" bIns="0" rtlCol="0" anchor="ctr"/>
          <a:lstStyle/>
          <a:p>
            <a:pPr algn="ctr">
              <a:lnSpc>
                <a:spcPct val="80000"/>
              </a:lnSpc>
            </a:pPr>
            <a:r>
              <a:rPr lang="en-US" sz="3518" b="1" dirty="0">
                <a:solidFill>
                  <a:srgbClr val="10B981"/>
                </a:solidFill>
                <a:latin typeface="Noto Sans SC" pitchFamily="34" charset="0"/>
                <a:ea typeface="Noto Sans SC" pitchFamily="34" charset="-122"/>
                <a:cs typeface="Noto Sans SC" pitchFamily="34" charset="-120"/>
              </a:rPr>
              <a:t>-50%</a:t>
            </a:r>
            <a:endParaRPr lang="en-US" sz="1600" dirty="0"/>
          </a:p>
        </p:txBody>
      </p:sp>
      <p:sp>
        <p:nvSpPr>
          <p:cNvPr id="26" name="Text 24"/>
          <p:cNvSpPr/>
          <p:nvPr/>
        </p:nvSpPr>
        <p:spPr>
          <a:xfrm>
            <a:off x="4399677" y="4616208"/>
            <a:ext cx="3397008" cy="223365"/>
          </a:xfrm>
          <a:prstGeom prst="rect">
            <a:avLst/>
          </a:prstGeom>
          <a:noFill/>
          <a:ln/>
        </p:spPr>
        <p:txBody>
          <a:bodyPr wrap="square" lIns="0" tIns="0" rIns="0" bIns="0" rtlCol="0" anchor="ctr"/>
          <a:lstStyle/>
          <a:p>
            <a:pPr algn="ctr">
              <a:lnSpc>
                <a:spcPct val="130000"/>
              </a:lnSpc>
            </a:pPr>
            <a:r>
              <a:rPr lang="en-US" sz="1173" dirty="0">
                <a:solidFill>
                  <a:srgbClr val="6B7280"/>
                </a:solidFill>
                <a:latin typeface="MiSans" pitchFamily="34" charset="0"/>
                <a:ea typeface="MiSans" pitchFamily="34" charset="-122"/>
                <a:cs typeface="MiSans" pitchFamily="34" charset="-120"/>
              </a:rPr>
              <a:t>Temps avec digitalisation (FieldEagle)</a:t>
            </a:r>
            <a:endParaRPr lang="en-US" sz="1600" dirty="0"/>
          </a:p>
        </p:txBody>
      </p:sp>
      <p:sp>
        <p:nvSpPr>
          <p:cNvPr id="27" name="Shape 25"/>
          <p:cNvSpPr/>
          <p:nvPr/>
        </p:nvSpPr>
        <p:spPr>
          <a:xfrm>
            <a:off x="4436905" y="4988482"/>
            <a:ext cx="3322553" cy="372275"/>
          </a:xfrm>
          <a:custGeom>
            <a:avLst/>
            <a:gdLst/>
            <a:ahLst/>
            <a:cxnLst/>
            <a:rect l="l" t="t" r="r" b="b"/>
            <a:pathLst>
              <a:path w="3322553" h="372275">
                <a:moveTo>
                  <a:pt x="186137" y="0"/>
                </a:moveTo>
                <a:lnTo>
                  <a:pt x="3136415" y="0"/>
                </a:lnTo>
                <a:cubicBezTo>
                  <a:pt x="3239216" y="0"/>
                  <a:pt x="3322553" y="83337"/>
                  <a:pt x="3322553" y="186137"/>
                </a:cubicBezTo>
                <a:lnTo>
                  <a:pt x="3322553" y="186137"/>
                </a:lnTo>
                <a:cubicBezTo>
                  <a:pt x="3322553" y="288938"/>
                  <a:pt x="3239216" y="372275"/>
                  <a:pt x="3136415" y="372275"/>
                </a:cubicBezTo>
                <a:lnTo>
                  <a:pt x="186137" y="372275"/>
                </a:lnTo>
                <a:cubicBezTo>
                  <a:pt x="83405" y="372275"/>
                  <a:pt x="0" y="288869"/>
                  <a:pt x="0" y="186137"/>
                </a:cubicBezTo>
                <a:lnTo>
                  <a:pt x="0" y="186137"/>
                </a:lnTo>
                <a:cubicBezTo>
                  <a:pt x="0" y="83405"/>
                  <a:pt x="83405" y="0"/>
                  <a:pt x="186137" y="0"/>
                </a:cubicBezTo>
                <a:close/>
              </a:path>
            </a:pathLst>
          </a:custGeom>
          <a:solidFill>
            <a:srgbClr val="10B981"/>
          </a:solidFill>
          <a:ln/>
        </p:spPr>
      </p:sp>
      <p:sp>
        <p:nvSpPr>
          <p:cNvPr id="28" name="Text 26"/>
          <p:cNvSpPr/>
          <p:nvPr/>
        </p:nvSpPr>
        <p:spPr>
          <a:xfrm>
            <a:off x="5614079" y="5090858"/>
            <a:ext cx="965733" cy="158217"/>
          </a:xfrm>
          <a:prstGeom prst="rect">
            <a:avLst/>
          </a:prstGeom>
          <a:noFill/>
          <a:ln/>
        </p:spPr>
        <p:txBody>
          <a:bodyPr wrap="square" lIns="0" tIns="0" rIns="0" bIns="0" rtlCol="0" anchor="ctr"/>
          <a:lstStyle/>
          <a:p>
            <a:pPr algn="ctr">
              <a:lnSpc>
                <a:spcPct val="130000"/>
              </a:lnSpc>
            </a:pPr>
            <a:r>
              <a:rPr lang="en-US" sz="1173" b="1" dirty="0">
                <a:solidFill>
                  <a:srgbClr val="FFFFFF"/>
                </a:solidFill>
                <a:latin typeface="MiSans" pitchFamily="34" charset="0"/>
                <a:ea typeface="MiSans" pitchFamily="34" charset="-122"/>
                <a:cs typeface="MiSans" pitchFamily="34" charset="-120"/>
              </a:rPr>
              <a:t>VALIDÉE ✅</a:t>
            </a:r>
            <a:endParaRPr lang="en-US" sz="1600" dirty="0"/>
          </a:p>
        </p:txBody>
      </p:sp>
      <p:sp>
        <p:nvSpPr>
          <p:cNvPr id="29" name="Shape 27"/>
          <p:cNvSpPr/>
          <p:nvPr/>
        </p:nvSpPr>
        <p:spPr>
          <a:xfrm>
            <a:off x="8129260" y="1563554"/>
            <a:ext cx="3694827" cy="3983340"/>
          </a:xfrm>
          <a:custGeom>
            <a:avLst/>
            <a:gdLst/>
            <a:ahLst/>
            <a:cxnLst/>
            <a:rect l="l" t="t" r="r" b="b"/>
            <a:pathLst>
              <a:path w="3694827" h="3983340">
                <a:moveTo>
                  <a:pt x="148902" y="0"/>
                </a:moveTo>
                <a:lnTo>
                  <a:pt x="3545926" y="0"/>
                </a:lnTo>
                <a:cubicBezTo>
                  <a:pt x="3628162" y="0"/>
                  <a:pt x="3694827" y="66665"/>
                  <a:pt x="3694827" y="148902"/>
                </a:cubicBezTo>
                <a:lnTo>
                  <a:pt x="3694827" y="3834439"/>
                </a:lnTo>
                <a:cubicBezTo>
                  <a:pt x="3694827" y="3916675"/>
                  <a:pt x="3628162" y="3983340"/>
                  <a:pt x="3545926" y="3983340"/>
                </a:cubicBezTo>
                <a:lnTo>
                  <a:pt x="148902" y="3983340"/>
                </a:lnTo>
                <a:cubicBezTo>
                  <a:pt x="66665" y="3983340"/>
                  <a:pt x="0" y="3916675"/>
                  <a:pt x="0" y="3834439"/>
                </a:cubicBezTo>
                <a:lnTo>
                  <a:pt x="0" y="148902"/>
                </a:lnTo>
                <a:cubicBezTo>
                  <a:pt x="0" y="66721"/>
                  <a:pt x="66721" y="0"/>
                  <a:pt x="148902" y="0"/>
                </a:cubicBezTo>
                <a:close/>
              </a:path>
            </a:pathLst>
          </a:custGeom>
          <a:solidFill>
            <a:srgbClr val="F3F4F6"/>
          </a:solidFill>
          <a:ln/>
        </p:spPr>
      </p:sp>
      <p:sp>
        <p:nvSpPr>
          <p:cNvPr id="30" name="Shape 28"/>
          <p:cNvSpPr/>
          <p:nvPr/>
        </p:nvSpPr>
        <p:spPr>
          <a:xfrm>
            <a:off x="8315398" y="1749692"/>
            <a:ext cx="446730" cy="446730"/>
          </a:xfrm>
          <a:custGeom>
            <a:avLst/>
            <a:gdLst/>
            <a:ahLst/>
            <a:cxnLst/>
            <a:rect l="l" t="t" r="r" b="b"/>
            <a:pathLst>
              <a:path w="446730" h="446730">
                <a:moveTo>
                  <a:pt x="111682" y="0"/>
                </a:moveTo>
                <a:lnTo>
                  <a:pt x="335047" y="0"/>
                </a:lnTo>
                <a:cubicBezTo>
                  <a:pt x="396687" y="0"/>
                  <a:pt x="446730" y="50043"/>
                  <a:pt x="446730" y="111682"/>
                </a:cubicBezTo>
                <a:lnTo>
                  <a:pt x="446730" y="335047"/>
                </a:lnTo>
                <a:cubicBezTo>
                  <a:pt x="446730" y="396687"/>
                  <a:pt x="396687" y="446730"/>
                  <a:pt x="335047" y="446730"/>
                </a:cubicBezTo>
                <a:lnTo>
                  <a:pt x="111682" y="446730"/>
                </a:lnTo>
                <a:cubicBezTo>
                  <a:pt x="50043" y="446730"/>
                  <a:pt x="0" y="396687"/>
                  <a:pt x="0" y="335047"/>
                </a:cubicBezTo>
                <a:lnTo>
                  <a:pt x="0" y="111682"/>
                </a:lnTo>
                <a:cubicBezTo>
                  <a:pt x="0" y="50043"/>
                  <a:pt x="50043" y="0"/>
                  <a:pt x="111682" y="0"/>
                </a:cubicBezTo>
                <a:close/>
              </a:path>
            </a:pathLst>
          </a:custGeom>
          <a:solidFill>
            <a:srgbClr val="10B981"/>
          </a:solidFill>
          <a:ln/>
        </p:spPr>
      </p:sp>
      <p:sp>
        <p:nvSpPr>
          <p:cNvPr id="31" name="Shape 29"/>
          <p:cNvSpPr/>
          <p:nvPr/>
        </p:nvSpPr>
        <p:spPr>
          <a:xfrm>
            <a:off x="8445694" y="1879988"/>
            <a:ext cx="186137" cy="186137"/>
          </a:xfrm>
          <a:custGeom>
            <a:avLst/>
            <a:gdLst/>
            <a:ahLst/>
            <a:cxnLst/>
            <a:rect l="l" t="t" r="r" b="b"/>
            <a:pathLst>
              <a:path w="186137" h="186137">
                <a:moveTo>
                  <a:pt x="93069" y="186137"/>
                </a:moveTo>
                <a:cubicBezTo>
                  <a:pt x="144435" y="186137"/>
                  <a:pt x="186137" y="144435"/>
                  <a:pt x="186137" y="93069"/>
                </a:cubicBezTo>
                <a:cubicBezTo>
                  <a:pt x="186137" y="41703"/>
                  <a:pt x="144435" y="0"/>
                  <a:pt x="93069" y="0"/>
                </a:cubicBezTo>
                <a:cubicBezTo>
                  <a:pt x="41703" y="0"/>
                  <a:pt x="0" y="41703"/>
                  <a:pt x="0" y="93069"/>
                </a:cubicBezTo>
                <a:cubicBezTo>
                  <a:pt x="0" y="144435"/>
                  <a:pt x="41703" y="186137"/>
                  <a:pt x="93069" y="186137"/>
                </a:cubicBezTo>
                <a:close/>
                <a:moveTo>
                  <a:pt x="123752" y="77327"/>
                </a:moveTo>
                <a:lnTo>
                  <a:pt x="94668" y="123861"/>
                </a:lnTo>
                <a:cubicBezTo>
                  <a:pt x="93141" y="126297"/>
                  <a:pt x="90524" y="127824"/>
                  <a:pt x="87652" y="127969"/>
                </a:cubicBezTo>
                <a:cubicBezTo>
                  <a:pt x="84780" y="128115"/>
                  <a:pt x="82017" y="126806"/>
                  <a:pt x="80308" y="124479"/>
                </a:cubicBezTo>
                <a:lnTo>
                  <a:pt x="62858" y="101212"/>
                </a:lnTo>
                <a:cubicBezTo>
                  <a:pt x="59949" y="97359"/>
                  <a:pt x="60749" y="91905"/>
                  <a:pt x="64603" y="88997"/>
                </a:cubicBezTo>
                <a:cubicBezTo>
                  <a:pt x="68456" y="86089"/>
                  <a:pt x="73910" y="86888"/>
                  <a:pt x="76818" y="90742"/>
                </a:cubicBezTo>
                <a:lnTo>
                  <a:pt x="86634" y="103830"/>
                </a:lnTo>
                <a:lnTo>
                  <a:pt x="108956" y="68093"/>
                </a:lnTo>
                <a:cubicBezTo>
                  <a:pt x="111501" y="64021"/>
                  <a:pt x="116881" y="62749"/>
                  <a:pt x="120989" y="65330"/>
                </a:cubicBezTo>
                <a:cubicBezTo>
                  <a:pt x="125097" y="67911"/>
                  <a:pt x="126333" y="73255"/>
                  <a:pt x="123752" y="77363"/>
                </a:cubicBezTo>
                <a:close/>
              </a:path>
            </a:pathLst>
          </a:custGeom>
          <a:solidFill>
            <a:srgbClr val="FFFFFF"/>
          </a:solidFill>
          <a:ln/>
        </p:spPr>
      </p:sp>
      <p:sp>
        <p:nvSpPr>
          <p:cNvPr id="32" name="Text 30"/>
          <p:cNvSpPr/>
          <p:nvPr/>
        </p:nvSpPr>
        <p:spPr>
          <a:xfrm>
            <a:off x="8873810" y="1842760"/>
            <a:ext cx="2261569" cy="260592"/>
          </a:xfrm>
          <a:prstGeom prst="rect">
            <a:avLst/>
          </a:prstGeom>
          <a:noFill/>
          <a:ln/>
        </p:spPr>
        <p:txBody>
          <a:bodyPr wrap="square" lIns="0" tIns="0" rIns="0" bIns="0" rtlCol="0" anchor="ctr"/>
          <a:lstStyle/>
          <a:p>
            <a:pPr>
              <a:lnSpc>
                <a:spcPct val="130000"/>
              </a:lnSpc>
            </a:pPr>
            <a:r>
              <a:rPr lang="en-US" sz="1319" b="1" dirty="0">
                <a:solidFill>
                  <a:srgbClr val="1E3A8A"/>
                </a:solidFill>
                <a:latin typeface="MiSans" pitchFamily="34" charset="0"/>
                <a:ea typeface="MiSans" pitchFamily="34" charset="-122"/>
                <a:cs typeface="MiSans" pitchFamily="34" charset="-120"/>
              </a:rPr>
              <a:t>H3 : Non-qualité coûte cher</a:t>
            </a:r>
            <a:endParaRPr lang="en-US" sz="1600" dirty="0"/>
          </a:p>
        </p:txBody>
      </p:sp>
      <p:sp>
        <p:nvSpPr>
          <p:cNvPr id="33" name="Text 31"/>
          <p:cNvSpPr/>
          <p:nvPr/>
        </p:nvSpPr>
        <p:spPr>
          <a:xfrm>
            <a:off x="8203715" y="2345331"/>
            <a:ext cx="3545918" cy="446730"/>
          </a:xfrm>
          <a:prstGeom prst="rect">
            <a:avLst/>
          </a:prstGeom>
          <a:noFill/>
          <a:ln/>
        </p:spPr>
        <p:txBody>
          <a:bodyPr wrap="square" lIns="0" tIns="0" rIns="0" bIns="0" rtlCol="0" anchor="ctr"/>
          <a:lstStyle/>
          <a:p>
            <a:pPr algn="ctr">
              <a:lnSpc>
                <a:spcPct val="80000"/>
              </a:lnSpc>
            </a:pPr>
            <a:r>
              <a:rPr lang="en-US" sz="3518" b="1" dirty="0">
                <a:solidFill>
                  <a:srgbClr val="F97316"/>
                </a:solidFill>
                <a:latin typeface="Noto Sans SC" pitchFamily="34" charset="0"/>
                <a:ea typeface="Noto Sans SC" pitchFamily="34" charset="-122"/>
                <a:cs typeface="Noto Sans SC" pitchFamily="34" charset="-120"/>
              </a:rPr>
              <a:t>8-15%</a:t>
            </a:r>
            <a:endParaRPr lang="en-US" sz="1600" dirty="0"/>
          </a:p>
        </p:txBody>
      </p:sp>
      <p:sp>
        <p:nvSpPr>
          <p:cNvPr id="34" name="Text 32"/>
          <p:cNvSpPr/>
          <p:nvPr/>
        </p:nvSpPr>
        <p:spPr>
          <a:xfrm>
            <a:off x="8278170" y="2829289"/>
            <a:ext cx="3397008" cy="223365"/>
          </a:xfrm>
          <a:prstGeom prst="rect">
            <a:avLst/>
          </a:prstGeom>
          <a:noFill/>
          <a:ln/>
        </p:spPr>
        <p:txBody>
          <a:bodyPr wrap="square" lIns="0" tIns="0" rIns="0" bIns="0" rtlCol="0" anchor="ctr"/>
          <a:lstStyle/>
          <a:p>
            <a:pPr algn="ctr">
              <a:lnSpc>
                <a:spcPct val="130000"/>
              </a:lnSpc>
            </a:pPr>
            <a:r>
              <a:rPr lang="en-US" sz="1173" dirty="0">
                <a:solidFill>
                  <a:srgbClr val="6B7280"/>
                </a:solidFill>
                <a:latin typeface="MiSans" pitchFamily="34" charset="0"/>
                <a:ea typeface="MiSans" pitchFamily="34" charset="-122"/>
                <a:cs typeface="MiSans" pitchFamily="34" charset="-120"/>
              </a:rPr>
              <a:t>COPQ aéro (ASQ)</a:t>
            </a:r>
            <a:endParaRPr lang="en-US" sz="1600" dirty="0"/>
          </a:p>
        </p:txBody>
      </p:sp>
      <p:sp>
        <p:nvSpPr>
          <p:cNvPr id="35" name="Text 33"/>
          <p:cNvSpPr/>
          <p:nvPr/>
        </p:nvSpPr>
        <p:spPr>
          <a:xfrm>
            <a:off x="8245596" y="3201563"/>
            <a:ext cx="3462156" cy="335047"/>
          </a:xfrm>
          <a:prstGeom prst="rect">
            <a:avLst/>
          </a:prstGeom>
          <a:noFill/>
          <a:ln/>
        </p:spPr>
        <p:txBody>
          <a:bodyPr wrap="square" lIns="0" tIns="0" rIns="0" bIns="0" rtlCol="0" anchor="ctr"/>
          <a:lstStyle/>
          <a:p>
            <a:pPr algn="ctr">
              <a:lnSpc>
                <a:spcPct val="100000"/>
              </a:lnSpc>
            </a:pPr>
            <a:r>
              <a:rPr lang="en-US" sz="2198" b="1" dirty="0">
                <a:solidFill>
                  <a:srgbClr val="1E3A8A"/>
                </a:solidFill>
                <a:latin typeface="Noto Sans SC" pitchFamily="34" charset="0"/>
                <a:ea typeface="Noto Sans SC" pitchFamily="34" charset="-122"/>
                <a:cs typeface="Noto Sans SC" pitchFamily="34" charset="-120"/>
              </a:rPr>
              <a:t>880K€ - 1,65M€</a:t>
            </a:r>
            <a:endParaRPr lang="en-US" sz="1600" dirty="0"/>
          </a:p>
        </p:txBody>
      </p:sp>
      <p:sp>
        <p:nvSpPr>
          <p:cNvPr id="36" name="Text 34"/>
          <p:cNvSpPr/>
          <p:nvPr/>
        </p:nvSpPr>
        <p:spPr>
          <a:xfrm>
            <a:off x="8278170" y="3573838"/>
            <a:ext cx="3397008" cy="223365"/>
          </a:xfrm>
          <a:prstGeom prst="rect">
            <a:avLst/>
          </a:prstGeom>
          <a:noFill/>
          <a:ln/>
        </p:spPr>
        <p:txBody>
          <a:bodyPr wrap="square" lIns="0" tIns="0" rIns="0" bIns="0" rtlCol="0" anchor="ctr"/>
          <a:lstStyle/>
          <a:p>
            <a:pPr algn="ctr">
              <a:lnSpc>
                <a:spcPct val="130000"/>
              </a:lnSpc>
            </a:pPr>
            <a:r>
              <a:rPr lang="en-US" sz="1173" dirty="0">
                <a:solidFill>
                  <a:srgbClr val="6B7280"/>
                </a:solidFill>
                <a:latin typeface="MiSans" pitchFamily="34" charset="0"/>
                <a:ea typeface="MiSans" pitchFamily="34" charset="-122"/>
                <a:cs typeface="MiSans" pitchFamily="34" charset="-120"/>
              </a:rPr>
              <a:t>Fidémeca / an</a:t>
            </a:r>
            <a:endParaRPr lang="en-US" sz="1600" dirty="0"/>
          </a:p>
        </p:txBody>
      </p:sp>
      <p:sp>
        <p:nvSpPr>
          <p:cNvPr id="37" name="Text 35"/>
          <p:cNvSpPr/>
          <p:nvPr/>
        </p:nvSpPr>
        <p:spPr>
          <a:xfrm>
            <a:off x="8203715" y="3946113"/>
            <a:ext cx="3545918" cy="446730"/>
          </a:xfrm>
          <a:prstGeom prst="rect">
            <a:avLst/>
          </a:prstGeom>
          <a:noFill/>
          <a:ln/>
        </p:spPr>
        <p:txBody>
          <a:bodyPr wrap="square" lIns="0" tIns="0" rIns="0" bIns="0" rtlCol="0" anchor="ctr"/>
          <a:lstStyle/>
          <a:p>
            <a:pPr algn="ctr">
              <a:lnSpc>
                <a:spcPct val="80000"/>
              </a:lnSpc>
            </a:pPr>
            <a:r>
              <a:rPr lang="en-US" sz="3518" b="1" dirty="0">
                <a:solidFill>
                  <a:srgbClr val="10B981"/>
                </a:solidFill>
                <a:latin typeface="Noto Sans SC" pitchFamily="34" charset="0"/>
                <a:ea typeface="Noto Sans SC" pitchFamily="34" charset="-122"/>
                <a:cs typeface="Noto Sans SC" pitchFamily="34" charset="-120"/>
              </a:rPr>
              <a:t>~100-330K€</a:t>
            </a:r>
            <a:endParaRPr lang="en-US" sz="1600" dirty="0"/>
          </a:p>
        </p:txBody>
      </p:sp>
      <p:sp>
        <p:nvSpPr>
          <p:cNvPr id="38" name="Text 36"/>
          <p:cNvSpPr/>
          <p:nvPr/>
        </p:nvSpPr>
        <p:spPr>
          <a:xfrm>
            <a:off x="8278170" y="4430070"/>
            <a:ext cx="3397008" cy="223365"/>
          </a:xfrm>
          <a:prstGeom prst="rect">
            <a:avLst/>
          </a:prstGeom>
          <a:noFill/>
          <a:ln/>
        </p:spPr>
        <p:txBody>
          <a:bodyPr wrap="square" lIns="0" tIns="0" rIns="0" bIns="0" rtlCol="0" anchor="ctr"/>
          <a:lstStyle/>
          <a:p>
            <a:pPr algn="ctr">
              <a:lnSpc>
                <a:spcPct val="130000"/>
              </a:lnSpc>
            </a:pPr>
            <a:r>
              <a:rPr lang="en-US" sz="1173" dirty="0">
                <a:solidFill>
                  <a:srgbClr val="6B7280"/>
                </a:solidFill>
                <a:latin typeface="MiSans" pitchFamily="34" charset="0"/>
                <a:ea typeface="MiSans" pitchFamily="34" charset="-122"/>
                <a:cs typeface="MiSans" pitchFamily="34" charset="-120"/>
              </a:rPr>
              <a:t>Réduction visée / an</a:t>
            </a:r>
            <a:endParaRPr lang="en-US" sz="1600" dirty="0"/>
          </a:p>
        </p:txBody>
      </p:sp>
      <p:sp>
        <p:nvSpPr>
          <p:cNvPr id="39" name="Shape 37"/>
          <p:cNvSpPr/>
          <p:nvPr/>
        </p:nvSpPr>
        <p:spPr>
          <a:xfrm>
            <a:off x="8315398" y="4988482"/>
            <a:ext cx="3322553" cy="372275"/>
          </a:xfrm>
          <a:custGeom>
            <a:avLst/>
            <a:gdLst/>
            <a:ahLst/>
            <a:cxnLst/>
            <a:rect l="l" t="t" r="r" b="b"/>
            <a:pathLst>
              <a:path w="3322553" h="372275">
                <a:moveTo>
                  <a:pt x="186137" y="0"/>
                </a:moveTo>
                <a:lnTo>
                  <a:pt x="3136415" y="0"/>
                </a:lnTo>
                <a:cubicBezTo>
                  <a:pt x="3239216" y="0"/>
                  <a:pt x="3322553" y="83337"/>
                  <a:pt x="3322553" y="186137"/>
                </a:cubicBezTo>
                <a:lnTo>
                  <a:pt x="3322553" y="186137"/>
                </a:lnTo>
                <a:cubicBezTo>
                  <a:pt x="3322553" y="288938"/>
                  <a:pt x="3239216" y="372275"/>
                  <a:pt x="3136415" y="372275"/>
                </a:cubicBezTo>
                <a:lnTo>
                  <a:pt x="186137" y="372275"/>
                </a:lnTo>
                <a:cubicBezTo>
                  <a:pt x="83405" y="372275"/>
                  <a:pt x="0" y="288869"/>
                  <a:pt x="0" y="186137"/>
                </a:cubicBezTo>
                <a:lnTo>
                  <a:pt x="0" y="186137"/>
                </a:lnTo>
                <a:cubicBezTo>
                  <a:pt x="0" y="83405"/>
                  <a:pt x="83405" y="0"/>
                  <a:pt x="186137" y="0"/>
                </a:cubicBezTo>
                <a:close/>
              </a:path>
            </a:pathLst>
          </a:custGeom>
          <a:solidFill>
            <a:srgbClr val="10B981"/>
          </a:solidFill>
          <a:ln/>
        </p:spPr>
      </p:sp>
      <p:sp>
        <p:nvSpPr>
          <p:cNvPr id="40" name="Text 38"/>
          <p:cNvSpPr/>
          <p:nvPr/>
        </p:nvSpPr>
        <p:spPr>
          <a:xfrm>
            <a:off x="9492571" y="5090858"/>
            <a:ext cx="965733" cy="158217"/>
          </a:xfrm>
          <a:prstGeom prst="rect">
            <a:avLst/>
          </a:prstGeom>
          <a:noFill/>
          <a:ln/>
        </p:spPr>
        <p:txBody>
          <a:bodyPr wrap="square" lIns="0" tIns="0" rIns="0" bIns="0" rtlCol="0" anchor="ctr"/>
          <a:lstStyle/>
          <a:p>
            <a:pPr algn="ctr">
              <a:lnSpc>
                <a:spcPct val="130000"/>
              </a:lnSpc>
            </a:pPr>
            <a:r>
              <a:rPr lang="en-US" sz="1173" b="1" dirty="0">
                <a:solidFill>
                  <a:srgbClr val="FFFFFF"/>
                </a:solidFill>
                <a:latin typeface="MiSans" pitchFamily="34" charset="0"/>
                <a:ea typeface="MiSans" pitchFamily="34" charset="-122"/>
                <a:cs typeface="MiSans" pitchFamily="34" charset="-120"/>
              </a:rPr>
              <a:t>VALIDÉE ✅</a:t>
            </a:r>
            <a:endParaRPr lang="en-US" sz="1600" dirty="0"/>
          </a:p>
        </p:txBody>
      </p:sp>
      <p:sp>
        <p:nvSpPr>
          <p:cNvPr id="41" name="Shape 39"/>
          <p:cNvSpPr/>
          <p:nvPr/>
        </p:nvSpPr>
        <p:spPr>
          <a:xfrm>
            <a:off x="372275" y="5733032"/>
            <a:ext cx="11447450" cy="753856"/>
          </a:xfrm>
          <a:custGeom>
            <a:avLst/>
            <a:gdLst/>
            <a:ahLst/>
            <a:cxnLst/>
            <a:rect l="l" t="t" r="r" b="b"/>
            <a:pathLst>
              <a:path w="11447450" h="753856">
                <a:moveTo>
                  <a:pt x="148909" y="0"/>
                </a:moveTo>
                <a:lnTo>
                  <a:pt x="11298541" y="0"/>
                </a:lnTo>
                <a:cubicBezTo>
                  <a:pt x="11380726" y="0"/>
                  <a:pt x="11447450" y="66724"/>
                  <a:pt x="11447450" y="148909"/>
                </a:cubicBezTo>
                <a:lnTo>
                  <a:pt x="11447450" y="604947"/>
                </a:lnTo>
                <a:cubicBezTo>
                  <a:pt x="11447450" y="687132"/>
                  <a:pt x="11380726" y="753856"/>
                  <a:pt x="11298541" y="753856"/>
                </a:cubicBezTo>
                <a:lnTo>
                  <a:pt x="148909" y="753856"/>
                </a:lnTo>
                <a:cubicBezTo>
                  <a:pt x="66724" y="753856"/>
                  <a:pt x="0" y="687132"/>
                  <a:pt x="0" y="604947"/>
                </a:cubicBezTo>
                <a:lnTo>
                  <a:pt x="0" y="148909"/>
                </a:lnTo>
                <a:cubicBezTo>
                  <a:pt x="0" y="66724"/>
                  <a:pt x="66724" y="0"/>
                  <a:pt x="148909" y="0"/>
                </a:cubicBezTo>
                <a:close/>
              </a:path>
            </a:pathLst>
          </a:custGeom>
          <a:solidFill>
            <a:srgbClr val="1E3A8A"/>
          </a:solidFill>
          <a:ln/>
        </p:spPr>
      </p:sp>
      <p:sp>
        <p:nvSpPr>
          <p:cNvPr id="42" name="Shape 40"/>
          <p:cNvSpPr/>
          <p:nvPr/>
        </p:nvSpPr>
        <p:spPr>
          <a:xfrm>
            <a:off x="667768" y="5968031"/>
            <a:ext cx="209405" cy="279206"/>
          </a:xfrm>
          <a:custGeom>
            <a:avLst/>
            <a:gdLst/>
            <a:ahLst/>
            <a:cxnLst/>
            <a:rect l="l" t="t" r="r" b="b"/>
            <a:pathLst>
              <a:path w="209405" h="279206">
                <a:moveTo>
                  <a:pt x="159726" y="209405"/>
                </a:moveTo>
                <a:cubicBezTo>
                  <a:pt x="163706" y="197244"/>
                  <a:pt x="171668" y="186228"/>
                  <a:pt x="180666" y="176740"/>
                </a:cubicBezTo>
                <a:cubicBezTo>
                  <a:pt x="198498" y="157980"/>
                  <a:pt x="209405" y="132623"/>
                  <a:pt x="209405" y="104702"/>
                </a:cubicBezTo>
                <a:cubicBezTo>
                  <a:pt x="209405" y="46898"/>
                  <a:pt x="162507" y="0"/>
                  <a:pt x="104702" y="0"/>
                </a:cubicBezTo>
                <a:cubicBezTo>
                  <a:pt x="46898" y="0"/>
                  <a:pt x="0" y="46898"/>
                  <a:pt x="0" y="104702"/>
                </a:cubicBezTo>
                <a:cubicBezTo>
                  <a:pt x="0" y="132623"/>
                  <a:pt x="10906" y="157980"/>
                  <a:pt x="28739" y="176740"/>
                </a:cubicBezTo>
                <a:cubicBezTo>
                  <a:pt x="37736" y="186228"/>
                  <a:pt x="45753" y="197244"/>
                  <a:pt x="49679" y="209405"/>
                </a:cubicBezTo>
                <a:lnTo>
                  <a:pt x="159671" y="209405"/>
                </a:lnTo>
                <a:close/>
                <a:moveTo>
                  <a:pt x="157053" y="235580"/>
                </a:moveTo>
                <a:lnTo>
                  <a:pt x="52351" y="235580"/>
                </a:lnTo>
                <a:lnTo>
                  <a:pt x="52351" y="244305"/>
                </a:lnTo>
                <a:cubicBezTo>
                  <a:pt x="52351" y="268409"/>
                  <a:pt x="71874" y="287931"/>
                  <a:pt x="95977" y="287931"/>
                </a:cubicBezTo>
                <a:lnTo>
                  <a:pt x="113427" y="287931"/>
                </a:lnTo>
                <a:cubicBezTo>
                  <a:pt x="137531" y="287931"/>
                  <a:pt x="157053" y="268409"/>
                  <a:pt x="157053" y="244305"/>
                </a:cubicBezTo>
                <a:lnTo>
                  <a:pt x="157053" y="235580"/>
                </a:lnTo>
                <a:close/>
                <a:moveTo>
                  <a:pt x="100340" y="61076"/>
                </a:moveTo>
                <a:cubicBezTo>
                  <a:pt x="78636" y="61076"/>
                  <a:pt x="61076" y="78636"/>
                  <a:pt x="61076" y="100340"/>
                </a:cubicBezTo>
                <a:cubicBezTo>
                  <a:pt x="61076" y="107593"/>
                  <a:pt x="55241" y="113427"/>
                  <a:pt x="47989" y="113427"/>
                </a:cubicBezTo>
                <a:cubicBezTo>
                  <a:pt x="40736" y="113427"/>
                  <a:pt x="34901" y="107593"/>
                  <a:pt x="34901" y="100340"/>
                </a:cubicBezTo>
                <a:cubicBezTo>
                  <a:pt x="34901" y="64185"/>
                  <a:pt x="64185" y="34901"/>
                  <a:pt x="100340" y="34901"/>
                </a:cubicBezTo>
                <a:cubicBezTo>
                  <a:pt x="107593" y="34901"/>
                  <a:pt x="113427" y="40736"/>
                  <a:pt x="113427" y="47989"/>
                </a:cubicBezTo>
                <a:cubicBezTo>
                  <a:pt x="113427" y="55241"/>
                  <a:pt x="107593" y="61076"/>
                  <a:pt x="100340" y="61076"/>
                </a:cubicBezTo>
                <a:close/>
              </a:path>
            </a:pathLst>
          </a:custGeom>
          <a:solidFill>
            <a:srgbClr val="FFFFFF"/>
          </a:solidFill>
          <a:ln/>
        </p:spPr>
      </p:sp>
      <p:sp>
        <p:nvSpPr>
          <p:cNvPr id="43" name="Text 41"/>
          <p:cNvSpPr/>
          <p:nvPr/>
        </p:nvSpPr>
        <p:spPr>
          <a:xfrm>
            <a:off x="1093557" y="5956397"/>
            <a:ext cx="10600525" cy="307127"/>
          </a:xfrm>
          <a:prstGeom prst="rect">
            <a:avLst/>
          </a:prstGeom>
          <a:noFill/>
          <a:ln/>
        </p:spPr>
        <p:txBody>
          <a:bodyPr wrap="square" lIns="0" tIns="0" rIns="0" bIns="0" rtlCol="0" anchor="ctr"/>
          <a:lstStyle/>
          <a:p>
            <a:pPr>
              <a:lnSpc>
                <a:spcPct val="140000"/>
              </a:lnSpc>
            </a:pPr>
            <a:r>
              <a:rPr lang="en-US" sz="1466" b="1" dirty="0">
                <a:solidFill>
                  <a:srgbClr val="FFFFFF"/>
                </a:solidFill>
                <a:latin typeface="Noto Sans SC" pitchFamily="34" charset="0"/>
                <a:ea typeface="Noto Sans SC" pitchFamily="34" charset="-122"/>
                <a:cs typeface="Noto Sans SC" pitchFamily="34" charset="-120"/>
              </a:rPr>
              <a:t>P1 est le problème le plus coûteux et transverse.</a:t>
            </a:r>
            <a:r>
              <a:rPr lang="en-US" sz="1466" dirty="0">
                <a:solidFill>
                  <a:srgbClr val="FFFFFF"/>
                </a:solidFill>
                <a:latin typeface="Noto Sans SC" pitchFamily="34" charset="0"/>
                <a:ea typeface="Noto Sans SC" pitchFamily="34" charset="-122"/>
                <a:cs typeface="Noto Sans SC" pitchFamily="34" charset="-120"/>
              </a:rPr>
              <a:t> Les 3 hypothèses sont validées. </a:t>
            </a:r>
            <a:r>
              <a:rPr lang="en-US" sz="1466" b="1" dirty="0">
                <a:solidFill>
                  <a:srgbClr val="FFFFFF"/>
                </a:solidFill>
                <a:highlight>
                  <a:srgbClr val="FFFFFF">
                    <a:alpha val="20000"/>
                  </a:srgbClr>
                </a:highlight>
                <a:latin typeface="Noto Sans SC" pitchFamily="34" charset="0"/>
                <a:ea typeface="Noto Sans SC" pitchFamily="34" charset="-122"/>
                <a:cs typeface="Noto Sans SC" pitchFamily="34" charset="-120"/>
              </a:rPr>
              <a:t>Le contrôle visuel = levier n°1</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41274" y="204764"/>
            <a:ext cx="1928196" cy="307146"/>
          </a:xfrm>
          <a:custGeom>
            <a:avLst/>
            <a:gdLst/>
            <a:ahLst/>
            <a:cxnLst/>
            <a:rect l="l" t="t" r="r" b="b"/>
            <a:pathLst>
              <a:path w="1928196" h="307146">
                <a:moveTo>
                  <a:pt x="153573" y="0"/>
                </a:moveTo>
                <a:lnTo>
                  <a:pt x="1774623" y="0"/>
                </a:lnTo>
                <a:cubicBezTo>
                  <a:pt x="1859439" y="0"/>
                  <a:pt x="1928196" y="68757"/>
                  <a:pt x="1928196" y="153573"/>
                </a:cubicBezTo>
                <a:lnTo>
                  <a:pt x="1928196" y="153573"/>
                </a:lnTo>
                <a:cubicBezTo>
                  <a:pt x="1928196" y="238389"/>
                  <a:pt x="1859439" y="307146"/>
                  <a:pt x="1774623" y="307146"/>
                </a:cubicBezTo>
                <a:lnTo>
                  <a:pt x="153573" y="307146"/>
                </a:lnTo>
                <a:cubicBezTo>
                  <a:pt x="68757" y="307146"/>
                  <a:pt x="0" y="238389"/>
                  <a:pt x="0" y="153573"/>
                </a:cubicBezTo>
                <a:lnTo>
                  <a:pt x="0" y="153573"/>
                </a:lnTo>
                <a:cubicBezTo>
                  <a:pt x="0" y="68757"/>
                  <a:pt x="68757" y="0"/>
                  <a:pt x="153573" y="0"/>
                </a:cubicBezTo>
                <a:close/>
              </a:path>
            </a:pathLst>
          </a:custGeom>
          <a:solidFill>
            <a:srgbClr val="3B82F6"/>
          </a:solidFill>
          <a:ln/>
        </p:spPr>
      </p:sp>
      <p:sp>
        <p:nvSpPr>
          <p:cNvPr id="3" name="Text 1"/>
          <p:cNvSpPr/>
          <p:nvPr/>
        </p:nvSpPr>
        <p:spPr>
          <a:xfrm>
            <a:off x="477783" y="273019"/>
            <a:ext cx="1714900" cy="170637"/>
          </a:xfrm>
          <a:prstGeom prst="rect">
            <a:avLst/>
          </a:prstGeom>
          <a:noFill/>
          <a:ln/>
        </p:spPr>
        <p:txBody>
          <a:bodyPr wrap="square" lIns="0" tIns="0" rIns="0" bIns="0" rtlCol="0" anchor="ctr"/>
          <a:lstStyle/>
          <a:p>
            <a:pPr>
              <a:lnSpc>
                <a:spcPct val="120000"/>
              </a:lnSpc>
            </a:pPr>
            <a:r>
              <a:rPr lang="en-US" sz="941" b="1" kern="0" spc="24" dirty="0">
                <a:solidFill>
                  <a:srgbClr val="FFFFFF"/>
                </a:solidFill>
                <a:latin typeface="MiSans" pitchFamily="34" charset="0"/>
                <a:ea typeface="MiSans" pitchFamily="34" charset="-122"/>
                <a:cs typeface="MiSans" pitchFamily="34" charset="-120"/>
              </a:rPr>
              <a:t>DISCOVERY - BENCHMARK</a:t>
            </a:r>
            <a:endParaRPr lang="en-US" sz="1600" dirty="0"/>
          </a:p>
        </p:txBody>
      </p:sp>
      <p:sp>
        <p:nvSpPr>
          <p:cNvPr id="4" name="Text 2"/>
          <p:cNvSpPr/>
          <p:nvPr/>
        </p:nvSpPr>
        <p:spPr>
          <a:xfrm>
            <a:off x="341274" y="887311"/>
            <a:ext cx="11663026" cy="341274"/>
          </a:xfrm>
          <a:prstGeom prst="rect">
            <a:avLst/>
          </a:prstGeom>
          <a:noFill/>
          <a:ln/>
        </p:spPr>
        <p:txBody>
          <a:bodyPr wrap="square" lIns="0" tIns="0" rIns="0" bIns="0" rtlCol="0" anchor="ctr"/>
          <a:lstStyle/>
          <a:p>
            <a:pPr>
              <a:lnSpc>
                <a:spcPct val="90000"/>
              </a:lnSpc>
            </a:pPr>
            <a:r>
              <a:rPr lang="en-US" sz="2418" b="1" dirty="0">
                <a:solidFill>
                  <a:srgbClr val="1E3A8A"/>
                </a:solidFill>
                <a:latin typeface="Noto Sans SC" pitchFamily="34" charset="0"/>
                <a:ea typeface="Noto Sans SC" pitchFamily="34" charset="-122"/>
                <a:cs typeface="Noto Sans SC" pitchFamily="34" charset="-120"/>
              </a:rPr>
              <a:t>Veille Technologique / Benchmark</a:t>
            </a:r>
            <a:endParaRPr lang="en-US" sz="1600" dirty="0"/>
          </a:p>
        </p:txBody>
      </p:sp>
      <p:sp>
        <p:nvSpPr>
          <p:cNvPr id="5" name="Shape 3"/>
          <p:cNvSpPr/>
          <p:nvPr/>
        </p:nvSpPr>
        <p:spPr>
          <a:xfrm>
            <a:off x="341274" y="1433349"/>
            <a:ext cx="5622483" cy="614293"/>
          </a:xfrm>
          <a:custGeom>
            <a:avLst/>
            <a:gdLst/>
            <a:ahLst/>
            <a:cxnLst/>
            <a:rect l="l" t="t" r="r" b="b"/>
            <a:pathLst>
              <a:path w="5622483" h="614293">
                <a:moveTo>
                  <a:pt x="136508" y="0"/>
                </a:moveTo>
                <a:lnTo>
                  <a:pt x="5485975" y="0"/>
                </a:lnTo>
                <a:cubicBezTo>
                  <a:pt x="5561366" y="0"/>
                  <a:pt x="5622483" y="61117"/>
                  <a:pt x="5622483" y="136508"/>
                </a:cubicBezTo>
                <a:lnTo>
                  <a:pt x="5622483" y="477784"/>
                </a:lnTo>
                <a:cubicBezTo>
                  <a:pt x="5622483" y="553176"/>
                  <a:pt x="5561366" y="614293"/>
                  <a:pt x="5485975" y="614293"/>
                </a:cubicBezTo>
                <a:lnTo>
                  <a:pt x="136508" y="614293"/>
                </a:lnTo>
                <a:cubicBezTo>
                  <a:pt x="61117" y="614293"/>
                  <a:pt x="0" y="553176"/>
                  <a:pt x="0" y="477784"/>
                </a:cubicBezTo>
                <a:lnTo>
                  <a:pt x="0" y="136508"/>
                </a:lnTo>
                <a:cubicBezTo>
                  <a:pt x="0" y="61117"/>
                  <a:pt x="61117" y="0"/>
                  <a:pt x="136508" y="0"/>
                </a:cubicBezTo>
                <a:close/>
              </a:path>
            </a:pathLst>
          </a:custGeom>
          <a:solidFill>
            <a:srgbClr val="3B82F6"/>
          </a:solidFill>
          <a:ln/>
        </p:spPr>
      </p:sp>
      <p:sp>
        <p:nvSpPr>
          <p:cNvPr id="6" name="Shape 4"/>
          <p:cNvSpPr/>
          <p:nvPr/>
        </p:nvSpPr>
        <p:spPr>
          <a:xfrm>
            <a:off x="537506" y="1638113"/>
            <a:ext cx="204764" cy="204764"/>
          </a:xfrm>
          <a:custGeom>
            <a:avLst/>
            <a:gdLst/>
            <a:ahLst/>
            <a:cxnLst/>
            <a:rect l="l" t="t" r="r" b="b"/>
            <a:pathLst>
              <a:path w="204764" h="204764">
                <a:moveTo>
                  <a:pt x="92984" y="2080"/>
                </a:moveTo>
                <a:cubicBezTo>
                  <a:pt x="98943" y="-680"/>
                  <a:pt x="105821" y="-680"/>
                  <a:pt x="111780" y="2080"/>
                </a:cubicBezTo>
                <a:lnTo>
                  <a:pt x="199205" y="42473"/>
                </a:lnTo>
                <a:cubicBezTo>
                  <a:pt x="202605" y="44032"/>
                  <a:pt x="204764" y="47432"/>
                  <a:pt x="204764" y="51191"/>
                </a:cubicBezTo>
                <a:cubicBezTo>
                  <a:pt x="204764" y="54950"/>
                  <a:pt x="202605" y="58350"/>
                  <a:pt x="199205" y="59910"/>
                </a:cubicBezTo>
                <a:lnTo>
                  <a:pt x="111780" y="100302"/>
                </a:lnTo>
                <a:cubicBezTo>
                  <a:pt x="105821" y="103062"/>
                  <a:pt x="98943" y="103062"/>
                  <a:pt x="92984" y="100302"/>
                </a:cubicBezTo>
                <a:lnTo>
                  <a:pt x="5559" y="59910"/>
                </a:lnTo>
                <a:cubicBezTo>
                  <a:pt x="2160" y="58310"/>
                  <a:pt x="0" y="54910"/>
                  <a:pt x="0" y="51191"/>
                </a:cubicBezTo>
                <a:cubicBezTo>
                  <a:pt x="0" y="47472"/>
                  <a:pt x="2160" y="44032"/>
                  <a:pt x="5559" y="42473"/>
                </a:cubicBezTo>
                <a:lnTo>
                  <a:pt x="92984" y="2080"/>
                </a:lnTo>
                <a:close/>
                <a:moveTo>
                  <a:pt x="19237" y="87345"/>
                </a:moveTo>
                <a:lnTo>
                  <a:pt x="84945" y="117699"/>
                </a:lnTo>
                <a:cubicBezTo>
                  <a:pt x="96023" y="122819"/>
                  <a:pt x="108781" y="122819"/>
                  <a:pt x="119859" y="117699"/>
                </a:cubicBezTo>
                <a:lnTo>
                  <a:pt x="185568" y="87345"/>
                </a:lnTo>
                <a:lnTo>
                  <a:pt x="199205" y="93664"/>
                </a:lnTo>
                <a:cubicBezTo>
                  <a:pt x="202605" y="95223"/>
                  <a:pt x="204764" y="98623"/>
                  <a:pt x="204764" y="102382"/>
                </a:cubicBezTo>
                <a:cubicBezTo>
                  <a:pt x="204764" y="106141"/>
                  <a:pt x="202605" y="109541"/>
                  <a:pt x="199205" y="111101"/>
                </a:cubicBezTo>
                <a:lnTo>
                  <a:pt x="111780" y="151493"/>
                </a:lnTo>
                <a:cubicBezTo>
                  <a:pt x="105821" y="154253"/>
                  <a:pt x="98943" y="154253"/>
                  <a:pt x="92984" y="151493"/>
                </a:cubicBezTo>
                <a:lnTo>
                  <a:pt x="5559" y="111101"/>
                </a:lnTo>
                <a:cubicBezTo>
                  <a:pt x="2160" y="109501"/>
                  <a:pt x="0" y="106101"/>
                  <a:pt x="0" y="102382"/>
                </a:cubicBezTo>
                <a:cubicBezTo>
                  <a:pt x="0" y="98663"/>
                  <a:pt x="2160" y="95223"/>
                  <a:pt x="5559" y="93664"/>
                </a:cubicBezTo>
                <a:lnTo>
                  <a:pt x="19197" y="87345"/>
                </a:lnTo>
                <a:close/>
                <a:moveTo>
                  <a:pt x="5559" y="144855"/>
                </a:moveTo>
                <a:lnTo>
                  <a:pt x="19197" y="138536"/>
                </a:lnTo>
                <a:lnTo>
                  <a:pt x="84905" y="168890"/>
                </a:lnTo>
                <a:cubicBezTo>
                  <a:pt x="95983" y="174010"/>
                  <a:pt x="108741" y="174010"/>
                  <a:pt x="119819" y="168890"/>
                </a:cubicBezTo>
                <a:lnTo>
                  <a:pt x="185528" y="138536"/>
                </a:lnTo>
                <a:lnTo>
                  <a:pt x="199165" y="144855"/>
                </a:lnTo>
                <a:cubicBezTo>
                  <a:pt x="202565" y="146414"/>
                  <a:pt x="204724" y="149814"/>
                  <a:pt x="204724" y="153573"/>
                </a:cubicBezTo>
                <a:cubicBezTo>
                  <a:pt x="204724" y="157332"/>
                  <a:pt x="202565" y="160732"/>
                  <a:pt x="199165" y="162292"/>
                </a:cubicBezTo>
                <a:lnTo>
                  <a:pt x="111740" y="202685"/>
                </a:lnTo>
                <a:cubicBezTo>
                  <a:pt x="105781" y="205444"/>
                  <a:pt x="98903" y="205444"/>
                  <a:pt x="92944" y="202685"/>
                </a:cubicBezTo>
                <a:lnTo>
                  <a:pt x="5559" y="162292"/>
                </a:lnTo>
                <a:cubicBezTo>
                  <a:pt x="2160" y="160692"/>
                  <a:pt x="0" y="157292"/>
                  <a:pt x="0" y="153573"/>
                </a:cubicBezTo>
                <a:cubicBezTo>
                  <a:pt x="0" y="149854"/>
                  <a:pt x="2160" y="146414"/>
                  <a:pt x="5559" y="144855"/>
                </a:cubicBezTo>
                <a:close/>
              </a:path>
            </a:pathLst>
          </a:custGeom>
          <a:solidFill>
            <a:srgbClr val="FFFFFF"/>
          </a:solidFill>
          <a:ln/>
        </p:spPr>
      </p:sp>
      <p:sp>
        <p:nvSpPr>
          <p:cNvPr id="7" name="Text 5"/>
          <p:cNvSpPr/>
          <p:nvPr/>
        </p:nvSpPr>
        <p:spPr>
          <a:xfrm>
            <a:off x="870248" y="1603986"/>
            <a:ext cx="1970855" cy="273019"/>
          </a:xfrm>
          <a:prstGeom prst="rect">
            <a:avLst/>
          </a:prstGeom>
          <a:noFill/>
          <a:ln/>
        </p:spPr>
        <p:txBody>
          <a:bodyPr wrap="square" lIns="0" tIns="0" rIns="0" bIns="0" rtlCol="0" anchor="ctr"/>
          <a:lstStyle/>
          <a:p>
            <a:pPr>
              <a:lnSpc>
                <a:spcPct val="110000"/>
              </a:lnSpc>
            </a:pPr>
            <a:r>
              <a:rPr lang="en-US" sz="1612" b="1" dirty="0">
                <a:solidFill>
                  <a:srgbClr val="FFFFFF"/>
                </a:solidFill>
                <a:latin typeface="Noto Sans SC" pitchFamily="34" charset="0"/>
                <a:ea typeface="Noto Sans SC" pitchFamily="34" charset="-122"/>
                <a:cs typeface="Noto Sans SC" pitchFamily="34" charset="-120"/>
              </a:rPr>
              <a:t>Échelle de Maturité</a:t>
            </a:r>
            <a:endParaRPr lang="en-US" sz="1600" dirty="0"/>
          </a:p>
        </p:txBody>
      </p:sp>
      <p:sp>
        <p:nvSpPr>
          <p:cNvPr id="8" name="Shape 6"/>
          <p:cNvSpPr/>
          <p:nvPr/>
        </p:nvSpPr>
        <p:spPr>
          <a:xfrm>
            <a:off x="341274" y="2184151"/>
            <a:ext cx="5622483" cy="3890519"/>
          </a:xfrm>
          <a:custGeom>
            <a:avLst/>
            <a:gdLst/>
            <a:ahLst/>
            <a:cxnLst/>
            <a:rect l="l" t="t" r="r" b="b"/>
            <a:pathLst>
              <a:path w="5622483" h="3890519">
                <a:moveTo>
                  <a:pt x="136518" y="0"/>
                </a:moveTo>
                <a:lnTo>
                  <a:pt x="5485965" y="0"/>
                </a:lnTo>
                <a:cubicBezTo>
                  <a:pt x="5561362" y="0"/>
                  <a:pt x="5622483" y="61121"/>
                  <a:pt x="5622483" y="136518"/>
                </a:cubicBezTo>
                <a:lnTo>
                  <a:pt x="5622483" y="3754001"/>
                </a:lnTo>
                <a:cubicBezTo>
                  <a:pt x="5622483" y="3829398"/>
                  <a:pt x="5561362" y="3890519"/>
                  <a:pt x="5485965" y="3890519"/>
                </a:cubicBezTo>
                <a:lnTo>
                  <a:pt x="136518" y="3890519"/>
                </a:lnTo>
                <a:cubicBezTo>
                  <a:pt x="61121" y="3890519"/>
                  <a:pt x="0" y="3829398"/>
                  <a:pt x="0" y="3754001"/>
                </a:cubicBezTo>
                <a:lnTo>
                  <a:pt x="0" y="136518"/>
                </a:lnTo>
                <a:cubicBezTo>
                  <a:pt x="0" y="61121"/>
                  <a:pt x="61121" y="0"/>
                  <a:pt x="136518" y="0"/>
                </a:cubicBezTo>
                <a:close/>
              </a:path>
            </a:pathLst>
          </a:custGeom>
          <a:solidFill>
            <a:srgbClr val="F3F4F6"/>
          </a:solidFill>
          <a:ln/>
        </p:spPr>
      </p:sp>
      <p:sp>
        <p:nvSpPr>
          <p:cNvPr id="9" name="Shape 7"/>
          <p:cNvSpPr/>
          <p:nvPr/>
        </p:nvSpPr>
        <p:spPr>
          <a:xfrm>
            <a:off x="511910" y="2354788"/>
            <a:ext cx="477783" cy="477783"/>
          </a:xfrm>
          <a:custGeom>
            <a:avLst/>
            <a:gdLst/>
            <a:ahLst/>
            <a:cxnLst/>
            <a:rect l="l" t="t" r="r" b="b"/>
            <a:pathLst>
              <a:path w="477783" h="477783">
                <a:moveTo>
                  <a:pt x="102384" y="0"/>
                </a:moveTo>
                <a:lnTo>
                  <a:pt x="375399" y="0"/>
                </a:lnTo>
                <a:cubicBezTo>
                  <a:pt x="431906" y="0"/>
                  <a:pt x="477783" y="45877"/>
                  <a:pt x="477783" y="102384"/>
                </a:cubicBezTo>
                <a:lnTo>
                  <a:pt x="477783" y="375399"/>
                </a:lnTo>
                <a:cubicBezTo>
                  <a:pt x="477783" y="431906"/>
                  <a:pt x="431906" y="477783"/>
                  <a:pt x="375399" y="477783"/>
                </a:cubicBezTo>
                <a:lnTo>
                  <a:pt x="102384" y="477783"/>
                </a:lnTo>
                <a:cubicBezTo>
                  <a:pt x="45877" y="477783"/>
                  <a:pt x="0" y="431906"/>
                  <a:pt x="0" y="375399"/>
                </a:cubicBezTo>
                <a:lnTo>
                  <a:pt x="0" y="102384"/>
                </a:lnTo>
                <a:cubicBezTo>
                  <a:pt x="0" y="45877"/>
                  <a:pt x="45877" y="0"/>
                  <a:pt x="102384" y="0"/>
                </a:cubicBezTo>
                <a:close/>
              </a:path>
            </a:pathLst>
          </a:custGeom>
          <a:solidFill>
            <a:srgbClr val="6B7280"/>
          </a:solidFill>
          <a:ln/>
        </p:spPr>
      </p:sp>
      <p:sp>
        <p:nvSpPr>
          <p:cNvPr id="10" name="Text 8"/>
          <p:cNvSpPr/>
          <p:nvPr/>
        </p:nvSpPr>
        <p:spPr>
          <a:xfrm>
            <a:off x="703344" y="2474234"/>
            <a:ext cx="179169" cy="238892"/>
          </a:xfrm>
          <a:prstGeom prst="rect">
            <a:avLst/>
          </a:prstGeom>
          <a:noFill/>
          <a:ln/>
        </p:spPr>
        <p:txBody>
          <a:bodyPr wrap="square" lIns="0" tIns="0" rIns="0" bIns="0" rtlCol="0" anchor="ctr"/>
          <a:lstStyle/>
          <a:p>
            <a:pPr>
              <a:lnSpc>
                <a:spcPct val="120000"/>
              </a:lnSpc>
            </a:pPr>
            <a:r>
              <a:rPr lang="en-US" sz="1344" b="1" dirty="0">
                <a:solidFill>
                  <a:srgbClr val="FFFFFF"/>
                </a:solidFill>
                <a:latin typeface="Noto Sans SC" pitchFamily="34" charset="0"/>
                <a:ea typeface="Noto Sans SC" pitchFamily="34" charset="-122"/>
                <a:cs typeface="Noto Sans SC" pitchFamily="34" charset="-120"/>
              </a:rPr>
              <a:t>1</a:t>
            </a:r>
            <a:endParaRPr lang="en-US" sz="1600" dirty="0"/>
          </a:p>
        </p:txBody>
      </p:sp>
      <p:sp>
        <p:nvSpPr>
          <p:cNvPr id="11" name="Text 9"/>
          <p:cNvSpPr/>
          <p:nvPr/>
        </p:nvSpPr>
        <p:spPr>
          <a:xfrm>
            <a:off x="1126203" y="2371852"/>
            <a:ext cx="4743703" cy="238892"/>
          </a:xfrm>
          <a:prstGeom prst="rect">
            <a:avLst/>
          </a:prstGeom>
          <a:noFill/>
          <a:ln/>
        </p:spPr>
        <p:txBody>
          <a:bodyPr wrap="square" lIns="0" tIns="0" rIns="0" bIns="0" rtlCol="0" anchor="ctr"/>
          <a:lstStyle/>
          <a:p>
            <a:pPr>
              <a:lnSpc>
                <a:spcPct val="130000"/>
              </a:lnSpc>
            </a:pPr>
            <a:r>
              <a:rPr lang="en-US" sz="1209" b="1" dirty="0">
                <a:solidFill>
                  <a:srgbClr val="374151"/>
                </a:solidFill>
                <a:latin typeface="MiSans" pitchFamily="34" charset="0"/>
                <a:ea typeface="MiSans" pitchFamily="34" charset="-122"/>
                <a:cs typeface="MiSans" pitchFamily="34" charset="-120"/>
              </a:rPr>
              <a:t>IDMM</a:t>
            </a:r>
            <a:endParaRPr lang="en-US" sz="1600" dirty="0"/>
          </a:p>
        </p:txBody>
      </p:sp>
      <p:sp>
        <p:nvSpPr>
          <p:cNvPr id="12" name="Text 10"/>
          <p:cNvSpPr/>
          <p:nvPr/>
        </p:nvSpPr>
        <p:spPr>
          <a:xfrm>
            <a:off x="1126203" y="2610743"/>
            <a:ext cx="4735171" cy="204764"/>
          </a:xfrm>
          <a:prstGeom prst="rect">
            <a:avLst/>
          </a:prstGeom>
          <a:noFill/>
          <a:ln/>
        </p:spPr>
        <p:txBody>
          <a:bodyPr wrap="square" lIns="0" tIns="0" rIns="0" bIns="0" rtlCol="0" anchor="ctr"/>
          <a:lstStyle/>
          <a:p>
            <a:pPr>
              <a:lnSpc>
                <a:spcPct val="130000"/>
              </a:lnSpc>
            </a:pPr>
            <a:r>
              <a:rPr lang="en-US" sz="1075" dirty="0">
                <a:solidFill>
                  <a:srgbClr val="6B7280"/>
                </a:solidFill>
                <a:latin typeface="MiSans" pitchFamily="34" charset="0"/>
                <a:ea typeface="MiSans" pitchFamily="34" charset="-122"/>
                <a:cs typeface="MiSans" pitchFamily="34" charset="-120"/>
              </a:rPr>
              <a:t>PME, contrôle manuel</a:t>
            </a:r>
            <a:endParaRPr lang="en-US" sz="1600" dirty="0"/>
          </a:p>
        </p:txBody>
      </p:sp>
      <p:sp>
        <p:nvSpPr>
          <p:cNvPr id="13" name="Shape 11"/>
          <p:cNvSpPr/>
          <p:nvPr/>
        </p:nvSpPr>
        <p:spPr>
          <a:xfrm>
            <a:off x="750802" y="3062931"/>
            <a:ext cx="5281209" cy="17064"/>
          </a:xfrm>
          <a:custGeom>
            <a:avLst/>
            <a:gdLst/>
            <a:ahLst/>
            <a:cxnLst/>
            <a:rect l="l" t="t" r="r" b="b"/>
            <a:pathLst>
              <a:path w="5281209" h="17064">
                <a:moveTo>
                  <a:pt x="0" y="0"/>
                </a:moveTo>
                <a:lnTo>
                  <a:pt x="5281209" y="0"/>
                </a:lnTo>
                <a:lnTo>
                  <a:pt x="5281209" y="17064"/>
                </a:lnTo>
                <a:lnTo>
                  <a:pt x="0" y="17064"/>
                </a:lnTo>
                <a:lnTo>
                  <a:pt x="0" y="0"/>
                </a:lnTo>
                <a:close/>
              </a:path>
            </a:pathLst>
          </a:custGeom>
          <a:solidFill>
            <a:srgbClr val="D1D5DB"/>
          </a:solidFill>
          <a:ln/>
        </p:spPr>
      </p:sp>
      <p:sp>
        <p:nvSpPr>
          <p:cNvPr id="14" name="Shape 12"/>
          <p:cNvSpPr/>
          <p:nvPr/>
        </p:nvSpPr>
        <p:spPr>
          <a:xfrm>
            <a:off x="443656" y="3310354"/>
            <a:ext cx="5417719" cy="682547"/>
          </a:xfrm>
          <a:custGeom>
            <a:avLst/>
            <a:gdLst/>
            <a:ahLst/>
            <a:cxnLst/>
            <a:rect l="l" t="t" r="r" b="b"/>
            <a:pathLst>
              <a:path w="5417719" h="682547">
                <a:moveTo>
                  <a:pt x="102382" y="0"/>
                </a:moveTo>
                <a:lnTo>
                  <a:pt x="5315337" y="0"/>
                </a:lnTo>
                <a:cubicBezTo>
                  <a:pt x="5371881" y="0"/>
                  <a:pt x="5417719" y="45838"/>
                  <a:pt x="5417719" y="102382"/>
                </a:cubicBezTo>
                <a:lnTo>
                  <a:pt x="5417719" y="580165"/>
                </a:lnTo>
                <a:cubicBezTo>
                  <a:pt x="5417719" y="636709"/>
                  <a:pt x="5371881" y="682547"/>
                  <a:pt x="5315337" y="682547"/>
                </a:cubicBezTo>
                <a:lnTo>
                  <a:pt x="102382" y="682547"/>
                </a:lnTo>
                <a:cubicBezTo>
                  <a:pt x="45876" y="682547"/>
                  <a:pt x="0" y="636671"/>
                  <a:pt x="0" y="580165"/>
                </a:cubicBezTo>
                <a:lnTo>
                  <a:pt x="0" y="102382"/>
                </a:lnTo>
                <a:cubicBezTo>
                  <a:pt x="0" y="45876"/>
                  <a:pt x="45876" y="0"/>
                  <a:pt x="102382" y="0"/>
                </a:cubicBezTo>
                <a:close/>
              </a:path>
            </a:pathLst>
          </a:custGeom>
          <a:solidFill>
            <a:srgbClr val="1E3A8A">
              <a:alpha val="10196"/>
            </a:srgbClr>
          </a:solidFill>
          <a:ln/>
        </p:spPr>
      </p:sp>
      <p:sp>
        <p:nvSpPr>
          <p:cNvPr id="15" name="Shape 13"/>
          <p:cNvSpPr/>
          <p:nvPr/>
        </p:nvSpPr>
        <p:spPr>
          <a:xfrm>
            <a:off x="546038" y="3412736"/>
            <a:ext cx="477783" cy="477783"/>
          </a:xfrm>
          <a:custGeom>
            <a:avLst/>
            <a:gdLst/>
            <a:ahLst/>
            <a:cxnLst/>
            <a:rect l="l" t="t" r="r" b="b"/>
            <a:pathLst>
              <a:path w="477783" h="477783">
                <a:moveTo>
                  <a:pt x="102384" y="0"/>
                </a:moveTo>
                <a:lnTo>
                  <a:pt x="375399" y="0"/>
                </a:lnTo>
                <a:cubicBezTo>
                  <a:pt x="431906" y="0"/>
                  <a:pt x="477783" y="45877"/>
                  <a:pt x="477783" y="102384"/>
                </a:cubicBezTo>
                <a:lnTo>
                  <a:pt x="477783" y="375399"/>
                </a:lnTo>
                <a:cubicBezTo>
                  <a:pt x="477783" y="431906"/>
                  <a:pt x="431906" y="477783"/>
                  <a:pt x="375399" y="477783"/>
                </a:cubicBezTo>
                <a:lnTo>
                  <a:pt x="102384" y="477783"/>
                </a:lnTo>
                <a:cubicBezTo>
                  <a:pt x="45877" y="477783"/>
                  <a:pt x="0" y="431906"/>
                  <a:pt x="0" y="375399"/>
                </a:cubicBezTo>
                <a:lnTo>
                  <a:pt x="0" y="102384"/>
                </a:lnTo>
                <a:cubicBezTo>
                  <a:pt x="0" y="45877"/>
                  <a:pt x="45877" y="0"/>
                  <a:pt x="102384" y="0"/>
                </a:cubicBezTo>
                <a:close/>
              </a:path>
            </a:pathLst>
          </a:custGeom>
          <a:solidFill>
            <a:srgbClr val="1E3A8A"/>
          </a:solidFill>
          <a:ln/>
        </p:spPr>
      </p:sp>
      <p:sp>
        <p:nvSpPr>
          <p:cNvPr id="16" name="Text 14"/>
          <p:cNvSpPr/>
          <p:nvPr/>
        </p:nvSpPr>
        <p:spPr>
          <a:xfrm>
            <a:off x="737471" y="3532182"/>
            <a:ext cx="179169" cy="238892"/>
          </a:xfrm>
          <a:prstGeom prst="rect">
            <a:avLst/>
          </a:prstGeom>
          <a:noFill/>
          <a:ln/>
        </p:spPr>
        <p:txBody>
          <a:bodyPr wrap="square" lIns="0" tIns="0" rIns="0" bIns="0" rtlCol="0" anchor="ctr"/>
          <a:lstStyle/>
          <a:p>
            <a:pPr>
              <a:lnSpc>
                <a:spcPct val="120000"/>
              </a:lnSpc>
            </a:pPr>
            <a:r>
              <a:rPr lang="en-US" sz="1344" b="1" dirty="0">
                <a:solidFill>
                  <a:srgbClr val="FFFFFF"/>
                </a:solidFill>
                <a:latin typeface="Noto Sans SC" pitchFamily="34" charset="0"/>
                <a:ea typeface="Noto Sans SC" pitchFamily="34" charset="-122"/>
                <a:cs typeface="Noto Sans SC" pitchFamily="34" charset="-120"/>
              </a:rPr>
              <a:t>2</a:t>
            </a:r>
            <a:endParaRPr lang="en-US" sz="1600" dirty="0"/>
          </a:p>
        </p:txBody>
      </p:sp>
      <p:sp>
        <p:nvSpPr>
          <p:cNvPr id="17" name="Text 15"/>
          <p:cNvSpPr/>
          <p:nvPr/>
        </p:nvSpPr>
        <p:spPr>
          <a:xfrm>
            <a:off x="1160330" y="3429800"/>
            <a:ext cx="3916115" cy="238892"/>
          </a:xfrm>
          <a:prstGeom prst="rect">
            <a:avLst/>
          </a:prstGeom>
          <a:noFill/>
          <a:ln/>
        </p:spPr>
        <p:txBody>
          <a:bodyPr wrap="square" lIns="0" tIns="0" rIns="0" bIns="0" rtlCol="0" anchor="ctr"/>
          <a:lstStyle/>
          <a:p>
            <a:pPr>
              <a:lnSpc>
                <a:spcPct val="130000"/>
              </a:lnSpc>
            </a:pPr>
            <a:r>
              <a:rPr lang="en-US" sz="1209" b="1" dirty="0">
                <a:solidFill>
                  <a:srgbClr val="1E3A8A"/>
                </a:solidFill>
                <a:latin typeface="MiSans" pitchFamily="34" charset="0"/>
                <a:ea typeface="MiSans" pitchFamily="34" charset="-122"/>
                <a:cs typeface="MiSans" pitchFamily="34" charset="-120"/>
              </a:rPr>
              <a:t>Fidémeca</a:t>
            </a:r>
            <a:endParaRPr lang="en-US" sz="1600" dirty="0"/>
          </a:p>
        </p:txBody>
      </p:sp>
      <p:sp>
        <p:nvSpPr>
          <p:cNvPr id="18" name="Text 16"/>
          <p:cNvSpPr/>
          <p:nvPr/>
        </p:nvSpPr>
        <p:spPr>
          <a:xfrm>
            <a:off x="1160330" y="3668691"/>
            <a:ext cx="3907583" cy="204764"/>
          </a:xfrm>
          <a:prstGeom prst="rect">
            <a:avLst/>
          </a:prstGeom>
          <a:noFill/>
          <a:ln/>
        </p:spPr>
        <p:txBody>
          <a:bodyPr wrap="square" lIns="0" tIns="0" rIns="0" bIns="0" rtlCol="0" anchor="ctr"/>
          <a:lstStyle/>
          <a:p>
            <a:pPr>
              <a:lnSpc>
                <a:spcPct val="130000"/>
              </a:lnSpc>
            </a:pPr>
            <a:r>
              <a:rPr lang="en-US" sz="1075" dirty="0">
                <a:solidFill>
                  <a:srgbClr val="374151"/>
                </a:solidFill>
                <a:latin typeface="MiSans" pitchFamily="34" charset="0"/>
                <a:ea typeface="MiSans" pitchFamily="34" charset="-122"/>
                <a:cs typeface="MiSans" pitchFamily="34" charset="-120"/>
              </a:rPr>
              <a:t>Semi-automatique</a:t>
            </a:r>
            <a:endParaRPr lang="en-US" sz="1600" dirty="0"/>
          </a:p>
        </p:txBody>
      </p:sp>
      <p:sp>
        <p:nvSpPr>
          <p:cNvPr id="19" name="Shape 17"/>
          <p:cNvSpPr/>
          <p:nvPr/>
        </p:nvSpPr>
        <p:spPr>
          <a:xfrm>
            <a:off x="5136035" y="3515118"/>
            <a:ext cx="622824" cy="273019"/>
          </a:xfrm>
          <a:custGeom>
            <a:avLst/>
            <a:gdLst/>
            <a:ahLst/>
            <a:cxnLst/>
            <a:rect l="l" t="t" r="r" b="b"/>
            <a:pathLst>
              <a:path w="622824" h="273019">
                <a:moveTo>
                  <a:pt x="136509" y="0"/>
                </a:moveTo>
                <a:lnTo>
                  <a:pt x="486315" y="0"/>
                </a:lnTo>
                <a:cubicBezTo>
                  <a:pt x="561707" y="0"/>
                  <a:pt x="622824" y="61117"/>
                  <a:pt x="622824" y="136509"/>
                </a:cubicBezTo>
                <a:lnTo>
                  <a:pt x="622824" y="136509"/>
                </a:lnTo>
                <a:cubicBezTo>
                  <a:pt x="622824" y="211902"/>
                  <a:pt x="561707" y="273019"/>
                  <a:pt x="486315" y="273019"/>
                </a:cubicBezTo>
                <a:lnTo>
                  <a:pt x="136509" y="273019"/>
                </a:lnTo>
                <a:cubicBezTo>
                  <a:pt x="61117" y="273019"/>
                  <a:pt x="0" y="211902"/>
                  <a:pt x="0" y="136509"/>
                </a:cubicBezTo>
                <a:lnTo>
                  <a:pt x="0" y="136509"/>
                </a:lnTo>
                <a:cubicBezTo>
                  <a:pt x="0" y="61117"/>
                  <a:pt x="61117" y="0"/>
                  <a:pt x="136509" y="0"/>
                </a:cubicBezTo>
                <a:close/>
              </a:path>
            </a:pathLst>
          </a:custGeom>
          <a:solidFill>
            <a:srgbClr val="1E3A8A"/>
          </a:solidFill>
          <a:ln/>
        </p:spPr>
      </p:sp>
      <p:sp>
        <p:nvSpPr>
          <p:cNvPr id="20" name="Text 18"/>
          <p:cNvSpPr/>
          <p:nvPr/>
        </p:nvSpPr>
        <p:spPr>
          <a:xfrm>
            <a:off x="5238417" y="3600437"/>
            <a:ext cx="466452" cy="119446"/>
          </a:xfrm>
          <a:prstGeom prst="rect">
            <a:avLst/>
          </a:prstGeom>
          <a:noFill/>
          <a:ln/>
        </p:spPr>
        <p:txBody>
          <a:bodyPr wrap="square" lIns="0" tIns="0" rIns="0" bIns="0" rtlCol="0" anchor="ctr"/>
          <a:lstStyle/>
          <a:p>
            <a:pPr>
              <a:lnSpc>
                <a:spcPct val="110000"/>
              </a:lnSpc>
            </a:pPr>
            <a:r>
              <a:rPr lang="en-US" sz="806" b="1" dirty="0">
                <a:solidFill>
                  <a:srgbClr val="FFFFFF"/>
                </a:solidFill>
                <a:latin typeface="MiSans" pitchFamily="34" charset="0"/>
                <a:ea typeface="MiSans" pitchFamily="34" charset="-122"/>
                <a:cs typeface="MiSans" pitchFamily="34" charset="-120"/>
              </a:rPr>
              <a:t>ACTUEL</a:t>
            </a:r>
            <a:endParaRPr lang="en-US" sz="1600" dirty="0"/>
          </a:p>
        </p:txBody>
      </p:sp>
      <p:sp>
        <p:nvSpPr>
          <p:cNvPr id="21" name="Shape 19"/>
          <p:cNvSpPr/>
          <p:nvPr/>
        </p:nvSpPr>
        <p:spPr>
          <a:xfrm>
            <a:off x="750802" y="4223261"/>
            <a:ext cx="5281209" cy="17064"/>
          </a:xfrm>
          <a:custGeom>
            <a:avLst/>
            <a:gdLst/>
            <a:ahLst/>
            <a:cxnLst/>
            <a:rect l="l" t="t" r="r" b="b"/>
            <a:pathLst>
              <a:path w="5281209" h="17064">
                <a:moveTo>
                  <a:pt x="0" y="0"/>
                </a:moveTo>
                <a:lnTo>
                  <a:pt x="5281209" y="0"/>
                </a:lnTo>
                <a:lnTo>
                  <a:pt x="5281209" y="17064"/>
                </a:lnTo>
                <a:lnTo>
                  <a:pt x="0" y="17064"/>
                </a:lnTo>
                <a:lnTo>
                  <a:pt x="0" y="0"/>
                </a:lnTo>
                <a:close/>
              </a:path>
            </a:pathLst>
          </a:custGeom>
          <a:solidFill>
            <a:srgbClr val="D1D5DB"/>
          </a:solidFill>
          <a:ln/>
        </p:spPr>
      </p:sp>
      <p:sp>
        <p:nvSpPr>
          <p:cNvPr id="22" name="Shape 20"/>
          <p:cNvSpPr/>
          <p:nvPr/>
        </p:nvSpPr>
        <p:spPr>
          <a:xfrm>
            <a:off x="511910" y="4470684"/>
            <a:ext cx="477783" cy="477783"/>
          </a:xfrm>
          <a:custGeom>
            <a:avLst/>
            <a:gdLst/>
            <a:ahLst/>
            <a:cxnLst/>
            <a:rect l="l" t="t" r="r" b="b"/>
            <a:pathLst>
              <a:path w="477783" h="477783">
                <a:moveTo>
                  <a:pt x="102384" y="0"/>
                </a:moveTo>
                <a:lnTo>
                  <a:pt x="375399" y="0"/>
                </a:lnTo>
                <a:cubicBezTo>
                  <a:pt x="431906" y="0"/>
                  <a:pt x="477783" y="45877"/>
                  <a:pt x="477783" y="102384"/>
                </a:cubicBezTo>
                <a:lnTo>
                  <a:pt x="477783" y="375399"/>
                </a:lnTo>
                <a:cubicBezTo>
                  <a:pt x="477783" y="431906"/>
                  <a:pt x="431906" y="477783"/>
                  <a:pt x="375399" y="477783"/>
                </a:cubicBezTo>
                <a:lnTo>
                  <a:pt x="102384" y="477783"/>
                </a:lnTo>
                <a:cubicBezTo>
                  <a:pt x="45877" y="477783"/>
                  <a:pt x="0" y="431906"/>
                  <a:pt x="0" y="375399"/>
                </a:cubicBezTo>
                <a:lnTo>
                  <a:pt x="0" y="102384"/>
                </a:lnTo>
                <a:cubicBezTo>
                  <a:pt x="0" y="45877"/>
                  <a:pt x="45877" y="0"/>
                  <a:pt x="102384" y="0"/>
                </a:cubicBezTo>
                <a:close/>
              </a:path>
            </a:pathLst>
          </a:custGeom>
          <a:solidFill>
            <a:srgbClr val="10B981"/>
          </a:solidFill>
          <a:ln/>
        </p:spPr>
      </p:sp>
      <p:sp>
        <p:nvSpPr>
          <p:cNvPr id="23" name="Text 21"/>
          <p:cNvSpPr/>
          <p:nvPr/>
        </p:nvSpPr>
        <p:spPr>
          <a:xfrm>
            <a:off x="703344" y="4590130"/>
            <a:ext cx="179169" cy="238892"/>
          </a:xfrm>
          <a:prstGeom prst="rect">
            <a:avLst/>
          </a:prstGeom>
          <a:noFill/>
          <a:ln/>
        </p:spPr>
        <p:txBody>
          <a:bodyPr wrap="square" lIns="0" tIns="0" rIns="0" bIns="0" rtlCol="0" anchor="ctr"/>
          <a:lstStyle/>
          <a:p>
            <a:pPr>
              <a:lnSpc>
                <a:spcPct val="120000"/>
              </a:lnSpc>
            </a:pPr>
            <a:r>
              <a:rPr lang="en-US" sz="1344" b="1" dirty="0">
                <a:solidFill>
                  <a:srgbClr val="FFFFFF"/>
                </a:solidFill>
                <a:latin typeface="Noto Sans SC" pitchFamily="34" charset="0"/>
                <a:ea typeface="Noto Sans SC" pitchFamily="34" charset="-122"/>
                <a:cs typeface="Noto Sans SC" pitchFamily="34" charset="-120"/>
              </a:rPr>
              <a:t>3</a:t>
            </a:r>
            <a:endParaRPr lang="en-US" sz="1600" dirty="0"/>
          </a:p>
        </p:txBody>
      </p:sp>
      <p:sp>
        <p:nvSpPr>
          <p:cNvPr id="24" name="Text 22"/>
          <p:cNvSpPr/>
          <p:nvPr/>
        </p:nvSpPr>
        <p:spPr>
          <a:xfrm>
            <a:off x="1126203" y="4487748"/>
            <a:ext cx="4743703" cy="238892"/>
          </a:xfrm>
          <a:prstGeom prst="rect">
            <a:avLst/>
          </a:prstGeom>
          <a:noFill/>
          <a:ln/>
        </p:spPr>
        <p:txBody>
          <a:bodyPr wrap="square" lIns="0" tIns="0" rIns="0" bIns="0" rtlCol="0" anchor="ctr"/>
          <a:lstStyle/>
          <a:p>
            <a:pPr>
              <a:lnSpc>
                <a:spcPct val="130000"/>
              </a:lnSpc>
            </a:pPr>
            <a:r>
              <a:rPr lang="en-US" sz="1209" b="1" dirty="0">
                <a:solidFill>
                  <a:srgbClr val="374151"/>
                </a:solidFill>
                <a:latin typeface="MiSans" pitchFamily="34" charset="0"/>
                <a:ea typeface="MiSans" pitchFamily="34" charset="-122"/>
                <a:cs typeface="MiSans" pitchFamily="34" charset="-120"/>
              </a:rPr>
              <a:t>Figeac Aéro</a:t>
            </a:r>
            <a:endParaRPr lang="en-US" sz="1600" dirty="0"/>
          </a:p>
        </p:txBody>
      </p:sp>
      <p:sp>
        <p:nvSpPr>
          <p:cNvPr id="25" name="Text 23"/>
          <p:cNvSpPr/>
          <p:nvPr/>
        </p:nvSpPr>
        <p:spPr>
          <a:xfrm>
            <a:off x="1126203" y="4726640"/>
            <a:ext cx="4735171" cy="204764"/>
          </a:xfrm>
          <a:prstGeom prst="rect">
            <a:avLst/>
          </a:prstGeom>
          <a:noFill/>
          <a:ln/>
        </p:spPr>
        <p:txBody>
          <a:bodyPr wrap="square" lIns="0" tIns="0" rIns="0" bIns="0" rtlCol="0" anchor="ctr"/>
          <a:lstStyle/>
          <a:p>
            <a:pPr>
              <a:lnSpc>
                <a:spcPct val="130000"/>
              </a:lnSpc>
            </a:pPr>
            <a:r>
              <a:rPr lang="en-US" sz="1075" dirty="0">
                <a:solidFill>
                  <a:srgbClr val="6B7280"/>
                </a:solidFill>
                <a:latin typeface="MiSans" pitchFamily="34" charset="0"/>
                <a:ea typeface="MiSans" pitchFamily="34" charset="-122"/>
                <a:cs typeface="MiSans" pitchFamily="34" charset="-120"/>
              </a:rPr>
              <a:t>Caméra, RA, temps réel</a:t>
            </a:r>
            <a:endParaRPr lang="en-US" sz="1600" dirty="0"/>
          </a:p>
        </p:txBody>
      </p:sp>
      <p:sp>
        <p:nvSpPr>
          <p:cNvPr id="26" name="Shape 24"/>
          <p:cNvSpPr/>
          <p:nvPr/>
        </p:nvSpPr>
        <p:spPr>
          <a:xfrm>
            <a:off x="750802" y="5178827"/>
            <a:ext cx="5281209" cy="17064"/>
          </a:xfrm>
          <a:custGeom>
            <a:avLst/>
            <a:gdLst/>
            <a:ahLst/>
            <a:cxnLst/>
            <a:rect l="l" t="t" r="r" b="b"/>
            <a:pathLst>
              <a:path w="5281209" h="17064">
                <a:moveTo>
                  <a:pt x="0" y="0"/>
                </a:moveTo>
                <a:lnTo>
                  <a:pt x="5281209" y="0"/>
                </a:lnTo>
                <a:lnTo>
                  <a:pt x="5281209" y="17064"/>
                </a:lnTo>
                <a:lnTo>
                  <a:pt x="0" y="17064"/>
                </a:lnTo>
                <a:lnTo>
                  <a:pt x="0" y="0"/>
                </a:lnTo>
                <a:close/>
              </a:path>
            </a:pathLst>
          </a:custGeom>
          <a:solidFill>
            <a:srgbClr val="D1D5DB"/>
          </a:solidFill>
          <a:ln/>
        </p:spPr>
      </p:sp>
      <p:sp>
        <p:nvSpPr>
          <p:cNvPr id="27" name="Shape 25"/>
          <p:cNvSpPr/>
          <p:nvPr/>
        </p:nvSpPr>
        <p:spPr>
          <a:xfrm>
            <a:off x="511910" y="5426251"/>
            <a:ext cx="477783" cy="477783"/>
          </a:xfrm>
          <a:custGeom>
            <a:avLst/>
            <a:gdLst/>
            <a:ahLst/>
            <a:cxnLst/>
            <a:rect l="l" t="t" r="r" b="b"/>
            <a:pathLst>
              <a:path w="477783" h="477783">
                <a:moveTo>
                  <a:pt x="102384" y="0"/>
                </a:moveTo>
                <a:lnTo>
                  <a:pt x="375399" y="0"/>
                </a:lnTo>
                <a:cubicBezTo>
                  <a:pt x="431906" y="0"/>
                  <a:pt x="477783" y="45877"/>
                  <a:pt x="477783" y="102384"/>
                </a:cubicBezTo>
                <a:lnTo>
                  <a:pt x="477783" y="375399"/>
                </a:lnTo>
                <a:cubicBezTo>
                  <a:pt x="477783" y="431906"/>
                  <a:pt x="431906" y="477783"/>
                  <a:pt x="375399" y="477783"/>
                </a:cubicBezTo>
                <a:lnTo>
                  <a:pt x="102384" y="477783"/>
                </a:lnTo>
                <a:cubicBezTo>
                  <a:pt x="45877" y="477783"/>
                  <a:pt x="0" y="431906"/>
                  <a:pt x="0" y="375399"/>
                </a:cubicBezTo>
                <a:lnTo>
                  <a:pt x="0" y="102384"/>
                </a:lnTo>
                <a:cubicBezTo>
                  <a:pt x="0" y="45877"/>
                  <a:pt x="45877" y="0"/>
                  <a:pt x="102384" y="0"/>
                </a:cubicBezTo>
                <a:close/>
              </a:path>
            </a:pathLst>
          </a:custGeom>
          <a:solidFill>
            <a:srgbClr val="8B5CF6"/>
          </a:solidFill>
          <a:ln/>
        </p:spPr>
      </p:sp>
      <p:sp>
        <p:nvSpPr>
          <p:cNvPr id="28" name="Text 26"/>
          <p:cNvSpPr/>
          <p:nvPr/>
        </p:nvSpPr>
        <p:spPr>
          <a:xfrm>
            <a:off x="703344" y="5545696"/>
            <a:ext cx="179169" cy="238892"/>
          </a:xfrm>
          <a:prstGeom prst="rect">
            <a:avLst/>
          </a:prstGeom>
          <a:noFill/>
          <a:ln/>
        </p:spPr>
        <p:txBody>
          <a:bodyPr wrap="square" lIns="0" tIns="0" rIns="0" bIns="0" rtlCol="0" anchor="ctr"/>
          <a:lstStyle/>
          <a:p>
            <a:pPr>
              <a:lnSpc>
                <a:spcPct val="120000"/>
              </a:lnSpc>
            </a:pPr>
            <a:r>
              <a:rPr lang="en-US" sz="1344" b="1" dirty="0">
                <a:solidFill>
                  <a:srgbClr val="FFFFFF"/>
                </a:solidFill>
                <a:latin typeface="Noto Sans SC" pitchFamily="34" charset="0"/>
                <a:ea typeface="Noto Sans SC" pitchFamily="34" charset="-122"/>
                <a:cs typeface="Noto Sans SC" pitchFamily="34" charset="-120"/>
              </a:rPr>
              <a:t>4</a:t>
            </a:r>
            <a:endParaRPr lang="en-US" sz="1600" dirty="0"/>
          </a:p>
        </p:txBody>
      </p:sp>
      <p:sp>
        <p:nvSpPr>
          <p:cNvPr id="29" name="Text 27"/>
          <p:cNvSpPr/>
          <p:nvPr/>
        </p:nvSpPr>
        <p:spPr>
          <a:xfrm>
            <a:off x="1126203" y="5443314"/>
            <a:ext cx="4743703" cy="238892"/>
          </a:xfrm>
          <a:prstGeom prst="rect">
            <a:avLst/>
          </a:prstGeom>
          <a:noFill/>
          <a:ln/>
        </p:spPr>
        <p:txBody>
          <a:bodyPr wrap="square" lIns="0" tIns="0" rIns="0" bIns="0" rtlCol="0" anchor="ctr"/>
          <a:lstStyle/>
          <a:p>
            <a:pPr>
              <a:lnSpc>
                <a:spcPct val="130000"/>
              </a:lnSpc>
            </a:pPr>
            <a:r>
              <a:rPr lang="en-US" sz="1209" b="1" dirty="0">
                <a:solidFill>
                  <a:srgbClr val="374151"/>
                </a:solidFill>
                <a:latin typeface="MiSans" pitchFamily="34" charset="0"/>
                <a:ea typeface="MiSans" pitchFamily="34" charset="-122"/>
                <a:cs typeface="MiSans" pitchFamily="34" charset="-120"/>
              </a:rPr>
              <a:t>LISI Aerospace</a:t>
            </a:r>
            <a:endParaRPr lang="en-US" sz="1600" dirty="0"/>
          </a:p>
        </p:txBody>
      </p:sp>
      <p:sp>
        <p:nvSpPr>
          <p:cNvPr id="30" name="Text 28"/>
          <p:cNvSpPr/>
          <p:nvPr/>
        </p:nvSpPr>
        <p:spPr>
          <a:xfrm>
            <a:off x="1126203" y="5682206"/>
            <a:ext cx="4735171" cy="204764"/>
          </a:xfrm>
          <a:prstGeom prst="rect">
            <a:avLst/>
          </a:prstGeom>
          <a:noFill/>
          <a:ln/>
        </p:spPr>
        <p:txBody>
          <a:bodyPr wrap="square" lIns="0" tIns="0" rIns="0" bIns="0" rtlCol="0" anchor="ctr"/>
          <a:lstStyle/>
          <a:p>
            <a:pPr>
              <a:lnSpc>
                <a:spcPct val="130000"/>
              </a:lnSpc>
            </a:pPr>
            <a:r>
              <a:rPr lang="en-US" sz="1075" dirty="0">
                <a:solidFill>
                  <a:srgbClr val="6B7280"/>
                </a:solidFill>
                <a:latin typeface="MiSans" pitchFamily="34" charset="0"/>
                <a:ea typeface="MiSans" pitchFamily="34" charset="-122"/>
                <a:cs typeface="MiSans" pitchFamily="34" charset="-120"/>
              </a:rPr>
              <a:t>IA, Industrie 4.0</a:t>
            </a:r>
            <a:endParaRPr lang="en-US" sz="1600" dirty="0"/>
          </a:p>
        </p:txBody>
      </p:sp>
      <p:sp>
        <p:nvSpPr>
          <p:cNvPr id="31" name="Shape 29"/>
          <p:cNvSpPr/>
          <p:nvPr/>
        </p:nvSpPr>
        <p:spPr>
          <a:xfrm>
            <a:off x="6233843" y="1433349"/>
            <a:ext cx="5622483" cy="614293"/>
          </a:xfrm>
          <a:custGeom>
            <a:avLst/>
            <a:gdLst/>
            <a:ahLst/>
            <a:cxnLst/>
            <a:rect l="l" t="t" r="r" b="b"/>
            <a:pathLst>
              <a:path w="5622483" h="614293">
                <a:moveTo>
                  <a:pt x="136508" y="0"/>
                </a:moveTo>
                <a:lnTo>
                  <a:pt x="5485975" y="0"/>
                </a:lnTo>
                <a:cubicBezTo>
                  <a:pt x="5561366" y="0"/>
                  <a:pt x="5622483" y="61117"/>
                  <a:pt x="5622483" y="136508"/>
                </a:cubicBezTo>
                <a:lnTo>
                  <a:pt x="5622483" y="477784"/>
                </a:lnTo>
                <a:cubicBezTo>
                  <a:pt x="5622483" y="553176"/>
                  <a:pt x="5561366" y="614293"/>
                  <a:pt x="5485975" y="614293"/>
                </a:cubicBezTo>
                <a:lnTo>
                  <a:pt x="136508" y="614293"/>
                </a:lnTo>
                <a:cubicBezTo>
                  <a:pt x="61117" y="614293"/>
                  <a:pt x="0" y="553176"/>
                  <a:pt x="0" y="477784"/>
                </a:cubicBezTo>
                <a:lnTo>
                  <a:pt x="0" y="136508"/>
                </a:lnTo>
                <a:cubicBezTo>
                  <a:pt x="0" y="61117"/>
                  <a:pt x="61117" y="0"/>
                  <a:pt x="136508" y="0"/>
                </a:cubicBezTo>
                <a:close/>
              </a:path>
            </a:pathLst>
          </a:custGeom>
          <a:solidFill>
            <a:srgbClr val="10B981"/>
          </a:solidFill>
          <a:ln/>
        </p:spPr>
      </p:sp>
      <p:sp>
        <p:nvSpPr>
          <p:cNvPr id="32" name="Shape 30"/>
          <p:cNvSpPr/>
          <p:nvPr/>
        </p:nvSpPr>
        <p:spPr>
          <a:xfrm>
            <a:off x="6430075" y="1638113"/>
            <a:ext cx="204764" cy="204764"/>
          </a:xfrm>
          <a:custGeom>
            <a:avLst/>
            <a:gdLst/>
            <a:ahLst/>
            <a:cxnLst/>
            <a:rect l="l" t="t" r="r" b="b"/>
            <a:pathLst>
              <a:path w="204764" h="204764">
                <a:moveTo>
                  <a:pt x="12798" y="12798"/>
                </a:moveTo>
                <a:cubicBezTo>
                  <a:pt x="19877" y="12798"/>
                  <a:pt x="25596" y="18517"/>
                  <a:pt x="25596" y="25596"/>
                </a:cubicBezTo>
                <a:lnTo>
                  <a:pt x="25596" y="159972"/>
                </a:lnTo>
                <a:cubicBezTo>
                  <a:pt x="25596" y="163491"/>
                  <a:pt x="28475" y="166371"/>
                  <a:pt x="31994" y="166371"/>
                </a:cubicBezTo>
                <a:lnTo>
                  <a:pt x="191966" y="166371"/>
                </a:lnTo>
                <a:cubicBezTo>
                  <a:pt x="199045" y="166371"/>
                  <a:pt x="204764" y="172090"/>
                  <a:pt x="204764" y="179169"/>
                </a:cubicBezTo>
                <a:cubicBezTo>
                  <a:pt x="204764" y="186247"/>
                  <a:pt x="199045" y="191966"/>
                  <a:pt x="191966" y="191966"/>
                </a:cubicBezTo>
                <a:lnTo>
                  <a:pt x="31994" y="191966"/>
                </a:lnTo>
                <a:cubicBezTo>
                  <a:pt x="14317" y="191966"/>
                  <a:pt x="0" y="177649"/>
                  <a:pt x="0" y="159972"/>
                </a:cubicBezTo>
                <a:lnTo>
                  <a:pt x="0" y="25596"/>
                </a:lnTo>
                <a:cubicBezTo>
                  <a:pt x="0" y="18517"/>
                  <a:pt x="5719" y="12798"/>
                  <a:pt x="12798" y="12798"/>
                </a:cubicBezTo>
                <a:close/>
                <a:moveTo>
                  <a:pt x="51191" y="38393"/>
                </a:moveTo>
                <a:cubicBezTo>
                  <a:pt x="51191" y="31315"/>
                  <a:pt x="56910" y="25596"/>
                  <a:pt x="63989" y="25596"/>
                </a:cubicBezTo>
                <a:lnTo>
                  <a:pt x="140775" y="25596"/>
                </a:lnTo>
                <a:cubicBezTo>
                  <a:pt x="147854" y="25596"/>
                  <a:pt x="153573" y="31315"/>
                  <a:pt x="153573" y="38393"/>
                </a:cubicBezTo>
                <a:cubicBezTo>
                  <a:pt x="153573" y="45472"/>
                  <a:pt x="147854" y="51191"/>
                  <a:pt x="140775" y="51191"/>
                </a:cubicBezTo>
                <a:lnTo>
                  <a:pt x="63989" y="51191"/>
                </a:lnTo>
                <a:cubicBezTo>
                  <a:pt x="56910" y="51191"/>
                  <a:pt x="51191" y="45472"/>
                  <a:pt x="51191" y="38393"/>
                </a:cubicBezTo>
                <a:close/>
                <a:moveTo>
                  <a:pt x="63989" y="70388"/>
                </a:moveTo>
                <a:lnTo>
                  <a:pt x="115180" y="70388"/>
                </a:lnTo>
                <a:cubicBezTo>
                  <a:pt x="122259" y="70388"/>
                  <a:pt x="127978" y="76107"/>
                  <a:pt x="127978" y="83185"/>
                </a:cubicBezTo>
                <a:cubicBezTo>
                  <a:pt x="127978" y="90264"/>
                  <a:pt x="122259" y="95983"/>
                  <a:pt x="115180" y="95983"/>
                </a:cubicBezTo>
                <a:lnTo>
                  <a:pt x="63989" y="95983"/>
                </a:lnTo>
                <a:cubicBezTo>
                  <a:pt x="56910" y="95983"/>
                  <a:pt x="51191" y="90264"/>
                  <a:pt x="51191" y="83185"/>
                </a:cubicBezTo>
                <a:cubicBezTo>
                  <a:pt x="51191" y="76107"/>
                  <a:pt x="56910" y="70388"/>
                  <a:pt x="63989" y="70388"/>
                </a:cubicBezTo>
                <a:close/>
                <a:moveTo>
                  <a:pt x="63989" y="115180"/>
                </a:moveTo>
                <a:lnTo>
                  <a:pt x="166371" y="115180"/>
                </a:lnTo>
                <a:cubicBezTo>
                  <a:pt x="173450" y="115180"/>
                  <a:pt x="179169" y="120899"/>
                  <a:pt x="179169" y="127978"/>
                </a:cubicBezTo>
                <a:cubicBezTo>
                  <a:pt x="179169" y="135056"/>
                  <a:pt x="173450" y="140775"/>
                  <a:pt x="166371" y="140775"/>
                </a:cubicBezTo>
                <a:lnTo>
                  <a:pt x="63989" y="140775"/>
                </a:lnTo>
                <a:cubicBezTo>
                  <a:pt x="56910" y="140775"/>
                  <a:pt x="51191" y="135056"/>
                  <a:pt x="51191" y="127978"/>
                </a:cubicBezTo>
                <a:cubicBezTo>
                  <a:pt x="51191" y="120899"/>
                  <a:pt x="56910" y="115180"/>
                  <a:pt x="63989" y="115180"/>
                </a:cubicBezTo>
                <a:close/>
              </a:path>
            </a:pathLst>
          </a:custGeom>
          <a:solidFill>
            <a:srgbClr val="FFFFFF"/>
          </a:solidFill>
          <a:ln/>
        </p:spPr>
      </p:sp>
      <p:sp>
        <p:nvSpPr>
          <p:cNvPr id="33" name="Text 31"/>
          <p:cNvSpPr/>
          <p:nvPr/>
        </p:nvSpPr>
        <p:spPr>
          <a:xfrm>
            <a:off x="6762817" y="1603986"/>
            <a:ext cx="1911132" cy="273019"/>
          </a:xfrm>
          <a:prstGeom prst="rect">
            <a:avLst/>
          </a:prstGeom>
          <a:noFill/>
          <a:ln/>
        </p:spPr>
        <p:txBody>
          <a:bodyPr wrap="square" lIns="0" tIns="0" rIns="0" bIns="0" rtlCol="0" anchor="ctr"/>
          <a:lstStyle/>
          <a:p>
            <a:pPr>
              <a:lnSpc>
                <a:spcPct val="110000"/>
              </a:lnSpc>
            </a:pPr>
            <a:r>
              <a:rPr lang="en-US" sz="1612" b="1" dirty="0">
                <a:solidFill>
                  <a:srgbClr val="FFFFFF"/>
                </a:solidFill>
                <a:latin typeface="Noto Sans SC" pitchFamily="34" charset="0"/>
                <a:ea typeface="Noto Sans SC" pitchFamily="34" charset="-122"/>
                <a:cs typeface="Noto Sans SC" pitchFamily="34" charset="-120"/>
              </a:rPr>
              <a:t>Résultats Mesurés</a:t>
            </a:r>
            <a:endParaRPr lang="en-US" sz="1600" dirty="0"/>
          </a:p>
        </p:txBody>
      </p:sp>
      <p:sp>
        <p:nvSpPr>
          <p:cNvPr id="34" name="Shape 32"/>
          <p:cNvSpPr/>
          <p:nvPr/>
        </p:nvSpPr>
        <p:spPr>
          <a:xfrm>
            <a:off x="6233843" y="2184151"/>
            <a:ext cx="5622483" cy="3890519"/>
          </a:xfrm>
          <a:custGeom>
            <a:avLst/>
            <a:gdLst/>
            <a:ahLst/>
            <a:cxnLst/>
            <a:rect l="l" t="t" r="r" b="b"/>
            <a:pathLst>
              <a:path w="5622483" h="3890519">
                <a:moveTo>
                  <a:pt x="136518" y="0"/>
                </a:moveTo>
                <a:lnTo>
                  <a:pt x="5485965" y="0"/>
                </a:lnTo>
                <a:cubicBezTo>
                  <a:pt x="5561362" y="0"/>
                  <a:pt x="5622483" y="61121"/>
                  <a:pt x="5622483" y="136518"/>
                </a:cubicBezTo>
                <a:lnTo>
                  <a:pt x="5622483" y="3754001"/>
                </a:lnTo>
                <a:cubicBezTo>
                  <a:pt x="5622483" y="3829398"/>
                  <a:pt x="5561362" y="3890519"/>
                  <a:pt x="5485965" y="3890519"/>
                </a:cubicBezTo>
                <a:lnTo>
                  <a:pt x="136518" y="3890519"/>
                </a:lnTo>
                <a:cubicBezTo>
                  <a:pt x="61121" y="3890519"/>
                  <a:pt x="0" y="3829398"/>
                  <a:pt x="0" y="3754001"/>
                </a:cubicBezTo>
                <a:lnTo>
                  <a:pt x="0" y="136518"/>
                </a:lnTo>
                <a:cubicBezTo>
                  <a:pt x="0" y="61121"/>
                  <a:pt x="61121" y="0"/>
                  <a:pt x="136518" y="0"/>
                </a:cubicBezTo>
                <a:close/>
              </a:path>
            </a:pathLst>
          </a:custGeom>
          <a:solidFill>
            <a:srgbClr val="F3F4F6"/>
          </a:solidFill>
          <a:ln/>
        </p:spPr>
      </p:sp>
      <p:sp>
        <p:nvSpPr>
          <p:cNvPr id="35" name="Shape 33"/>
          <p:cNvSpPr/>
          <p:nvPr/>
        </p:nvSpPr>
        <p:spPr>
          <a:xfrm>
            <a:off x="6404479" y="2354788"/>
            <a:ext cx="5281209" cy="1160330"/>
          </a:xfrm>
          <a:custGeom>
            <a:avLst/>
            <a:gdLst/>
            <a:ahLst/>
            <a:cxnLst/>
            <a:rect l="l" t="t" r="r" b="b"/>
            <a:pathLst>
              <a:path w="5281209" h="1160330">
                <a:moveTo>
                  <a:pt x="102388" y="0"/>
                </a:moveTo>
                <a:lnTo>
                  <a:pt x="5178822" y="0"/>
                </a:lnTo>
                <a:cubicBezTo>
                  <a:pt x="5235369" y="0"/>
                  <a:pt x="5281209" y="45840"/>
                  <a:pt x="5281209" y="102388"/>
                </a:cubicBezTo>
                <a:lnTo>
                  <a:pt x="5281209" y="1057943"/>
                </a:lnTo>
                <a:cubicBezTo>
                  <a:pt x="5281209" y="1114490"/>
                  <a:pt x="5235369" y="1160330"/>
                  <a:pt x="5178822" y="1160330"/>
                </a:cubicBezTo>
                <a:lnTo>
                  <a:pt x="102388" y="1160330"/>
                </a:lnTo>
                <a:cubicBezTo>
                  <a:pt x="45840" y="1160330"/>
                  <a:pt x="0" y="1114490"/>
                  <a:pt x="0" y="1057943"/>
                </a:cubicBezTo>
                <a:lnTo>
                  <a:pt x="0" y="102388"/>
                </a:lnTo>
                <a:cubicBezTo>
                  <a:pt x="0" y="45840"/>
                  <a:pt x="45840" y="0"/>
                  <a:pt x="102388" y="0"/>
                </a:cubicBezTo>
                <a:close/>
              </a:path>
            </a:pathLst>
          </a:custGeom>
          <a:solidFill>
            <a:srgbClr val="FFFFFF"/>
          </a:solidFill>
          <a:ln/>
        </p:spPr>
      </p:sp>
      <p:sp>
        <p:nvSpPr>
          <p:cNvPr id="36" name="Shape 34"/>
          <p:cNvSpPr/>
          <p:nvPr/>
        </p:nvSpPr>
        <p:spPr>
          <a:xfrm>
            <a:off x="6540989" y="2491297"/>
            <a:ext cx="341274" cy="341274"/>
          </a:xfrm>
          <a:custGeom>
            <a:avLst/>
            <a:gdLst/>
            <a:ahLst/>
            <a:cxnLst/>
            <a:rect l="l" t="t" r="r" b="b"/>
            <a:pathLst>
              <a:path w="341274" h="341274">
                <a:moveTo>
                  <a:pt x="68255" y="0"/>
                </a:moveTo>
                <a:lnTo>
                  <a:pt x="273019" y="0"/>
                </a:lnTo>
                <a:cubicBezTo>
                  <a:pt x="310715" y="0"/>
                  <a:pt x="341274" y="30559"/>
                  <a:pt x="341274" y="68255"/>
                </a:cubicBezTo>
                <a:lnTo>
                  <a:pt x="341274" y="273019"/>
                </a:lnTo>
                <a:cubicBezTo>
                  <a:pt x="341274" y="310715"/>
                  <a:pt x="310715" y="341274"/>
                  <a:pt x="273019" y="341274"/>
                </a:cubicBezTo>
                <a:lnTo>
                  <a:pt x="68255" y="341274"/>
                </a:lnTo>
                <a:cubicBezTo>
                  <a:pt x="30559" y="341274"/>
                  <a:pt x="0" y="310715"/>
                  <a:pt x="0" y="273019"/>
                </a:cubicBezTo>
                <a:lnTo>
                  <a:pt x="0" y="68255"/>
                </a:lnTo>
                <a:cubicBezTo>
                  <a:pt x="0" y="30559"/>
                  <a:pt x="30559" y="0"/>
                  <a:pt x="68255" y="0"/>
                </a:cubicBezTo>
                <a:close/>
              </a:path>
            </a:pathLst>
          </a:custGeom>
          <a:solidFill>
            <a:srgbClr val="10B981"/>
          </a:solidFill>
          <a:ln/>
        </p:spPr>
      </p:sp>
      <p:sp>
        <p:nvSpPr>
          <p:cNvPr id="37" name="Shape 35"/>
          <p:cNvSpPr/>
          <p:nvPr/>
        </p:nvSpPr>
        <p:spPr>
          <a:xfrm>
            <a:off x="6634839" y="2593679"/>
            <a:ext cx="153573" cy="136509"/>
          </a:xfrm>
          <a:custGeom>
            <a:avLst/>
            <a:gdLst/>
            <a:ahLst/>
            <a:cxnLst/>
            <a:rect l="l" t="t" r="r" b="b"/>
            <a:pathLst>
              <a:path w="153573" h="136509">
                <a:moveTo>
                  <a:pt x="76787" y="8532"/>
                </a:moveTo>
                <a:cubicBezTo>
                  <a:pt x="55244" y="8532"/>
                  <a:pt x="37993" y="18343"/>
                  <a:pt x="25436" y="30021"/>
                </a:cubicBezTo>
                <a:cubicBezTo>
                  <a:pt x="12958" y="41619"/>
                  <a:pt x="4613" y="55457"/>
                  <a:pt x="640" y="64975"/>
                </a:cubicBezTo>
                <a:cubicBezTo>
                  <a:pt x="-240" y="67082"/>
                  <a:pt x="-240" y="69428"/>
                  <a:pt x="640" y="71534"/>
                </a:cubicBezTo>
                <a:cubicBezTo>
                  <a:pt x="4613" y="81052"/>
                  <a:pt x="12958" y="94917"/>
                  <a:pt x="25436" y="106488"/>
                </a:cubicBezTo>
                <a:cubicBezTo>
                  <a:pt x="37993" y="118139"/>
                  <a:pt x="55244" y="127978"/>
                  <a:pt x="76787" y="127978"/>
                </a:cubicBezTo>
                <a:cubicBezTo>
                  <a:pt x="98329" y="127978"/>
                  <a:pt x="115580" y="118166"/>
                  <a:pt x="128138" y="106488"/>
                </a:cubicBezTo>
                <a:cubicBezTo>
                  <a:pt x="140615" y="94890"/>
                  <a:pt x="148961" y="81052"/>
                  <a:pt x="152933" y="71534"/>
                </a:cubicBezTo>
                <a:cubicBezTo>
                  <a:pt x="153813" y="69428"/>
                  <a:pt x="153813" y="67082"/>
                  <a:pt x="152933" y="64975"/>
                </a:cubicBezTo>
                <a:cubicBezTo>
                  <a:pt x="148961" y="55457"/>
                  <a:pt x="140615" y="41593"/>
                  <a:pt x="128138" y="30021"/>
                </a:cubicBezTo>
                <a:cubicBezTo>
                  <a:pt x="115580" y="18370"/>
                  <a:pt x="98329" y="8532"/>
                  <a:pt x="76787" y="8532"/>
                </a:cubicBezTo>
                <a:close/>
                <a:moveTo>
                  <a:pt x="38393" y="68255"/>
                </a:moveTo>
                <a:cubicBezTo>
                  <a:pt x="38393" y="47065"/>
                  <a:pt x="55597" y="29861"/>
                  <a:pt x="76787" y="29861"/>
                </a:cubicBezTo>
                <a:cubicBezTo>
                  <a:pt x="97976" y="29861"/>
                  <a:pt x="115180" y="47065"/>
                  <a:pt x="115180" y="68255"/>
                </a:cubicBezTo>
                <a:cubicBezTo>
                  <a:pt x="115180" y="89445"/>
                  <a:pt x="97976" y="106648"/>
                  <a:pt x="76787" y="106648"/>
                </a:cubicBezTo>
                <a:cubicBezTo>
                  <a:pt x="55597" y="106648"/>
                  <a:pt x="38393" y="89445"/>
                  <a:pt x="38393" y="68255"/>
                </a:cubicBezTo>
                <a:close/>
                <a:moveTo>
                  <a:pt x="76787" y="51191"/>
                </a:moveTo>
                <a:cubicBezTo>
                  <a:pt x="76787" y="60603"/>
                  <a:pt x="69135" y="68255"/>
                  <a:pt x="59723" y="68255"/>
                </a:cubicBezTo>
                <a:cubicBezTo>
                  <a:pt x="56657" y="68255"/>
                  <a:pt x="53777" y="67455"/>
                  <a:pt x="51271" y="66015"/>
                </a:cubicBezTo>
                <a:cubicBezTo>
                  <a:pt x="51004" y="68921"/>
                  <a:pt x="51244" y="71907"/>
                  <a:pt x="52044" y="74867"/>
                </a:cubicBezTo>
                <a:cubicBezTo>
                  <a:pt x="55697" y="88518"/>
                  <a:pt x="69748" y="96623"/>
                  <a:pt x="83399" y="92970"/>
                </a:cubicBezTo>
                <a:cubicBezTo>
                  <a:pt x="97050" y="89318"/>
                  <a:pt x="105155" y="75267"/>
                  <a:pt x="101502" y="61616"/>
                </a:cubicBezTo>
                <a:cubicBezTo>
                  <a:pt x="98249" y="49431"/>
                  <a:pt x="86705" y="41673"/>
                  <a:pt x="74547" y="42739"/>
                </a:cubicBezTo>
                <a:cubicBezTo>
                  <a:pt x="75960" y="45219"/>
                  <a:pt x="76787" y="48098"/>
                  <a:pt x="76787" y="51191"/>
                </a:cubicBezTo>
                <a:close/>
              </a:path>
            </a:pathLst>
          </a:custGeom>
          <a:solidFill>
            <a:srgbClr val="FFFFFF"/>
          </a:solidFill>
          <a:ln/>
        </p:spPr>
      </p:sp>
      <p:sp>
        <p:nvSpPr>
          <p:cNvPr id="38" name="Text 36"/>
          <p:cNvSpPr/>
          <p:nvPr/>
        </p:nvSpPr>
        <p:spPr>
          <a:xfrm>
            <a:off x="6984645" y="2542488"/>
            <a:ext cx="1109139" cy="238892"/>
          </a:xfrm>
          <a:prstGeom prst="rect">
            <a:avLst/>
          </a:prstGeom>
          <a:noFill/>
          <a:ln/>
        </p:spPr>
        <p:txBody>
          <a:bodyPr wrap="square" lIns="0" tIns="0" rIns="0" bIns="0" rtlCol="0" anchor="ctr"/>
          <a:lstStyle/>
          <a:p>
            <a:pPr>
              <a:lnSpc>
                <a:spcPct val="130000"/>
              </a:lnSpc>
            </a:pPr>
            <a:r>
              <a:rPr lang="en-US" sz="1209" b="1" dirty="0">
                <a:solidFill>
                  <a:srgbClr val="1E3A8A"/>
                </a:solidFill>
                <a:latin typeface="MiSans" pitchFamily="34" charset="0"/>
                <a:ea typeface="MiSans" pitchFamily="34" charset="-122"/>
                <a:cs typeface="MiSans" pitchFamily="34" charset="-120"/>
              </a:rPr>
              <a:t>ThirdEye Data</a:t>
            </a:r>
            <a:endParaRPr lang="en-US" sz="1600" dirty="0"/>
          </a:p>
        </p:txBody>
      </p:sp>
      <p:sp>
        <p:nvSpPr>
          <p:cNvPr id="39" name="Text 37"/>
          <p:cNvSpPr/>
          <p:nvPr/>
        </p:nvSpPr>
        <p:spPr>
          <a:xfrm>
            <a:off x="6477000" y="2900826"/>
            <a:ext cx="793461" cy="307146"/>
          </a:xfrm>
          <a:prstGeom prst="rect">
            <a:avLst/>
          </a:prstGeom>
          <a:noFill/>
          <a:ln/>
        </p:spPr>
        <p:txBody>
          <a:bodyPr wrap="square" lIns="0" tIns="0" rIns="0" bIns="0" rtlCol="0" anchor="ctr"/>
          <a:lstStyle/>
          <a:p>
            <a:pPr algn="ctr">
              <a:lnSpc>
                <a:spcPct val="100000"/>
              </a:lnSpc>
            </a:pPr>
            <a:r>
              <a:rPr lang="en-US" sz="2015" b="1" dirty="0">
                <a:solidFill>
                  <a:srgbClr val="10B981"/>
                </a:solidFill>
                <a:latin typeface="Noto Sans SC" pitchFamily="34" charset="0"/>
                <a:ea typeface="Noto Sans SC" pitchFamily="34" charset="-122"/>
                <a:cs typeface="Noto Sans SC" pitchFamily="34" charset="-120"/>
              </a:rPr>
              <a:t>95%+</a:t>
            </a:r>
            <a:endParaRPr lang="en-US" sz="1600" dirty="0"/>
          </a:p>
        </p:txBody>
      </p:sp>
      <p:sp>
        <p:nvSpPr>
          <p:cNvPr id="40" name="Text 38"/>
          <p:cNvSpPr/>
          <p:nvPr/>
        </p:nvSpPr>
        <p:spPr>
          <a:xfrm>
            <a:off x="6511127" y="3207972"/>
            <a:ext cx="725206" cy="170637"/>
          </a:xfrm>
          <a:prstGeom prst="rect">
            <a:avLst/>
          </a:prstGeom>
          <a:noFill/>
          <a:ln/>
        </p:spPr>
        <p:txBody>
          <a:bodyPr wrap="square" lIns="0" tIns="0" rIns="0" bIns="0" rtlCol="0" anchor="ctr"/>
          <a:lstStyle/>
          <a:p>
            <a:pPr algn="ctr">
              <a:lnSpc>
                <a:spcPct val="120000"/>
              </a:lnSpc>
            </a:pPr>
            <a:r>
              <a:rPr lang="en-US" sz="941" dirty="0">
                <a:solidFill>
                  <a:srgbClr val="6B7280"/>
                </a:solidFill>
                <a:latin typeface="MiSans" pitchFamily="34" charset="0"/>
                <a:ea typeface="MiSans" pitchFamily="34" charset="-122"/>
                <a:cs typeface="MiSans" pitchFamily="34" charset="-120"/>
              </a:rPr>
              <a:t>Précision</a:t>
            </a:r>
            <a:endParaRPr lang="en-US" sz="1600" dirty="0"/>
          </a:p>
        </p:txBody>
      </p:sp>
      <p:sp>
        <p:nvSpPr>
          <p:cNvPr id="41" name="Text 39"/>
          <p:cNvSpPr/>
          <p:nvPr/>
        </p:nvSpPr>
        <p:spPr>
          <a:xfrm>
            <a:off x="7275394" y="2900826"/>
            <a:ext cx="1382158" cy="307146"/>
          </a:xfrm>
          <a:prstGeom prst="rect">
            <a:avLst/>
          </a:prstGeom>
          <a:noFill/>
          <a:ln/>
        </p:spPr>
        <p:txBody>
          <a:bodyPr wrap="square" lIns="0" tIns="0" rIns="0" bIns="0" rtlCol="0" anchor="ctr"/>
          <a:lstStyle/>
          <a:p>
            <a:pPr algn="ctr">
              <a:lnSpc>
                <a:spcPct val="100000"/>
              </a:lnSpc>
            </a:pPr>
            <a:r>
              <a:rPr lang="en-US" sz="2015" b="1" dirty="0">
                <a:solidFill>
                  <a:srgbClr val="10B981"/>
                </a:solidFill>
                <a:latin typeface="Noto Sans SC" pitchFamily="34" charset="0"/>
                <a:ea typeface="Noto Sans SC" pitchFamily="34" charset="-122"/>
                <a:cs typeface="Noto Sans SC" pitchFamily="34" charset="-120"/>
              </a:rPr>
              <a:t>-50 à -70%</a:t>
            </a:r>
            <a:endParaRPr lang="en-US" sz="1600" dirty="0"/>
          </a:p>
        </p:txBody>
      </p:sp>
      <p:sp>
        <p:nvSpPr>
          <p:cNvPr id="42" name="Text 40"/>
          <p:cNvSpPr/>
          <p:nvPr/>
        </p:nvSpPr>
        <p:spPr>
          <a:xfrm>
            <a:off x="7309521" y="3207972"/>
            <a:ext cx="1313903" cy="170637"/>
          </a:xfrm>
          <a:prstGeom prst="rect">
            <a:avLst/>
          </a:prstGeom>
          <a:noFill/>
          <a:ln/>
        </p:spPr>
        <p:txBody>
          <a:bodyPr wrap="square" lIns="0" tIns="0" rIns="0" bIns="0" rtlCol="0" anchor="ctr"/>
          <a:lstStyle/>
          <a:p>
            <a:pPr algn="ctr">
              <a:lnSpc>
                <a:spcPct val="120000"/>
              </a:lnSpc>
            </a:pPr>
            <a:r>
              <a:rPr lang="en-US" sz="941" dirty="0">
                <a:solidFill>
                  <a:srgbClr val="6B7280"/>
                </a:solidFill>
                <a:latin typeface="MiSans" pitchFamily="34" charset="0"/>
                <a:ea typeface="MiSans" pitchFamily="34" charset="-122"/>
                <a:cs typeface="MiSans" pitchFamily="34" charset="-120"/>
              </a:rPr>
              <a:t>Effort manuel</a:t>
            </a:r>
            <a:endParaRPr lang="en-US" sz="1600" dirty="0"/>
          </a:p>
        </p:txBody>
      </p:sp>
      <p:sp>
        <p:nvSpPr>
          <p:cNvPr id="43" name="Shape 41"/>
          <p:cNvSpPr/>
          <p:nvPr/>
        </p:nvSpPr>
        <p:spPr>
          <a:xfrm>
            <a:off x="6404479" y="3515118"/>
            <a:ext cx="5281209" cy="1194458"/>
          </a:xfrm>
          <a:custGeom>
            <a:avLst/>
            <a:gdLst/>
            <a:ahLst/>
            <a:cxnLst/>
            <a:rect l="l" t="t" r="r" b="b"/>
            <a:pathLst>
              <a:path w="5281209" h="1194458">
                <a:moveTo>
                  <a:pt x="102377" y="0"/>
                </a:moveTo>
                <a:lnTo>
                  <a:pt x="5178832" y="0"/>
                </a:lnTo>
                <a:cubicBezTo>
                  <a:pt x="5235374" y="0"/>
                  <a:pt x="5281209" y="45836"/>
                  <a:pt x="5281209" y="102377"/>
                </a:cubicBezTo>
                <a:lnTo>
                  <a:pt x="5281209" y="1092081"/>
                </a:lnTo>
                <a:cubicBezTo>
                  <a:pt x="5281209" y="1148622"/>
                  <a:pt x="5235374" y="1194458"/>
                  <a:pt x="5178832" y="1194458"/>
                </a:cubicBezTo>
                <a:lnTo>
                  <a:pt x="102377" y="1194458"/>
                </a:lnTo>
                <a:cubicBezTo>
                  <a:pt x="45836" y="1194458"/>
                  <a:pt x="0" y="1148622"/>
                  <a:pt x="0" y="1092081"/>
                </a:cubicBezTo>
                <a:lnTo>
                  <a:pt x="0" y="102377"/>
                </a:lnTo>
                <a:cubicBezTo>
                  <a:pt x="0" y="45874"/>
                  <a:pt x="45874" y="0"/>
                  <a:pt x="102377" y="0"/>
                </a:cubicBezTo>
                <a:close/>
              </a:path>
            </a:pathLst>
          </a:custGeom>
          <a:solidFill>
            <a:srgbClr val="FFFFFF"/>
          </a:solidFill>
          <a:ln/>
        </p:spPr>
      </p:sp>
      <p:sp>
        <p:nvSpPr>
          <p:cNvPr id="44" name="Shape 42"/>
          <p:cNvSpPr/>
          <p:nvPr/>
        </p:nvSpPr>
        <p:spPr>
          <a:xfrm>
            <a:off x="6540989" y="3651628"/>
            <a:ext cx="341274" cy="341274"/>
          </a:xfrm>
          <a:custGeom>
            <a:avLst/>
            <a:gdLst/>
            <a:ahLst/>
            <a:cxnLst/>
            <a:rect l="l" t="t" r="r" b="b"/>
            <a:pathLst>
              <a:path w="341274" h="341274">
                <a:moveTo>
                  <a:pt x="68255" y="0"/>
                </a:moveTo>
                <a:lnTo>
                  <a:pt x="273019" y="0"/>
                </a:lnTo>
                <a:cubicBezTo>
                  <a:pt x="310715" y="0"/>
                  <a:pt x="341274" y="30559"/>
                  <a:pt x="341274" y="68255"/>
                </a:cubicBezTo>
                <a:lnTo>
                  <a:pt x="341274" y="273019"/>
                </a:lnTo>
                <a:cubicBezTo>
                  <a:pt x="341274" y="310715"/>
                  <a:pt x="310715" y="341274"/>
                  <a:pt x="273019" y="341274"/>
                </a:cubicBezTo>
                <a:lnTo>
                  <a:pt x="68255" y="341274"/>
                </a:lnTo>
                <a:cubicBezTo>
                  <a:pt x="30559" y="341274"/>
                  <a:pt x="0" y="310715"/>
                  <a:pt x="0" y="273019"/>
                </a:cubicBezTo>
                <a:lnTo>
                  <a:pt x="0" y="68255"/>
                </a:lnTo>
                <a:cubicBezTo>
                  <a:pt x="0" y="30559"/>
                  <a:pt x="30559" y="0"/>
                  <a:pt x="68255" y="0"/>
                </a:cubicBezTo>
                <a:close/>
              </a:path>
            </a:pathLst>
          </a:custGeom>
          <a:solidFill>
            <a:srgbClr val="3B82F6"/>
          </a:solidFill>
          <a:ln/>
        </p:spPr>
      </p:sp>
      <p:sp>
        <p:nvSpPr>
          <p:cNvPr id="45" name="Shape 43"/>
          <p:cNvSpPr/>
          <p:nvPr/>
        </p:nvSpPr>
        <p:spPr>
          <a:xfrm>
            <a:off x="6643371" y="3754010"/>
            <a:ext cx="136509" cy="136509"/>
          </a:xfrm>
          <a:custGeom>
            <a:avLst/>
            <a:gdLst/>
            <a:ahLst/>
            <a:cxnLst/>
            <a:rect l="l" t="t" r="r" b="b"/>
            <a:pathLst>
              <a:path w="136509" h="136509">
                <a:moveTo>
                  <a:pt x="46925" y="6399"/>
                </a:moveTo>
                <a:cubicBezTo>
                  <a:pt x="46925" y="2853"/>
                  <a:pt x="44072" y="0"/>
                  <a:pt x="40526" y="0"/>
                </a:cubicBezTo>
                <a:cubicBezTo>
                  <a:pt x="36980" y="0"/>
                  <a:pt x="34127" y="2853"/>
                  <a:pt x="34127" y="6399"/>
                </a:cubicBezTo>
                <a:lnTo>
                  <a:pt x="34127" y="17064"/>
                </a:lnTo>
                <a:cubicBezTo>
                  <a:pt x="24716" y="17064"/>
                  <a:pt x="17064" y="24716"/>
                  <a:pt x="17064" y="34127"/>
                </a:cubicBezTo>
                <a:lnTo>
                  <a:pt x="6399" y="34127"/>
                </a:lnTo>
                <a:cubicBezTo>
                  <a:pt x="2853" y="34127"/>
                  <a:pt x="0" y="36980"/>
                  <a:pt x="0" y="40526"/>
                </a:cubicBezTo>
                <a:cubicBezTo>
                  <a:pt x="0" y="44072"/>
                  <a:pt x="2853" y="46925"/>
                  <a:pt x="6399" y="46925"/>
                </a:cubicBezTo>
                <a:lnTo>
                  <a:pt x="17064" y="46925"/>
                </a:lnTo>
                <a:lnTo>
                  <a:pt x="17064" y="61856"/>
                </a:lnTo>
                <a:lnTo>
                  <a:pt x="6399" y="61856"/>
                </a:lnTo>
                <a:cubicBezTo>
                  <a:pt x="2853" y="61856"/>
                  <a:pt x="0" y="64709"/>
                  <a:pt x="0" y="68255"/>
                </a:cubicBezTo>
                <a:cubicBezTo>
                  <a:pt x="0" y="71801"/>
                  <a:pt x="2853" y="74654"/>
                  <a:pt x="6399" y="74654"/>
                </a:cubicBezTo>
                <a:lnTo>
                  <a:pt x="17064" y="74654"/>
                </a:lnTo>
                <a:lnTo>
                  <a:pt x="17064" y="89584"/>
                </a:lnTo>
                <a:lnTo>
                  <a:pt x="6399" y="89584"/>
                </a:lnTo>
                <a:cubicBezTo>
                  <a:pt x="2853" y="89584"/>
                  <a:pt x="0" y="92437"/>
                  <a:pt x="0" y="95983"/>
                </a:cubicBezTo>
                <a:cubicBezTo>
                  <a:pt x="0" y="99529"/>
                  <a:pt x="2853" y="102382"/>
                  <a:pt x="6399" y="102382"/>
                </a:cubicBezTo>
                <a:lnTo>
                  <a:pt x="17064" y="102382"/>
                </a:lnTo>
                <a:cubicBezTo>
                  <a:pt x="17064" y="111794"/>
                  <a:pt x="24716" y="119446"/>
                  <a:pt x="34127" y="119446"/>
                </a:cubicBezTo>
                <a:lnTo>
                  <a:pt x="34127" y="130111"/>
                </a:lnTo>
                <a:cubicBezTo>
                  <a:pt x="34127" y="133657"/>
                  <a:pt x="36980" y="136509"/>
                  <a:pt x="40526" y="136509"/>
                </a:cubicBezTo>
                <a:cubicBezTo>
                  <a:pt x="44072" y="136509"/>
                  <a:pt x="46925" y="133657"/>
                  <a:pt x="46925" y="130111"/>
                </a:cubicBezTo>
                <a:lnTo>
                  <a:pt x="46925" y="119446"/>
                </a:lnTo>
                <a:lnTo>
                  <a:pt x="61856" y="119446"/>
                </a:lnTo>
                <a:lnTo>
                  <a:pt x="61856" y="130111"/>
                </a:lnTo>
                <a:cubicBezTo>
                  <a:pt x="61856" y="133657"/>
                  <a:pt x="64709" y="136509"/>
                  <a:pt x="68255" y="136509"/>
                </a:cubicBezTo>
                <a:cubicBezTo>
                  <a:pt x="71801" y="136509"/>
                  <a:pt x="74654" y="133657"/>
                  <a:pt x="74654" y="130111"/>
                </a:cubicBezTo>
                <a:lnTo>
                  <a:pt x="74654" y="119446"/>
                </a:lnTo>
                <a:lnTo>
                  <a:pt x="89584" y="119446"/>
                </a:lnTo>
                <a:lnTo>
                  <a:pt x="89584" y="130111"/>
                </a:lnTo>
                <a:cubicBezTo>
                  <a:pt x="89584" y="133657"/>
                  <a:pt x="92437" y="136509"/>
                  <a:pt x="95983" y="136509"/>
                </a:cubicBezTo>
                <a:cubicBezTo>
                  <a:pt x="99529" y="136509"/>
                  <a:pt x="102382" y="133657"/>
                  <a:pt x="102382" y="130111"/>
                </a:cubicBezTo>
                <a:lnTo>
                  <a:pt x="102382" y="119446"/>
                </a:lnTo>
                <a:cubicBezTo>
                  <a:pt x="111794" y="119446"/>
                  <a:pt x="119446" y="111794"/>
                  <a:pt x="119446" y="102382"/>
                </a:cubicBezTo>
                <a:lnTo>
                  <a:pt x="130111" y="102382"/>
                </a:lnTo>
                <a:cubicBezTo>
                  <a:pt x="133657" y="102382"/>
                  <a:pt x="136509" y="99529"/>
                  <a:pt x="136509" y="95983"/>
                </a:cubicBezTo>
                <a:cubicBezTo>
                  <a:pt x="136509" y="92437"/>
                  <a:pt x="133657" y="89584"/>
                  <a:pt x="130111" y="89584"/>
                </a:cubicBezTo>
                <a:lnTo>
                  <a:pt x="119446" y="89584"/>
                </a:lnTo>
                <a:lnTo>
                  <a:pt x="119446" y="74654"/>
                </a:lnTo>
                <a:lnTo>
                  <a:pt x="130111" y="74654"/>
                </a:lnTo>
                <a:cubicBezTo>
                  <a:pt x="133657" y="74654"/>
                  <a:pt x="136509" y="71801"/>
                  <a:pt x="136509" y="68255"/>
                </a:cubicBezTo>
                <a:cubicBezTo>
                  <a:pt x="136509" y="64709"/>
                  <a:pt x="133657" y="61856"/>
                  <a:pt x="130111" y="61856"/>
                </a:cubicBezTo>
                <a:lnTo>
                  <a:pt x="119446" y="61856"/>
                </a:lnTo>
                <a:lnTo>
                  <a:pt x="119446" y="46925"/>
                </a:lnTo>
                <a:lnTo>
                  <a:pt x="130111" y="46925"/>
                </a:lnTo>
                <a:cubicBezTo>
                  <a:pt x="133657" y="46925"/>
                  <a:pt x="136509" y="44072"/>
                  <a:pt x="136509" y="40526"/>
                </a:cubicBezTo>
                <a:cubicBezTo>
                  <a:pt x="136509" y="36980"/>
                  <a:pt x="133657" y="34127"/>
                  <a:pt x="130111" y="34127"/>
                </a:cubicBezTo>
                <a:lnTo>
                  <a:pt x="119446" y="34127"/>
                </a:lnTo>
                <a:cubicBezTo>
                  <a:pt x="119446" y="24716"/>
                  <a:pt x="111794" y="17064"/>
                  <a:pt x="102382" y="17064"/>
                </a:cubicBezTo>
                <a:lnTo>
                  <a:pt x="102382" y="6399"/>
                </a:lnTo>
                <a:cubicBezTo>
                  <a:pt x="102382" y="2853"/>
                  <a:pt x="99529" y="0"/>
                  <a:pt x="95983" y="0"/>
                </a:cubicBezTo>
                <a:cubicBezTo>
                  <a:pt x="92437" y="0"/>
                  <a:pt x="89584" y="2853"/>
                  <a:pt x="89584" y="6399"/>
                </a:cubicBezTo>
                <a:lnTo>
                  <a:pt x="89584" y="17064"/>
                </a:lnTo>
                <a:lnTo>
                  <a:pt x="74654" y="17064"/>
                </a:lnTo>
                <a:lnTo>
                  <a:pt x="74654" y="6399"/>
                </a:lnTo>
                <a:cubicBezTo>
                  <a:pt x="74654" y="2853"/>
                  <a:pt x="71801" y="0"/>
                  <a:pt x="68255" y="0"/>
                </a:cubicBezTo>
                <a:cubicBezTo>
                  <a:pt x="64709" y="0"/>
                  <a:pt x="61856" y="2853"/>
                  <a:pt x="61856" y="6399"/>
                </a:cubicBezTo>
                <a:lnTo>
                  <a:pt x="61856" y="17064"/>
                </a:lnTo>
                <a:lnTo>
                  <a:pt x="46925" y="17064"/>
                </a:lnTo>
                <a:lnTo>
                  <a:pt x="46925" y="6399"/>
                </a:lnTo>
                <a:close/>
                <a:moveTo>
                  <a:pt x="42659" y="34127"/>
                </a:moveTo>
                <a:lnTo>
                  <a:pt x="93850" y="34127"/>
                </a:lnTo>
                <a:cubicBezTo>
                  <a:pt x="98569" y="34127"/>
                  <a:pt x="102382" y="37940"/>
                  <a:pt x="102382" y="42659"/>
                </a:cubicBezTo>
                <a:lnTo>
                  <a:pt x="102382" y="93850"/>
                </a:lnTo>
                <a:cubicBezTo>
                  <a:pt x="102382" y="98569"/>
                  <a:pt x="98569" y="102382"/>
                  <a:pt x="93850" y="102382"/>
                </a:cubicBezTo>
                <a:lnTo>
                  <a:pt x="42659" y="102382"/>
                </a:lnTo>
                <a:cubicBezTo>
                  <a:pt x="37940" y="102382"/>
                  <a:pt x="34127" y="98569"/>
                  <a:pt x="34127" y="93850"/>
                </a:cubicBezTo>
                <a:lnTo>
                  <a:pt x="34127" y="42659"/>
                </a:lnTo>
                <a:cubicBezTo>
                  <a:pt x="34127" y="37940"/>
                  <a:pt x="37940" y="34127"/>
                  <a:pt x="42659" y="34127"/>
                </a:cubicBezTo>
                <a:close/>
                <a:moveTo>
                  <a:pt x="46925" y="46925"/>
                </a:moveTo>
                <a:lnTo>
                  <a:pt x="46925" y="89584"/>
                </a:lnTo>
                <a:lnTo>
                  <a:pt x="89584" y="89584"/>
                </a:lnTo>
                <a:lnTo>
                  <a:pt x="89584" y="46925"/>
                </a:lnTo>
                <a:lnTo>
                  <a:pt x="46925" y="46925"/>
                </a:lnTo>
                <a:close/>
              </a:path>
            </a:pathLst>
          </a:custGeom>
          <a:solidFill>
            <a:srgbClr val="FFFFFF"/>
          </a:solidFill>
          <a:ln/>
        </p:spPr>
      </p:sp>
      <p:sp>
        <p:nvSpPr>
          <p:cNvPr id="46" name="Text 44"/>
          <p:cNvSpPr/>
          <p:nvPr/>
        </p:nvSpPr>
        <p:spPr>
          <a:xfrm>
            <a:off x="6984645" y="3702819"/>
            <a:ext cx="392465" cy="238892"/>
          </a:xfrm>
          <a:prstGeom prst="rect">
            <a:avLst/>
          </a:prstGeom>
          <a:noFill/>
          <a:ln/>
        </p:spPr>
        <p:txBody>
          <a:bodyPr wrap="square" lIns="0" tIns="0" rIns="0" bIns="0" rtlCol="0" anchor="ctr"/>
          <a:lstStyle/>
          <a:p>
            <a:pPr>
              <a:lnSpc>
                <a:spcPct val="130000"/>
              </a:lnSpc>
            </a:pPr>
            <a:r>
              <a:rPr lang="en-US" sz="1209" b="1" dirty="0">
                <a:solidFill>
                  <a:srgbClr val="1E3A8A"/>
                </a:solidFill>
                <a:latin typeface="MiSans" pitchFamily="34" charset="0"/>
                <a:ea typeface="MiSans" pitchFamily="34" charset="-122"/>
                <a:cs typeface="MiSans" pitchFamily="34" charset="-120"/>
              </a:rPr>
              <a:t>Intel</a:t>
            </a:r>
            <a:endParaRPr lang="en-US" sz="1600" dirty="0"/>
          </a:p>
        </p:txBody>
      </p:sp>
      <p:sp>
        <p:nvSpPr>
          <p:cNvPr id="47" name="Text 45"/>
          <p:cNvSpPr/>
          <p:nvPr/>
        </p:nvSpPr>
        <p:spPr>
          <a:xfrm>
            <a:off x="6464202" y="4061156"/>
            <a:ext cx="5161763" cy="341274"/>
          </a:xfrm>
          <a:prstGeom prst="rect">
            <a:avLst/>
          </a:prstGeom>
          <a:noFill/>
          <a:ln/>
        </p:spPr>
        <p:txBody>
          <a:bodyPr wrap="square" lIns="0" tIns="0" rIns="0" bIns="0" rtlCol="0" anchor="ctr"/>
          <a:lstStyle/>
          <a:p>
            <a:pPr algn="ctr">
              <a:lnSpc>
                <a:spcPct val="90000"/>
              </a:lnSpc>
            </a:pPr>
            <a:r>
              <a:rPr lang="en-US" sz="2418" b="1" dirty="0">
                <a:solidFill>
                  <a:srgbClr val="3B82F6"/>
                </a:solidFill>
                <a:latin typeface="Noto Sans SC" pitchFamily="34" charset="0"/>
                <a:ea typeface="Noto Sans SC" pitchFamily="34" charset="-122"/>
                <a:cs typeface="Noto Sans SC" pitchFamily="34" charset="-120"/>
              </a:rPr>
              <a:t>$2M/an</a:t>
            </a:r>
            <a:endParaRPr lang="en-US" sz="1600" dirty="0"/>
          </a:p>
        </p:txBody>
      </p:sp>
      <p:sp>
        <p:nvSpPr>
          <p:cNvPr id="48" name="Text 46"/>
          <p:cNvSpPr/>
          <p:nvPr/>
        </p:nvSpPr>
        <p:spPr>
          <a:xfrm>
            <a:off x="6511127" y="4402430"/>
            <a:ext cx="5067913" cy="170637"/>
          </a:xfrm>
          <a:prstGeom prst="rect">
            <a:avLst/>
          </a:prstGeom>
          <a:noFill/>
          <a:ln/>
        </p:spPr>
        <p:txBody>
          <a:bodyPr wrap="square" lIns="0" tIns="0" rIns="0" bIns="0" rtlCol="0" anchor="ctr"/>
          <a:lstStyle/>
          <a:p>
            <a:pPr algn="ctr">
              <a:lnSpc>
                <a:spcPct val="120000"/>
              </a:lnSpc>
            </a:pPr>
            <a:r>
              <a:rPr lang="en-US" sz="941" dirty="0">
                <a:solidFill>
                  <a:srgbClr val="6B7280"/>
                </a:solidFill>
                <a:latin typeface="MiSans" pitchFamily="34" charset="0"/>
                <a:ea typeface="MiSans" pitchFamily="34" charset="-122"/>
                <a:cs typeface="MiSans" pitchFamily="34" charset="-120"/>
              </a:rPr>
              <a:t>Économisés (vision IA)</a:t>
            </a:r>
            <a:endParaRPr lang="en-US" sz="1600" dirty="0"/>
          </a:p>
        </p:txBody>
      </p:sp>
      <p:sp>
        <p:nvSpPr>
          <p:cNvPr id="49" name="Shape 47"/>
          <p:cNvSpPr/>
          <p:nvPr/>
        </p:nvSpPr>
        <p:spPr>
          <a:xfrm>
            <a:off x="6404479" y="4709576"/>
            <a:ext cx="5281209" cy="1194458"/>
          </a:xfrm>
          <a:custGeom>
            <a:avLst/>
            <a:gdLst/>
            <a:ahLst/>
            <a:cxnLst/>
            <a:rect l="l" t="t" r="r" b="b"/>
            <a:pathLst>
              <a:path w="5281209" h="1194458">
                <a:moveTo>
                  <a:pt x="102377" y="0"/>
                </a:moveTo>
                <a:lnTo>
                  <a:pt x="5178832" y="0"/>
                </a:lnTo>
                <a:cubicBezTo>
                  <a:pt x="5235374" y="0"/>
                  <a:pt x="5281209" y="45836"/>
                  <a:pt x="5281209" y="102377"/>
                </a:cubicBezTo>
                <a:lnTo>
                  <a:pt x="5281209" y="1092081"/>
                </a:lnTo>
                <a:cubicBezTo>
                  <a:pt x="5281209" y="1148622"/>
                  <a:pt x="5235374" y="1194458"/>
                  <a:pt x="5178832" y="1194458"/>
                </a:cubicBezTo>
                <a:lnTo>
                  <a:pt x="102377" y="1194458"/>
                </a:lnTo>
                <a:cubicBezTo>
                  <a:pt x="45836" y="1194458"/>
                  <a:pt x="0" y="1148622"/>
                  <a:pt x="0" y="1092081"/>
                </a:cubicBezTo>
                <a:lnTo>
                  <a:pt x="0" y="102377"/>
                </a:lnTo>
                <a:cubicBezTo>
                  <a:pt x="0" y="45874"/>
                  <a:pt x="45874" y="0"/>
                  <a:pt x="102377" y="0"/>
                </a:cubicBezTo>
                <a:close/>
              </a:path>
            </a:pathLst>
          </a:custGeom>
          <a:solidFill>
            <a:srgbClr val="FFFFFF"/>
          </a:solidFill>
          <a:ln/>
        </p:spPr>
      </p:sp>
      <p:sp>
        <p:nvSpPr>
          <p:cNvPr id="50" name="Shape 48"/>
          <p:cNvSpPr/>
          <p:nvPr/>
        </p:nvSpPr>
        <p:spPr>
          <a:xfrm>
            <a:off x="6540989" y="4846085"/>
            <a:ext cx="341274" cy="341274"/>
          </a:xfrm>
          <a:custGeom>
            <a:avLst/>
            <a:gdLst/>
            <a:ahLst/>
            <a:cxnLst/>
            <a:rect l="l" t="t" r="r" b="b"/>
            <a:pathLst>
              <a:path w="341274" h="341274">
                <a:moveTo>
                  <a:pt x="68255" y="0"/>
                </a:moveTo>
                <a:lnTo>
                  <a:pt x="273019" y="0"/>
                </a:lnTo>
                <a:cubicBezTo>
                  <a:pt x="310715" y="0"/>
                  <a:pt x="341274" y="30559"/>
                  <a:pt x="341274" y="68255"/>
                </a:cubicBezTo>
                <a:lnTo>
                  <a:pt x="341274" y="273019"/>
                </a:lnTo>
                <a:cubicBezTo>
                  <a:pt x="341274" y="310715"/>
                  <a:pt x="310715" y="341274"/>
                  <a:pt x="273019" y="341274"/>
                </a:cubicBezTo>
                <a:lnTo>
                  <a:pt x="68255" y="341274"/>
                </a:lnTo>
                <a:cubicBezTo>
                  <a:pt x="30559" y="341274"/>
                  <a:pt x="0" y="310715"/>
                  <a:pt x="0" y="273019"/>
                </a:cubicBezTo>
                <a:lnTo>
                  <a:pt x="0" y="68255"/>
                </a:lnTo>
                <a:cubicBezTo>
                  <a:pt x="0" y="30559"/>
                  <a:pt x="30559" y="0"/>
                  <a:pt x="68255" y="0"/>
                </a:cubicBezTo>
                <a:close/>
              </a:path>
            </a:pathLst>
          </a:custGeom>
          <a:solidFill>
            <a:srgbClr val="6B7280"/>
          </a:solidFill>
          <a:ln/>
        </p:spPr>
      </p:sp>
      <p:sp>
        <p:nvSpPr>
          <p:cNvPr id="51" name="Shape 49"/>
          <p:cNvSpPr/>
          <p:nvPr/>
        </p:nvSpPr>
        <p:spPr>
          <a:xfrm>
            <a:off x="6651903" y="4948467"/>
            <a:ext cx="119446" cy="136509"/>
          </a:xfrm>
          <a:custGeom>
            <a:avLst/>
            <a:gdLst/>
            <a:ahLst/>
            <a:cxnLst/>
            <a:rect l="l" t="t" r="r" b="b"/>
            <a:pathLst>
              <a:path w="119446" h="136509">
                <a:moveTo>
                  <a:pt x="76787" y="0"/>
                </a:moveTo>
                <a:lnTo>
                  <a:pt x="34127" y="0"/>
                </a:lnTo>
                <a:cubicBezTo>
                  <a:pt x="29408" y="0"/>
                  <a:pt x="25596" y="3813"/>
                  <a:pt x="25596" y="8532"/>
                </a:cubicBezTo>
                <a:cubicBezTo>
                  <a:pt x="25596" y="13251"/>
                  <a:pt x="29408" y="17064"/>
                  <a:pt x="34127" y="17064"/>
                </a:cubicBezTo>
                <a:lnTo>
                  <a:pt x="34127" y="57457"/>
                </a:lnTo>
                <a:lnTo>
                  <a:pt x="2000" y="113660"/>
                </a:lnTo>
                <a:cubicBezTo>
                  <a:pt x="693" y="115980"/>
                  <a:pt x="0" y="118566"/>
                  <a:pt x="0" y="121232"/>
                </a:cubicBezTo>
                <a:cubicBezTo>
                  <a:pt x="0" y="129684"/>
                  <a:pt x="6825" y="136509"/>
                  <a:pt x="15277" y="136509"/>
                </a:cubicBezTo>
                <a:lnTo>
                  <a:pt x="104168" y="136509"/>
                </a:lnTo>
                <a:cubicBezTo>
                  <a:pt x="112594" y="136509"/>
                  <a:pt x="119446" y="129684"/>
                  <a:pt x="119446" y="121232"/>
                </a:cubicBezTo>
                <a:cubicBezTo>
                  <a:pt x="119446" y="118566"/>
                  <a:pt x="118753" y="115953"/>
                  <a:pt x="117446" y="113660"/>
                </a:cubicBezTo>
                <a:lnTo>
                  <a:pt x="85318" y="57457"/>
                </a:lnTo>
                <a:lnTo>
                  <a:pt x="85318" y="17064"/>
                </a:lnTo>
                <a:cubicBezTo>
                  <a:pt x="90038" y="17064"/>
                  <a:pt x="93850" y="13251"/>
                  <a:pt x="93850" y="8532"/>
                </a:cubicBezTo>
                <a:cubicBezTo>
                  <a:pt x="93850" y="3813"/>
                  <a:pt x="90038" y="0"/>
                  <a:pt x="85318" y="0"/>
                </a:cubicBezTo>
                <a:lnTo>
                  <a:pt x="76787" y="0"/>
                </a:lnTo>
                <a:close/>
                <a:moveTo>
                  <a:pt x="51191" y="57457"/>
                </a:moveTo>
                <a:lnTo>
                  <a:pt x="51191" y="17064"/>
                </a:lnTo>
                <a:lnTo>
                  <a:pt x="68255" y="17064"/>
                </a:lnTo>
                <a:lnTo>
                  <a:pt x="68255" y="57457"/>
                </a:lnTo>
                <a:cubicBezTo>
                  <a:pt x="68255" y="60416"/>
                  <a:pt x="69028" y="63349"/>
                  <a:pt x="70494" y="65935"/>
                </a:cubicBezTo>
                <a:lnTo>
                  <a:pt x="81586" y="85318"/>
                </a:lnTo>
                <a:lnTo>
                  <a:pt x="37860" y="85318"/>
                </a:lnTo>
                <a:lnTo>
                  <a:pt x="48951" y="65935"/>
                </a:lnTo>
                <a:cubicBezTo>
                  <a:pt x="50418" y="63349"/>
                  <a:pt x="51191" y="60443"/>
                  <a:pt x="51191" y="57457"/>
                </a:cubicBezTo>
                <a:close/>
              </a:path>
            </a:pathLst>
          </a:custGeom>
          <a:solidFill>
            <a:srgbClr val="FFFFFF"/>
          </a:solidFill>
          <a:ln/>
        </p:spPr>
      </p:sp>
      <p:sp>
        <p:nvSpPr>
          <p:cNvPr id="52" name="Text 50"/>
          <p:cNvSpPr/>
          <p:nvPr/>
        </p:nvSpPr>
        <p:spPr>
          <a:xfrm>
            <a:off x="6984645" y="4897276"/>
            <a:ext cx="964098" cy="238892"/>
          </a:xfrm>
          <a:prstGeom prst="rect">
            <a:avLst/>
          </a:prstGeom>
          <a:noFill/>
          <a:ln/>
        </p:spPr>
        <p:txBody>
          <a:bodyPr wrap="square" lIns="0" tIns="0" rIns="0" bIns="0" rtlCol="0" anchor="ctr"/>
          <a:lstStyle/>
          <a:p>
            <a:pPr>
              <a:lnSpc>
                <a:spcPct val="130000"/>
              </a:lnSpc>
            </a:pPr>
            <a:r>
              <a:rPr lang="en-US" sz="1209" b="1" dirty="0">
                <a:solidFill>
                  <a:srgbClr val="1E3A8A"/>
                </a:solidFill>
                <a:latin typeface="MiSans" pitchFamily="34" charset="0"/>
                <a:ea typeface="MiSans" pitchFamily="34" charset="-122"/>
                <a:cs typeface="MiSans" pitchFamily="34" charset="-120"/>
              </a:rPr>
              <a:t>Sandia 2015</a:t>
            </a:r>
            <a:endParaRPr lang="en-US" sz="1600" dirty="0"/>
          </a:p>
        </p:txBody>
      </p:sp>
      <p:sp>
        <p:nvSpPr>
          <p:cNvPr id="53" name="Text 51"/>
          <p:cNvSpPr/>
          <p:nvPr/>
        </p:nvSpPr>
        <p:spPr>
          <a:xfrm>
            <a:off x="6464202" y="5255614"/>
            <a:ext cx="5161763" cy="341274"/>
          </a:xfrm>
          <a:prstGeom prst="rect">
            <a:avLst/>
          </a:prstGeom>
          <a:noFill/>
          <a:ln/>
        </p:spPr>
        <p:txBody>
          <a:bodyPr wrap="square" lIns="0" tIns="0" rIns="0" bIns="0" rtlCol="0" anchor="ctr"/>
          <a:lstStyle/>
          <a:p>
            <a:pPr algn="ctr">
              <a:lnSpc>
                <a:spcPct val="90000"/>
              </a:lnSpc>
            </a:pPr>
            <a:r>
              <a:rPr lang="en-US" sz="2418" b="1" dirty="0">
                <a:solidFill>
                  <a:srgbClr val="6B7280"/>
                </a:solidFill>
                <a:latin typeface="Noto Sans SC" pitchFamily="34" charset="0"/>
                <a:ea typeface="Noto Sans SC" pitchFamily="34" charset="-122"/>
                <a:cs typeface="Noto Sans SC" pitchFamily="34" charset="-120"/>
              </a:rPr>
              <a:t>85%</a:t>
            </a:r>
            <a:endParaRPr lang="en-US" sz="1600" dirty="0"/>
          </a:p>
        </p:txBody>
      </p:sp>
      <p:sp>
        <p:nvSpPr>
          <p:cNvPr id="54" name="Text 52"/>
          <p:cNvSpPr/>
          <p:nvPr/>
        </p:nvSpPr>
        <p:spPr>
          <a:xfrm>
            <a:off x="6511127" y="5596887"/>
            <a:ext cx="5067913" cy="170637"/>
          </a:xfrm>
          <a:prstGeom prst="rect">
            <a:avLst/>
          </a:prstGeom>
          <a:noFill/>
          <a:ln/>
        </p:spPr>
        <p:txBody>
          <a:bodyPr wrap="square" lIns="0" tIns="0" rIns="0" bIns="0" rtlCol="0" anchor="ctr"/>
          <a:lstStyle/>
          <a:p>
            <a:pPr algn="ctr">
              <a:lnSpc>
                <a:spcPct val="120000"/>
              </a:lnSpc>
            </a:pPr>
            <a:r>
              <a:rPr lang="en-US" sz="941" dirty="0">
                <a:solidFill>
                  <a:srgbClr val="6B7280"/>
                </a:solidFill>
                <a:latin typeface="MiSans" pitchFamily="34" charset="0"/>
                <a:ea typeface="MiSans" pitchFamily="34" charset="-122"/>
                <a:cs typeface="MiSans" pitchFamily="34" charset="-120"/>
              </a:rPr>
              <a:t>Baseline humaine</a:t>
            </a:r>
            <a:endParaRPr lang="en-US" sz="1600" dirty="0"/>
          </a:p>
        </p:txBody>
      </p:sp>
      <p:sp>
        <p:nvSpPr>
          <p:cNvPr id="55" name="Shape 53"/>
          <p:cNvSpPr/>
          <p:nvPr/>
        </p:nvSpPr>
        <p:spPr>
          <a:xfrm>
            <a:off x="341274" y="6006416"/>
            <a:ext cx="11509453" cy="511910"/>
          </a:xfrm>
          <a:custGeom>
            <a:avLst/>
            <a:gdLst/>
            <a:ahLst/>
            <a:cxnLst/>
            <a:rect l="l" t="t" r="r" b="b"/>
            <a:pathLst>
              <a:path w="11509453" h="511910">
                <a:moveTo>
                  <a:pt x="102382" y="0"/>
                </a:moveTo>
                <a:lnTo>
                  <a:pt x="11407071" y="0"/>
                </a:lnTo>
                <a:cubicBezTo>
                  <a:pt x="11463615" y="0"/>
                  <a:pt x="11509453" y="45838"/>
                  <a:pt x="11509453" y="102382"/>
                </a:cubicBezTo>
                <a:lnTo>
                  <a:pt x="11509453" y="409528"/>
                </a:lnTo>
                <a:cubicBezTo>
                  <a:pt x="11509453" y="466072"/>
                  <a:pt x="11463615" y="511910"/>
                  <a:pt x="11407071" y="511910"/>
                </a:cubicBezTo>
                <a:lnTo>
                  <a:pt x="102382" y="511910"/>
                </a:lnTo>
                <a:cubicBezTo>
                  <a:pt x="45876" y="511910"/>
                  <a:pt x="0" y="466035"/>
                  <a:pt x="0" y="409528"/>
                </a:cubicBezTo>
                <a:lnTo>
                  <a:pt x="0" y="102382"/>
                </a:lnTo>
                <a:cubicBezTo>
                  <a:pt x="0" y="45876"/>
                  <a:pt x="45876" y="0"/>
                  <a:pt x="102382" y="0"/>
                </a:cubicBezTo>
                <a:close/>
              </a:path>
            </a:pathLst>
          </a:custGeom>
          <a:solidFill>
            <a:srgbClr val="10B981"/>
          </a:solidFill>
          <a:ln/>
        </p:spPr>
      </p:sp>
      <p:sp>
        <p:nvSpPr>
          <p:cNvPr id="56" name="Shape 54"/>
          <p:cNvSpPr/>
          <p:nvPr/>
        </p:nvSpPr>
        <p:spPr>
          <a:xfrm>
            <a:off x="503379" y="6159989"/>
            <a:ext cx="204764" cy="204764"/>
          </a:xfrm>
          <a:custGeom>
            <a:avLst/>
            <a:gdLst/>
            <a:ahLst/>
            <a:cxnLst/>
            <a:rect l="l" t="t" r="r" b="b"/>
            <a:pathLst>
              <a:path w="204764" h="204764">
                <a:moveTo>
                  <a:pt x="102382" y="204764"/>
                </a:moveTo>
                <a:cubicBezTo>
                  <a:pt x="158888" y="204764"/>
                  <a:pt x="204764" y="158888"/>
                  <a:pt x="204764" y="102382"/>
                </a:cubicBezTo>
                <a:cubicBezTo>
                  <a:pt x="204764" y="45876"/>
                  <a:pt x="158888" y="0"/>
                  <a:pt x="102382" y="0"/>
                </a:cubicBezTo>
                <a:cubicBezTo>
                  <a:pt x="45876" y="0"/>
                  <a:pt x="0" y="45876"/>
                  <a:pt x="0" y="102382"/>
                </a:cubicBezTo>
                <a:cubicBezTo>
                  <a:pt x="0" y="158888"/>
                  <a:pt x="45876" y="204764"/>
                  <a:pt x="102382" y="204764"/>
                </a:cubicBezTo>
                <a:close/>
                <a:moveTo>
                  <a:pt x="136136" y="85065"/>
                </a:moveTo>
                <a:lnTo>
                  <a:pt x="104142" y="136256"/>
                </a:lnTo>
                <a:cubicBezTo>
                  <a:pt x="102462" y="138936"/>
                  <a:pt x="99583" y="140615"/>
                  <a:pt x="96423" y="140775"/>
                </a:cubicBezTo>
                <a:cubicBezTo>
                  <a:pt x="93264" y="140935"/>
                  <a:pt x="90224" y="139496"/>
                  <a:pt x="88345" y="136936"/>
                </a:cubicBezTo>
                <a:lnTo>
                  <a:pt x="69148" y="111341"/>
                </a:lnTo>
                <a:cubicBezTo>
                  <a:pt x="65948" y="107101"/>
                  <a:pt x="66828" y="101102"/>
                  <a:pt x="71068" y="97903"/>
                </a:cubicBezTo>
                <a:cubicBezTo>
                  <a:pt x="75307" y="94703"/>
                  <a:pt x="81306" y="95583"/>
                  <a:pt x="84505" y="99823"/>
                </a:cubicBezTo>
                <a:lnTo>
                  <a:pt x="95303" y="114220"/>
                </a:lnTo>
                <a:lnTo>
                  <a:pt x="119859" y="74907"/>
                </a:lnTo>
                <a:cubicBezTo>
                  <a:pt x="122659" y="70428"/>
                  <a:pt x="128578" y="69028"/>
                  <a:pt x="133097" y="71867"/>
                </a:cubicBezTo>
                <a:cubicBezTo>
                  <a:pt x="137616" y="74707"/>
                  <a:pt x="138976" y="80586"/>
                  <a:pt x="136136" y="85105"/>
                </a:cubicBezTo>
                <a:close/>
              </a:path>
            </a:pathLst>
          </a:custGeom>
          <a:solidFill>
            <a:srgbClr val="FFFFFF"/>
          </a:solidFill>
          <a:ln/>
        </p:spPr>
      </p:sp>
      <p:sp>
        <p:nvSpPr>
          <p:cNvPr id="57" name="Text 55"/>
          <p:cNvSpPr/>
          <p:nvPr/>
        </p:nvSpPr>
        <p:spPr>
          <a:xfrm>
            <a:off x="870248" y="6142925"/>
            <a:ext cx="5793120" cy="238892"/>
          </a:xfrm>
          <a:prstGeom prst="rect">
            <a:avLst/>
          </a:prstGeom>
          <a:noFill/>
          <a:ln/>
        </p:spPr>
        <p:txBody>
          <a:bodyPr wrap="square" lIns="0" tIns="0" rIns="0" bIns="0" rtlCol="0" anchor="ctr"/>
          <a:lstStyle/>
          <a:p>
            <a:pPr>
              <a:lnSpc>
                <a:spcPct val="130000"/>
              </a:lnSpc>
            </a:pPr>
            <a:r>
              <a:rPr lang="en-US" sz="1209" b="1" dirty="0">
                <a:solidFill>
                  <a:srgbClr val="FFFFFF"/>
                </a:solidFill>
                <a:latin typeface="MiSans" pitchFamily="34" charset="0"/>
                <a:ea typeface="MiSans" pitchFamily="34" charset="-122"/>
                <a:cs typeface="MiSans" pitchFamily="34" charset="-120"/>
              </a:rPr>
              <a:t>Les solutions CV sont éprouvées. Fidémeca peut viser </a:t>
            </a:r>
            <a:r>
              <a:rPr lang="en-US" sz="1209" b="1" dirty="0">
                <a:solidFill>
                  <a:srgbClr val="FFFFFF"/>
                </a:solidFill>
                <a:highlight>
                  <a:srgbClr val="FFFFFF">
                    <a:alpha val="20000"/>
                  </a:srgbClr>
                </a:highlight>
                <a:latin typeface="MiSans" pitchFamily="34" charset="0"/>
                <a:ea typeface="MiSans" pitchFamily="34" charset="-122"/>
                <a:cs typeface="MiSans" pitchFamily="34" charset="-120"/>
              </a:rPr>
              <a:t>+10 pts de précision</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6878" y="226127"/>
            <a:ext cx="2223580" cy="339190"/>
          </a:xfrm>
          <a:custGeom>
            <a:avLst/>
            <a:gdLst/>
            <a:ahLst/>
            <a:cxnLst/>
            <a:rect l="l" t="t" r="r" b="b"/>
            <a:pathLst>
              <a:path w="2223580" h="339190">
                <a:moveTo>
                  <a:pt x="169595" y="0"/>
                </a:moveTo>
                <a:lnTo>
                  <a:pt x="2053985" y="0"/>
                </a:lnTo>
                <a:cubicBezTo>
                  <a:pt x="2147649" y="0"/>
                  <a:pt x="2223580" y="75930"/>
                  <a:pt x="2223580" y="169595"/>
                </a:cubicBezTo>
                <a:lnTo>
                  <a:pt x="2223580" y="169595"/>
                </a:lnTo>
                <a:cubicBezTo>
                  <a:pt x="2223580" y="263260"/>
                  <a:pt x="2147649" y="339190"/>
                  <a:pt x="2053985" y="339190"/>
                </a:cubicBezTo>
                <a:lnTo>
                  <a:pt x="169595" y="339190"/>
                </a:lnTo>
                <a:cubicBezTo>
                  <a:pt x="75993" y="339190"/>
                  <a:pt x="0" y="263197"/>
                  <a:pt x="0" y="169595"/>
                </a:cubicBezTo>
                <a:lnTo>
                  <a:pt x="0" y="169595"/>
                </a:lnTo>
                <a:cubicBezTo>
                  <a:pt x="0" y="75993"/>
                  <a:pt x="75993" y="0"/>
                  <a:pt x="169595" y="0"/>
                </a:cubicBezTo>
                <a:close/>
              </a:path>
            </a:pathLst>
          </a:custGeom>
          <a:solidFill>
            <a:srgbClr val="8B5CF6"/>
          </a:solidFill>
          <a:ln/>
        </p:spPr>
      </p:sp>
      <p:sp>
        <p:nvSpPr>
          <p:cNvPr id="3" name="Text 1"/>
          <p:cNvSpPr/>
          <p:nvPr/>
        </p:nvSpPr>
        <p:spPr>
          <a:xfrm>
            <a:off x="527629" y="301502"/>
            <a:ext cx="1988031" cy="188439"/>
          </a:xfrm>
          <a:prstGeom prst="rect">
            <a:avLst/>
          </a:prstGeom>
          <a:noFill/>
          <a:ln/>
        </p:spPr>
        <p:txBody>
          <a:bodyPr wrap="square" lIns="0" tIns="0" rIns="0" bIns="0" rtlCol="0" anchor="ctr"/>
          <a:lstStyle/>
          <a:p>
            <a:pPr>
              <a:lnSpc>
                <a:spcPct val="120000"/>
              </a:lnSpc>
            </a:pPr>
            <a:r>
              <a:rPr lang="en-US" sz="1039" b="1" kern="0" spc="26" dirty="0">
                <a:solidFill>
                  <a:srgbClr val="FFFFFF"/>
                </a:solidFill>
                <a:latin typeface="MiSans" pitchFamily="34" charset="0"/>
                <a:ea typeface="MiSans" pitchFamily="34" charset="-122"/>
                <a:cs typeface="MiSans" pitchFamily="34" charset="-120"/>
              </a:rPr>
              <a:t>DISCOVERY - PRIORISATION</a:t>
            </a:r>
            <a:endParaRPr lang="en-US" sz="1600" dirty="0"/>
          </a:p>
        </p:txBody>
      </p:sp>
      <p:sp>
        <p:nvSpPr>
          <p:cNvPr id="4" name="Text 2"/>
          <p:cNvSpPr/>
          <p:nvPr/>
        </p:nvSpPr>
        <p:spPr>
          <a:xfrm>
            <a:off x="376878" y="979883"/>
            <a:ext cx="11607839" cy="376878"/>
          </a:xfrm>
          <a:prstGeom prst="rect">
            <a:avLst/>
          </a:prstGeom>
          <a:noFill/>
          <a:ln/>
        </p:spPr>
        <p:txBody>
          <a:bodyPr wrap="square" lIns="0" tIns="0" rIns="0" bIns="0" rtlCol="0" anchor="ctr"/>
          <a:lstStyle/>
          <a:p>
            <a:pPr>
              <a:lnSpc>
                <a:spcPct val="90000"/>
              </a:lnSpc>
            </a:pPr>
            <a:r>
              <a:rPr lang="en-US" sz="2671" b="1" dirty="0">
                <a:solidFill>
                  <a:srgbClr val="1E3A8A"/>
                </a:solidFill>
                <a:latin typeface="Noto Sans SC" pitchFamily="34" charset="0"/>
                <a:ea typeface="Noto Sans SC" pitchFamily="34" charset="-122"/>
                <a:cs typeface="Noto Sans SC" pitchFamily="34" charset="-120"/>
              </a:rPr>
              <a:t>Priorisation &amp; Amélioration Retenue</a:t>
            </a:r>
            <a:endParaRPr lang="en-US" sz="1600" dirty="0"/>
          </a:p>
        </p:txBody>
      </p:sp>
      <p:sp>
        <p:nvSpPr>
          <p:cNvPr id="5" name="Shape 3"/>
          <p:cNvSpPr/>
          <p:nvPr/>
        </p:nvSpPr>
        <p:spPr>
          <a:xfrm>
            <a:off x="376878" y="1582887"/>
            <a:ext cx="5568371" cy="678380"/>
          </a:xfrm>
          <a:custGeom>
            <a:avLst/>
            <a:gdLst/>
            <a:ahLst/>
            <a:cxnLst/>
            <a:rect l="l" t="t" r="r" b="b"/>
            <a:pathLst>
              <a:path w="5568371" h="678380">
                <a:moveTo>
                  <a:pt x="150750" y="0"/>
                </a:moveTo>
                <a:lnTo>
                  <a:pt x="5417621" y="0"/>
                </a:lnTo>
                <a:cubicBezTo>
                  <a:pt x="5500878" y="0"/>
                  <a:pt x="5568371" y="67493"/>
                  <a:pt x="5568371" y="150750"/>
                </a:cubicBezTo>
                <a:lnTo>
                  <a:pt x="5568371" y="527631"/>
                </a:lnTo>
                <a:cubicBezTo>
                  <a:pt x="5568371" y="610887"/>
                  <a:pt x="5500878" y="678380"/>
                  <a:pt x="5417621" y="678380"/>
                </a:cubicBezTo>
                <a:lnTo>
                  <a:pt x="150750" y="678380"/>
                </a:lnTo>
                <a:cubicBezTo>
                  <a:pt x="67549" y="678380"/>
                  <a:pt x="0" y="610832"/>
                  <a:pt x="0" y="527631"/>
                </a:cubicBezTo>
                <a:lnTo>
                  <a:pt x="0" y="150750"/>
                </a:lnTo>
                <a:cubicBezTo>
                  <a:pt x="0" y="67549"/>
                  <a:pt x="67549" y="0"/>
                  <a:pt x="150750" y="0"/>
                </a:cubicBezTo>
                <a:close/>
              </a:path>
            </a:pathLst>
          </a:custGeom>
          <a:solidFill>
            <a:srgbClr val="8B5CF6"/>
          </a:solidFill>
          <a:ln/>
        </p:spPr>
      </p:sp>
      <p:sp>
        <p:nvSpPr>
          <p:cNvPr id="6" name="Shape 4"/>
          <p:cNvSpPr/>
          <p:nvPr/>
        </p:nvSpPr>
        <p:spPr>
          <a:xfrm>
            <a:off x="579450" y="1809014"/>
            <a:ext cx="254393" cy="226127"/>
          </a:xfrm>
          <a:custGeom>
            <a:avLst/>
            <a:gdLst/>
            <a:ahLst/>
            <a:cxnLst/>
            <a:rect l="l" t="t" r="r" b="b"/>
            <a:pathLst>
              <a:path w="254393" h="226127">
                <a:moveTo>
                  <a:pt x="108912" y="165444"/>
                </a:moveTo>
                <a:lnTo>
                  <a:pt x="66513" y="207842"/>
                </a:lnTo>
                <a:cubicBezTo>
                  <a:pt x="60992" y="213363"/>
                  <a:pt x="52027" y="213363"/>
                  <a:pt x="46506" y="207842"/>
                </a:cubicBezTo>
                <a:lnTo>
                  <a:pt x="4107" y="165444"/>
                </a:lnTo>
                <a:cubicBezTo>
                  <a:pt x="-1413" y="159923"/>
                  <a:pt x="-1413" y="150957"/>
                  <a:pt x="4107" y="145437"/>
                </a:cubicBezTo>
                <a:cubicBezTo>
                  <a:pt x="9628" y="139916"/>
                  <a:pt x="18594" y="139916"/>
                  <a:pt x="24114" y="145437"/>
                </a:cubicBezTo>
                <a:lnTo>
                  <a:pt x="42399" y="163721"/>
                </a:lnTo>
                <a:lnTo>
                  <a:pt x="42399" y="28266"/>
                </a:lnTo>
                <a:cubicBezTo>
                  <a:pt x="42399" y="20449"/>
                  <a:pt x="48714" y="14133"/>
                  <a:pt x="56532" y="14133"/>
                </a:cubicBezTo>
                <a:cubicBezTo>
                  <a:pt x="64349" y="14133"/>
                  <a:pt x="70665" y="20449"/>
                  <a:pt x="70665" y="28266"/>
                </a:cubicBezTo>
                <a:lnTo>
                  <a:pt x="70665" y="163721"/>
                </a:lnTo>
                <a:lnTo>
                  <a:pt x="88949" y="145437"/>
                </a:lnTo>
                <a:cubicBezTo>
                  <a:pt x="94470" y="139916"/>
                  <a:pt x="103435" y="139916"/>
                  <a:pt x="108956" y="145437"/>
                </a:cubicBezTo>
                <a:cubicBezTo>
                  <a:pt x="114477" y="150957"/>
                  <a:pt x="114477" y="159923"/>
                  <a:pt x="108956" y="165444"/>
                </a:cubicBezTo>
                <a:close/>
                <a:moveTo>
                  <a:pt x="141329" y="211994"/>
                </a:moveTo>
                <a:cubicBezTo>
                  <a:pt x="133512" y="211994"/>
                  <a:pt x="127196" y="205678"/>
                  <a:pt x="127196" y="197861"/>
                </a:cubicBezTo>
                <a:cubicBezTo>
                  <a:pt x="127196" y="190044"/>
                  <a:pt x="133512" y="183728"/>
                  <a:pt x="141329" y="183728"/>
                </a:cubicBezTo>
                <a:lnTo>
                  <a:pt x="155462" y="183728"/>
                </a:lnTo>
                <a:cubicBezTo>
                  <a:pt x="163279" y="183728"/>
                  <a:pt x="169595" y="190044"/>
                  <a:pt x="169595" y="197861"/>
                </a:cubicBezTo>
                <a:cubicBezTo>
                  <a:pt x="169595" y="205678"/>
                  <a:pt x="163279" y="211994"/>
                  <a:pt x="155462" y="211994"/>
                </a:cubicBezTo>
                <a:lnTo>
                  <a:pt x="141329" y="211994"/>
                </a:lnTo>
                <a:close/>
                <a:moveTo>
                  <a:pt x="141329" y="155462"/>
                </a:moveTo>
                <a:cubicBezTo>
                  <a:pt x="133512" y="155462"/>
                  <a:pt x="127196" y="149146"/>
                  <a:pt x="127196" y="141329"/>
                </a:cubicBezTo>
                <a:cubicBezTo>
                  <a:pt x="127196" y="133512"/>
                  <a:pt x="133512" y="127196"/>
                  <a:pt x="141329" y="127196"/>
                </a:cubicBezTo>
                <a:lnTo>
                  <a:pt x="183728" y="127196"/>
                </a:lnTo>
                <a:cubicBezTo>
                  <a:pt x="191545" y="127196"/>
                  <a:pt x="197861" y="133512"/>
                  <a:pt x="197861" y="141329"/>
                </a:cubicBezTo>
                <a:cubicBezTo>
                  <a:pt x="197861" y="149146"/>
                  <a:pt x="191545" y="155462"/>
                  <a:pt x="183728" y="155462"/>
                </a:cubicBezTo>
                <a:lnTo>
                  <a:pt x="141329" y="155462"/>
                </a:lnTo>
                <a:close/>
                <a:moveTo>
                  <a:pt x="141329" y="98930"/>
                </a:moveTo>
                <a:cubicBezTo>
                  <a:pt x="133512" y="98930"/>
                  <a:pt x="127196" y="92615"/>
                  <a:pt x="127196" y="84798"/>
                </a:cubicBezTo>
                <a:cubicBezTo>
                  <a:pt x="127196" y="76980"/>
                  <a:pt x="133512" y="70665"/>
                  <a:pt x="141329" y="70665"/>
                </a:cubicBezTo>
                <a:lnTo>
                  <a:pt x="211994" y="70665"/>
                </a:lnTo>
                <a:cubicBezTo>
                  <a:pt x="219811" y="70665"/>
                  <a:pt x="226127" y="76980"/>
                  <a:pt x="226127" y="84798"/>
                </a:cubicBezTo>
                <a:cubicBezTo>
                  <a:pt x="226127" y="92615"/>
                  <a:pt x="219811" y="98930"/>
                  <a:pt x="211994" y="98930"/>
                </a:cubicBezTo>
                <a:lnTo>
                  <a:pt x="141329" y="98930"/>
                </a:lnTo>
                <a:close/>
                <a:moveTo>
                  <a:pt x="141329" y="42399"/>
                </a:moveTo>
                <a:cubicBezTo>
                  <a:pt x="133512" y="42399"/>
                  <a:pt x="127196" y="36083"/>
                  <a:pt x="127196" y="28266"/>
                </a:cubicBezTo>
                <a:cubicBezTo>
                  <a:pt x="127196" y="20449"/>
                  <a:pt x="133512" y="14133"/>
                  <a:pt x="141329" y="14133"/>
                </a:cubicBezTo>
                <a:lnTo>
                  <a:pt x="240260" y="14133"/>
                </a:lnTo>
                <a:cubicBezTo>
                  <a:pt x="248077" y="14133"/>
                  <a:pt x="254393" y="20449"/>
                  <a:pt x="254393" y="28266"/>
                </a:cubicBezTo>
                <a:cubicBezTo>
                  <a:pt x="254393" y="36083"/>
                  <a:pt x="248077" y="42399"/>
                  <a:pt x="240260" y="42399"/>
                </a:cubicBezTo>
                <a:lnTo>
                  <a:pt x="141329" y="42399"/>
                </a:lnTo>
                <a:close/>
              </a:path>
            </a:pathLst>
          </a:custGeom>
          <a:solidFill>
            <a:srgbClr val="FFFFFF"/>
          </a:solidFill>
          <a:ln/>
        </p:spPr>
      </p:sp>
      <p:sp>
        <p:nvSpPr>
          <p:cNvPr id="7" name="Text 5"/>
          <p:cNvSpPr/>
          <p:nvPr/>
        </p:nvSpPr>
        <p:spPr>
          <a:xfrm>
            <a:off x="961039" y="1771326"/>
            <a:ext cx="1922077" cy="301502"/>
          </a:xfrm>
          <a:prstGeom prst="rect">
            <a:avLst/>
          </a:prstGeom>
          <a:noFill/>
          <a:ln/>
        </p:spPr>
        <p:txBody>
          <a:bodyPr wrap="square" lIns="0" tIns="0" rIns="0" bIns="0" rtlCol="0" anchor="ctr"/>
          <a:lstStyle/>
          <a:p>
            <a:pPr>
              <a:lnSpc>
                <a:spcPct val="110000"/>
              </a:lnSpc>
            </a:pPr>
            <a:r>
              <a:rPr lang="en-US" sz="1781" b="1" dirty="0">
                <a:solidFill>
                  <a:srgbClr val="FFFFFF"/>
                </a:solidFill>
                <a:latin typeface="Noto Sans SC" pitchFamily="34" charset="0"/>
                <a:ea typeface="Noto Sans SC" pitchFamily="34" charset="-122"/>
                <a:cs typeface="Noto Sans SC" pitchFamily="34" charset="-120"/>
              </a:rPr>
              <a:t>Grille de Scoring</a:t>
            </a:r>
            <a:endParaRPr lang="en-US" sz="1600" dirty="0"/>
          </a:p>
        </p:txBody>
      </p:sp>
      <p:sp>
        <p:nvSpPr>
          <p:cNvPr id="8" name="Shape 6"/>
          <p:cNvSpPr/>
          <p:nvPr/>
        </p:nvSpPr>
        <p:spPr>
          <a:xfrm>
            <a:off x="376878" y="2412019"/>
            <a:ext cx="5568371" cy="3316526"/>
          </a:xfrm>
          <a:custGeom>
            <a:avLst/>
            <a:gdLst/>
            <a:ahLst/>
            <a:cxnLst/>
            <a:rect l="l" t="t" r="r" b="b"/>
            <a:pathLst>
              <a:path w="5568371" h="3316526">
                <a:moveTo>
                  <a:pt x="150736" y="0"/>
                </a:moveTo>
                <a:lnTo>
                  <a:pt x="5417635" y="0"/>
                </a:lnTo>
                <a:cubicBezTo>
                  <a:pt x="5500884" y="0"/>
                  <a:pt x="5568371" y="67487"/>
                  <a:pt x="5568371" y="150736"/>
                </a:cubicBezTo>
                <a:lnTo>
                  <a:pt x="5568371" y="3165789"/>
                </a:lnTo>
                <a:cubicBezTo>
                  <a:pt x="5568371" y="3249039"/>
                  <a:pt x="5500884" y="3316526"/>
                  <a:pt x="5417635" y="3316526"/>
                </a:cubicBezTo>
                <a:lnTo>
                  <a:pt x="150736" y="3316526"/>
                </a:lnTo>
                <a:cubicBezTo>
                  <a:pt x="67487" y="3316526"/>
                  <a:pt x="0" y="3249039"/>
                  <a:pt x="0" y="3165789"/>
                </a:cubicBezTo>
                <a:lnTo>
                  <a:pt x="0" y="150736"/>
                </a:lnTo>
                <a:cubicBezTo>
                  <a:pt x="0" y="67487"/>
                  <a:pt x="67487" y="0"/>
                  <a:pt x="150736" y="0"/>
                </a:cubicBezTo>
                <a:close/>
              </a:path>
            </a:pathLst>
          </a:custGeom>
          <a:solidFill>
            <a:srgbClr val="F3F4F6"/>
          </a:solidFill>
          <a:ln/>
        </p:spPr>
      </p:sp>
      <p:sp>
        <p:nvSpPr>
          <p:cNvPr id="9" name="Shape 7"/>
          <p:cNvSpPr/>
          <p:nvPr/>
        </p:nvSpPr>
        <p:spPr>
          <a:xfrm>
            <a:off x="489941" y="2600457"/>
            <a:ext cx="5342244" cy="753756"/>
          </a:xfrm>
          <a:custGeom>
            <a:avLst/>
            <a:gdLst/>
            <a:ahLst/>
            <a:cxnLst/>
            <a:rect l="l" t="t" r="r" b="b"/>
            <a:pathLst>
              <a:path w="5342244" h="753756">
                <a:moveTo>
                  <a:pt x="113063" y="0"/>
                </a:moveTo>
                <a:lnTo>
                  <a:pt x="5229181" y="0"/>
                </a:lnTo>
                <a:cubicBezTo>
                  <a:pt x="5291624" y="0"/>
                  <a:pt x="5342244" y="50620"/>
                  <a:pt x="5342244" y="113063"/>
                </a:cubicBezTo>
                <a:lnTo>
                  <a:pt x="5342244" y="640692"/>
                </a:lnTo>
                <a:cubicBezTo>
                  <a:pt x="5342244" y="703136"/>
                  <a:pt x="5291624" y="753756"/>
                  <a:pt x="5229181" y="753756"/>
                </a:cubicBezTo>
                <a:lnTo>
                  <a:pt x="113063" y="753756"/>
                </a:lnTo>
                <a:cubicBezTo>
                  <a:pt x="50620" y="753756"/>
                  <a:pt x="0" y="703136"/>
                  <a:pt x="0" y="640692"/>
                </a:cubicBezTo>
                <a:lnTo>
                  <a:pt x="0" y="113063"/>
                </a:lnTo>
                <a:cubicBezTo>
                  <a:pt x="0" y="50620"/>
                  <a:pt x="50620" y="0"/>
                  <a:pt x="113063" y="0"/>
                </a:cubicBezTo>
                <a:close/>
              </a:path>
            </a:pathLst>
          </a:custGeom>
          <a:solidFill>
            <a:srgbClr val="10B981">
              <a:alpha val="10196"/>
            </a:srgbClr>
          </a:solidFill>
          <a:ln/>
        </p:spPr>
      </p:sp>
      <p:sp>
        <p:nvSpPr>
          <p:cNvPr id="10" name="Shape 8"/>
          <p:cNvSpPr/>
          <p:nvPr/>
        </p:nvSpPr>
        <p:spPr>
          <a:xfrm>
            <a:off x="603005" y="2751209"/>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10B981"/>
          </a:solidFill>
          <a:ln/>
        </p:spPr>
      </p:sp>
      <p:sp>
        <p:nvSpPr>
          <p:cNvPr id="11" name="Text 9"/>
          <p:cNvSpPr/>
          <p:nvPr/>
        </p:nvSpPr>
        <p:spPr>
          <a:xfrm>
            <a:off x="732704" y="2864272"/>
            <a:ext cx="263815" cy="226127"/>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A1</a:t>
            </a:r>
            <a:endParaRPr lang="en-US" sz="1600" dirty="0"/>
          </a:p>
        </p:txBody>
      </p:sp>
      <p:sp>
        <p:nvSpPr>
          <p:cNvPr id="12" name="Text 10"/>
          <p:cNvSpPr/>
          <p:nvPr/>
        </p:nvSpPr>
        <p:spPr>
          <a:xfrm>
            <a:off x="1206009" y="2864272"/>
            <a:ext cx="2967913"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Automatiser détection visuelle</a:t>
            </a:r>
            <a:endParaRPr lang="en-US" sz="1600" dirty="0"/>
          </a:p>
        </p:txBody>
      </p:sp>
      <p:sp>
        <p:nvSpPr>
          <p:cNvPr id="13" name="Text 11"/>
          <p:cNvSpPr/>
          <p:nvPr/>
        </p:nvSpPr>
        <p:spPr>
          <a:xfrm>
            <a:off x="4111502" y="2713521"/>
            <a:ext cx="687802" cy="339190"/>
          </a:xfrm>
          <a:prstGeom prst="rect">
            <a:avLst/>
          </a:prstGeom>
          <a:noFill/>
          <a:ln/>
        </p:spPr>
        <p:txBody>
          <a:bodyPr wrap="square" lIns="0" tIns="0" rIns="0" bIns="0" rtlCol="0" anchor="ctr"/>
          <a:lstStyle/>
          <a:p>
            <a:pPr algn="r">
              <a:lnSpc>
                <a:spcPct val="100000"/>
              </a:lnSpc>
            </a:pPr>
            <a:r>
              <a:rPr lang="en-US" sz="2226" b="1" dirty="0">
                <a:solidFill>
                  <a:srgbClr val="10B981"/>
                </a:solidFill>
                <a:latin typeface="Noto Sans SC" pitchFamily="34" charset="0"/>
                <a:ea typeface="Noto Sans SC" pitchFamily="34" charset="-122"/>
                <a:cs typeface="Noto Sans SC" pitchFamily="34" charset="-120"/>
              </a:rPr>
              <a:t>4.70</a:t>
            </a:r>
            <a:endParaRPr lang="en-US" sz="1600" dirty="0"/>
          </a:p>
        </p:txBody>
      </p:sp>
      <p:sp>
        <p:nvSpPr>
          <p:cNvPr id="14" name="Text 12"/>
          <p:cNvSpPr/>
          <p:nvPr/>
        </p:nvSpPr>
        <p:spPr>
          <a:xfrm>
            <a:off x="4186878" y="3052711"/>
            <a:ext cx="612427" cy="188439"/>
          </a:xfrm>
          <a:prstGeom prst="rect">
            <a:avLst/>
          </a:prstGeom>
          <a:noFill/>
          <a:ln/>
        </p:spPr>
        <p:txBody>
          <a:bodyPr wrap="square" lIns="0" tIns="0" rIns="0" bIns="0" rtlCol="0" anchor="ctr"/>
          <a:lstStyle/>
          <a:p>
            <a:pPr algn="r">
              <a:lnSpc>
                <a:spcPct val="120000"/>
              </a:lnSpc>
            </a:pPr>
            <a:r>
              <a:rPr lang="en-US" sz="1039" dirty="0">
                <a:solidFill>
                  <a:srgbClr val="6B7280"/>
                </a:solidFill>
                <a:latin typeface="MiSans" pitchFamily="34" charset="0"/>
                <a:ea typeface="MiSans" pitchFamily="34" charset="-122"/>
                <a:cs typeface="MiSans" pitchFamily="34" charset="-120"/>
              </a:rPr>
              <a:t>/5</a:t>
            </a:r>
            <a:endParaRPr lang="en-US" sz="1600" dirty="0"/>
          </a:p>
        </p:txBody>
      </p:sp>
      <p:sp>
        <p:nvSpPr>
          <p:cNvPr id="15" name="Shape 13"/>
          <p:cNvSpPr/>
          <p:nvPr/>
        </p:nvSpPr>
        <p:spPr>
          <a:xfrm>
            <a:off x="4953736" y="2826584"/>
            <a:ext cx="763178" cy="301502"/>
          </a:xfrm>
          <a:custGeom>
            <a:avLst/>
            <a:gdLst/>
            <a:ahLst/>
            <a:cxnLst/>
            <a:rect l="l" t="t" r="r" b="b"/>
            <a:pathLst>
              <a:path w="763178" h="301502">
                <a:moveTo>
                  <a:pt x="150751" y="0"/>
                </a:moveTo>
                <a:lnTo>
                  <a:pt x="612427" y="0"/>
                </a:lnTo>
                <a:cubicBezTo>
                  <a:pt x="695628" y="0"/>
                  <a:pt x="763178" y="67549"/>
                  <a:pt x="763178" y="150751"/>
                </a:cubicBezTo>
                <a:lnTo>
                  <a:pt x="763178" y="150751"/>
                </a:lnTo>
                <a:cubicBezTo>
                  <a:pt x="763178" y="233953"/>
                  <a:pt x="695628" y="301502"/>
                  <a:pt x="612427" y="301502"/>
                </a:cubicBezTo>
                <a:lnTo>
                  <a:pt x="150751" y="301502"/>
                </a:lnTo>
                <a:cubicBezTo>
                  <a:pt x="67549" y="301502"/>
                  <a:pt x="0" y="233953"/>
                  <a:pt x="0" y="150751"/>
                </a:cubicBezTo>
                <a:lnTo>
                  <a:pt x="0" y="150751"/>
                </a:lnTo>
                <a:cubicBezTo>
                  <a:pt x="0" y="67549"/>
                  <a:pt x="67549" y="0"/>
                  <a:pt x="150751" y="0"/>
                </a:cubicBezTo>
                <a:close/>
              </a:path>
            </a:pathLst>
          </a:custGeom>
          <a:solidFill>
            <a:srgbClr val="10B981"/>
          </a:solidFill>
          <a:ln/>
        </p:spPr>
      </p:sp>
      <p:sp>
        <p:nvSpPr>
          <p:cNvPr id="16" name="Text 14"/>
          <p:cNvSpPr/>
          <p:nvPr/>
        </p:nvSpPr>
        <p:spPr>
          <a:xfrm>
            <a:off x="5066799" y="2920804"/>
            <a:ext cx="596821" cy="131907"/>
          </a:xfrm>
          <a:prstGeom prst="rect">
            <a:avLst/>
          </a:prstGeom>
          <a:noFill/>
          <a:ln/>
        </p:spPr>
        <p:txBody>
          <a:bodyPr wrap="square" lIns="0" tIns="0" rIns="0" bIns="0" rtlCol="0" anchor="ctr"/>
          <a:lstStyle/>
          <a:p>
            <a:pPr>
              <a:lnSpc>
                <a:spcPct val="110000"/>
              </a:lnSpc>
            </a:pPr>
            <a:r>
              <a:rPr lang="en-US" sz="890" b="1" dirty="0">
                <a:solidFill>
                  <a:srgbClr val="FFFFFF"/>
                </a:solidFill>
                <a:latin typeface="MiSans" pitchFamily="34" charset="0"/>
                <a:ea typeface="MiSans" pitchFamily="34" charset="-122"/>
                <a:cs typeface="MiSans" pitchFamily="34" charset="-120"/>
              </a:rPr>
              <a:t>RETENUE</a:t>
            </a:r>
            <a:endParaRPr lang="en-US" sz="1600" dirty="0"/>
          </a:p>
        </p:txBody>
      </p:sp>
      <p:sp>
        <p:nvSpPr>
          <p:cNvPr id="17" name="Shape 15"/>
          <p:cNvSpPr/>
          <p:nvPr/>
        </p:nvSpPr>
        <p:spPr>
          <a:xfrm>
            <a:off x="565317" y="3429589"/>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3B82F6"/>
          </a:solidFill>
          <a:ln/>
        </p:spPr>
      </p:sp>
      <p:sp>
        <p:nvSpPr>
          <p:cNvPr id="18" name="Text 16"/>
          <p:cNvSpPr/>
          <p:nvPr/>
        </p:nvSpPr>
        <p:spPr>
          <a:xfrm>
            <a:off x="695016" y="3542652"/>
            <a:ext cx="263815" cy="226127"/>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A2</a:t>
            </a:r>
            <a:endParaRPr lang="en-US" sz="1600" dirty="0"/>
          </a:p>
        </p:txBody>
      </p:sp>
      <p:sp>
        <p:nvSpPr>
          <p:cNvPr id="19" name="Text 17"/>
          <p:cNvSpPr/>
          <p:nvPr/>
        </p:nvSpPr>
        <p:spPr>
          <a:xfrm>
            <a:off x="1168321" y="3542652"/>
            <a:ext cx="4070281"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Accélérer le contrôle</a:t>
            </a:r>
            <a:endParaRPr lang="en-US" sz="1600" dirty="0"/>
          </a:p>
        </p:txBody>
      </p:sp>
      <p:sp>
        <p:nvSpPr>
          <p:cNvPr id="20" name="Text 18"/>
          <p:cNvSpPr/>
          <p:nvPr/>
        </p:nvSpPr>
        <p:spPr>
          <a:xfrm>
            <a:off x="5204595" y="3410745"/>
            <a:ext cx="555895" cy="301502"/>
          </a:xfrm>
          <a:prstGeom prst="rect">
            <a:avLst/>
          </a:prstGeom>
          <a:noFill/>
          <a:ln/>
        </p:spPr>
        <p:txBody>
          <a:bodyPr wrap="square" lIns="0" tIns="0" rIns="0" bIns="0" rtlCol="0" anchor="ctr"/>
          <a:lstStyle/>
          <a:p>
            <a:pPr algn="r">
              <a:lnSpc>
                <a:spcPct val="110000"/>
              </a:lnSpc>
            </a:pPr>
            <a:r>
              <a:rPr lang="en-US" sz="1781" b="1" dirty="0">
                <a:solidFill>
                  <a:srgbClr val="3B82F6"/>
                </a:solidFill>
                <a:latin typeface="Noto Sans SC" pitchFamily="34" charset="0"/>
                <a:ea typeface="Noto Sans SC" pitchFamily="34" charset="-122"/>
                <a:cs typeface="Noto Sans SC" pitchFamily="34" charset="-120"/>
              </a:rPr>
              <a:t>4.10</a:t>
            </a:r>
            <a:endParaRPr lang="en-US" sz="1600" dirty="0"/>
          </a:p>
        </p:txBody>
      </p:sp>
      <p:sp>
        <p:nvSpPr>
          <p:cNvPr id="21" name="Text 19"/>
          <p:cNvSpPr/>
          <p:nvPr/>
        </p:nvSpPr>
        <p:spPr>
          <a:xfrm>
            <a:off x="5251705" y="3712247"/>
            <a:ext cx="508785" cy="188439"/>
          </a:xfrm>
          <a:prstGeom prst="rect">
            <a:avLst/>
          </a:prstGeom>
          <a:noFill/>
          <a:ln/>
        </p:spPr>
        <p:txBody>
          <a:bodyPr wrap="square" lIns="0" tIns="0" rIns="0" bIns="0" rtlCol="0" anchor="ctr"/>
          <a:lstStyle/>
          <a:p>
            <a:pPr algn="r">
              <a:lnSpc>
                <a:spcPct val="120000"/>
              </a:lnSpc>
            </a:pPr>
            <a:r>
              <a:rPr lang="en-US" sz="1039" dirty="0">
                <a:solidFill>
                  <a:srgbClr val="6B7280"/>
                </a:solidFill>
                <a:latin typeface="MiSans" pitchFamily="34" charset="0"/>
                <a:ea typeface="MiSans" pitchFamily="34" charset="-122"/>
                <a:cs typeface="MiSans" pitchFamily="34" charset="-120"/>
              </a:rPr>
              <a:t>/5</a:t>
            </a:r>
            <a:endParaRPr lang="en-US" sz="1600" dirty="0"/>
          </a:p>
        </p:txBody>
      </p:sp>
      <p:sp>
        <p:nvSpPr>
          <p:cNvPr id="22" name="Shape 20"/>
          <p:cNvSpPr/>
          <p:nvPr/>
        </p:nvSpPr>
        <p:spPr>
          <a:xfrm>
            <a:off x="565317" y="3976062"/>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6B7280"/>
          </a:solidFill>
          <a:ln/>
        </p:spPr>
      </p:sp>
      <p:sp>
        <p:nvSpPr>
          <p:cNvPr id="23" name="Text 21"/>
          <p:cNvSpPr/>
          <p:nvPr/>
        </p:nvSpPr>
        <p:spPr>
          <a:xfrm>
            <a:off x="695016" y="4089125"/>
            <a:ext cx="263815" cy="226127"/>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A4</a:t>
            </a:r>
            <a:endParaRPr lang="en-US" sz="1600" dirty="0"/>
          </a:p>
        </p:txBody>
      </p:sp>
      <p:sp>
        <p:nvSpPr>
          <p:cNvPr id="24" name="Text 22"/>
          <p:cNvSpPr/>
          <p:nvPr/>
        </p:nvSpPr>
        <p:spPr>
          <a:xfrm>
            <a:off x="1168321" y="4089125"/>
            <a:ext cx="4070281"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Centraliser données</a:t>
            </a:r>
            <a:endParaRPr lang="en-US" sz="1600" dirty="0"/>
          </a:p>
        </p:txBody>
      </p:sp>
      <p:sp>
        <p:nvSpPr>
          <p:cNvPr id="25" name="Text 23"/>
          <p:cNvSpPr/>
          <p:nvPr/>
        </p:nvSpPr>
        <p:spPr>
          <a:xfrm>
            <a:off x="5204595" y="3957218"/>
            <a:ext cx="555895" cy="301502"/>
          </a:xfrm>
          <a:prstGeom prst="rect">
            <a:avLst/>
          </a:prstGeom>
          <a:noFill/>
          <a:ln/>
        </p:spPr>
        <p:txBody>
          <a:bodyPr wrap="square" lIns="0" tIns="0" rIns="0" bIns="0" rtlCol="0" anchor="ctr"/>
          <a:lstStyle/>
          <a:p>
            <a:pPr algn="r">
              <a:lnSpc>
                <a:spcPct val="110000"/>
              </a:lnSpc>
            </a:pPr>
            <a:r>
              <a:rPr lang="en-US" sz="1781" b="1" dirty="0">
                <a:solidFill>
                  <a:srgbClr val="6B7280"/>
                </a:solidFill>
                <a:latin typeface="Noto Sans SC" pitchFamily="34" charset="0"/>
                <a:ea typeface="Noto Sans SC" pitchFamily="34" charset="-122"/>
                <a:cs typeface="Noto Sans SC" pitchFamily="34" charset="-120"/>
              </a:rPr>
              <a:t>3.55</a:t>
            </a:r>
            <a:endParaRPr lang="en-US" sz="1600" dirty="0"/>
          </a:p>
        </p:txBody>
      </p:sp>
      <p:sp>
        <p:nvSpPr>
          <p:cNvPr id="26" name="Text 24"/>
          <p:cNvSpPr/>
          <p:nvPr/>
        </p:nvSpPr>
        <p:spPr>
          <a:xfrm>
            <a:off x="5251705" y="4258720"/>
            <a:ext cx="508785" cy="188439"/>
          </a:xfrm>
          <a:prstGeom prst="rect">
            <a:avLst/>
          </a:prstGeom>
          <a:noFill/>
          <a:ln/>
        </p:spPr>
        <p:txBody>
          <a:bodyPr wrap="square" lIns="0" tIns="0" rIns="0" bIns="0" rtlCol="0" anchor="ctr"/>
          <a:lstStyle/>
          <a:p>
            <a:pPr algn="r">
              <a:lnSpc>
                <a:spcPct val="120000"/>
              </a:lnSpc>
            </a:pPr>
            <a:r>
              <a:rPr lang="en-US" sz="1039" dirty="0">
                <a:solidFill>
                  <a:srgbClr val="6B7280"/>
                </a:solidFill>
                <a:latin typeface="MiSans" pitchFamily="34" charset="0"/>
                <a:ea typeface="MiSans" pitchFamily="34" charset="-122"/>
                <a:cs typeface="MiSans" pitchFamily="34" charset="-120"/>
              </a:rPr>
              <a:t>/5</a:t>
            </a:r>
            <a:endParaRPr lang="en-US" sz="1600" dirty="0"/>
          </a:p>
        </p:txBody>
      </p:sp>
      <p:sp>
        <p:nvSpPr>
          <p:cNvPr id="27" name="Shape 25"/>
          <p:cNvSpPr/>
          <p:nvPr/>
        </p:nvSpPr>
        <p:spPr>
          <a:xfrm>
            <a:off x="565317" y="4522535"/>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6B7280"/>
          </a:solidFill>
          <a:ln/>
        </p:spPr>
      </p:sp>
      <p:sp>
        <p:nvSpPr>
          <p:cNvPr id="28" name="Text 26"/>
          <p:cNvSpPr/>
          <p:nvPr/>
        </p:nvSpPr>
        <p:spPr>
          <a:xfrm>
            <a:off x="695016" y="4635598"/>
            <a:ext cx="263815" cy="226127"/>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A5</a:t>
            </a:r>
            <a:endParaRPr lang="en-US" sz="1600" dirty="0"/>
          </a:p>
        </p:txBody>
      </p:sp>
      <p:sp>
        <p:nvSpPr>
          <p:cNvPr id="29" name="Text 27"/>
          <p:cNvSpPr/>
          <p:nvPr/>
        </p:nvSpPr>
        <p:spPr>
          <a:xfrm>
            <a:off x="1168321" y="4635598"/>
            <a:ext cx="4070281"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Monitoring + reporting</a:t>
            </a:r>
            <a:endParaRPr lang="en-US" sz="1600" dirty="0"/>
          </a:p>
        </p:txBody>
      </p:sp>
      <p:sp>
        <p:nvSpPr>
          <p:cNvPr id="30" name="Text 28"/>
          <p:cNvSpPr/>
          <p:nvPr/>
        </p:nvSpPr>
        <p:spPr>
          <a:xfrm>
            <a:off x="5204595" y="4503691"/>
            <a:ext cx="555895" cy="301502"/>
          </a:xfrm>
          <a:prstGeom prst="rect">
            <a:avLst/>
          </a:prstGeom>
          <a:noFill/>
          <a:ln/>
        </p:spPr>
        <p:txBody>
          <a:bodyPr wrap="square" lIns="0" tIns="0" rIns="0" bIns="0" rtlCol="0" anchor="ctr"/>
          <a:lstStyle/>
          <a:p>
            <a:pPr algn="r">
              <a:lnSpc>
                <a:spcPct val="110000"/>
              </a:lnSpc>
            </a:pPr>
            <a:r>
              <a:rPr lang="en-US" sz="1781" b="1" dirty="0">
                <a:solidFill>
                  <a:srgbClr val="6B7280"/>
                </a:solidFill>
                <a:latin typeface="Noto Sans SC" pitchFamily="34" charset="0"/>
                <a:ea typeface="Noto Sans SC" pitchFamily="34" charset="-122"/>
                <a:cs typeface="Noto Sans SC" pitchFamily="34" charset="-120"/>
              </a:rPr>
              <a:t>3.45</a:t>
            </a:r>
            <a:endParaRPr lang="en-US" sz="1600" dirty="0"/>
          </a:p>
        </p:txBody>
      </p:sp>
      <p:sp>
        <p:nvSpPr>
          <p:cNvPr id="31" name="Text 29"/>
          <p:cNvSpPr/>
          <p:nvPr/>
        </p:nvSpPr>
        <p:spPr>
          <a:xfrm>
            <a:off x="5251705" y="4805193"/>
            <a:ext cx="508785" cy="188439"/>
          </a:xfrm>
          <a:prstGeom prst="rect">
            <a:avLst/>
          </a:prstGeom>
          <a:noFill/>
          <a:ln/>
        </p:spPr>
        <p:txBody>
          <a:bodyPr wrap="square" lIns="0" tIns="0" rIns="0" bIns="0" rtlCol="0" anchor="ctr"/>
          <a:lstStyle/>
          <a:p>
            <a:pPr algn="r">
              <a:lnSpc>
                <a:spcPct val="120000"/>
              </a:lnSpc>
            </a:pPr>
            <a:r>
              <a:rPr lang="en-US" sz="1039" dirty="0">
                <a:solidFill>
                  <a:srgbClr val="6B7280"/>
                </a:solidFill>
                <a:latin typeface="MiSans" pitchFamily="34" charset="0"/>
                <a:ea typeface="MiSans" pitchFamily="34" charset="-122"/>
                <a:cs typeface="MiSans" pitchFamily="34" charset="-120"/>
              </a:rPr>
              <a:t>/5</a:t>
            </a:r>
            <a:endParaRPr lang="en-US" sz="1600" dirty="0"/>
          </a:p>
        </p:txBody>
      </p:sp>
      <p:sp>
        <p:nvSpPr>
          <p:cNvPr id="32" name="Shape 30"/>
          <p:cNvSpPr/>
          <p:nvPr/>
        </p:nvSpPr>
        <p:spPr>
          <a:xfrm>
            <a:off x="565317" y="5069008"/>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6B7280"/>
          </a:solidFill>
          <a:ln/>
        </p:spPr>
      </p:sp>
      <p:sp>
        <p:nvSpPr>
          <p:cNvPr id="33" name="Text 31"/>
          <p:cNvSpPr/>
          <p:nvPr/>
        </p:nvSpPr>
        <p:spPr>
          <a:xfrm>
            <a:off x="695016" y="5182071"/>
            <a:ext cx="263815" cy="226127"/>
          </a:xfrm>
          <a:prstGeom prst="rect">
            <a:avLst/>
          </a:prstGeom>
          <a:noFill/>
          <a:ln/>
        </p:spPr>
        <p:txBody>
          <a:bodyPr wrap="square" lIns="0" tIns="0" rIns="0" bIns="0" rtlCol="0" anchor="ctr"/>
          <a:lstStyle/>
          <a:p>
            <a:pPr>
              <a:lnSpc>
                <a:spcPct val="130000"/>
              </a:lnSpc>
            </a:pPr>
            <a:r>
              <a:rPr lang="en-US" sz="1187" b="1" dirty="0">
                <a:solidFill>
                  <a:srgbClr val="FFFFFF"/>
                </a:solidFill>
                <a:latin typeface="MiSans" pitchFamily="34" charset="0"/>
                <a:ea typeface="MiSans" pitchFamily="34" charset="-122"/>
                <a:cs typeface="MiSans" pitchFamily="34" charset="-120"/>
              </a:rPr>
              <a:t>A3</a:t>
            </a:r>
            <a:endParaRPr lang="en-US" sz="1600" dirty="0"/>
          </a:p>
        </p:txBody>
      </p:sp>
      <p:sp>
        <p:nvSpPr>
          <p:cNvPr id="34" name="Text 32"/>
          <p:cNvSpPr/>
          <p:nvPr/>
        </p:nvSpPr>
        <p:spPr>
          <a:xfrm>
            <a:off x="1168321" y="5182071"/>
            <a:ext cx="4070281"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Analyse causes racines</a:t>
            </a:r>
            <a:endParaRPr lang="en-US" sz="1600" dirty="0"/>
          </a:p>
        </p:txBody>
      </p:sp>
      <p:sp>
        <p:nvSpPr>
          <p:cNvPr id="35" name="Text 33"/>
          <p:cNvSpPr/>
          <p:nvPr/>
        </p:nvSpPr>
        <p:spPr>
          <a:xfrm>
            <a:off x="5204595" y="5050164"/>
            <a:ext cx="555895" cy="301502"/>
          </a:xfrm>
          <a:prstGeom prst="rect">
            <a:avLst/>
          </a:prstGeom>
          <a:noFill/>
          <a:ln/>
        </p:spPr>
        <p:txBody>
          <a:bodyPr wrap="square" lIns="0" tIns="0" rIns="0" bIns="0" rtlCol="0" anchor="ctr"/>
          <a:lstStyle/>
          <a:p>
            <a:pPr algn="r">
              <a:lnSpc>
                <a:spcPct val="110000"/>
              </a:lnSpc>
            </a:pPr>
            <a:r>
              <a:rPr lang="en-US" sz="1781" b="1" dirty="0">
                <a:solidFill>
                  <a:srgbClr val="6B7280"/>
                </a:solidFill>
                <a:latin typeface="Noto Sans SC" pitchFamily="34" charset="0"/>
                <a:ea typeface="Noto Sans SC" pitchFamily="34" charset="-122"/>
                <a:cs typeface="Noto Sans SC" pitchFamily="34" charset="-120"/>
              </a:rPr>
              <a:t>3.25</a:t>
            </a:r>
            <a:endParaRPr lang="en-US" sz="1600" dirty="0"/>
          </a:p>
        </p:txBody>
      </p:sp>
      <p:sp>
        <p:nvSpPr>
          <p:cNvPr id="36" name="Text 34"/>
          <p:cNvSpPr/>
          <p:nvPr/>
        </p:nvSpPr>
        <p:spPr>
          <a:xfrm>
            <a:off x="5251705" y="5351666"/>
            <a:ext cx="508785" cy="188439"/>
          </a:xfrm>
          <a:prstGeom prst="rect">
            <a:avLst/>
          </a:prstGeom>
          <a:noFill/>
          <a:ln/>
        </p:spPr>
        <p:txBody>
          <a:bodyPr wrap="square" lIns="0" tIns="0" rIns="0" bIns="0" rtlCol="0" anchor="ctr"/>
          <a:lstStyle/>
          <a:p>
            <a:pPr algn="r">
              <a:lnSpc>
                <a:spcPct val="120000"/>
              </a:lnSpc>
            </a:pPr>
            <a:r>
              <a:rPr lang="en-US" sz="1039" dirty="0">
                <a:solidFill>
                  <a:srgbClr val="6B7280"/>
                </a:solidFill>
                <a:latin typeface="MiSans" pitchFamily="34" charset="0"/>
                <a:ea typeface="MiSans" pitchFamily="34" charset="-122"/>
                <a:cs typeface="MiSans" pitchFamily="34" charset="-120"/>
              </a:rPr>
              <a:t>/5</a:t>
            </a:r>
            <a:endParaRPr lang="en-US" sz="1600" dirty="0"/>
          </a:p>
        </p:txBody>
      </p:sp>
      <p:sp>
        <p:nvSpPr>
          <p:cNvPr id="37" name="Shape 35"/>
          <p:cNvSpPr/>
          <p:nvPr/>
        </p:nvSpPr>
        <p:spPr>
          <a:xfrm>
            <a:off x="386300" y="5851029"/>
            <a:ext cx="5549527" cy="621849"/>
          </a:xfrm>
          <a:custGeom>
            <a:avLst/>
            <a:gdLst/>
            <a:ahLst/>
            <a:cxnLst/>
            <a:rect l="l" t="t" r="r" b="b"/>
            <a:pathLst>
              <a:path w="5549527" h="621849">
                <a:moveTo>
                  <a:pt x="113065" y="0"/>
                </a:moveTo>
                <a:lnTo>
                  <a:pt x="5436463" y="0"/>
                </a:lnTo>
                <a:cubicBezTo>
                  <a:pt x="5498906" y="0"/>
                  <a:pt x="5549527" y="50621"/>
                  <a:pt x="5549527" y="113065"/>
                </a:cubicBezTo>
                <a:lnTo>
                  <a:pt x="5549527" y="508784"/>
                </a:lnTo>
                <a:cubicBezTo>
                  <a:pt x="5549527" y="571228"/>
                  <a:pt x="5498906" y="621849"/>
                  <a:pt x="5436463" y="621849"/>
                </a:cubicBezTo>
                <a:lnTo>
                  <a:pt x="113065" y="621849"/>
                </a:lnTo>
                <a:cubicBezTo>
                  <a:pt x="50663" y="621849"/>
                  <a:pt x="0" y="571186"/>
                  <a:pt x="0" y="508784"/>
                </a:cubicBezTo>
                <a:lnTo>
                  <a:pt x="0" y="113065"/>
                </a:lnTo>
                <a:cubicBezTo>
                  <a:pt x="0" y="50663"/>
                  <a:pt x="50663" y="0"/>
                  <a:pt x="113065" y="0"/>
                </a:cubicBezTo>
                <a:close/>
              </a:path>
            </a:pathLst>
          </a:custGeom>
          <a:solidFill>
            <a:srgbClr val="FFFFFF"/>
          </a:solidFill>
          <a:ln w="25400">
            <a:solidFill>
              <a:srgbClr val="D1D5DB"/>
            </a:solidFill>
            <a:prstDash val="solid"/>
          </a:ln>
        </p:spPr>
      </p:sp>
      <p:sp>
        <p:nvSpPr>
          <p:cNvPr id="38" name="Text 36"/>
          <p:cNvSpPr/>
          <p:nvPr/>
        </p:nvSpPr>
        <p:spPr>
          <a:xfrm>
            <a:off x="475808" y="5973515"/>
            <a:ext cx="5370510" cy="376878"/>
          </a:xfrm>
          <a:prstGeom prst="rect">
            <a:avLst/>
          </a:prstGeom>
          <a:noFill/>
          <a:ln/>
        </p:spPr>
        <p:txBody>
          <a:bodyPr wrap="square" lIns="0" tIns="0" rIns="0" bIns="0" rtlCol="0" anchor="ctr"/>
          <a:lstStyle/>
          <a:p>
            <a:pPr algn="ctr">
              <a:lnSpc>
                <a:spcPct val="120000"/>
              </a:lnSpc>
            </a:pPr>
            <a:r>
              <a:rPr lang="en-US" sz="1039" b="1" dirty="0">
                <a:solidFill>
                  <a:srgbClr val="6B7280"/>
                </a:solidFill>
                <a:latin typeface="MiSans" pitchFamily="34" charset="0"/>
                <a:ea typeface="MiSans" pitchFamily="34" charset="-122"/>
                <a:cs typeface="MiSans" pitchFamily="34" charset="-120"/>
              </a:rPr>
              <a:t>Critères :</a:t>
            </a:r>
            <a:r>
              <a:rPr lang="en-US" sz="1039" dirty="0">
                <a:solidFill>
                  <a:srgbClr val="6B7280"/>
                </a:solidFill>
                <a:latin typeface="MiSans" pitchFamily="34" charset="0"/>
                <a:ea typeface="MiSans" pitchFamily="34" charset="-122"/>
                <a:cs typeface="MiSans" pitchFamily="34" charset="-120"/>
              </a:rPr>
              <a:t> Satisfaction 25% · Efficience 25% · Business 20% · Stratégie 15% · Faisabilité 15%</a:t>
            </a:r>
            <a:endParaRPr lang="en-US" sz="1600" dirty="0"/>
          </a:p>
        </p:txBody>
      </p:sp>
      <p:sp>
        <p:nvSpPr>
          <p:cNvPr id="39" name="Shape 37"/>
          <p:cNvSpPr/>
          <p:nvPr/>
        </p:nvSpPr>
        <p:spPr>
          <a:xfrm>
            <a:off x="6247782" y="1582887"/>
            <a:ext cx="5568371" cy="678380"/>
          </a:xfrm>
          <a:custGeom>
            <a:avLst/>
            <a:gdLst/>
            <a:ahLst/>
            <a:cxnLst/>
            <a:rect l="l" t="t" r="r" b="b"/>
            <a:pathLst>
              <a:path w="5568371" h="678380">
                <a:moveTo>
                  <a:pt x="150750" y="0"/>
                </a:moveTo>
                <a:lnTo>
                  <a:pt x="5417621" y="0"/>
                </a:lnTo>
                <a:cubicBezTo>
                  <a:pt x="5500878" y="0"/>
                  <a:pt x="5568371" y="67493"/>
                  <a:pt x="5568371" y="150750"/>
                </a:cubicBezTo>
                <a:lnTo>
                  <a:pt x="5568371" y="527631"/>
                </a:lnTo>
                <a:cubicBezTo>
                  <a:pt x="5568371" y="610887"/>
                  <a:pt x="5500878" y="678380"/>
                  <a:pt x="5417621" y="678380"/>
                </a:cubicBezTo>
                <a:lnTo>
                  <a:pt x="150750" y="678380"/>
                </a:lnTo>
                <a:cubicBezTo>
                  <a:pt x="67549" y="678380"/>
                  <a:pt x="0" y="610832"/>
                  <a:pt x="0" y="527631"/>
                </a:cubicBezTo>
                <a:lnTo>
                  <a:pt x="0" y="150750"/>
                </a:lnTo>
                <a:cubicBezTo>
                  <a:pt x="0" y="67549"/>
                  <a:pt x="67549" y="0"/>
                  <a:pt x="150750" y="0"/>
                </a:cubicBezTo>
                <a:close/>
              </a:path>
            </a:pathLst>
          </a:custGeom>
          <a:solidFill>
            <a:srgbClr val="1E3A8A"/>
          </a:solidFill>
          <a:ln/>
        </p:spPr>
      </p:sp>
      <p:sp>
        <p:nvSpPr>
          <p:cNvPr id="40" name="Shape 38"/>
          <p:cNvSpPr/>
          <p:nvPr/>
        </p:nvSpPr>
        <p:spPr>
          <a:xfrm>
            <a:off x="6464486" y="1809014"/>
            <a:ext cx="226127" cy="226127"/>
          </a:xfrm>
          <a:custGeom>
            <a:avLst/>
            <a:gdLst/>
            <a:ahLst/>
            <a:cxnLst/>
            <a:rect l="l" t="t" r="r" b="b"/>
            <a:pathLst>
              <a:path w="226127" h="226127">
                <a:moveTo>
                  <a:pt x="113063" y="226127"/>
                </a:moveTo>
                <a:cubicBezTo>
                  <a:pt x="175465" y="226127"/>
                  <a:pt x="226127" y="175465"/>
                  <a:pt x="226127" y="113063"/>
                </a:cubicBezTo>
                <a:cubicBezTo>
                  <a:pt x="226127" y="50662"/>
                  <a:pt x="175465" y="0"/>
                  <a:pt x="113063" y="0"/>
                </a:cubicBezTo>
                <a:cubicBezTo>
                  <a:pt x="50662" y="0"/>
                  <a:pt x="0" y="50662"/>
                  <a:pt x="0" y="113063"/>
                </a:cubicBezTo>
                <a:cubicBezTo>
                  <a:pt x="0" y="175465"/>
                  <a:pt x="50662" y="226127"/>
                  <a:pt x="113063" y="226127"/>
                </a:cubicBezTo>
                <a:close/>
                <a:moveTo>
                  <a:pt x="113063" y="77731"/>
                </a:moveTo>
                <a:cubicBezTo>
                  <a:pt x="105246" y="77731"/>
                  <a:pt x="98930" y="84047"/>
                  <a:pt x="98930" y="91864"/>
                </a:cubicBezTo>
                <a:cubicBezTo>
                  <a:pt x="98930" y="97738"/>
                  <a:pt x="94205" y="102464"/>
                  <a:pt x="88331" y="102464"/>
                </a:cubicBezTo>
                <a:cubicBezTo>
                  <a:pt x="82457" y="102464"/>
                  <a:pt x="77731" y="97738"/>
                  <a:pt x="77731" y="91864"/>
                </a:cubicBezTo>
                <a:cubicBezTo>
                  <a:pt x="77731" y="72343"/>
                  <a:pt x="93542" y="56532"/>
                  <a:pt x="113063" y="56532"/>
                </a:cubicBezTo>
                <a:cubicBezTo>
                  <a:pt x="132584" y="56532"/>
                  <a:pt x="148396" y="72343"/>
                  <a:pt x="148396" y="91864"/>
                </a:cubicBezTo>
                <a:cubicBezTo>
                  <a:pt x="148396" y="112710"/>
                  <a:pt x="132496" y="121543"/>
                  <a:pt x="123663" y="124767"/>
                </a:cubicBezTo>
                <a:lnTo>
                  <a:pt x="123663" y="126445"/>
                </a:lnTo>
                <a:cubicBezTo>
                  <a:pt x="123663" y="132319"/>
                  <a:pt x="118937" y="137045"/>
                  <a:pt x="113063" y="137045"/>
                </a:cubicBezTo>
                <a:cubicBezTo>
                  <a:pt x="107189" y="137045"/>
                  <a:pt x="102464" y="132319"/>
                  <a:pt x="102464" y="126445"/>
                </a:cubicBezTo>
                <a:lnTo>
                  <a:pt x="102464" y="122868"/>
                </a:lnTo>
                <a:cubicBezTo>
                  <a:pt x="102464" y="113814"/>
                  <a:pt x="109000" y="107322"/>
                  <a:pt x="115757" y="105114"/>
                </a:cubicBezTo>
                <a:cubicBezTo>
                  <a:pt x="118584" y="104186"/>
                  <a:pt x="121587" y="102685"/>
                  <a:pt x="123796" y="100565"/>
                </a:cubicBezTo>
                <a:cubicBezTo>
                  <a:pt x="125695" y="98710"/>
                  <a:pt x="127196" y="96148"/>
                  <a:pt x="127196" y="91908"/>
                </a:cubicBezTo>
                <a:cubicBezTo>
                  <a:pt x="127196" y="84091"/>
                  <a:pt x="120881" y="77775"/>
                  <a:pt x="113063" y="77775"/>
                </a:cubicBezTo>
                <a:close/>
                <a:moveTo>
                  <a:pt x="98930" y="162529"/>
                </a:moveTo>
                <a:cubicBezTo>
                  <a:pt x="98930" y="154728"/>
                  <a:pt x="105263" y="148396"/>
                  <a:pt x="113063" y="148396"/>
                </a:cubicBezTo>
                <a:cubicBezTo>
                  <a:pt x="120864" y="148396"/>
                  <a:pt x="127196" y="154728"/>
                  <a:pt x="127196" y="162529"/>
                </a:cubicBezTo>
                <a:cubicBezTo>
                  <a:pt x="127196" y="170329"/>
                  <a:pt x="120864" y="176662"/>
                  <a:pt x="113063" y="176662"/>
                </a:cubicBezTo>
                <a:cubicBezTo>
                  <a:pt x="105263" y="176662"/>
                  <a:pt x="98930" y="170329"/>
                  <a:pt x="98930" y="162529"/>
                </a:cubicBezTo>
                <a:close/>
              </a:path>
            </a:pathLst>
          </a:custGeom>
          <a:solidFill>
            <a:srgbClr val="FFFFFF"/>
          </a:solidFill>
          <a:ln/>
        </p:spPr>
      </p:sp>
      <p:sp>
        <p:nvSpPr>
          <p:cNvPr id="41" name="Text 39"/>
          <p:cNvSpPr/>
          <p:nvPr/>
        </p:nvSpPr>
        <p:spPr>
          <a:xfrm>
            <a:off x="6831942" y="1771326"/>
            <a:ext cx="1658263" cy="301502"/>
          </a:xfrm>
          <a:prstGeom prst="rect">
            <a:avLst/>
          </a:prstGeom>
          <a:noFill/>
          <a:ln/>
        </p:spPr>
        <p:txBody>
          <a:bodyPr wrap="square" lIns="0" tIns="0" rIns="0" bIns="0" rtlCol="0" anchor="ctr"/>
          <a:lstStyle/>
          <a:p>
            <a:pPr>
              <a:lnSpc>
                <a:spcPct val="110000"/>
              </a:lnSpc>
            </a:pPr>
            <a:r>
              <a:rPr lang="en-US" sz="1781" b="1" dirty="0">
                <a:solidFill>
                  <a:srgbClr val="FFFFFF"/>
                </a:solidFill>
                <a:latin typeface="Noto Sans SC" pitchFamily="34" charset="0"/>
                <a:ea typeface="Noto Sans SC" pitchFamily="34" charset="-122"/>
                <a:cs typeface="Noto Sans SC" pitchFamily="34" charset="-120"/>
              </a:rPr>
              <a:t>Pourquoi A1 ?</a:t>
            </a:r>
            <a:endParaRPr lang="en-US" sz="1600" dirty="0"/>
          </a:p>
        </p:txBody>
      </p:sp>
      <p:sp>
        <p:nvSpPr>
          <p:cNvPr id="42" name="Shape 40"/>
          <p:cNvSpPr/>
          <p:nvPr/>
        </p:nvSpPr>
        <p:spPr>
          <a:xfrm>
            <a:off x="6247782" y="2412019"/>
            <a:ext cx="5568371" cy="4070281"/>
          </a:xfrm>
          <a:custGeom>
            <a:avLst/>
            <a:gdLst/>
            <a:ahLst/>
            <a:cxnLst/>
            <a:rect l="l" t="t" r="r" b="b"/>
            <a:pathLst>
              <a:path w="5568371" h="4070281">
                <a:moveTo>
                  <a:pt x="150763" y="0"/>
                </a:moveTo>
                <a:lnTo>
                  <a:pt x="5417608" y="0"/>
                </a:lnTo>
                <a:cubicBezTo>
                  <a:pt x="5500872" y="0"/>
                  <a:pt x="5568371" y="67499"/>
                  <a:pt x="5568371" y="150763"/>
                </a:cubicBezTo>
                <a:lnTo>
                  <a:pt x="5568371" y="3919518"/>
                </a:lnTo>
                <a:cubicBezTo>
                  <a:pt x="5568371" y="4002782"/>
                  <a:pt x="5500872" y="4070281"/>
                  <a:pt x="5417608" y="4070281"/>
                </a:cubicBezTo>
                <a:lnTo>
                  <a:pt x="150763" y="4070281"/>
                </a:lnTo>
                <a:cubicBezTo>
                  <a:pt x="67499" y="4070281"/>
                  <a:pt x="0" y="4002782"/>
                  <a:pt x="0" y="3919518"/>
                </a:cubicBezTo>
                <a:lnTo>
                  <a:pt x="0" y="150763"/>
                </a:lnTo>
                <a:cubicBezTo>
                  <a:pt x="0" y="67555"/>
                  <a:pt x="67555" y="0"/>
                  <a:pt x="150763" y="0"/>
                </a:cubicBezTo>
                <a:close/>
              </a:path>
            </a:pathLst>
          </a:custGeom>
          <a:solidFill>
            <a:srgbClr val="F3F4F6"/>
          </a:solidFill>
          <a:ln/>
        </p:spPr>
      </p:sp>
      <p:sp>
        <p:nvSpPr>
          <p:cNvPr id="43" name="Shape 41"/>
          <p:cNvSpPr/>
          <p:nvPr/>
        </p:nvSpPr>
        <p:spPr>
          <a:xfrm>
            <a:off x="6473908" y="2638145"/>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10B981"/>
          </a:solidFill>
          <a:ln/>
        </p:spPr>
      </p:sp>
      <p:sp>
        <p:nvSpPr>
          <p:cNvPr id="44" name="Text 42"/>
          <p:cNvSpPr/>
          <p:nvPr/>
        </p:nvSpPr>
        <p:spPr>
          <a:xfrm>
            <a:off x="6647626" y="2732365"/>
            <a:ext cx="197861" cy="263815"/>
          </a:xfrm>
          <a:prstGeom prst="rect">
            <a:avLst/>
          </a:prstGeom>
          <a:noFill/>
          <a:ln/>
        </p:spPr>
        <p:txBody>
          <a:bodyPr wrap="square" lIns="0" tIns="0" rIns="0" bIns="0" rtlCol="0" anchor="ctr"/>
          <a:lstStyle/>
          <a:p>
            <a:pPr>
              <a:lnSpc>
                <a:spcPct val="120000"/>
              </a:lnSpc>
            </a:pPr>
            <a:r>
              <a:rPr lang="en-US" sz="1484" b="1" dirty="0">
                <a:solidFill>
                  <a:srgbClr val="FFFFFF"/>
                </a:solidFill>
                <a:latin typeface="Noto Sans SC" pitchFamily="34" charset="0"/>
                <a:ea typeface="Noto Sans SC" pitchFamily="34" charset="-122"/>
                <a:cs typeface="Noto Sans SC" pitchFamily="34" charset="-120"/>
              </a:rPr>
              <a:t>1</a:t>
            </a:r>
            <a:endParaRPr lang="en-US" sz="1600" dirty="0"/>
          </a:p>
        </p:txBody>
      </p:sp>
      <p:sp>
        <p:nvSpPr>
          <p:cNvPr id="45" name="Text 43"/>
          <p:cNvSpPr/>
          <p:nvPr/>
        </p:nvSpPr>
        <p:spPr>
          <a:xfrm>
            <a:off x="7076913" y="2638145"/>
            <a:ext cx="2327221" cy="263815"/>
          </a:xfrm>
          <a:prstGeom prst="rect">
            <a:avLst/>
          </a:prstGeom>
          <a:noFill/>
          <a:ln/>
        </p:spPr>
        <p:txBody>
          <a:bodyPr wrap="square" lIns="0" tIns="0" rIns="0" bIns="0" rtlCol="0" anchor="ctr"/>
          <a:lstStyle/>
          <a:p>
            <a:pPr>
              <a:lnSpc>
                <a:spcPct val="130000"/>
              </a:lnSpc>
            </a:pPr>
            <a:r>
              <a:rPr lang="en-US" sz="1335" b="1" dirty="0">
                <a:solidFill>
                  <a:srgbClr val="374151"/>
                </a:solidFill>
                <a:latin typeface="MiSans" pitchFamily="34" charset="0"/>
                <a:ea typeface="MiSans" pitchFamily="34" charset="-122"/>
                <a:cs typeface="MiSans" pitchFamily="34" charset="-120"/>
              </a:rPr>
              <a:t>Meilleur score global</a:t>
            </a:r>
            <a:endParaRPr lang="en-US" sz="1600" dirty="0"/>
          </a:p>
        </p:txBody>
      </p:sp>
      <p:sp>
        <p:nvSpPr>
          <p:cNvPr id="46" name="Text 44"/>
          <p:cNvSpPr/>
          <p:nvPr/>
        </p:nvSpPr>
        <p:spPr>
          <a:xfrm>
            <a:off x="7076913" y="2901960"/>
            <a:ext cx="2317799" cy="226127"/>
          </a:xfrm>
          <a:prstGeom prst="rect">
            <a:avLst/>
          </a:prstGeom>
          <a:noFill/>
          <a:ln/>
        </p:spPr>
        <p:txBody>
          <a:bodyPr wrap="square" lIns="0" tIns="0" rIns="0" bIns="0" rtlCol="0" anchor="ctr"/>
          <a:lstStyle/>
          <a:p>
            <a:pPr>
              <a:lnSpc>
                <a:spcPct val="130000"/>
              </a:lnSpc>
            </a:pPr>
            <a:r>
              <a:rPr lang="en-US" sz="1187" dirty="0">
                <a:solidFill>
                  <a:srgbClr val="6B7280"/>
                </a:solidFill>
                <a:latin typeface="MiSans" pitchFamily="34" charset="0"/>
                <a:ea typeface="MiSans" pitchFamily="34" charset="-122"/>
                <a:cs typeface="MiSans" pitchFamily="34" charset="-120"/>
              </a:rPr>
              <a:t>4.70/5 — Leadership indiscutable</a:t>
            </a:r>
            <a:endParaRPr lang="en-US" sz="1600" dirty="0"/>
          </a:p>
        </p:txBody>
      </p:sp>
      <p:sp>
        <p:nvSpPr>
          <p:cNvPr id="47" name="Shape 45"/>
          <p:cNvSpPr/>
          <p:nvPr/>
        </p:nvSpPr>
        <p:spPr>
          <a:xfrm>
            <a:off x="6473908" y="3680890"/>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10B981"/>
          </a:solidFill>
          <a:ln/>
        </p:spPr>
      </p:sp>
      <p:sp>
        <p:nvSpPr>
          <p:cNvPr id="48" name="Text 46"/>
          <p:cNvSpPr/>
          <p:nvPr/>
        </p:nvSpPr>
        <p:spPr>
          <a:xfrm>
            <a:off x="6647626" y="3775109"/>
            <a:ext cx="197861" cy="263815"/>
          </a:xfrm>
          <a:prstGeom prst="rect">
            <a:avLst/>
          </a:prstGeom>
          <a:noFill/>
          <a:ln/>
        </p:spPr>
        <p:txBody>
          <a:bodyPr wrap="square" lIns="0" tIns="0" rIns="0" bIns="0" rtlCol="0" anchor="ctr"/>
          <a:lstStyle/>
          <a:p>
            <a:pPr>
              <a:lnSpc>
                <a:spcPct val="120000"/>
              </a:lnSpc>
            </a:pPr>
            <a:r>
              <a:rPr lang="en-US" sz="1484" b="1" dirty="0">
                <a:solidFill>
                  <a:srgbClr val="FFFFFF"/>
                </a:solidFill>
                <a:latin typeface="Noto Sans SC" pitchFamily="34" charset="0"/>
                <a:ea typeface="Noto Sans SC" pitchFamily="34" charset="-122"/>
                <a:cs typeface="Noto Sans SC" pitchFamily="34" charset="-120"/>
              </a:rPr>
              <a:t>2</a:t>
            </a:r>
            <a:endParaRPr lang="en-US" sz="1600" dirty="0"/>
          </a:p>
        </p:txBody>
      </p:sp>
      <p:sp>
        <p:nvSpPr>
          <p:cNvPr id="49" name="Text 47"/>
          <p:cNvSpPr/>
          <p:nvPr/>
        </p:nvSpPr>
        <p:spPr>
          <a:xfrm>
            <a:off x="7076913" y="3680890"/>
            <a:ext cx="2082250" cy="263815"/>
          </a:xfrm>
          <a:prstGeom prst="rect">
            <a:avLst/>
          </a:prstGeom>
          <a:noFill/>
          <a:ln/>
        </p:spPr>
        <p:txBody>
          <a:bodyPr wrap="square" lIns="0" tIns="0" rIns="0" bIns="0" rtlCol="0" anchor="ctr"/>
          <a:lstStyle/>
          <a:p>
            <a:pPr>
              <a:lnSpc>
                <a:spcPct val="130000"/>
              </a:lnSpc>
            </a:pPr>
            <a:r>
              <a:rPr lang="en-US" sz="1335" b="1" dirty="0">
                <a:solidFill>
                  <a:srgbClr val="374151"/>
                </a:solidFill>
                <a:latin typeface="MiSans" pitchFamily="34" charset="0"/>
                <a:ea typeface="MiSans" pitchFamily="34" charset="-122"/>
                <a:cs typeface="MiSans" pitchFamily="34" charset="-120"/>
              </a:rPr>
              <a:t>Résout la friction Sophie</a:t>
            </a:r>
            <a:endParaRPr lang="en-US" sz="1600" dirty="0"/>
          </a:p>
        </p:txBody>
      </p:sp>
      <p:sp>
        <p:nvSpPr>
          <p:cNvPr id="50" name="Text 48"/>
          <p:cNvSpPr/>
          <p:nvPr/>
        </p:nvSpPr>
        <p:spPr>
          <a:xfrm>
            <a:off x="7076913" y="3944704"/>
            <a:ext cx="2072828" cy="226127"/>
          </a:xfrm>
          <a:prstGeom prst="rect">
            <a:avLst/>
          </a:prstGeom>
          <a:noFill/>
          <a:ln/>
        </p:spPr>
        <p:txBody>
          <a:bodyPr wrap="square" lIns="0" tIns="0" rIns="0" bIns="0" rtlCol="0" anchor="ctr"/>
          <a:lstStyle/>
          <a:p>
            <a:pPr>
              <a:lnSpc>
                <a:spcPct val="130000"/>
              </a:lnSpc>
            </a:pPr>
            <a:r>
              <a:rPr lang="en-US" sz="1187" dirty="0">
                <a:solidFill>
                  <a:srgbClr val="6B7280"/>
                </a:solidFill>
                <a:latin typeface="MiSans" pitchFamily="34" charset="0"/>
                <a:ea typeface="MiSans" pitchFamily="34" charset="-122"/>
                <a:cs typeface="MiSans" pitchFamily="34" charset="-120"/>
              </a:rPr>
              <a:t>Étapes 3-4 du parcours</a:t>
            </a:r>
            <a:endParaRPr lang="en-US" sz="1600" dirty="0"/>
          </a:p>
        </p:txBody>
      </p:sp>
      <p:sp>
        <p:nvSpPr>
          <p:cNvPr id="51" name="Shape 49"/>
          <p:cNvSpPr/>
          <p:nvPr/>
        </p:nvSpPr>
        <p:spPr>
          <a:xfrm>
            <a:off x="6473908" y="4723487"/>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10B981"/>
          </a:solidFill>
          <a:ln/>
        </p:spPr>
      </p:sp>
      <p:sp>
        <p:nvSpPr>
          <p:cNvPr id="52" name="Text 50"/>
          <p:cNvSpPr/>
          <p:nvPr/>
        </p:nvSpPr>
        <p:spPr>
          <a:xfrm>
            <a:off x="6647626" y="4817707"/>
            <a:ext cx="197861" cy="263815"/>
          </a:xfrm>
          <a:prstGeom prst="rect">
            <a:avLst/>
          </a:prstGeom>
          <a:noFill/>
          <a:ln/>
        </p:spPr>
        <p:txBody>
          <a:bodyPr wrap="square" lIns="0" tIns="0" rIns="0" bIns="0" rtlCol="0" anchor="ctr"/>
          <a:lstStyle/>
          <a:p>
            <a:pPr>
              <a:lnSpc>
                <a:spcPct val="120000"/>
              </a:lnSpc>
            </a:pPr>
            <a:r>
              <a:rPr lang="en-US" sz="1484" b="1" dirty="0">
                <a:solidFill>
                  <a:srgbClr val="FFFFFF"/>
                </a:solidFill>
                <a:latin typeface="Noto Sans SC" pitchFamily="34" charset="0"/>
                <a:ea typeface="Noto Sans SC" pitchFamily="34" charset="-122"/>
                <a:cs typeface="Noto Sans SC" pitchFamily="34" charset="-120"/>
              </a:rPr>
              <a:t>3</a:t>
            </a:r>
            <a:endParaRPr lang="en-US" sz="1600" dirty="0"/>
          </a:p>
        </p:txBody>
      </p:sp>
      <p:sp>
        <p:nvSpPr>
          <p:cNvPr id="53" name="Text 51"/>
          <p:cNvSpPr/>
          <p:nvPr/>
        </p:nvSpPr>
        <p:spPr>
          <a:xfrm>
            <a:off x="7076913" y="4723487"/>
            <a:ext cx="1724216" cy="263815"/>
          </a:xfrm>
          <a:prstGeom prst="rect">
            <a:avLst/>
          </a:prstGeom>
          <a:noFill/>
          <a:ln/>
        </p:spPr>
        <p:txBody>
          <a:bodyPr wrap="square" lIns="0" tIns="0" rIns="0" bIns="0" rtlCol="0" anchor="ctr"/>
          <a:lstStyle/>
          <a:p>
            <a:pPr>
              <a:lnSpc>
                <a:spcPct val="130000"/>
              </a:lnSpc>
            </a:pPr>
            <a:r>
              <a:rPr lang="en-US" sz="1335" b="1" dirty="0">
                <a:solidFill>
                  <a:srgbClr val="374151"/>
                </a:solidFill>
                <a:latin typeface="MiSans" pitchFamily="34" charset="0"/>
                <a:ea typeface="MiSans" pitchFamily="34" charset="-122"/>
                <a:cs typeface="MiSans" pitchFamily="34" charset="-120"/>
              </a:rPr>
              <a:t>Solutions prêtes</a:t>
            </a:r>
            <a:endParaRPr lang="en-US" sz="1600" dirty="0"/>
          </a:p>
        </p:txBody>
      </p:sp>
      <p:sp>
        <p:nvSpPr>
          <p:cNvPr id="54" name="Text 52"/>
          <p:cNvSpPr/>
          <p:nvPr/>
        </p:nvSpPr>
        <p:spPr>
          <a:xfrm>
            <a:off x="7076913" y="4987302"/>
            <a:ext cx="1714794" cy="226127"/>
          </a:xfrm>
          <a:prstGeom prst="rect">
            <a:avLst/>
          </a:prstGeom>
          <a:noFill/>
          <a:ln/>
        </p:spPr>
        <p:txBody>
          <a:bodyPr wrap="square" lIns="0" tIns="0" rIns="0" bIns="0" rtlCol="0" anchor="ctr"/>
          <a:lstStyle/>
          <a:p>
            <a:pPr>
              <a:lnSpc>
                <a:spcPct val="130000"/>
              </a:lnSpc>
            </a:pPr>
            <a:r>
              <a:rPr lang="en-US" sz="1187" dirty="0">
                <a:solidFill>
                  <a:srgbClr val="6B7280"/>
                </a:solidFill>
                <a:latin typeface="MiSans" pitchFamily="34" charset="0"/>
                <a:ea typeface="MiSans" pitchFamily="34" charset="-122"/>
                <a:cs typeface="MiSans" pitchFamily="34" charset="-120"/>
              </a:rPr>
              <a:t>Cognex ViDi, Landing AI</a:t>
            </a:r>
            <a:endParaRPr lang="en-US" sz="1600" dirty="0"/>
          </a:p>
        </p:txBody>
      </p:sp>
      <p:sp>
        <p:nvSpPr>
          <p:cNvPr id="55" name="Shape 53"/>
          <p:cNvSpPr/>
          <p:nvPr/>
        </p:nvSpPr>
        <p:spPr>
          <a:xfrm>
            <a:off x="6473908" y="5766232"/>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10B981"/>
          </a:solidFill>
          <a:ln/>
        </p:spPr>
      </p:sp>
      <p:sp>
        <p:nvSpPr>
          <p:cNvPr id="56" name="Text 54"/>
          <p:cNvSpPr/>
          <p:nvPr/>
        </p:nvSpPr>
        <p:spPr>
          <a:xfrm>
            <a:off x="6647626" y="5860451"/>
            <a:ext cx="197861" cy="263815"/>
          </a:xfrm>
          <a:prstGeom prst="rect">
            <a:avLst/>
          </a:prstGeom>
          <a:noFill/>
          <a:ln/>
        </p:spPr>
        <p:txBody>
          <a:bodyPr wrap="square" lIns="0" tIns="0" rIns="0" bIns="0" rtlCol="0" anchor="ctr"/>
          <a:lstStyle/>
          <a:p>
            <a:pPr>
              <a:lnSpc>
                <a:spcPct val="120000"/>
              </a:lnSpc>
            </a:pPr>
            <a:r>
              <a:rPr lang="en-US" sz="1484" b="1" dirty="0">
                <a:solidFill>
                  <a:srgbClr val="FFFFFF"/>
                </a:solidFill>
                <a:latin typeface="Noto Sans SC" pitchFamily="34" charset="0"/>
                <a:ea typeface="Noto Sans SC" pitchFamily="34" charset="-122"/>
                <a:cs typeface="Noto Sans SC" pitchFamily="34" charset="-120"/>
              </a:rPr>
              <a:t>4</a:t>
            </a:r>
            <a:endParaRPr lang="en-US" sz="1600" dirty="0"/>
          </a:p>
        </p:txBody>
      </p:sp>
      <p:sp>
        <p:nvSpPr>
          <p:cNvPr id="57" name="Text 55"/>
          <p:cNvSpPr/>
          <p:nvPr/>
        </p:nvSpPr>
        <p:spPr>
          <a:xfrm>
            <a:off x="7076913" y="5766232"/>
            <a:ext cx="1846702" cy="263815"/>
          </a:xfrm>
          <a:prstGeom prst="rect">
            <a:avLst/>
          </a:prstGeom>
          <a:noFill/>
          <a:ln/>
        </p:spPr>
        <p:txBody>
          <a:bodyPr wrap="square" lIns="0" tIns="0" rIns="0" bIns="0" rtlCol="0" anchor="ctr"/>
          <a:lstStyle/>
          <a:p>
            <a:pPr>
              <a:lnSpc>
                <a:spcPct val="130000"/>
              </a:lnSpc>
            </a:pPr>
            <a:r>
              <a:rPr lang="en-US" sz="1335" b="1" dirty="0">
                <a:solidFill>
                  <a:srgbClr val="374151"/>
                </a:solidFill>
                <a:latin typeface="MiSans" pitchFamily="34" charset="0"/>
                <a:ea typeface="MiSans" pitchFamily="34" charset="-122"/>
                <a:cs typeface="MiSans" pitchFamily="34" charset="-120"/>
              </a:rPr>
              <a:t>ROI mesurable</a:t>
            </a:r>
            <a:endParaRPr lang="en-US" sz="1600" dirty="0"/>
          </a:p>
        </p:txBody>
      </p:sp>
      <p:sp>
        <p:nvSpPr>
          <p:cNvPr id="58" name="Text 56"/>
          <p:cNvSpPr/>
          <p:nvPr/>
        </p:nvSpPr>
        <p:spPr>
          <a:xfrm>
            <a:off x="7076913" y="6030046"/>
            <a:ext cx="1837280" cy="226127"/>
          </a:xfrm>
          <a:prstGeom prst="rect">
            <a:avLst/>
          </a:prstGeom>
          <a:noFill/>
          <a:ln/>
        </p:spPr>
        <p:txBody>
          <a:bodyPr wrap="square" lIns="0" tIns="0" rIns="0" bIns="0" rtlCol="0" anchor="ctr"/>
          <a:lstStyle/>
          <a:p>
            <a:pPr>
              <a:lnSpc>
                <a:spcPct val="130000"/>
              </a:lnSpc>
            </a:pPr>
            <a:r>
              <a:rPr lang="en-US" sz="1187" dirty="0">
                <a:solidFill>
                  <a:srgbClr val="6B7280"/>
                </a:solidFill>
                <a:latin typeface="MiSans" pitchFamily="34" charset="0"/>
                <a:ea typeface="MiSans" pitchFamily="34" charset="-122"/>
                <a:cs typeface="MiSans" pitchFamily="34" charset="-120"/>
              </a:rPr>
              <a:t>Faux rebuts 35% → </a:t>
            </a:r>
            <a:r>
              <a:rPr lang="en-US" sz="1187" b="1" dirty="0">
                <a:solidFill>
                  <a:srgbClr val="10B981"/>
                </a:solidFill>
                <a:latin typeface="MiSans" pitchFamily="34" charset="0"/>
                <a:ea typeface="MiSans" pitchFamily="34" charset="-122"/>
                <a:cs typeface="MiSans" pitchFamily="34" charset="-120"/>
              </a:rPr>
              <a:t>&lt;10%</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36099" y="201660"/>
            <a:ext cx="2100620" cy="302489"/>
          </a:xfrm>
          <a:custGeom>
            <a:avLst/>
            <a:gdLst/>
            <a:ahLst/>
            <a:cxnLst/>
            <a:rect l="l" t="t" r="r" b="b"/>
            <a:pathLst>
              <a:path w="2100620" h="302489">
                <a:moveTo>
                  <a:pt x="151245" y="0"/>
                </a:moveTo>
                <a:lnTo>
                  <a:pt x="1949376" y="0"/>
                </a:lnTo>
                <a:cubicBezTo>
                  <a:pt x="2032850" y="0"/>
                  <a:pt x="2100620" y="67770"/>
                  <a:pt x="2100620" y="151245"/>
                </a:cubicBezTo>
                <a:lnTo>
                  <a:pt x="2100620" y="151245"/>
                </a:lnTo>
                <a:cubicBezTo>
                  <a:pt x="2100620" y="234719"/>
                  <a:pt x="2032850" y="302489"/>
                  <a:pt x="1949376" y="302489"/>
                </a:cubicBezTo>
                <a:lnTo>
                  <a:pt x="151245" y="302489"/>
                </a:lnTo>
                <a:cubicBezTo>
                  <a:pt x="67715" y="302489"/>
                  <a:pt x="0" y="234775"/>
                  <a:pt x="0" y="151245"/>
                </a:cubicBezTo>
                <a:lnTo>
                  <a:pt x="0" y="151245"/>
                </a:lnTo>
                <a:cubicBezTo>
                  <a:pt x="0" y="67715"/>
                  <a:pt x="67715" y="0"/>
                  <a:pt x="151245" y="0"/>
                </a:cubicBezTo>
                <a:close/>
              </a:path>
            </a:pathLst>
          </a:custGeom>
          <a:solidFill>
            <a:srgbClr val="EC4899"/>
          </a:solidFill>
          <a:ln/>
        </p:spPr>
      </p:sp>
      <p:sp>
        <p:nvSpPr>
          <p:cNvPr id="3" name="Text 1"/>
          <p:cNvSpPr/>
          <p:nvPr/>
        </p:nvSpPr>
        <p:spPr>
          <a:xfrm>
            <a:off x="470539" y="268879"/>
            <a:ext cx="1890558" cy="168050"/>
          </a:xfrm>
          <a:prstGeom prst="rect">
            <a:avLst/>
          </a:prstGeom>
          <a:noFill/>
          <a:ln/>
        </p:spPr>
        <p:txBody>
          <a:bodyPr wrap="square" lIns="0" tIns="0" rIns="0" bIns="0" rtlCol="0" anchor="ctr"/>
          <a:lstStyle/>
          <a:p>
            <a:pPr>
              <a:lnSpc>
                <a:spcPct val="120000"/>
              </a:lnSpc>
            </a:pPr>
            <a:r>
              <a:rPr lang="en-US" sz="926" b="1" kern="0" spc="23" dirty="0">
                <a:solidFill>
                  <a:srgbClr val="FFFFFF"/>
                </a:solidFill>
                <a:latin typeface="MiSans" pitchFamily="34" charset="0"/>
                <a:ea typeface="MiSans" pitchFamily="34" charset="-122"/>
                <a:cs typeface="MiSans" pitchFamily="34" charset="-120"/>
              </a:rPr>
              <a:t>DISCOVERY - VISION PRODUIT</a:t>
            </a:r>
            <a:endParaRPr lang="en-US" sz="1600" dirty="0"/>
          </a:p>
        </p:txBody>
      </p:sp>
      <p:sp>
        <p:nvSpPr>
          <p:cNvPr id="4" name="Text 2"/>
          <p:cNvSpPr/>
          <p:nvPr/>
        </p:nvSpPr>
        <p:spPr>
          <a:xfrm>
            <a:off x="336099" y="873858"/>
            <a:ext cx="11671046" cy="336099"/>
          </a:xfrm>
          <a:prstGeom prst="rect">
            <a:avLst/>
          </a:prstGeom>
          <a:noFill/>
          <a:ln/>
        </p:spPr>
        <p:txBody>
          <a:bodyPr wrap="square" lIns="0" tIns="0" rIns="0" bIns="0" rtlCol="0" anchor="ctr"/>
          <a:lstStyle/>
          <a:p>
            <a:pPr>
              <a:lnSpc>
                <a:spcPct val="90000"/>
              </a:lnSpc>
            </a:pPr>
            <a:r>
              <a:rPr lang="en-US" sz="2382" b="1" dirty="0">
                <a:solidFill>
                  <a:srgbClr val="1E3A8A"/>
                </a:solidFill>
                <a:latin typeface="Noto Sans SC" pitchFamily="34" charset="0"/>
                <a:ea typeface="Noto Sans SC" pitchFamily="34" charset="-122"/>
                <a:cs typeface="Noto Sans SC" pitchFamily="34" charset="-120"/>
              </a:rPr>
              <a:t>Product Vision Board</a:t>
            </a:r>
            <a:endParaRPr lang="en-US" sz="1600" dirty="0"/>
          </a:p>
        </p:txBody>
      </p:sp>
      <p:sp>
        <p:nvSpPr>
          <p:cNvPr id="5" name="Shape 3"/>
          <p:cNvSpPr/>
          <p:nvPr/>
        </p:nvSpPr>
        <p:spPr>
          <a:xfrm>
            <a:off x="336099" y="1411617"/>
            <a:ext cx="11519802" cy="1310787"/>
          </a:xfrm>
          <a:custGeom>
            <a:avLst/>
            <a:gdLst/>
            <a:ahLst/>
            <a:cxnLst/>
            <a:rect l="l" t="t" r="r" b="b"/>
            <a:pathLst>
              <a:path w="11519802" h="1310787">
                <a:moveTo>
                  <a:pt x="134434" y="0"/>
                </a:moveTo>
                <a:lnTo>
                  <a:pt x="11385367" y="0"/>
                </a:lnTo>
                <a:cubicBezTo>
                  <a:pt x="11459613" y="0"/>
                  <a:pt x="11519802" y="60188"/>
                  <a:pt x="11519802" y="134434"/>
                </a:cubicBezTo>
                <a:lnTo>
                  <a:pt x="11519802" y="1176353"/>
                </a:lnTo>
                <a:cubicBezTo>
                  <a:pt x="11519802" y="1250599"/>
                  <a:pt x="11459613" y="1310787"/>
                  <a:pt x="11385367" y="1310787"/>
                </a:cubicBezTo>
                <a:lnTo>
                  <a:pt x="134434" y="1310787"/>
                </a:lnTo>
                <a:cubicBezTo>
                  <a:pt x="60188" y="1310787"/>
                  <a:pt x="0" y="1250599"/>
                  <a:pt x="0" y="1176353"/>
                </a:cubicBezTo>
                <a:lnTo>
                  <a:pt x="0" y="134434"/>
                </a:lnTo>
                <a:cubicBezTo>
                  <a:pt x="0" y="60188"/>
                  <a:pt x="60188" y="0"/>
                  <a:pt x="134434" y="0"/>
                </a:cubicBezTo>
                <a:close/>
              </a:path>
            </a:pathLst>
          </a:custGeom>
          <a:solidFill>
            <a:srgbClr val="1E3A8A"/>
          </a:solidFill>
          <a:ln/>
        </p:spPr>
      </p:sp>
      <p:sp>
        <p:nvSpPr>
          <p:cNvPr id="6" name="Shape 4"/>
          <p:cNvSpPr/>
          <p:nvPr/>
        </p:nvSpPr>
        <p:spPr>
          <a:xfrm>
            <a:off x="5478943" y="1680496"/>
            <a:ext cx="340300" cy="302489"/>
          </a:xfrm>
          <a:custGeom>
            <a:avLst/>
            <a:gdLst/>
            <a:ahLst/>
            <a:cxnLst/>
            <a:rect l="l" t="t" r="r" b="b"/>
            <a:pathLst>
              <a:path w="340300" h="302489">
                <a:moveTo>
                  <a:pt x="170150" y="18906"/>
                </a:moveTo>
                <a:cubicBezTo>
                  <a:pt x="122414" y="18906"/>
                  <a:pt x="84189" y="40647"/>
                  <a:pt x="56362" y="66524"/>
                </a:cubicBezTo>
                <a:cubicBezTo>
                  <a:pt x="28713" y="92224"/>
                  <a:pt x="10221" y="122886"/>
                  <a:pt x="1418" y="143978"/>
                </a:cubicBezTo>
                <a:cubicBezTo>
                  <a:pt x="-532" y="148645"/>
                  <a:pt x="-532" y="153844"/>
                  <a:pt x="1418" y="158511"/>
                </a:cubicBezTo>
                <a:cubicBezTo>
                  <a:pt x="10221" y="179603"/>
                  <a:pt x="28713" y="210325"/>
                  <a:pt x="56362" y="235965"/>
                </a:cubicBezTo>
                <a:cubicBezTo>
                  <a:pt x="84189" y="261783"/>
                  <a:pt x="122414" y="283584"/>
                  <a:pt x="170150" y="283584"/>
                </a:cubicBezTo>
                <a:cubicBezTo>
                  <a:pt x="217887" y="283584"/>
                  <a:pt x="256112" y="261842"/>
                  <a:pt x="283938" y="235965"/>
                </a:cubicBezTo>
                <a:cubicBezTo>
                  <a:pt x="311588" y="210266"/>
                  <a:pt x="330080" y="179603"/>
                  <a:pt x="338883" y="158511"/>
                </a:cubicBezTo>
                <a:cubicBezTo>
                  <a:pt x="340832" y="153844"/>
                  <a:pt x="340832" y="148645"/>
                  <a:pt x="338883" y="143978"/>
                </a:cubicBezTo>
                <a:cubicBezTo>
                  <a:pt x="330080" y="122886"/>
                  <a:pt x="311588" y="92165"/>
                  <a:pt x="283938" y="66524"/>
                </a:cubicBezTo>
                <a:cubicBezTo>
                  <a:pt x="256112" y="40706"/>
                  <a:pt x="217887" y="18906"/>
                  <a:pt x="170150" y="18906"/>
                </a:cubicBezTo>
                <a:close/>
                <a:moveTo>
                  <a:pt x="85075" y="151245"/>
                </a:moveTo>
                <a:cubicBezTo>
                  <a:pt x="85075" y="104290"/>
                  <a:pt x="123196" y="66170"/>
                  <a:pt x="170150" y="66170"/>
                </a:cubicBezTo>
                <a:cubicBezTo>
                  <a:pt x="217104" y="66170"/>
                  <a:pt x="255225" y="104290"/>
                  <a:pt x="255225" y="151245"/>
                </a:cubicBezTo>
                <a:cubicBezTo>
                  <a:pt x="255225" y="198199"/>
                  <a:pt x="217104" y="236320"/>
                  <a:pt x="170150" y="236320"/>
                </a:cubicBezTo>
                <a:cubicBezTo>
                  <a:pt x="123196" y="236320"/>
                  <a:pt x="85075" y="198199"/>
                  <a:pt x="85075" y="151245"/>
                </a:cubicBezTo>
                <a:close/>
                <a:moveTo>
                  <a:pt x="170150" y="113433"/>
                </a:moveTo>
                <a:cubicBezTo>
                  <a:pt x="170150" y="134289"/>
                  <a:pt x="153194" y="151245"/>
                  <a:pt x="132339" y="151245"/>
                </a:cubicBezTo>
                <a:cubicBezTo>
                  <a:pt x="125545" y="151245"/>
                  <a:pt x="119164" y="149472"/>
                  <a:pt x="113611" y="146282"/>
                </a:cubicBezTo>
                <a:cubicBezTo>
                  <a:pt x="113020" y="152722"/>
                  <a:pt x="113552" y="159339"/>
                  <a:pt x="115324" y="165896"/>
                </a:cubicBezTo>
                <a:cubicBezTo>
                  <a:pt x="123418" y="196145"/>
                  <a:pt x="154553" y="214106"/>
                  <a:pt x="184802" y="206012"/>
                </a:cubicBezTo>
                <a:cubicBezTo>
                  <a:pt x="215051" y="197918"/>
                  <a:pt x="233011" y="166783"/>
                  <a:pt x="224917" y="136534"/>
                </a:cubicBezTo>
                <a:cubicBezTo>
                  <a:pt x="217710" y="109534"/>
                  <a:pt x="192128" y="92342"/>
                  <a:pt x="165188" y="94705"/>
                </a:cubicBezTo>
                <a:cubicBezTo>
                  <a:pt x="168319" y="100200"/>
                  <a:pt x="170150" y="106580"/>
                  <a:pt x="170150" y="113433"/>
                </a:cubicBezTo>
                <a:close/>
              </a:path>
            </a:pathLst>
          </a:custGeom>
          <a:solidFill>
            <a:srgbClr val="FFFFFF"/>
          </a:solidFill>
          <a:ln/>
        </p:spPr>
      </p:sp>
      <p:sp>
        <p:nvSpPr>
          <p:cNvPr id="7" name="Text 5"/>
          <p:cNvSpPr/>
          <p:nvPr/>
        </p:nvSpPr>
        <p:spPr>
          <a:xfrm>
            <a:off x="5909570" y="1680496"/>
            <a:ext cx="882261" cy="302489"/>
          </a:xfrm>
          <a:prstGeom prst="rect">
            <a:avLst/>
          </a:prstGeom>
          <a:noFill/>
          <a:ln/>
        </p:spPr>
        <p:txBody>
          <a:bodyPr wrap="square" lIns="0" tIns="0" rIns="0" bIns="0" rtlCol="0" anchor="ctr"/>
          <a:lstStyle/>
          <a:p>
            <a:pPr algn="ctr">
              <a:lnSpc>
                <a:spcPct val="100000"/>
              </a:lnSpc>
            </a:pPr>
            <a:r>
              <a:rPr lang="en-US" sz="1985" b="1" dirty="0">
                <a:solidFill>
                  <a:srgbClr val="FFFFFF"/>
                </a:solidFill>
                <a:latin typeface="Noto Sans SC" pitchFamily="34" charset="0"/>
                <a:ea typeface="Noto Sans SC" pitchFamily="34" charset="-122"/>
                <a:cs typeface="Noto Sans SC" pitchFamily="34" charset="-120"/>
              </a:rPr>
              <a:t>Vision</a:t>
            </a:r>
            <a:endParaRPr lang="en-US" sz="1600" dirty="0"/>
          </a:p>
        </p:txBody>
      </p:sp>
      <p:sp>
        <p:nvSpPr>
          <p:cNvPr id="8" name="Text 6"/>
          <p:cNvSpPr/>
          <p:nvPr/>
        </p:nvSpPr>
        <p:spPr>
          <a:xfrm>
            <a:off x="3412983" y="2117425"/>
            <a:ext cx="5360783" cy="336099"/>
          </a:xfrm>
          <a:prstGeom prst="rect">
            <a:avLst/>
          </a:prstGeom>
          <a:noFill/>
          <a:ln/>
        </p:spPr>
        <p:txBody>
          <a:bodyPr wrap="square" lIns="0" tIns="0" rIns="0" bIns="0" rtlCol="0" anchor="ctr"/>
          <a:lstStyle/>
          <a:p>
            <a:pPr algn="ctr">
              <a:lnSpc>
                <a:spcPct val="90000"/>
              </a:lnSpc>
            </a:pPr>
            <a:r>
              <a:rPr lang="en-US" sz="2382" b="1" dirty="0">
                <a:solidFill>
                  <a:srgbClr val="FFFFFF"/>
                </a:solidFill>
                <a:latin typeface="Noto Sans SC" pitchFamily="34" charset="0"/>
                <a:ea typeface="Noto Sans SC" pitchFamily="34" charset="-122"/>
                <a:cs typeface="Noto Sans SC" pitchFamily="34" charset="-120"/>
              </a:rPr>
              <a:t>"Que le contrôle visuel soit objectif"</a:t>
            </a:r>
            <a:endParaRPr lang="en-US" sz="1600" dirty="0"/>
          </a:p>
        </p:txBody>
      </p:sp>
      <p:sp>
        <p:nvSpPr>
          <p:cNvPr id="9" name="Shape 7"/>
          <p:cNvSpPr/>
          <p:nvPr/>
        </p:nvSpPr>
        <p:spPr>
          <a:xfrm>
            <a:off x="336099" y="2890453"/>
            <a:ext cx="3730702" cy="2218255"/>
          </a:xfrm>
          <a:custGeom>
            <a:avLst/>
            <a:gdLst/>
            <a:ahLst/>
            <a:cxnLst/>
            <a:rect l="l" t="t" r="r" b="b"/>
            <a:pathLst>
              <a:path w="3730702" h="2218255">
                <a:moveTo>
                  <a:pt x="134448" y="0"/>
                </a:moveTo>
                <a:lnTo>
                  <a:pt x="3596253" y="0"/>
                </a:lnTo>
                <a:cubicBezTo>
                  <a:pt x="3670507" y="0"/>
                  <a:pt x="3730702" y="60195"/>
                  <a:pt x="3730702" y="134448"/>
                </a:cubicBezTo>
                <a:lnTo>
                  <a:pt x="3730702" y="2083807"/>
                </a:lnTo>
                <a:cubicBezTo>
                  <a:pt x="3730702" y="2158060"/>
                  <a:pt x="3670507" y="2218255"/>
                  <a:pt x="3596253" y="2218255"/>
                </a:cubicBezTo>
                <a:lnTo>
                  <a:pt x="134448" y="2218255"/>
                </a:lnTo>
                <a:cubicBezTo>
                  <a:pt x="60195" y="2218255"/>
                  <a:pt x="0" y="2158060"/>
                  <a:pt x="0" y="2083807"/>
                </a:cubicBezTo>
                <a:lnTo>
                  <a:pt x="0" y="134448"/>
                </a:lnTo>
                <a:cubicBezTo>
                  <a:pt x="0" y="60244"/>
                  <a:pt x="60244" y="0"/>
                  <a:pt x="134448" y="0"/>
                </a:cubicBezTo>
                <a:close/>
              </a:path>
            </a:pathLst>
          </a:custGeom>
          <a:solidFill>
            <a:srgbClr val="F3F4F6"/>
          </a:solidFill>
          <a:ln/>
        </p:spPr>
      </p:sp>
      <p:sp>
        <p:nvSpPr>
          <p:cNvPr id="10" name="Shape 8"/>
          <p:cNvSpPr/>
          <p:nvPr/>
        </p:nvSpPr>
        <p:spPr>
          <a:xfrm>
            <a:off x="504149" y="3058503"/>
            <a:ext cx="336099" cy="336099"/>
          </a:xfrm>
          <a:custGeom>
            <a:avLst/>
            <a:gdLst/>
            <a:ahLst/>
            <a:cxnLst/>
            <a:rect l="l" t="t" r="r" b="b"/>
            <a:pathLst>
              <a:path w="336099" h="336099">
                <a:moveTo>
                  <a:pt x="100830" y="0"/>
                </a:moveTo>
                <a:lnTo>
                  <a:pt x="235269" y="0"/>
                </a:lnTo>
                <a:cubicBezTo>
                  <a:pt x="290956" y="0"/>
                  <a:pt x="336099" y="45143"/>
                  <a:pt x="336099" y="100830"/>
                </a:cubicBezTo>
                <a:lnTo>
                  <a:pt x="336099" y="235269"/>
                </a:lnTo>
                <a:cubicBezTo>
                  <a:pt x="336099" y="290956"/>
                  <a:pt x="290956" y="336099"/>
                  <a:pt x="235269" y="336099"/>
                </a:cubicBezTo>
                <a:lnTo>
                  <a:pt x="100830" y="336099"/>
                </a:lnTo>
                <a:cubicBezTo>
                  <a:pt x="45143" y="336099"/>
                  <a:pt x="0" y="290956"/>
                  <a:pt x="0" y="235269"/>
                </a:cubicBezTo>
                <a:lnTo>
                  <a:pt x="0" y="100830"/>
                </a:lnTo>
                <a:cubicBezTo>
                  <a:pt x="0" y="45180"/>
                  <a:pt x="45180" y="0"/>
                  <a:pt x="100830" y="0"/>
                </a:cubicBezTo>
                <a:close/>
              </a:path>
            </a:pathLst>
          </a:custGeom>
          <a:solidFill>
            <a:srgbClr val="8B5CF6"/>
          </a:solidFill>
          <a:ln/>
        </p:spPr>
      </p:sp>
      <p:sp>
        <p:nvSpPr>
          <p:cNvPr id="11" name="Shape 9"/>
          <p:cNvSpPr/>
          <p:nvPr/>
        </p:nvSpPr>
        <p:spPr>
          <a:xfrm>
            <a:off x="588174" y="3159333"/>
            <a:ext cx="168050" cy="134440"/>
          </a:xfrm>
          <a:custGeom>
            <a:avLst/>
            <a:gdLst/>
            <a:ahLst/>
            <a:cxnLst/>
            <a:rect l="l" t="t" r="r" b="b"/>
            <a:pathLst>
              <a:path w="168050" h="134440">
                <a:moveTo>
                  <a:pt x="84025" y="4201"/>
                </a:moveTo>
                <a:cubicBezTo>
                  <a:pt x="99097" y="4201"/>
                  <a:pt x="111333" y="16438"/>
                  <a:pt x="111333" y="31509"/>
                </a:cubicBezTo>
                <a:cubicBezTo>
                  <a:pt x="111333" y="46581"/>
                  <a:pt x="99097" y="58817"/>
                  <a:pt x="84025" y="58817"/>
                </a:cubicBezTo>
                <a:cubicBezTo>
                  <a:pt x="68953" y="58817"/>
                  <a:pt x="56717" y="46581"/>
                  <a:pt x="56717" y="31509"/>
                </a:cubicBezTo>
                <a:cubicBezTo>
                  <a:pt x="56717" y="16438"/>
                  <a:pt x="68953" y="4201"/>
                  <a:pt x="84025" y="4201"/>
                </a:cubicBezTo>
                <a:close/>
                <a:moveTo>
                  <a:pt x="25207" y="23107"/>
                </a:moveTo>
                <a:cubicBezTo>
                  <a:pt x="35642" y="23107"/>
                  <a:pt x="44113" y="31578"/>
                  <a:pt x="44113" y="42012"/>
                </a:cubicBezTo>
                <a:cubicBezTo>
                  <a:pt x="44113" y="52447"/>
                  <a:pt x="35642" y="60918"/>
                  <a:pt x="25207" y="60918"/>
                </a:cubicBezTo>
                <a:cubicBezTo>
                  <a:pt x="14773" y="60918"/>
                  <a:pt x="6302" y="52447"/>
                  <a:pt x="6302" y="42012"/>
                </a:cubicBezTo>
                <a:cubicBezTo>
                  <a:pt x="6302" y="31578"/>
                  <a:pt x="14773" y="23107"/>
                  <a:pt x="25207" y="23107"/>
                </a:cubicBezTo>
                <a:close/>
                <a:moveTo>
                  <a:pt x="0" y="109232"/>
                </a:moveTo>
                <a:cubicBezTo>
                  <a:pt x="0" y="90668"/>
                  <a:pt x="15046" y="75622"/>
                  <a:pt x="33610" y="75622"/>
                </a:cubicBezTo>
                <a:cubicBezTo>
                  <a:pt x="36971" y="75622"/>
                  <a:pt x="40227" y="76121"/>
                  <a:pt x="43299" y="77040"/>
                </a:cubicBezTo>
                <a:cubicBezTo>
                  <a:pt x="34660" y="86703"/>
                  <a:pt x="29409" y="99464"/>
                  <a:pt x="29409" y="113433"/>
                </a:cubicBezTo>
                <a:lnTo>
                  <a:pt x="29409" y="117635"/>
                </a:lnTo>
                <a:cubicBezTo>
                  <a:pt x="29409" y="120628"/>
                  <a:pt x="30039" y="123464"/>
                  <a:pt x="31168" y="126037"/>
                </a:cubicBezTo>
                <a:lnTo>
                  <a:pt x="8402" y="126037"/>
                </a:lnTo>
                <a:cubicBezTo>
                  <a:pt x="3755" y="126037"/>
                  <a:pt x="0" y="122282"/>
                  <a:pt x="0" y="117635"/>
                </a:cubicBezTo>
                <a:lnTo>
                  <a:pt x="0" y="109232"/>
                </a:lnTo>
                <a:close/>
                <a:moveTo>
                  <a:pt x="136882" y="126037"/>
                </a:moveTo>
                <a:cubicBezTo>
                  <a:pt x="138011" y="123464"/>
                  <a:pt x="138641" y="120628"/>
                  <a:pt x="138641" y="117635"/>
                </a:cubicBezTo>
                <a:lnTo>
                  <a:pt x="138641" y="113433"/>
                </a:lnTo>
                <a:cubicBezTo>
                  <a:pt x="138641" y="99464"/>
                  <a:pt x="133389" y="86703"/>
                  <a:pt x="124751" y="77040"/>
                </a:cubicBezTo>
                <a:cubicBezTo>
                  <a:pt x="127823" y="76121"/>
                  <a:pt x="131079" y="75622"/>
                  <a:pt x="134440" y="75622"/>
                </a:cubicBezTo>
                <a:cubicBezTo>
                  <a:pt x="153004" y="75622"/>
                  <a:pt x="168050" y="90668"/>
                  <a:pt x="168050" y="109232"/>
                </a:cubicBezTo>
                <a:lnTo>
                  <a:pt x="168050" y="117635"/>
                </a:lnTo>
                <a:cubicBezTo>
                  <a:pt x="168050" y="122282"/>
                  <a:pt x="164295" y="126037"/>
                  <a:pt x="159647" y="126037"/>
                </a:cubicBezTo>
                <a:lnTo>
                  <a:pt x="136882" y="126037"/>
                </a:lnTo>
                <a:close/>
                <a:moveTo>
                  <a:pt x="123937" y="42012"/>
                </a:moveTo>
                <a:cubicBezTo>
                  <a:pt x="123937" y="31578"/>
                  <a:pt x="132408" y="23107"/>
                  <a:pt x="142842" y="23107"/>
                </a:cubicBezTo>
                <a:cubicBezTo>
                  <a:pt x="153276" y="23107"/>
                  <a:pt x="161748" y="31578"/>
                  <a:pt x="161748" y="42012"/>
                </a:cubicBezTo>
                <a:cubicBezTo>
                  <a:pt x="161748" y="52447"/>
                  <a:pt x="153276" y="60918"/>
                  <a:pt x="142842" y="60918"/>
                </a:cubicBezTo>
                <a:cubicBezTo>
                  <a:pt x="132408" y="60918"/>
                  <a:pt x="123937" y="52447"/>
                  <a:pt x="123937" y="42012"/>
                </a:cubicBezTo>
                <a:close/>
                <a:moveTo>
                  <a:pt x="42012" y="113433"/>
                </a:moveTo>
                <a:cubicBezTo>
                  <a:pt x="42012" y="90222"/>
                  <a:pt x="60813" y="71421"/>
                  <a:pt x="84025" y="71421"/>
                </a:cubicBezTo>
                <a:cubicBezTo>
                  <a:pt x="107237" y="71421"/>
                  <a:pt x="126037" y="90222"/>
                  <a:pt x="126037" y="113433"/>
                </a:cubicBezTo>
                <a:lnTo>
                  <a:pt x="126037" y="117635"/>
                </a:lnTo>
                <a:cubicBezTo>
                  <a:pt x="126037" y="122282"/>
                  <a:pt x="122282" y="126037"/>
                  <a:pt x="117635" y="126037"/>
                </a:cubicBezTo>
                <a:lnTo>
                  <a:pt x="50415" y="126037"/>
                </a:lnTo>
                <a:cubicBezTo>
                  <a:pt x="45767" y="126037"/>
                  <a:pt x="42012" y="122282"/>
                  <a:pt x="42012" y="117635"/>
                </a:cubicBezTo>
                <a:lnTo>
                  <a:pt x="42012" y="113433"/>
                </a:lnTo>
                <a:close/>
              </a:path>
            </a:pathLst>
          </a:custGeom>
          <a:solidFill>
            <a:srgbClr val="FFFFFF"/>
          </a:solidFill>
          <a:ln/>
        </p:spPr>
      </p:sp>
      <p:sp>
        <p:nvSpPr>
          <p:cNvPr id="12" name="Text 10"/>
          <p:cNvSpPr/>
          <p:nvPr/>
        </p:nvSpPr>
        <p:spPr>
          <a:xfrm>
            <a:off x="941078" y="3108918"/>
            <a:ext cx="495746" cy="235269"/>
          </a:xfrm>
          <a:prstGeom prst="rect">
            <a:avLst/>
          </a:prstGeom>
          <a:noFill/>
          <a:ln/>
        </p:spPr>
        <p:txBody>
          <a:bodyPr wrap="square" lIns="0" tIns="0" rIns="0" bIns="0" rtlCol="0" anchor="ctr"/>
          <a:lstStyle/>
          <a:p>
            <a:pPr>
              <a:lnSpc>
                <a:spcPct val="120000"/>
              </a:lnSpc>
            </a:pPr>
            <a:r>
              <a:rPr lang="en-US" sz="1323" b="1" dirty="0">
                <a:solidFill>
                  <a:srgbClr val="1E3A8A"/>
                </a:solidFill>
                <a:latin typeface="Noto Sans SC" pitchFamily="34" charset="0"/>
                <a:ea typeface="Noto Sans SC" pitchFamily="34" charset="-122"/>
                <a:cs typeface="Noto Sans SC" pitchFamily="34" charset="-120"/>
              </a:rPr>
              <a:t>Cible</a:t>
            </a:r>
            <a:endParaRPr lang="en-US" sz="1600" dirty="0"/>
          </a:p>
        </p:txBody>
      </p:sp>
      <p:sp>
        <p:nvSpPr>
          <p:cNvPr id="13" name="Shape 11"/>
          <p:cNvSpPr/>
          <p:nvPr/>
        </p:nvSpPr>
        <p:spPr>
          <a:xfrm>
            <a:off x="504149" y="3529042"/>
            <a:ext cx="268879" cy="268879"/>
          </a:xfrm>
          <a:custGeom>
            <a:avLst/>
            <a:gdLst/>
            <a:ahLst/>
            <a:cxnLst/>
            <a:rect l="l" t="t" r="r" b="b"/>
            <a:pathLst>
              <a:path w="268879" h="268879">
                <a:moveTo>
                  <a:pt x="67220" y="0"/>
                </a:moveTo>
                <a:lnTo>
                  <a:pt x="201660" y="0"/>
                </a:lnTo>
                <a:cubicBezTo>
                  <a:pt x="238759" y="0"/>
                  <a:pt x="268879" y="30120"/>
                  <a:pt x="268879" y="67220"/>
                </a:cubicBezTo>
                <a:lnTo>
                  <a:pt x="268879" y="201660"/>
                </a:lnTo>
                <a:cubicBezTo>
                  <a:pt x="268879" y="238784"/>
                  <a:pt x="238784" y="268879"/>
                  <a:pt x="201660" y="268879"/>
                </a:cubicBezTo>
                <a:lnTo>
                  <a:pt x="67220" y="268879"/>
                </a:lnTo>
                <a:cubicBezTo>
                  <a:pt x="30120" y="268879"/>
                  <a:pt x="0" y="238759"/>
                  <a:pt x="0" y="201660"/>
                </a:cubicBezTo>
                <a:lnTo>
                  <a:pt x="0" y="67220"/>
                </a:lnTo>
                <a:cubicBezTo>
                  <a:pt x="0" y="30095"/>
                  <a:pt x="30095" y="0"/>
                  <a:pt x="67220" y="0"/>
                </a:cubicBezTo>
                <a:close/>
              </a:path>
            </a:pathLst>
          </a:custGeom>
          <a:solidFill>
            <a:srgbClr val="8B5CF6"/>
          </a:solidFill>
          <a:ln/>
        </p:spPr>
      </p:sp>
      <p:sp>
        <p:nvSpPr>
          <p:cNvPr id="14" name="Shape 12"/>
          <p:cNvSpPr/>
          <p:nvPr/>
        </p:nvSpPr>
        <p:spPr>
          <a:xfrm>
            <a:off x="589224" y="3604664"/>
            <a:ext cx="102930" cy="117635"/>
          </a:xfrm>
          <a:custGeom>
            <a:avLst/>
            <a:gdLst/>
            <a:ahLst/>
            <a:cxnLst/>
            <a:rect l="l" t="t" r="r" b="b"/>
            <a:pathLst>
              <a:path w="102930" h="117635">
                <a:moveTo>
                  <a:pt x="51465" y="56979"/>
                </a:moveTo>
                <a:cubicBezTo>
                  <a:pt x="66682" y="56979"/>
                  <a:pt x="79036" y="44625"/>
                  <a:pt x="79036" y="29409"/>
                </a:cubicBezTo>
                <a:cubicBezTo>
                  <a:pt x="79036" y="14192"/>
                  <a:pt x="66682" y="1838"/>
                  <a:pt x="51465" y="1838"/>
                </a:cubicBezTo>
                <a:cubicBezTo>
                  <a:pt x="36249" y="1838"/>
                  <a:pt x="23895" y="14192"/>
                  <a:pt x="23895" y="29409"/>
                </a:cubicBezTo>
                <a:cubicBezTo>
                  <a:pt x="23895" y="44625"/>
                  <a:pt x="36249" y="56979"/>
                  <a:pt x="51465" y="56979"/>
                </a:cubicBezTo>
                <a:close/>
                <a:moveTo>
                  <a:pt x="44641" y="69846"/>
                </a:moveTo>
                <a:cubicBezTo>
                  <a:pt x="22011" y="69846"/>
                  <a:pt x="3676" y="88180"/>
                  <a:pt x="3676" y="110811"/>
                </a:cubicBezTo>
                <a:cubicBezTo>
                  <a:pt x="3676" y="114579"/>
                  <a:pt x="6732" y="117635"/>
                  <a:pt x="10500" y="117635"/>
                </a:cubicBezTo>
                <a:lnTo>
                  <a:pt x="92431" y="117635"/>
                </a:lnTo>
                <a:cubicBezTo>
                  <a:pt x="96199" y="117635"/>
                  <a:pt x="99254" y="114579"/>
                  <a:pt x="99254" y="110811"/>
                </a:cubicBezTo>
                <a:cubicBezTo>
                  <a:pt x="99254" y="88180"/>
                  <a:pt x="80920" y="69846"/>
                  <a:pt x="58289" y="69846"/>
                </a:cubicBezTo>
                <a:lnTo>
                  <a:pt x="44641" y="69846"/>
                </a:lnTo>
                <a:close/>
              </a:path>
            </a:pathLst>
          </a:custGeom>
          <a:solidFill>
            <a:srgbClr val="FFFFFF"/>
          </a:solidFill>
          <a:ln/>
        </p:spPr>
      </p:sp>
      <p:sp>
        <p:nvSpPr>
          <p:cNvPr id="15" name="Text 13"/>
          <p:cNvSpPr/>
          <p:nvPr/>
        </p:nvSpPr>
        <p:spPr>
          <a:xfrm>
            <a:off x="840248" y="3562652"/>
            <a:ext cx="1067115" cy="201660"/>
          </a:xfrm>
          <a:prstGeom prst="rect">
            <a:avLst/>
          </a:prstGeom>
          <a:noFill/>
          <a:ln/>
        </p:spPr>
        <p:txBody>
          <a:bodyPr wrap="square" lIns="0" tIns="0" rIns="0" bIns="0" rtlCol="0" anchor="ctr"/>
          <a:lstStyle/>
          <a:p>
            <a:pPr>
              <a:lnSpc>
                <a:spcPct val="130000"/>
              </a:lnSpc>
            </a:pPr>
            <a:r>
              <a:rPr lang="en-US" sz="1059" b="1" dirty="0">
                <a:solidFill>
                  <a:srgbClr val="374151"/>
                </a:solidFill>
                <a:latin typeface="MiSans" pitchFamily="34" charset="0"/>
                <a:ea typeface="MiSans" pitchFamily="34" charset="-122"/>
                <a:cs typeface="MiSans" pitchFamily="34" charset="-120"/>
              </a:rPr>
              <a:t>Sophie</a:t>
            </a:r>
            <a:r>
              <a:rPr lang="en-US" sz="1059" dirty="0">
                <a:solidFill>
                  <a:srgbClr val="374151"/>
                </a:solidFill>
                <a:latin typeface="MiSans" pitchFamily="34" charset="0"/>
                <a:ea typeface="MiSans" pitchFamily="34" charset="-122"/>
                <a:cs typeface="MiSans" pitchFamily="34" charset="-120"/>
              </a:rPr>
              <a:t> — utilise</a:t>
            </a:r>
            <a:endParaRPr lang="en-US" sz="1600" dirty="0"/>
          </a:p>
        </p:txBody>
      </p:sp>
      <p:sp>
        <p:nvSpPr>
          <p:cNvPr id="16" name="Shape 14"/>
          <p:cNvSpPr/>
          <p:nvPr/>
        </p:nvSpPr>
        <p:spPr>
          <a:xfrm>
            <a:off x="504149" y="3865141"/>
            <a:ext cx="268879" cy="268879"/>
          </a:xfrm>
          <a:custGeom>
            <a:avLst/>
            <a:gdLst/>
            <a:ahLst/>
            <a:cxnLst/>
            <a:rect l="l" t="t" r="r" b="b"/>
            <a:pathLst>
              <a:path w="268879" h="268879">
                <a:moveTo>
                  <a:pt x="67220" y="0"/>
                </a:moveTo>
                <a:lnTo>
                  <a:pt x="201660" y="0"/>
                </a:lnTo>
                <a:cubicBezTo>
                  <a:pt x="238759" y="0"/>
                  <a:pt x="268879" y="30120"/>
                  <a:pt x="268879" y="67220"/>
                </a:cubicBezTo>
                <a:lnTo>
                  <a:pt x="268879" y="201660"/>
                </a:lnTo>
                <a:cubicBezTo>
                  <a:pt x="268879" y="238784"/>
                  <a:pt x="238784" y="268879"/>
                  <a:pt x="201660" y="268879"/>
                </a:cubicBezTo>
                <a:lnTo>
                  <a:pt x="67220" y="268879"/>
                </a:lnTo>
                <a:cubicBezTo>
                  <a:pt x="30120" y="268879"/>
                  <a:pt x="0" y="238759"/>
                  <a:pt x="0" y="201660"/>
                </a:cubicBezTo>
                <a:lnTo>
                  <a:pt x="0" y="67220"/>
                </a:lnTo>
                <a:cubicBezTo>
                  <a:pt x="0" y="30095"/>
                  <a:pt x="30095" y="0"/>
                  <a:pt x="67220" y="0"/>
                </a:cubicBezTo>
                <a:close/>
              </a:path>
            </a:pathLst>
          </a:custGeom>
          <a:solidFill>
            <a:srgbClr val="3B82F6"/>
          </a:solidFill>
          <a:ln/>
        </p:spPr>
      </p:sp>
      <p:sp>
        <p:nvSpPr>
          <p:cNvPr id="17" name="Shape 15"/>
          <p:cNvSpPr/>
          <p:nvPr/>
        </p:nvSpPr>
        <p:spPr>
          <a:xfrm>
            <a:off x="589224" y="3940764"/>
            <a:ext cx="102930" cy="117635"/>
          </a:xfrm>
          <a:custGeom>
            <a:avLst/>
            <a:gdLst/>
            <a:ahLst/>
            <a:cxnLst/>
            <a:rect l="l" t="t" r="r" b="b"/>
            <a:pathLst>
              <a:path w="102930" h="117635">
                <a:moveTo>
                  <a:pt x="51465" y="56979"/>
                </a:moveTo>
                <a:cubicBezTo>
                  <a:pt x="36249" y="56979"/>
                  <a:pt x="23895" y="44625"/>
                  <a:pt x="23895" y="29409"/>
                </a:cubicBezTo>
                <a:cubicBezTo>
                  <a:pt x="23895" y="14192"/>
                  <a:pt x="36249" y="1838"/>
                  <a:pt x="51465" y="1838"/>
                </a:cubicBezTo>
                <a:cubicBezTo>
                  <a:pt x="66682" y="1838"/>
                  <a:pt x="79036" y="14192"/>
                  <a:pt x="79036" y="29409"/>
                </a:cubicBezTo>
                <a:cubicBezTo>
                  <a:pt x="79036" y="44625"/>
                  <a:pt x="66682" y="56979"/>
                  <a:pt x="51465" y="56979"/>
                </a:cubicBezTo>
                <a:close/>
                <a:moveTo>
                  <a:pt x="44458" y="69846"/>
                </a:moveTo>
                <a:lnTo>
                  <a:pt x="58473" y="69846"/>
                </a:lnTo>
                <a:cubicBezTo>
                  <a:pt x="60701" y="69846"/>
                  <a:pt x="62493" y="71638"/>
                  <a:pt x="62493" y="73866"/>
                </a:cubicBezTo>
                <a:cubicBezTo>
                  <a:pt x="62493" y="74831"/>
                  <a:pt x="62149" y="75750"/>
                  <a:pt x="61528" y="76486"/>
                </a:cubicBezTo>
                <a:lnTo>
                  <a:pt x="55233" y="83838"/>
                </a:lnTo>
                <a:lnTo>
                  <a:pt x="62356" y="110283"/>
                </a:lnTo>
                <a:lnTo>
                  <a:pt x="62493" y="110283"/>
                </a:lnTo>
                <a:lnTo>
                  <a:pt x="70443" y="78461"/>
                </a:lnTo>
                <a:cubicBezTo>
                  <a:pt x="70948" y="76463"/>
                  <a:pt x="72993" y="75245"/>
                  <a:pt x="74923" y="75980"/>
                </a:cubicBezTo>
                <a:cubicBezTo>
                  <a:pt x="89145" y="81402"/>
                  <a:pt x="99254" y="95188"/>
                  <a:pt x="99254" y="111316"/>
                </a:cubicBezTo>
                <a:cubicBezTo>
                  <a:pt x="99254" y="114786"/>
                  <a:pt x="96428" y="117612"/>
                  <a:pt x="92959" y="117612"/>
                </a:cubicBezTo>
                <a:lnTo>
                  <a:pt x="9971" y="117635"/>
                </a:lnTo>
                <a:cubicBezTo>
                  <a:pt x="6502" y="117635"/>
                  <a:pt x="3676" y="114809"/>
                  <a:pt x="3676" y="111339"/>
                </a:cubicBezTo>
                <a:cubicBezTo>
                  <a:pt x="3676" y="95211"/>
                  <a:pt x="13785" y="81425"/>
                  <a:pt x="28007" y="76003"/>
                </a:cubicBezTo>
                <a:cubicBezTo>
                  <a:pt x="29937" y="75268"/>
                  <a:pt x="31982" y="76486"/>
                  <a:pt x="32487" y="78484"/>
                </a:cubicBezTo>
                <a:lnTo>
                  <a:pt x="40437" y="110306"/>
                </a:lnTo>
                <a:lnTo>
                  <a:pt x="40575" y="110306"/>
                </a:lnTo>
                <a:lnTo>
                  <a:pt x="47697" y="83861"/>
                </a:lnTo>
                <a:lnTo>
                  <a:pt x="41402" y="76509"/>
                </a:lnTo>
                <a:cubicBezTo>
                  <a:pt x="40782" y="75773"/>
                  <a:pt x="40437" y="74854"/>
                  <a:pt x="40437" y="73889"/>
                </a:cubicBezTo>
                <a:cubicBezTo>
                  <a:pt x="40437" y="71661"/>
                  <a:pt x="42229" y="69869"/>
                  <a:pt x="44458" y="69869"/>
                </a:cubicBezTo>
                <a:close/>
              </a:path>
            </a:pathLst>
          </a:custGeom>
          <a:solidFill>
            <a:srgbClr val="FFFFFF"/>
          </a:solidFill>
          <a:ln/>
        </p:spPr>
      </p:sp>
      <p:sp>
        <p:nvSpPr>
          <p:cNvPr id="18" name="Text 16"/>
          <p:cNvSpPr/>
          <p:nvPr/>
        </p:nvSpPr>
        <p:spPr>
          <a:xfrm>
            <a:off x="840248" y="3898751"/>
            <a:ext cx="1251970" cy="201660"/>
          </a:xfrm>
          <a:prstGeom prst="rect">
            <a:avLst/>
          </a:prstGeom>
          <a:noFill/>
          <a:ln/>
        </p:spPr>
        <p:txBody>
          <a:bodyPr wrap="square" lIns="0" tIns="0" rIns="0" bIns="0" rtlCol="0" anchor="ctr"/>
          <a:lstStyle/>
          <a:p>
            <a:pPr>
              <a:lnSpc>
                <a:spcPct val="130000"/>
              </a:lnSpc>
            </a:pPr>
            <a:r>
              <a:rPr lang="en-US" sz="1059" b="1" dirty="0">
                <a:solidFill>
                  <a:srgbClr val="374151"/>
                </a:solidFill>
                <a:latin typeface="MiSans" pitchFamily="34" charset="0"/>
                <a:ea typeface="MiSans" pitchFamily="34" charset="-122"/>
                <a:cs typeface="MiSans" pitchFamily="34" charset="-120"/>
              </a:rPr>
              <a:t>Marc</a:t>
            </a:r>
            <a:r>
              <a:rPr lang="en-US" sz="1059" dirty="0">
                <a:solidFill>
                  <a:srgbClr val="374151"/>
                </a:solidFill>
                <a:latin typeface="MiSans" pitchFamily="34" charset="0"/>
                <a:ea typeface="MiSans" pitchFamily="34" charset="-122"/>
                <a:cs typeface="MiSans" pitchFamily="34" charset="-120"/>
              </a:rPr>
              <a:t> — consomme</a:t>
            </a:r>
            <a:endParaRPr lang="en-US" sz="1600" dirty="0"/>
          </a:p>
        </p:txBody>
      </p:sp>
      <p:sp>
        <p:nvSpPr>
          <p:cNvPr id="19" name="Shape 17"/>
          <p:cNvSpPr/>
          <p:nvPr/>
        </p:nvSpPr>
        <p:spPr>
          <a:xfrm>
            <a:off x="504149" y="4201241"/>
            <a:ext cx="268879" cy="268879"/>
          </a:xfrm>
          <a:custGeom>
            <a:avLst/>
            <a:gdLst/>
            <a:ahLst/>
            <a:cxnLst/>
            <a:rect l="l" t="t" r="r" b="b"/>
            <a:pathLst>
              <a:path w="268879" h="268879">
                <a:moveTo>
                  <a:pt x="67220" y="0"/>
                </a:moveTo>
                <a:lnTo>
                  <a:pt x="201660" y="0"/>
                </a:lnTo>
                <a:cubicBezTo>
                  <a:pt x="238759" y="0"/>
                  <a:pt x="268879" y="30120"/>
                  <a:pt x="268879" y="67220"/>
                </a:cubicBezTo>
                <a:lnTo>
                  <a:pt x="268879" y="201660"/>
                </a:lnTo>
                <a:cubicBezTo>
                  <a:pt x="268879" y="238784"/>
                  <a:pt x="238784" y="268879"/>
                  <a:pt x="201660" y="268879"/>
                </a:cubicBezTo>
                <a:lnTo>
                  <a:pt x="67220" y="268879"/>
                </a:lnTo>
                <a:cubicBezTo>
                  <a:pt x="30120" y="268879"/>
                  <a:pt x="0" y="238759"/>
                  <a:pt x="0" y="201660"/>
                </a:cubicBezTo>
                <a:lnTo>
                  <a:pt x="0" y="67220"/>
                </a:lnTo>
                <a:cubicBezTo>
                  <a:pt x="0" y="30095"/>
                  <a:pt x="30095" y="0"/>
                  <a:pt x="67220" y="0"/>
                </a:cubicBezTo>
                <a:close/>
              </a:path>
            </a:pathLst>
          </a:custGeom>
          <a:solidFill>
            <a:srgbClr val="10B981"/>
          </a:solidFill>
          <a:ln/>
        </p:spPr>
      </p:sp>
      <p:sp>
        <p:nvSpPr>
          <p:cNvPr id="20" name="Shape 18"/>
          <p:cNvSpPr/>
          <p:nvPr/>
        </p:nvSpPr>
        <p:spPr>
          <a:xfrm>
            <a:off x="567167" y="4276863"/>
            <a:ext cx="147043" cy="117635"/>
          </a:xfrm>
          <a:custGeom>
            <a:avLst/>
            <a:gdLst/>
            <a:ahLst/>
            <a:cxnLst/>
            <a:rect l="l" t="t" r="r" b="b"/>
            <a:pathLst>
              <a:path w="147043" h="117635">
                <a:moveTo>
                  <a:pt x="95555" y="48363"/>
                </a:moveTo>
                <a:cubicBezTo>
                  <a:pt x="98358" y="47605"/>
                  <a:pt x="101299" y="48938"/>
                  <a:pt x="102563" y="51534"/>
                </a:cubicBezTo>
                <a:lnTo>
                  <a:pt x="106836" y="60173"/>
                </a:lnTo>
                <a:cubicBezTo>
                  <a:pt x="109203" y="60495"/>
                  <a:pt x="111523" y="61138"/>
                  <a:pt x="113706" y="62034"/>
                </a:cubicBezTo>
                <a:lnTo>
                  <a:pt x="121747" y="56681"/>
                </a:lnTo>
                <a:cubicBezTo>
                  <a:pt x="124160" y="55072"/>
                  <a:pt x="127353" y="55394"/>
                  <a:pt x="129398" y="57439"/>
                </a:cubicBezTo>
                <a:lnTo>
                  <a:pt x="133810" y="61850"/>
                </a:lnTo>
                <a:cubicBezTo>
                  <a:pt x="135854" y="63895"/>
                  <a:pt x="136176" y="67112"/>
                  <a:pt x="134568" y="69501"/>
                </a:cubicBezTo>
                <a:lnTo>
                  <a:pt x="129214" y="77519"/>
                </a:lnTo>
                <a:cubicBezTo>
                  <a:pt x="129651" y="78599"/>
                  <a:pt x="130042" y="79725"/>
                  <a:pt x="130363" y="80897"/>
                </a:cubicBezTo>
                <a:cubicBezTo>
                  <a:pt x="130685" y="82069"/>
                  <a:pt x="130892" y="83217"/>
                  <a:pt x="131052" y="84389"/>
                </a:cubicBezTo>
                <a:lnTo>
                  <a:pt x="139714" y="88663"/>
                </a:lnTo>
                <a:cubicBezTo>
                  <a:pt x="142310" y="89949"/>
                  <a:pt x="143643" y="92890"/>
                  <a:pt x="142885" y="95670"/>
                </a:cubicBezTo>
                <a:lnTo>
                  <a:pt x="141277" y="101690"/>
                </a:lnTo>
                <a:cubicBezTo>
                  <a:pt x="140518" y="104470"/>
                  <a:pt x="137922" y="106354"/>
                  <a:pt x="135027" y="106170"/>
                </a:cubicBezTo>
                <a:lnTo>
                  <a:pt x="125377" y="105550"/>
                </a:lnTo>
                <a:cubicBezTo>
                  <a:pt x="123930" y="107411"/>
                  <a:pt x="122253" y="109134"/>
                  <a:pt x="120346" y="110604"/>
                </a:cubicBezTo>
                <a:lnTo>
                  <a:pt x="120966" y="120231"/>
                </a:lnTo>
                <a:cubicBezTo>
                  <a:pt x="121150" y="123126"/>
                  <a:pt x="119266" y="125745"/>
                  <a:pt x="116486" y="126480"/>
                </a:cubicBezTo>
                <a:lnTo>
                  <a:pt x="110466" y="128089"/>
                </a:lnTo>
                <a:cubicBezTo>
                  <a:pt x="107663" y="128847"/>
                  <a:pt x="104745" y="127514"/>
                  <a:pt x="103459" y="124918"/>
                </a:cubicBezTo>
                <a:lnTo>
                  <a:pt x="99185" y="116279"/>
                </a:lnTo>
                <a:cubicBezTo>
                  <a:pt x="96819" y="115958"/>
                  <a:pt x="94498" y="115314"/>
                  <a:pt x="92316" y="114418"/>
                </a:cubicBezTo>
                <a:lnTo>
                  <a:pt x="84274" y="119771"/>
                </a:lnTo>
                <a:cubicBezTo>
                  <a:pt x="81862" y="121380"/>
                  <a:pt x="78668" y="121058"/>
                  <a:pt x="76623" y="119013"/>
                </a:cubicBezTo>
                <a:lnTo>
                  <a:pt x="72212" y="114602"/>
                </a:lnTo>
                <a:cubicBezTo>
                  <a:pt x="70167" y="112557"/>
                  <a:pt x="69846" y="109364"/>
                  <a:pt x="71454" y="106951"/>
                </a:cubicBezTo>
                <a:lnTo>
                  <a:pt x="76807" y="98910"/>
                </a:lnTo>
                <a:cubicBezTo>
                  <a:pt x="76371" y="97830"/>
                  <a:pt x="75980" y="96704"/>
                  <a:pt x="75658" y="95532"/>
                </a:cubicBezTo>
                <a:cubicBezTo>
                  <a:pt x="75337" y="94361"/>
                  <a:pt x="75130" y="93189"/>
                  <a:pt x="74969" y="92040"/>
                </a:cubicBezTo>
                <a:lnTo>
                  <a:pt x="66307" y="87767"/>
                </a:lnTo>
                <a:cubicBezTo>
                  <a:pt x="63711" y="86480"/>
                  <a:pt x="62402" y="83539"/>
                  <a:pt x="63137" y="80759"/>
                </a:cubicBezTo>
                <a:lnTo>
                  <a:pt x="64745" y="74739"/>
                </a:lnTo>
                <a:cubicBezTo>
                  <a:pt x="65503" y="71959"/>
                  <a:pt x="68099" y="70075"/>
                  <a:pt x="70994" y="70259"/>
                </a:cubicBezTo>
                <a:lnTo>
                  <a:pt x="80621" y="70880"/>
                </a:lnTo>
                <a:cubicBezTo>
                  <a:pt x="82069" y="69019"/>
                  <a:pt x="83746" y="67295"/>
                  <a:pt x="85653" y="65825"/>
                </a:cubicBezTo>
                <a:lnTo>
                  <a:pt x="85032" y="56221"/>
                </a:lnTo>
                <a:cubicBezTo>
                  <a:pt x="84849" y="53326"/>
                  <a:pt x="86733" y="50707"/>
                  <a:pt x="89513" y="49972"/>
                </a:cubicBezTo>
                <a:lnTo>
                  <a:pt x="95532" y="48363"/>
                </a:lnTo>
                <a:close/>
                <a:moveTo>
                  <a:pt x="103022" y="78117"/>
                </a:moveTo>
                <a:cubicBezTo>
                  <a:pt x="97443" y="78123"/>
                  <a:pt x="92918" y="82658"/>
                  <a:pt x="92925" y="88238"/>
                </a:cubicBezTo>
                <a:cubicBezTo>
                  <a:pt x="92931" y="93817"/>
                  <a:pt x="97466" y="98342"/>
                  <a:pt x="103045" y="98335"/>
                </a:cubicBezTo>
                <a:cubicBezTo>
                  <a:pt x="108625" y="98329"/>
                  <a:pt x="113149" y="93794"/>
                  <a:pt x="113143" y="88215"/>
                </a:cubicBezTo>
                <a:cubicBezTo>
                  <a:pt x="113137" y="82635"/>
                  <a:pt x="108602" y="78110"/>
                  <a:pt x="103022" y="78117"/>
                </a:cubicBezTo>
                <a:close/>
                <a:moveTo>
                  <a:pt x="51672" y="-10454"/>
                </a:moveTo>
                <a:lnTo>
                  <a:pt x="57692" y="-8846"/>
                </a:lnTo>
                <a:cubicBezTo>
                  <a:pt x="60472" y="-8087"/>
                  <a:pt x="62356" y="-5468"/>
                  <a:pt x="62172" y="-2596"/>
                </a:cubicBezTo>
                <a:lnTo>
                  <a:pt x="61551" y="7008"/>
                </a:lnTo>
                <a:cubicBezTo>
                  <a:pt x="63458" y="8478"/>
                  <a:pt x="65136" y="10178"/>
                  <a:pt x="66583" y="12062"/>
                </a:cubicBezTo>
                <a:lnTo>
                  <a:pt x="76233" y="11442"/>
                </a:lnTo>
                <a:cubicBezTo>
                  <a:pt x="79105" y="11258"/>
                  <a:pt x="81724" y="13142"/>
                  <a:pt x="82482" y="15922"/>
                </a:cubicBezTo>
                <a:lnTo>
                  <a:pt x="84090" y="21942"/>
                </a:lnTo>
                <a:cubicBezTo>
                  <a:pt x="84826" y="24722"/>
                  <a:pt x="83516" y="27663"/>
                  <a:pt x="80920" y="28949"/>
                </a:cubicBezTo>
                <a:lnTo>
                  <a:pt x="72258" y="33223"/>
                </a:lnTo>
                <a:cubicBezTo>
                  <a:pt x="72097" y="34394"/>
                  <a:pt x="71867" y="35566"/>
                  <a:pt x="71569" y="36715"/>
                </a:cubicBezTo>
                <a:cubicBezTo>
                  <a:pt x="71270" y="37864"/>
                  <a:pt x="70857" y="39012"/>
                  <a:pt x="70420" y="40092"/>
                </a:cubicBezTo>
                <a:lnTo>
                  <a:pt x="75773" y="48134"/>
                </a:lnTo>
                <a:cubicBezTo>
                  <a:pt x="77382" y="50546"/>
                  <a:pt x="77060" y="53740"/>
                  <a:pt x="75015" y="55785"/>
                </a:cubicBezTo>
                <a:lnTo>
                  <a:pt x="70604" y="60196"/>
                </a:lnTo>
                <a:cubicBezTo>
                  <a:pt x="68559" y="62241"/>
                  <a:pt x="65365" y="62562"/>
                  <a:pt x="62953" y="60954"/>
                </a:cubicBezTo>
                <a:lnTo>
                  <a:pt x="54912" y="55601"/>
                </a:lnTo>
                <a:cubicBezTo>
                  <a:pt x="52729" y="56497"/>
                  <a:pt x="50408" y="57140"/>
                  <a:pt x="48042" y="57462"/>
                </a:cubicBezTo>
                <a:lnTo>
                  <a:pt x="43768" y="66101"/>
                </a:lnTo>
                <a:cubicBezTo>
                  <a:pt x="42482" y="68697"/>
                  <a:pt x="39541" y="70006"/>
                  <a:pt x="36761" y="69271"/>
                </a:cubicBezTo>
                <a:lnTo>
                  <a:pt x="30741" y="67663"/>
                </a:lnTo>
                <a:cubicBezTo>
                  <a:pt x="27938" y="66905"/>
                  <a:pt x="26077" y="64286"/>
                  <a:pt x="26261" y="61414"/>
                </a:cubicBezTo>
                <a:lnTo>
                  <a:pt x="26881" y="51787"/>
                </a:lnTo>
                <a:cubicBezTo>
                  <a:pt x="24974" y="50316"/>
                  <a:pt x="23297" y="48616"/>
                  <a:pt x="21850" y="46732"/>
                </a:cubicBezTo>
                <a:lnTo>
                  <a:pt x="12200" y="47353"/>
                </a:lnTo>
                <a:cubicBezTo>
                  <a:pt x="9328" y="47536"/>
                  <a:pt x="6709" y="45652"/>
                  <a:pt x="5951" y="42872"/>
                </a:cubicBezTo>
                <a:lnTo>
                  <a:pt x="4342" y="36853"/>
                </a:lnTo>
                <a:cubicBezTo>
                  <a:pt x="3607" y="34073"/>
                  <a:pt x="4917" y="31132"/>
                  <a:pt x="7513" y="29845"/>
                </a:cubicBezTo>
                <a:lnTo>
                  <a:pt x="16175" y="25572"/>
                </a:lnTo>
                <a:cubicBezTo>
                  <a:pt x="16336" y="24400"/>
                  <a:pt x="16565" y="23251"/>
                  <a:pt x="16864" y="22079"/>
                </a:cubicBezTo>
                <a:cubicBezTo>
                  <a:pt x="17186" y="20908"/>
                  <a:pt x="17553" y="19782"/>
                  <a:pt x="18013" y="18702"/>
                </a:cubicBezTo>
                <a:lnTo>
                  <a:pt x="12660" y="10684"/>
                </a:lnTo>
                <a:cubicBezTo>
                  <a:pt x="11051" y="8271"/>
                  <a:pt x="11373" y="5078"/>
                  <a:pt x="13418" y="3033"/>
                </a:cubicBezTo>
                <a:lnTo>
                  <a:pt x="17829" y="-1379"/>
                </a:lnTo>
                <a:cubicBezTo>
                  <a:pt x="19874" y="-3423"/>
                  <a:pt x="23067" y="-3745"/>
                  <a:pt x="25480" y="-2137"/>
                </a:cubicBezTo>
                <a:lnTo>
                  <a:pt x="33521" y="3217"/>
                </a:lnTo>
                <a:cubicBezTo>
                  <a:pt x="35704" y="2321"/>
                  <a:pt x="38025" y="1677"/>
                  <a:pt x="40391" y="1356"/>
                </a:cubicBezTo>
                <a:lnTo>
                  <a:pt x="44664" y="-7283"/>
                </a:lnTo>
                <a:cubicBezTo>
                  <a:pt x="45951" y="-9879"/>
                  <a:pt x="48869" y="-11189"/>
                  <a:pt x="51672" y="-10454"/>
                </a:cubicBezTo>
                <a:close/>
                <a:moveTo>
                  <a:pt x="44205" y="19299"/>
                </a:moveTo>
                <a:cubicBezTo>
                  <a:pt x="38625" y="19299"/>
                  <a:pt x="34096" y="23829"/>
                  <a:pt x="34096" y="29409"/>
                </a:cubicBezTo>
                <a:cubicBezTo>
                  <a:pt x="34096" y="34988"/>
                  <a:pt x="38625" y="39518"/>
                  <a:pt x="44205" y="39518"/>
                </a:cubicBezTo>
                <a:cubicBezTo>
                  <a:pt x="49784" y="39518"/>
                  <a:pt x="54314" y="34988"/>
                  <a:pt x="54314" y="29409"/>
                </a:cubicBezTo>
                <a:cubicBezTo>
                  <a:pt x="54314" y="23829"/>
                  <a:pt x="49784" y="19299"/>
                  <a:pt x="44205" y="19299"/>
                </a:cubicBezTo>
                <a:close/>
              </a:path>
            </a:pathLst>
          </a:custGeom>
          <a:solidFill>
            <a:srgbClr val="FFFFFF"/>
          </a:solidFill>
          <a:ln/>
        </p:spPr>
      </p:sp>
      <p:sp>
        <p:nvSpPr>
          <p:cNvPr id="21" name="Text 19"/>
          <p:cNvSpPr/>
          <p:nvPr/>
        </p:nvSpPr>
        <p:spPr>
          <a:xfrm>
            <a:off x="840248" y="4234850"/>
            <a:ext cx="1310787" cy="201660"/>
          </a:xfrm>
          <a:prstGeom prst="rect">
            <a:avLst/>
          </a:prstGeom>
          <a:noFill/>
          <a:ln/>
        </p:spPr>
        <p:txBody>
          <a:bodyPr wrap="square" lIns="0" tIns="0" rIns="0" bIns="0" rtlCol="0" anchor="ctr"/>
          <a:lstStyle/>
          <a:p>
            <a:pPr>
              <a:lnSpc>
                <a:spcPct val="130000"/>
              </a:lnSpc>
            </a:pPr>
            <a:r>
              <a:rPr lang="en-US" sz="1059" b="1" dirty="0">
                <a:solidFill>
                  <a:srgbClr val="374151"/>
                </a:solidFill>
                <a:latin typeface="MiSans" pitchFamily="34" charset="0"/>
                <a:ea typeface="MiSans" pitchFamily="34" charset="-122"/>
                <a:cs typeface="MiSans" pitchFamily="34" charset="-120"/>
              </a:rPr>
              <a:t>Thomas</a:t>
            </a:r>
            <a:r>
              <a:rPr lang="en-US" sz="1059" dirty="0">
                <a:solidFill>
                  <a:srgbClr val="374151"/>
                </a:solidFill>
                <a:latin typeface="MiSans" pitchFamily="34" charset="0"/>
                <a:ea typeface="MiSans" pitchFamily="34" charset="-122"/>
                <a:cs typeface="MiSans" pitchFamily="34" charset="-120"/>
              </a:rPr>
              <a:t> — données</a:t>
            </a:r>
            <a:endParaRPr lang="en-US" sz="1600" dirty="0"/>
          </a:p>
        </p:txBody>
      </p:sp>
      <p:sp>
        <p:nvSpPr>
          <p:cNvPr id="22" name="Shape 20"/>
          <p:cNvSpPr/>
          <p:nvPr/>
        </p:nvSpPr>
        <p:spPr>
          <a:xfrm>
            <a:off x="504149" y="4537340"/>
            <a:ext cx="268879" cy="268879"/>
          </a:xfrm>
          <a:custGeom>
            <a:avLst/>
            <a:gdLst/>
            <a:ahLst/>
            <a:cxnLst/>
            <a:rect l="l" t="t" r="r" b="b"/>
            <a:pathLst>
              <a:path w="268879" h="268879">
                <a:moveTo>
                  <a:pt x="67220" y="0"/>
                </a:moveTo>
                <a:lnTo>
                  <a:pt x="201660" y="0"/>
                </a:lnTo>
                <a:cubicBezTo>
                  <a:pt x="238759" y="0"/>
                  <a:pt x="268879" y="30120"/>
                  <a:pt x="268879" y="67220"/>
                </a:cubicBezTo>
                <a:lnTo>
                  <a:pt x="268879" y="201660"/>
                </a:lnTo>
                <a:cubicBezTo>
                  <a:pt x="268879" y="238784"/>
                  <a:pt x="238784" y="268879"/>
                  <a:pt x="201660" y="268879"/>
                </a:cubicBezTo>
                <a:lnTo>
                  <a:pt x="67220" y="268879"/>
                </a:lnTo>
                <a:cubicBezTo>
                  <a:pt x="30120" y="268879"/>
                  <a:pt x="0" y="238759"/>
                  <a:pt x="0" y="201660"/>
                </a:cubicBezTo>
                <a:lnTo>
                  <a:pt x="0" y="67220"/>
                </a:lnTo>
                <a:cubicBezTo>
                  <a:pt x="0" y="30095"/>
                  <a:pt x="30095" y="0"/>
                  <a:pt x="67220" y="0"/>
                </a:cubicBezTo>
                <a:close/>
              </a:path>
            </a:pathLst>
          </a:custGeom>
          <a:solidFill>
            <a:srgbClr val="1E3A8A"/>
          </a:solidFill>
          <a:ln/>
        </p:spPr>
      </p:sp>
      <p:sp>
        <p:nvSpPr>
          <p:cNvPr id="23" name="Shape 21"/>
          <p:cNvSpPr/>
          <p:nvPr/>
        </p:nvSpPr>
        <p:spPr>
          <a:xfrm>
            <a:off x="581872" y="4612962"/>
            <a:ext cx="117635" cy="117635"/>
          </a:xfrm>
          <a:custGeom>
            <a:avLst/>
            <a:gdLst/>
            <a:ahLst/>
            <a:cxnLst/>
            <a:rect l="l" t="t" r="r" b="b"/>
            <a:pathLst>
              <a:path w="117635" h="117635">
                <a:moveTo>
                  <a:pt x="58817" y="0"/>
                </a:moveTo>
                <a:cubicBezTo>
                  <a:pt x="59874" y="0"/>
                  <a:pt x="60931" y="230"/>
                  <a:pt x="61896" y="666"/>
                </a:cubicBezTo>
                <a:lnTo>
                  <a:pt x="105182" y="19024"/>
                </a:lnTo>
                <a:cubicBezTo>
                  <a:pt x="110237" y="21160"/>
                  <a:pt x="114005" y="26146"/>
                  <a:pt x="113982" y="32166"/>
                </a:cubicBezTo>
                <a:cubicBezTo>
                  <a:pt x="113867" y="54957"/>
                  <a:pt x="104493" y="96658"/>
                  <a:pt x="64906" y="115613"/>
                </a:cubicBezTo>
                <a:cubicBezTo>
                  <a:pt x="61069" y="117451"/>
                  <a:pt x="56612" y="117451"/>
                  <a:pt x="52775" y="115613"/>
                </a:cubicBezTo>
                <a:cubicBezTo>
                  <a:pt x="13165" y="96658"/>
                  <a:pt x="3814" y="54957"/>
                  <a:pt x="3699" y="32166"/>
                </a:cubicBezTo>
                <a:cubicBezTo>
                  <a:pt x="3676" y="26146"/>
                  <a:pt x="7444" y="21160"/>
                  <a:pt x="12499" y="19024"/>
                </a:cubicBezTo>
                <a:lnTo>
                  <a:pt x="55762" y="666"/>
                </a:lnTo>
                <a:cubicBezTo>
                  <a:pt x="56727" y="230"/>
                  <a:pt x="57760" y="0"/>
                  <a:pt x="58817" y="0"/>
                </a:cubicBezTo>
                <a:close/>
                <a:moveTo>
                  <a:pt x="58817" y="15348"/>
                </a:moveTo>
                <a:lnTo>
                  <a:pt x="58817" y="102218"/>
                </a:lnTo>
                <a:cubicBezTo>
                  <a:pt x="90524" y="86870"/>
                  <a:pt x="99048" y="52867"/>
                  <a:pt x="99254" y="32510"/>
                </a:cubicBezTo>
                <a:lnTo>
                  <a:pt x="58817" y="15371"/>
                </a:lnTo>
                <a:lnTo>
                  <a:pt x="58817" y="15371"/>
                </a:lnTo>
                <a:close/>
              </a:path>
            </a:pathLst>
          </a:custGeom>
          <a:solidFill>
            <a:srgbClr val="FFFFFF"/>
          </a:solidFill>
          <a:ln/>
        </p:spPr>
      </p:sp>
      <p:sp>
        <p:nvSpPr>
          <p:cNvPr id="24" name="Text 22"/>
          <p:cNvSpPr/>
          <p:nvPr/>
        </p:nvSpPr>
        <p:spPr>
          <a:xfrm>
            <a:off x="840248" y="4570950"/>
            <a:ext cx="1243567" cy="201660"/>
          </a:xfrm>
          <a:prstGeom prst="rect">
            <a:avLst/>
          </a:prstGeom>
          <a:noFill/>
          <a:ln/>
        </p:spPr>
        <p:txBody>
          <a:bodyPr wrap="square" lIns="0" tIns="0" rIns="0" bIns="0" rtlCol="0" anchor="ctr"/>
          <a:lstStyle/>
          <a:p>
            <a:pPr>
              <a:lnSpc>
                <a:spcPct val="130000"/>
              </a:lnSpc>
            </a:pPr>
            <a:r>
              <a:rPr lang="en-US" sz="1059" b="1" dirty="0">
                <a:solidFill>
                  <a:srgbClr val="374151"/>
                </a:solidFill>
                <a:latin typeface="MiSans" pitchFamily="34" charset="0"/>
                <a:ea typeface="MiSans" pitchFamily="34" charset="-122"/>
                <a:cs typeface="MiSans" pitchFamily="34" charset="-120"/>
              </a:rPr>
              <a:t>Laurent</a:t>
            </a:r>
            <a:r>
              <a:rPr lang="en-US" sz="1059" dirty="0">
                <a:solidFill>
                  <a:srgbClr val="374151"/>
                </a:solidFill>
                <a:latin typeface="MiSans" pitchFamily="34" charset="0"/>
                <a:ea typeface="MiSans" pitchFamily="34" charset="-122"/>
                <a:cs typeface="MiSans" pitchFamily="34" charset="-120"/>
              </a:rPr>
              <a:t> — sécurité</a:t>
            </a:r>
            <a:endParaRPr lang="en-US" sz="1600" dirty="0"/>
          </a:p>
        </p:txBody>
      </p:sp>
      <p:sp>
        <p:nvSpPr>
          <p:cNvPr id="25" name="Shape 23"/>
          <p:cNvSpPr/>
          <p:nvPr/>
        </p:nvSpPr>
        <p:spPr>
          <a:xfrm>
            <a:off x="4231043" y="2890453"/>
            <a:ext cx="3730702" cy="2218255"/>
          </a:xfrm>
          <a:custGeom>
            <a:avLst/>
            <a:gdLst/>
            <a:ahLst/>
            <a:cxnLst/>
            <a:rect l="l" t="t" r="r" b="b"/>
            <a:pathLst>
              <a:path w="3730702" h="2218255">
                <a:moveTo>
                  <a:pt x="134448" y="0"/>
                </a:moveTo>
                <a:lnTo>
                  <a:pt x="3596253" y="0"/>
                </a:lnTo>
                <a:cubicBezTo>
                  <a:pt x="3670507" y="0"/>
                  <a:pt x="3730702" y="60195"/>
                  <a:pt x="3730702" y="134448"/>
                </a:cubicBezTo>
                <a:lnTo>
                  <a:pt x="3730702" y="2083807"/>
                </a:lnTo>
                <a:cubicBezTo>
                  <a:pt x="3730702" y="2158060"/>
                  <a:pt x="3670507" y="2218255"/>
                  <a:pt x="3596253" y="2218255"/>
                </a:cubicBezTo>
                <a:lnTo>
                  <a:pt x="134448" y="2218255"/>
                </a:lnTo>
                <a:cubicBezTo>
                  <a:pt x="60195" y="2218255"/>
                  <a:pt x="0" y="2158060"/>
                  <a:pt x="0" y="2083807"/>
                </a:cubicBezTo>
                <a:lnTo>
                  <a:pt x="0" y="134448"/>
                </a:lnTo>
                <a:cubicBezTo>
                  <a:pt x="0" y="60244"/>
                  <a:pt x="60244" y="0"/>
                  <a:pt x="134448" y="0"/>
                </a:cubicBezTo>
                <a:close/>
              </a:path>
            </a:pathLst>
          </a:custGeom>
          <a:solidFill>
            <a:srgbClr val="F3F4F6"/>
          </a:solidFill>
          <a:ln/>
        </p:spPr>
      </p:sp>
      <p:sp>
        <p:nvSpPr>
          <p:cNvPr id="26" name="Shape 24"/>
          <p:cNvSpPr/>
          <p:nvPr/>
        </p:nvSpPr>
        <p:spPr>
          <a:xfrm>
            <a:off x="4399093" y="3058503"/>
            <a:ext cx="336099" cy="336099"/>
          </a:xfrm>
          <a:custGeom>
            <a:avLst/>
            <a:gdLst/>
            <a:ahLst/>
            <a:cxnLst/>
            <a:rect l="l" t="t" r="r" b="b"/>
            <a:pathLst>
              <a:path w="336099" h="336099">
                <a:moveTo>
                  <a:pt x="100830" y="0"/>
                </a:moveTo>
                <a:lnTo>
                  <a:pt x="235269" y="0"/>
                </a:lnTo>
                <a:cubicBezTo>
                  <a:pt x="290956" y="0"/>
                  <a:pt x="336099" y="45143"/>
                  <a:pt x="336099" y="100830"/>
                </a:cubicBezTo>
                <a:lnTo>
                  <a:pt x="336099" y="235269"/>
                </a:lnTo>
                <a:cubicBezTo>
                  <a:pt x="336099" y="290956"/>
                  <a:pt x="290956" y="336099"/>
                  <a:pt x="235269" y="336099"/>
                </a:cubicBezTo>
                <a:lnTo>
                  <a:pt x="100830" y="336099"/>
                </a:lnTo>
                <a:cubicBezTo>
                  <a:pt x="45143" y="336099"/>
                  <a:pt x="0" y="290956"/>
                  <a:pt x="0" y="235269"/>
                </a:cubicBezTo>
                <a:lnTo>
                  <a:pt x="0" y="100830"/>
                </a:lnTo>
                <a:cubicBezTo>
                  <a:pt x="0" y="45180"/>
                  <a:pt x="45180" y="0"/>
                  <a:pt x="100830" y="0"/>
                </a:cubicBezTo>
                <a:close/>
              </a:path>
            </a:pathLst>
          </a:custGeom>
          <a:solidFill>
            <a:srgbClr val="F97316"/>
          </a:solidFill>
          <a:ln/>
        </p:spPr>
      </p:sp>
      <p:sp>
        <p:nvSpPr>
          <p:cNvPr id="27" name="Shape 25"/>
          <p:cNvSpPr/>
          <p:nvPr/>
        </p:nvSpPr>
        <p:spPr>
          <a:xfrm>
            <a:off x="4499922" y="3159333"/>
            <a:ext cx="134440" cy="134440"/>
          </a:xfrm>
          <a:custGeom>
            <a:avLst/>
            <a:gdLst/>
            <a:ahLst/>
            <a:cxnLst/>
            <a:rect l="l" t="t" r="r" b="b"/>
            <a:pathLst>
              <a:path w="134440" h="134440">
                <a:moveTo>
                  <a:pt x="63281" y="22871"/>
                </a:moveTo>
                <a:lnTo>
                  <a:pt x="67220" y="28306"/>
                </a:lnTo>
                <a:lnTo>
                  <a:pt x="71159" y="22871"/>
                </a:lnTo>
                <a:cubicBezTo>
                  <a:pt x="77723" y="13785"/>
                  <a:pt x="88279" y="8402"/>
                  <a:pt x="99491" y="8402"/>
                </a:cubicBezTo>
                <a:cubicBezTo>
                  <a:pt x="118790" y="8402"/>
                  <a:pt x="134440" y="24052"/>
                  <a:pt x="134440" y="43352"/>
                </a:cubicBezTo>
                <a:lnTo>
                  <a:pt x="134440" y="44034"/>
                </a:lnTo>
                <a:cubicBezTo>
                  <a:pt x="134440" y="73495"/>
                  <a:pt x="97705" y="107709"/>
                  <a:pt x="78537" y="122335"/>
                </a:cubicBezTo>
                <a:cubicBezTo>
                  <a:pt x="75281" y="124803"/>
                  <a:pt x="71290" y="126037"/>
                  <a:pt x="67220" y="126037"/>
                </a:cubicBezTo>
                <a:cubicBezTo>
                  <a:pt x="63150" y="126037"/>
                  <a:pt x="59132" y="124829"/>
                  <a:pt x="55903" y="122335"/>
                </a:cubicBezTo>
                <a:cubicBezTo>
                  <a:pt x="36735" y="107709"/>
                  <a:pt x="0" y="73495"/>
                  <a:pt x="0" y="44034"/>
                </a:cubicBezTo>
                <a:lnTo>
                  <a:pt x="0" y="43352"/>
                </a:lnTo>
                <a:cubicBezTo>
                  <a:pt x="0" y="24052"/>
                  <a:pt x="15650" y="8402"/>
                  <a:pt x="34949" y="8402"/>
                </a:cubicBezTo>
                <a:cubicBezTo>
                  <a:pt x="46161" y="8402"/>
                  <a:pt x="56717" y="13785"/>
                  <a:pt x="63281" y="22871"/>
                </a:cubicBezTo>
                <a:close/>
              </a:path>
            </a:pathLst>
          </a:custGeom>
          <a:solidFill>
            <a:srgbClr val="FFFFFF"/>
          </a:solidFill>
          <a:ln/>
        </p:spPr>
      </p:sp>
      <p:sp>
        <p:nvSpPr>
          <p:cNvPr id="28" name="Text 26"/>
          <p:cNvSpPr/>
          <p:nvPr/>
        </p:nvSpPr>
        <p:spPr>
          <a:xfrm>
            <a:off x="4836022" y="3108918"/>
            <a:ext cx="739418" cy="235269"/>
          </a:xfrm>
          <a:prstGeom prst="rect">
            <a:avLst/>
          </a:prstGeom>
          <a:noFill/>
          <a:ln/>
        </p:spPr>
        <p:txBody>
          <a:bodyPr wrap="square" lIns="0" tIns="0" rIns="0" bIns="0" rtlCol="0" anchor="ctr"/>
          <a:lstStyle/>
          <a:p>
            <a:pPr>
              <a:lnSpc>
                <a:spcPct val="120000"/>
              </a:lnSpc>
            </a:pPr>
            <a:r>
              <a:rPr lang="en-US" sz="1323" b="1" dirty="0">
                <a:solidFill>
                  <a:srgbClr val="1E3A8A"/>
                </a:solidFill>
                <a:latin typeface="Noto Sans SC" pitchFamily="34" charset="0"/>
                <a:ea typeface="Noto Sans SC" pitchFamily="34" charset="-122"/>
                <a:cs typeface="Noto Sans SC" pitchFamily="34" charset="-120"/>
              </a:rPr>
              <a:t>Besoins</a:t>
            </a:r>
            <a:endParaRPr lang="en-US" sz="1600" dirty="0"/>
          </a:p>
        </p:txBody>
      </p:sp>
      <p:sp>
        <p:nvSpPr>
          <p:cNvPr id="29" name="Shape 27"/>
          <p:cNvSpPr/>
          <p:nvPr/>
        </p:nvSpPr>
        <p:spPr>
          <a:xfrm>
            <a:off x="4399093" y="3529042"/>
            <a:ext cx="3394602" cy="403319"/>
          </a:xfrm>
          <a:custGeom>
            <a:avLst/>
            <a:gdLst/>
            <a:ahLst/>
            <a:cxnLst/>
            <a:rect l="l" t="t" r="r" b="b"/>
            <a:pathLst>
              <a:path w="3394602" h="403319">
                <a:moveTo>
                  <a:pt x="100830" y="0"/>
                </a:moveTo>
                <a:lnTo>
                  <a:pt x="3293773" y="0"/>
                </a:lnTo>
                <a:cubicBezTo>
                  <a:pt x="3349459" y="0"/>
                  <a:pt x="3394602" y="45143"/>
                  <a:pt x="3394602" y="100830"/>
                </a:cubicBezTo>
                <a:lnTo>
                  <a:pt x="3394602" y="302489"/>
                </a:lnTo>
                <a:cubicBezTo>
                  <a:pt x="3394602" y="358176"/>
                  <a:pt x="3349459" y="403319"/>
                  <a:pt x="3293773" y="403319"/>
                </a:cubicBezTo>
                <a:lnTo>
                  <a:pt x="100830" y="403319"/>
                </a:lnTo>
                <a:cubicBezTo>
                  <a:pt x="45143" y="403319"/>
                  <a:pt x="0" y="358176"/>
                  <a:pt x="0" y="302489"/>
                </a:cubicBezTo>
                <a:lnTo>
                  <a:pt x="0" y="100830"/>
                </a:lnTo>
                <a:cubicBezTo>
                  <a:pt x="0" y="45180"/>
                  <a:pt x="45180" y="0"/>
                  <a:pt x="100830" y="0"/>
                </a:cubicBezTo>
                <a:close/>
              </a:path>
            </a:pathLst>
          </a:custGeom>
          <a:solidFill>
            <a:srgbClr val="FFFFFF"/>
          </a:solidFill>
          <a:ln/>
        </p:spPr>
      </p:sp>
      <p:sp>
        <p:nvSpPr>
          <p:cNvPr id="30" name="Text 28"/>
          <p:cNvSpPr/>
          <p:nvPr/>
        </p:nvSpPr>
        <p:spPr>
          <a:xfrm>
            <a:off x="4499922" y="3629872"/>
            <a:ext cx="3260163" cy="201660"/>
          </a:xfrm>
          <a:prstGeom prst="rect">
            <a:avLst/>
          </a:prstGeom>
          <a:noFill/>
          <a:ln/>
        </p:spPr>
        <p:txBody>
          <a:bodyPr wrap="square" lIns="0" tIns="0" rIns="0" bIns="0" rtlCol="0" anchor="ctr"/>
          <a:lstStyle/>
          <a:p>
            <a:pPr>
              <a:lnSpc>
                <a:spcPct val="130000"/>
              </a:lnSpc>
            </a:pPr>
            <a:r>
              <a:rPr lang="en-US" sz="1059" b="1" dirty="0">
                <a:solidFill>
                  <a:srgbClr val="374151"/>
                </a:solidFill>
                <a:latin typeface="MiSans" pitchFamily="34" charset="0"/>
                <a:ea typeface="MiSans" pitchFamily="34" charset="-122"/>
                <a:cs typeface="MiSans" pitchFamily="34" charset="-120"/>
              </a:rPr>
              <a:t>Objectivité </a:t>
            </a:r>
            <a:r>
              <a:rPr lang="en-US" sz="1059" b="1" dirty="0">
                <a:solidFill>
                  <a:srgbClr val="F97316"/>
                </a:solidFill>
                <a:latin typeface="MiSans" pitchFamily="34" charset="0"/>
                <a:ea typeface="MiSans" pitchFamily="34" charset="-122"/>
                <a:cs typeface="MiSans" pitchFamily="34" charset="-120"/>
              </a:rPr>
              <a:t>(P1)</a:t>
            </a:r>
            <a:endParaRPr lang="en-US" sz="1600" dirty="0"/>
          </a:p>
        </p:txBody>
      </p:sp>
      <p:sp>
        <p:nvSpPr>
          <p:cNvPr id="31" name="Shape 29"/>
          <p:cNvSpPr/>
          <p:nvPr/>
        </p:nvSpPr>
        <p:spPr>
          <a:xfrm>
            <a:off x="4399093" y="4033191"/>
            <a:ext cx="3394602" cy="403319"/>
          </a:xfrm>
          <a:custGeom>
            <a:avLst/>
            <a:gdLst/>
            <a:ahLst/>
            <a:cxnLst/>
            <a:rect l="l" t="t" r="r" b="b"/>
            <a:pathLst>
              <a:path w="3394602" h="403319">
                <a:moveTo>
                  <a:pt x="100830" y="0"/>
                </a:moveTo>
                <a:lnTo>
                  <a:pt x="3293773" y="0"/>
                </a:lnTo>
                <a:cubicBezTo>
                  <a:pt x="3349459" y="0"/>
                  <a:pt x="3394602" y="45143"/>
                  <a:pt x="3394602" y="100830"/>
                </a:cubicBezTo>
                <a:lnTo>
                  <a:pt x="3394602" y="302489"/>
                </a:lnTo>
                <a:cubicBezTo>
                  <a:pt x="3394602" y="358176"/>
                  <a:pt x="3349459" y="403319"/>
                  <a:pt x="3293773" y="403319"/>
                </a:cubicBezTo>
                <a:lnTo>
                  <a:pt x="100830" y="403319"/>
                </a:lnTo>
                <a:cubicBezTo>
                  <a:pt x="45143" y="403319"/>
                  <a:pt x="0" y="358176"/>
                  <a:pt x="0" y="302489"/>
                </a:cubicBezTo>
                <a:lnTo>
                  <a:pt x="0" y="100830"/>
                </a:lnTo>
                <a:cubicBezTo>
                  <a:pt x="0" y="45180"/>
                  <a:pt x="45180" y="0"/>
                  <a:pt x="100830" y="0"/>
                </a:cubicBezTo>
                <a:close/>
              </a:path>
            </a:pathLst>
          </a:custGeom>
          <a:solidFill>
            <a:srgbClr val="FFFFFF"/>
          </a:solidFill>
          <a:ln/>
        </p:spPr>
      </p:sp>
      <p:sp>
        <p:nvSpPr>
          <p:cNvPr id="32" name="Text 30"/>
          <p:cNvSpPr/>
          <p:nvPr/>
        </p:nvSpPr>
        <p:spPr>
          <a:xfrm>
            <a:off x="4499922" y="4134021"/>
            <a:ext cx="3260163" cy="201660"/>
          </a:xfrm>
          <a:prstGeom prst="rect">
            <a:avLst/>
          </a:prstGeom>
          <a:noFill/>
          <a:ln/>
        </p:spPr>
        <p:txBody>
          <a:bodyPr wrap="square" lIns="0" tIns="0" rIns="0" bIns="0" rtlCol="0" anchor="ctr"/>
          <a:lstStyle/>
          <a:p>
            <a:pPr>
              <a:lnSpc>
                <a:spcPct val="130000"/>
              </a:lnSpc>
            </a:pPr>
            <a:r>
              <a:rPr lang="en-US" sz="1059" b="1" dirty="0">
                <a:solidFill>
                  <a:srgbClr val="374151"/>
                </a:solidFill>
                <a:latin typeface="MiSans" pitchFamily="34" charset="0"/>
                <a:ea typeface="MiSans" pitchFamily="34" charset="-122"/>
                <a:cs typeface="MiSans" pitchFamily="34" charset="-120"/>
              </a:rPr>
              <a:t>Rapidité </a:t>
            </a:r>
            <a:r>
              <a:rPr lang="en-US" sz="1059" b="1" dirty="0">
                <a:solidFill>
                  <a:srgbClr val="F97316"/>
                </a:solidFill>
                <a:latin typeface="MiSans" pitchFamily="34" charset="0"/>
                <a:ea typeface="MiSans" pitchFamily="34" charset="-122"/>
                <a:cs typeface="MiSans" pitchFamily="34" charset="-120"/>
              </a:rPr>
              <a:t>(P2)</a:t>
            </a:r>
            <a:endParaRPr lang="en-US" sz="1600" dirty="0"/>
          </a:p>
        </p:txBody>
      </p:sp>
      <p:sp>
        <p:nvSpPr>
          <p:cNvPr id="33" name="Shape 31"/>
          <p:cNvSpPr/>
          <p:nvPr/>
        </p:nvSpPr>
        <p:spPr>
          <a:xfrm>
            <a:off x="4399093" y="4537340"/>
            <a:ext cx="3394602" cy="403319"/>
          </a:xfrm>
          <a:custGeom>
            <a:avLst/>
            <a:gdLst/>
            <a:ahLst/>
            <a:cxnLst/>
            <a:rect l="l" t="t" r="r" b="b"/>
            <a:pathLst>
              <a:path w="3394602" h="403319">
                <a:moveTo>
                  <a:pt x="100830" y="0"/>
                </a:moveTo>
                <a:lnTo>
                  <a:pt x="3293773" y="0"/>
                </a:lnTo>
                <a:cubicBezTo>
                  <a:pt x="3349459" y="0"/>
                  <a:pt x="3394602" y="45143"/>
                  <a:pt x="3394602" y="100830"/>
                </a:cubicBezTo>
                <a:lnTo>
                  <a:pt x="3394602" y="302489"/>
                </a:lnTo>
                <a:cubicBezTo>
                  <a:pt x="3394602" y="358176"/>
                  <a:pt x="3349459" y="403319"/>
                  <a:pt x="3293773" y="403319"/>
                </a:cubicBezTo>
                <a:lnTo>
                  <a:pt x="100830" y="403319"/>
                </a:lnTo>
                <a:cubicBezTo>
                  <a:pt x="45143" y="403319"/>
                  <a:pt x="0" y="358176"/>
                  <a:pt x="0" y="302489"/>
                </a:cubicBezTo>
                <a:lnTo>
                  <a:pt x="0" y="100830"/>
                </a:lnTo>
                <a:cubicBezTo>
                  <a:pt x="0" y="45180"/>
                  <a:pt x="45180" y="0"/>
                  <a:pt x="100830" y="0"/>
                </a:cubicBezTo>
                <a:close/>
              </a:path>
            </a:pathLst>
          </a:custGeom>
          <a:solidFill>
            <a:srgbClr val="FFFFFF"/>
          </a:solidFill>
          <a:ln/>
        </p:spPr>
      </p:sp>
      <p:sp>
        <p:nvSpPr>
          <p:cNvPr id="34" name="Text 32"/>
          <p:cNvSpPr/>
          <p:nvPr/>
        </p:nvSpPr>
        <p:spPr>
          <a:xfrm>
            <a:off x="4499922" y="4638170"/>
            <a:ext cx="3260163" cy="201660"/>
          </a:xfrm>
          <a:prstGeom prst="rect">
            <a:avLst/>
          </a:prstGeom>
          <a:noFill/>
          <a:ln/>
        </p:spPr>
        <p:txBody>
          <a:bodyPr wrap="square" lIns="0" tIns="0" rIns="0" bIns="0" rtlCol="0" anchor="ctr"/>
          <a:lstStyle/>
          <a:p>
            <a:pPr>
              <a:lnSpc>
                <a:spcPct val="130000"/>
              </a:lnSpc>
            </a:pPr>
            <a:r>
              <a:rPr lang="en-US" sz="1059" b="1" dirty="0">
                <a:solidFill>
                  <a:srgbClr val="374151"/>
                </a:solidFill>
                <a:latin typeface="MiSans" pitchFamily="34" charset="0"/>
                <a:ea typeface="MiSans" pitchFamily="34" charset="-122"/>
                <a:cs typeface="MiSans" pitchFamily="34" charset="-120"/>
              </a:rPr>
              <a:t>Traçabilité </a:t>
            </a:r>
            <a:r>
              <a:rPr lang="en-US" sz="1059" b="1" dirty="0">
                <a:solidFill>
                  <a:srgbClr val="F97316"/>
                </a:solidFill>
                <a:latin typeface="MiSans" pitchFamily="34" charset="0"/>
                <a:ea typeface="MiSans" pitchFamily="34" charset="-122"/>
                <a:cs typeface="MiSans" pitchFamily="34" charset="-120"/>
              </a:rPr>
              <a:t>(P4)</a:t>
            </a:r>
            <a:endParaRPr lang="en-US" sz="1600" dirty="0"/>
          </a:p>
        </p:txBody>
      </p:sp>
      <p:sp>
        <p:nvSpPr>
          <p:cNvPr id="35" name="Shape 33"/>
          <p:cNvSpPr/>
          <p:nvPr/>
        </p:nvSpPr>
        <p:spPr>
          <a:xfrm>
            <a:off x="8125987" y="2890453"/>
            <a:ext cx="3730702" cy="2218255"/>
          </a:xfrm>
          <a:custGeom>
            <a:avLst/>
            <a:gdLst/>
            <a:ahLst/>
            <a:cxnLst/>
            <a:rect l="l" t="t" r="r" b="b"/>
            <a:pathLst>
              <a:path w="3730702" h="2218255">
                <a:moveTo>
                  <a:pt x="134448" y="0"/>
                </a:moveTo>
                <a:lnTo>
                  <a:pt x="3596253" y="0"/>
                </a:lnTo>
                <a:cubicBezTo>
                  <a:pt x="3670507" y="0"/>
                  <a:pt x="3730702" y="60195"/>
                  <a:pt x="3730702" y="134448"/>
                </a:cubicBezTo>
                <a:lnTo>
                  <a:pt x="3730702" y="2083807"/>
                </a:lnTo>
                <a:cubicBezTo>
                  <a:pt x="3730702" y="2158060"/>
                  <a:pt x="3670507" y="2218255"/>
                  <a:pt x="3596253" y="2218255"/>
                </a:cubicBezTo>
                <a:lnTo>
                  <a:pt x="134448" y="2218255"/>
                </a:lnTo>
                <a:cubicBezTo>
                  <a:pt x="60195" y="2218255"/>
                  <a:pt x="0" y="2158060"/>
                  <a:pt x="0" y="2083807"/>
                </a:cubicBezTo>
                <a:lnTo>
                  <a:pt x="0" y="134448"/>
                </a:lnTo>
                <a:cubicBezTo>
                  <a:pt x="0" y="60244"/>
                  <a:pt x="60244" y="0"/>
                  <a:pt x="134448" y="0"/>
                </a:cubicBezTo>
                <a:close/>
              </a:path>
            </a:pathLst>
          </a:custGeom>
          <a:solidFill>
            <a:srgbClr val="F3F4F6"/>
          </a:solidFill>
          <a:ln/>
        </p:spPr>
      </p:sp>
      <p:sp>
        <p:nvSpPr>
          <p:cNvPr id="36" name="Shape 34"/>
          <p:cNvSpPr/>
          <p:nvPr/>
        </p:nvSpPr>
        <p:spPr>
          <a:xfrm>
            <a:off x="8294037" y="3058503"/>
            <a:ext cx="336099" cy="336099"/>
          </a:xfrm>
          <a:custGeom>
            <a:avLst/>
            <a:gdLst/>
            <a:ahLst/>
            <a:cxnLst/>
            <a:rect l="l" t="t" r="r" b="b"/>
            <a:pathLst>
              <a:path w="336099" h="336099">
                <a:moveTo>
                  <a:pt x="100830" y="0"/>
                </a:moveTo>
                <a:lnTo>
                  <a:pt x="235269" y="0"/>
                </a:lnTo>
                <a:cubicBezTo>
                  <a:pt x="290956" y="0"/>
                  <a:pt x="336099" y="45143"/>
                  <a:pt x="336099" y="100830"/>
                </a:cubicBezTo>
                <a:lnTo>
                  <a:pt x="336099" y="235269"/>
                </a:lnTo>
                <a:cubicBezTo>
                  <a:pt x="336099" y="290956"/>
                  <a:pt x="290956" y="336099"/>
                  <a:pt x="235269" y="336099"/>
                </a:cubicBezTo>
                <a:lnTo>
                  <a:pt x="100830" y="336099"/>
                </a:lnTo>
                <a:cubicBezTo>
                  <a:pt x="45143" y="336099"/>
                  <a:pt x="0" y="290956"/>
                  <a:pt x="0" y="235269"/>
                </a:cubicBezTo>
                <a:lnTo>
                  <a:pt x="0" y="100830"/>
                </a:lnTo>
                <a:cubicBezTo>
                  <a:pt x="0" y="45180"/>
                  <a:pt x="45180" y="0"/>
                  <a:pt x="100830" y="0"/>
                </a:cubicBezTo>
                <a:close/>
              </a:path>
            </a:pathLst>
          </a:custGeom>
          <a:solidFill>
            <a:srgbClr val="10B981"/>
          </a:solidFill>
          <a:ln/>
        </p:spPr>
      </p:sp>
      <p:sp>
        <p:nvSpPr>
          <p:cNvPr id="37" name="Shape 35"/>
          <p:cNvSpPr/>
          <p:nvPr/>
        </p:nvSpPr>
        <p:spPr>
          <a:xfrm>
            <a:off x="8394866" y="3159333"/>
            <a:ext cx="134440" cy="134440"/>
          </a:xfrm>
          <a:custGeom>
            <a:avLst/>
            <a:gdLst/>
            <a:ahLst/>
            <a:cxnLst/>
            <a:rect l="l" t="t" r="r" b="b"/>
            <a:pathLst>
              <a:path w="134440" h="134440">
                <a:moveTo>
                  <a:pt x="58896" y="-656"/>
                </a:moveTo>
                <a:cubicBezTo>
                  <a:pt x="64095" y="-3650"/>
                  <a:pt x="70502" y="-3650"/>
                  <a:pt x="75701" y="-656"/>
                </a:cubicBezTo>
                <a:lnTo>
                  <a:pt x="121888" y="25995"/>
                </a:lnTo>
                <a:cubicBezTo>
                  <a:pt x="127088" y="28989"/>
                  <a:pt x="130291" y="34555"/>
                  <a:pt x="130291" y="40542"/>
                </a:cubicBezTo>
                <a:lnTo>
                  <a:pt x="130291" y="93845"/>
                </a:lnTo>
                <a:cubicBezTo>
                  <a:pt x="130291" y="99858"/>
                  <a:pt x="127088" y="105399"/>
                  <a:pt x="121888" y="108392"/>
                </a:cubicBezTo>
                <a:lnTo>
                  <a:pt x="75701" y="135096"/>
                </a:lnTo>
                <a:cubicBezTo>
                  <a:pt x="70502" y="138090"/>
                  <a:pt x="64095" y="138090"/>
                  <a:pt x="58896" y="135096"/>
                </a:cubicBezTo>
                <a:lnTo>
                  <a:pt x="12735" y="108445"/>
                </a:lnTo>
                <a:cubicBezTo>
                  <a:pt x="7536" y="105451"/>
                  <a:pt x="4333" y="99884"/>
                  <a:pt x="4333" y="93898"/>
                </a:cubicBezTo>
                <a:lnTo>
                  <a:pt x="4333" y="40594"/>
                </a:lnTo>
                <a:cubicBezTo>
                  <a:pt x="4333" y="34581"/>
                  <a:pt x="7536" y="29041"/>
                  <a:pt x="12735" y="26048"/>
                </a:cubicBezTo>
                <a:lnTo>
                  <a:pt x="58896" y="-656"/>
                </a:lnTo>
                <a:close/>
                <a:moveTo>
                  <a:pt x="113460" y="93871"/>
                </a:moveTo>
                <a:lnTo>
                  <a:pt x="113460" y="50257"/>
                </a:lnTo>
                <a:lnTo>
                  <a:pt x="75701" y="72051"/>
                </a:lnTo>
                <a:lnTo>
                  <a:pt x="75701" y="115665"/>
                </a:lnTo>
                <a:lnTo>
                  <a:pt x="113460" y="93871"/>
                </a:lnTo>
                <a:close/>
              </a:path>
            </a:pathLst>
          </a:custGeom>
          <a:solidFill>
            <a:srgbClr val="FFFFFF"/>
          </a:solidFill>
          <a:ln/>
        </p:spPr>
      </p:sp>
      <p:sp>
        <p:nvSpPr>
          <p:cNvPr id="38" name="Text 36"/>
          <p:cNvSpPr/>
          <p:nvPr/>
        </p:nvSpPr>
        <p:spPr>
          <a:xfrm>
            <a:off x="8730966" y="3108918"/>
            <a:ext cx="1075518" cy="235269"/>
          </a:xfrm>
          <a:prstGeom prst="rect">
            <a:avLst/>
          </a:prstGeom>
          <a:noFill/>
          <a:ln/>
        </p:spPr>
        <p:txBody>
          <a:bodyPr wrap="square" lIns="0" tIns="0" rIns="0" bIns="0" rtlCol="0" anchor="ctr"/>
          <a:lstStyle/>
          <a:p>
            <a:pPr>
              <a:lnSpc>
                <a:spcPct val="120000"/>
              </a:lnSpc>
            </a:pPr>
            <a:r>
              <a:rPr lang="en-US" sz="1323" b="1" dirty="0">
                <a:solidFill>
                  <a:srgbClr val="1E3A8A"/>
                </a:solidFill>
                <a:latin typeface="Noto Sans SC" pitchFamily="34" charset="0"/>
                <a:ea typeface="Noto Sans SC" pitchFamily="34" charset="-122"/>
                <a:cs typeface="Noto Sans SC" pitchFamily="34" charset="-120"/>
              </a:rPr>
              <a:t>Produit FQA</a:t>
            </a:r>
            <a:endParaRPr lang="en-US" sz="1600" dirty="0"/>
          </a:p>
        </p:txBody>
      </p:sp>
      <p:sp>
        <p:nvSpPr>
          <p:cNvPr id="39" name="Shape 37"/>
          <p:cNvSpPr/>
          <p:nvPr/>
        </p:nvSpPr>
        <p:spPr>
          <a:xfrm>
            <a:off x="8310841" y="3562652"/>
            <a:ext cx="134440" cy="134440"/>
          </a:xfrm>
          <a:custGeom>
            <a:avLst/>
            <a:gdLst/>
            <a:ahLst/>
            <a:cxnLst/>
            <a:rect l="l" t="t" r="r" b="b"/>
            <a:pathLst>
              <a:path w="134440" h="134440">
                <a:moveTo>
                  <a:pt x="39150" y="17015"/>
                </a:moveTo>
                <a:lnTo>
                  <a:pt x="36420" y="25207"/>
                </a:lnTo>
                <a:lnTo>
                  <a:pt x="16805" y="25207"/>
                </a:lnTo>
                <a:cubicBezTo>
                  <a:pt x="7536" y="25207"/>
                  <a:pt x="0" y="32743"/>
                  <a:pt x="0" y="42012"/>
                </a:cubicBezTo>
                <a:lnTo>
                  <a:pt x="0" y="109232"/>
                </a:lnTo>
                <a:cubicBezTo>
                  <a:pt x="0" y="118501"/>
                  <a:pt x="7536" y="126037"/>
                  <a:pt x="16805" y="126037"/>
                </a:cubicBezTo>
                <a:lnTo>
                  <a:pt x="117635" y="126037"/>
                </a:lnTo>
                <a:cubicBezTo>
                  <a:pt x="126904" y="126037"/>
                  <a:pt x="134440" y="118501"/>
                  <a:pt x="134440" y="109232"/>
                </a:cubicBezTo>
                <a:lnTo>
                  <a:pt x="134440" y="42012"/>
                </a:lnTo>
                <a:cubicBezTo>
                  <a:pt x="134440" y="32743"/>
                  <a:pt x="126904" y="25207"/>
                  <a:pt x="117635" y="25207"/>
                </a:cubicBezTo>
                <a:lnTo>
                  <a:pt x="98020" y="25207"/>
                </a:lnTo>
                <a:lnTo>
                  <a:pt x="95289" y="17015"/>
                </a:lnTo>
                <a:cubicBezTo>
                  <a:pt x="93583" y="11869"/>
                  <a:pt x="88777" y="8402"/>
                  <a:pt x="83342" y="8402"/>
                </a:cubicBezTo>
                <a:lnTo>
                  <a:pt x="51098" y="8402"/>
                </a:lnTo>
                <a:cubicBezTo>
                  <a:pt x="45662" y="8402"/>
                  <a:pt x="40857" y="11869"/>
                  <a:pt x="39150" y="17015"/>
                </a:cubicBezTo>
                <a:close/>
                <a:moveTo>
                  <a:pt x="67220" y="50415"/>
                </a:moveTo>
                <a:cubicBezTo>
                  <a:pt x="81132" y="50415"/>
                  <a:pt x="92427" y="61710"/>
                  <a:pt x="92427" y="75622"/>
                </a:cubicBezTo>
                <a:cubicBezTo>
                  <a:pt x="92427" y="89535"/>
                  <a:pt x="81132" y="100830"/>
                  <a:pt x="67220" y="100830"/>
                </a:cubicBezTo>
                <a:cubicBezTo>
                  <a:pt x="53307" y="100830"/>
                  <a:pt x="42012" y="89535"/>
                  <a:pt x="42012" y="75622"/>
                </a:cubicBezTo>
                <a:cubicBezTo>
                  <a:pt x="42012" y="61710"/>
                  <a:pt x="53307" y="50415"/>
                  <a:pt x="67220" y="50415"/>
                </a:cubicBezTo>
                <a:close/>
              </a:path>
            </a:pathLst>
          </a:custGeom>
          <a:solidFill>
            <a:srgbClr val="10B981"/>
          </a:solidFill>
          <a:ln/>
        </p:spPr>
      </p:sp>
      <p:sp>
        <p:nvSpPr>
          <p:cNvPr id="40" name="Text 38"/>
          <p:cNvSpPr/>
          <p:nvPr/>
        </p:nvSpPr>
        <p:spPr>
          <a:xfrm>
            <a:off x="8529306" y="3529042"/>
            <a:ext cx="773028" cy="201660"/>
          </a:xfrm>
          <a:prstGeom prst="rect">
            <a:avLst/>
          </a:prstGeom>
          <a:noFill/>
          <a:ln/>
        </p:spPr>
        <p:txBody>
          <a:bodyPr wrap="square" lIns="0" tIns="0" rIns="0" bIns="0" rtlCol="0" anchor="ctr"/>
          <a:lstStyle/>
          <a:p>
            <a:pPr>
              <a:lnSpc>
                <a:spcPct val="130000"/>
              </a:lnSpc>
            </a:pPr>
            <a:r>
              <a:rPr lang="en-US" sz="1059" dirty="0">
                <a:solidFill>
                  <a:srgbClr val="374151"/>
                </a:solidFill>
                <a:latin typeface="MiSans" pitchFamily="34" charset="0"/>
                <a:ea typeface="MiSans" pitchFamily="34" charset="-122"/>
                <a:cs typeface="MiSans" pitchFamily="34" charset="-120"/>
              </a:rPr>
              <a:t>Caméra HD</a:t>
            </a:r>
            <a:endParaRPr lang="en-US" sz="1600" dirty="0"/>
          </a:p>
        </p:txBody>
      </p:sp>
      <p:sp>
        <p:nvSpPr>
          <p:cNvPr id="41" name="Shape 39"/>
          <p:cNvSpPr/>
          <p:nvPr/>
        </p:nvSpPr>
        <p:spPr>
          <a:xfrm>
            <a:off x="8310841" y="3831531"/>
            <a:ext cx="134440" cy="134440"/>
          </a:xfrm>
          <a:custGeom>
            <a:avLst/>
            <a:gdLst/>
            <a:ahLst/>
            <a:cxnLst/>
            <a:rect l="l" t="t" r="r" b="b"/>
            <a:pathLst>
              <a:path w="134440" h="134440">
                <a:moveTo>
                  <a:pt x="31509" y="14704"/>
                </a:moveTo>
                <a:cubicBezTo>
                  <a:pt x="31509" y="6591"/>
                  <a:pt x="38100" y="0"/>
                  <a:pt x="46214" y="0"/>
                </a:cubicBezTo>
                <a:lnTo>
                  <a:pt x="52516" y="0"/>
                </a:lnTo>
                <a:cubicBezTo>
                  <a:pt x="57163" y="0"/>
                  <a:pt x="60918" y="3755"/>
                  <a:pt x="60918" y="8402"/>
                </a:cubicBezTo>
                <a:lnTo>
                  <a:pt x="60918" y="126037"/>
                </a:lnTo>
                <a:cubicBezTo>
                  <a:pt x="60918" y="130685"/>
                  <a:pt x="57163" y="134440"/>
                  <a:pt x="52516" y="134440"/>
                </a:cubicBezTo>
                <a:lnTo>
                  <a:pt x="44113" y="134440"/>
                </a:lnTo>
                <a:cubicBezTo>
                  <a:pt x="36288" y="134440"/>
                  <a:pt x="29698" y="129083"/>
                  <a:pt x="27833" y="121836"/>
                </a:cubicBezTo>
                <a:cubicBezTo>
                  <a:pt x="27649" y="121836"/>
                  <a:pt x="27492" y="121836"/>
                  <a:pt x="27308" y="121836"/>
                </a:cubicBezTo>
                <a:cubicBezTo>
                  <a:pt x="15702" y="121836"/>
                  <a:pt x="6302" y="112436"/>
                  <a:pt x="6302" y="100830"/>
                </a:cubicBezTo>
                <a:cubicBezTo>
                  <a:pt x="6302" y="96103"/>
                  <a:pt x="7877" y="91745"/>
                  <a:pt x="10503" y="88226"/>
                </a:cubicBezTo>
                <a:cubicBezTo>
                  <a:pt x="5409" y="84392"/>
                  <a:pt x="2101" y="78301"/>
                  <a:pt x="2101" y="71421"/>
                </a:cubicBezTo>
                <a:cubicBezTo>
                  <a:pt x="2101" y="63307"/>
                  <a:pt x="6722" y="56244"/>
                  <a:pt x="13444" y="52752"/>
                </a:cubicBezTo>
                <a:cubicBezTo>
                  <a:pt x="11580" y="49601"/>
                  <a:pt x="10503" y="45925"/>
                  <a:pt x="10503" y="42012"/>
                </a:cubicBezTo>
                <a:cubicBezTo>
                  <a:pt x="10503" y="30406"/>
                  <a:pt x="19903" y="21006"/>
                  <a:pt x="31509" y="21006"/>
                </a:cubicBezTo>
                <a:lnTo>
                  <a:pt x="31509" y="14704"/>
                </a:lnTo>
                <a:close/>
                <a:moveTo>
                  <a:pt x="102930" y="14704"/>
                </a:moveTo>
                <a:lnTo>
                  <a:pt x="102930" y="21006"/>
                </a:lnTo>
                <a:cubicBezTo>
                  <a:pt x="114536" y="21006"/>
                  <a:pt x="123937" y="30406"/>
                  <a:pt x="123937" y="42012"/>
                </a:cubicBezTo>
                <a:cubicBezTo>
                  <a:pt x="123937" y="45951"/>
                  <a:pt x="122860" y="49627"/>
                  <a:pt x="120996" y="52752"/>
                </a:cubicBezTo>
                <a:cubicBezTo>
                  <a:pt x="127744" y="56244"/>
                  <a:pt x="132339" y="63281"/>
                  <a:pt x="132339" y="71421"/>
                </a:cubicBezTo>
                <a:cubicBezTo>
                  <a:pt x="132339" y="78301"/>
                  <a:pt x="129031" y="84392"/>
                  <a:pt x="123937" y="88226"/>
                </a:cubicBezTo>
                <a:cubicBezTo>
                  <a:pt x="126562" y="91745"/>
                  <a:pt x="128138" y="96103"/>
                  <a:pt x="128138" y="100830"/>
                </a:cubicBezTo>
                <a:cubicBezTo>
                  <a:pt x="128138" y="112436"/>
                  <a:pt x="118738" y="121836"/>
                  <a:pt x="107132" y="121836"/>
                </a:cubicBezTo>
                <a:cubicBezTo>
                  <a:pt x="106948" y="121836"/>
                  <a:pt x="106790" y="121836"/>
                  <a:pt x="106606" y="121836"/>
                </a:cubicBezTo>
                <a:cubicBezTo>
                  <a:pt x="104742" y="129083"/>
                  <a:pt x="98151" y="134440"/>
                  <a:pt x="90327" y="134440"/>
                </a:cubicBezTo>
                <a:lnTo>
                  <a:pt x="81924" y="134440"/>
                </a:lnTo>
                <a:cubicBezTo>
                  <a:pt x="77277" y="134440"/>
                  <a:pt x="73522" y="130685"/>
                  <a:pt x="73522" y="126037"/>
                </a:cubicBezTo>
                <a:lnTo>
                  <a:pt x="73522" y="8402"/>
                </a:lnTo>
                <a:cubicBezTo>
                  <a:pt x="73522" y="3755"/>
                  <a:pt x="77277" y="0"/>
                  <a:pt x="81924" y="0"/>
                </a:cubicBezTo>
                <a:lnTo>
                  <a:pt x="88226" y="0"/>
                </a:lnTo>
                <a:cubicBezTo>
                  <a:pt x="96340" y="0"/>
                  <a:pt x="102930" y="6591"/>
                  <a:pt x="102930" y="14704"/>
                </a:cubicBezTo>
                <a:close/>
              </a:path>
            </a:pathLst>
          </a:custGeom>
          <a:solidFill>
            <a:srgbClr val="10B981"/>
          </a:solidFill>
          <a:ln/>
        </p:spPr>
      </p:sp>
      <p:sp>
        <p:nvSpPr>
          <p:cNvPr id="42" name="Text 40"/>
          <p:cNvSpPr/>
          <p:nvPr/>
        </p:nvSpPr>
        <p:spPr>
          <a:xfrm>
            <a:off x="8529306" y="3797921"/>
            <a:ext cx="949480" cy="201660"/>
          </a:xfrm>
          <a:prstGeom prst="rect">
            <a:avLst/>
          </a:prstGeom>
          <a:noFill/>
          <a:ln/>
        </p:spPr>
        <p:txBody>
          <a:bodyPr wrap="square" lIns="0" tIns="0" rIns="0" bIns="0" rtlCol="0" anchor="ctr"/>
          <a:lstStyle/>
          <a:p>
            <a:pPr>
              <a:lnSpc>
                <a:spcPct val="130000"/>
              </a:lnSpc>
            </a:pPr>
            <a:r>
              <a:rPr lang="en-US" sz="1059" dirty="0">
                <a:solidFill>
                  <a:srgbClr val="374151"/>
                </a:solidFill>
                <a:latin typeface="MiSans" pitchFamily="34" charset="0"/>
                <a:ea typeface="MiSans" pitchFamily="34" charset="-122"/>
                <a:cs typeface="MiSans" pitchFamily="34" charset="-120"/>
              </a:rPr>
              <a:t>Deep Learning</a:t>
            </a:r>
            <a:endParaRPr lang="en-US" sz="1600" dirty="0"/>
          </a:p>
        </p:txBody>
      </p:sp>
      <p:sp>
        <p:nvSpPr>
          <p:cNvPr id="43" name="Shape 41"/>
          <p:cNvSpPr/>
          <p:nvPr/>
        </p:nvSpPr>
        <p:spPr>
          <a:xfrm>
            <a:off x="8310841" y="4100411"/>
            <a:ext cx="134440" cy="134440"/>
          </a:xfrm>
          <a:custGeom>
            <a:avLst/>
            <a:gdLst/>
            <a:ahLst/>
            <a:cxnLst/>
            <a:rect l="l" t="t" r="r" b="b"/>
            <a:pathLst>
              <a:path w="134440" h="134440">
                <a:moveTo>
                  <a:pt x="16805" y="8402"/>
                </a:moveTo>
                <a:cubicBezTo>
                  <a:pt x="7536" y="8402"/>
                  <a:pt x="0" y="15938"/>
                  <a:pt x="0" y="25207"/>
                </a:cubicBezTo>
                <a:lnTo>
                  <a:pt x="0" y="92427"/>
                </a:lnTo>
                <a:cubicBezTo>
                  <a:pt x="0" y="101696"/>
                  <a:pt x="7536" y="109232"/>
                  <a:pt x="16805" y="109232"/>
                </a:cubicBezTo>
                <a:lnTo>
                  <a:pt x="54616" y="109232"/>
                </a:lnTo>
                <a:lnTo>
                  <a:pt x="50415" y="121836"/>
                </a:lnTo>
                <a:lnTo>
                  <a:pt x="31509" y="121836"/>
                </a:lnTo>
                <a:cubicBezTo>
                  <a:pt x="28017" y="121836"/>
                  <a:pt x="25207" y="124646"/>
                  <a:pt x="25207" y="128138"/>
                </a:cubicBezTo>
                <a:cubicBezTo>
                  <a:pt x="25207" y="131630"/>
                  <a:pt x="28017" y="134440"/>
                  <a:pt x="31509" y="134440"/>
                </a:cubicBezTo>
                <a:lnTo>
                  <a:pt x="102930" y="134440"/>
                </a:lnTo>
                <a:cubicBezTo>
                  <a:pt x="106423" y="134440"/>
                  <a:pt x="109232" y="131630"/>
                  <a:pt x="109232" y="128138"/>
                </a:cubicBezTo>
                <a:cubicBezTo>
                  <a:pt x="109232" y="124646"/>
                  <a:pt x="106423" y="121836"/>
                  <a:pt x="102930" y="121836"/>
                </a:cubicBezTo>
                <a:lnTo>
                  <a:pt x="84025" y="121836"/>
                </a:lnTo>
                <a:lnTo>
                  <a:pt x="79824" y="109232"/>
                </a:lnTo>
                <a:lnTo>
                  <a:pt x="117635" y="109232"/>
                </a:lnTo>
                <a:cubicBezTo>
                  <a:pt x="126904" y="109232"/>
                  <a:pt x="134440" y="101696"/>
                  <a:pt x="134440" y="92427"/>
                </a:cubicBezTo>
                <a:lnTo>
                  <a:pt x="134440" y="25207"/>
                </a:lnTo>
                <a:cubicBezTo>
                  <a:pt x="134440" y="15938"/>
                  <a:pt x="126904" y="8402"/>
                  <a:pt x="117635" y="8402"/>
                </a:cubicBezTo>
                <a:lnTo>
                  <a:pt x="16805" y="8402"/>
                </a:lnTo>
                <a:close/>
                <a:moveTo>
                  <a:pt x="25207" y="25207"/>
                </a:moveTo>
                <a:lnTo>
                  <a:pt x="109232" y="25207"/>
                </a:lnTo>
                <a:cubicBezTo>
                  <a:pt x="113880" y="25207"/>
                  <a:pt x="117635" y="28962"/>
                  <a:pt x="117635" y="33610"/>
                </a:cubicBezTo>
                <a:lnTo>
                  <a:pt x="117635" y="75622"/>
                </a:lnTo>
                <a:cubicBezTo>
                  <a:pt x="117635" y="80270"/>
                  <a:pt x="113880" y="84025"/>
                  <a:pt x="109232" y="84025"/>
                </a:cubicBezTo>
                <a:lnTo>
                  <a:pt x="25207" y="84025"/>
                </a:lnTo>
                <a:cubicBezTo>
                  <a:pt x="20560" y="84025"/>
                  <a:pt x="16805" y="80270"/>
                  <a:pt x="16805" y="75622"/>
                </a:cubicBezTo>
                <a:lnTo>
                  <a:pt x="16805" y="33610"/>
                </a:lnTo>
                <a:cubicBezTo>
                  <a:pt x="16805" y="28962"/>
                  <a:pt x="20560" y="25207"/>
                  <a:pt x="25207" y="25207"/>
                </a:cubicBezTo>
                <a:close/>
              </a:path>
            </a:pathLst>
          </a:custGeom>
          <a:solidFill>
            <a:srgbClr val="10B981"/>
          </a:solidFill>
          <a:ln/>
        </p:spPr>
      </p:sp>
      <p:sp>
        <p:nvSpPr>
          <p:cNvPr id="44" name="Text 42"/>
          <p:cNvSpPr/>
          <p:nvPr/>
        </p:nvSpPr>
        <p:spPr>
          <a:xfrm>
            <a:off x="8529306" y="4066801"/>
            <a:ext cx="1251970" cy="201660"/>
          </a:xfrm>
          <a:prstGeom prst="rect">
            <a:avLst/>
          </a:prstGeom>
          <a:noFill/>
          <a:ln/>
        </p:spPr>
        <p:txBody>
          <a:bodyPr wrap="square" lIns="0" tIns="0" rIns="0" bIns="0" rtlCol="0" anchor="ctr"/>
          <a:lstStyle/>
          <a:p>
            <a:pPr>
              <a:lnSpc>
                <a:spcPct val="130000"/>
              </a:lnSpc>
            </a:pPr>
            <a:r>
              <a:rPr lang="en-US" sz="1059" dirty="0">
                <a:solidFill>
                  <a:srgbClr val="374151"/>
                </a:solidFill>
                <a:latin typeface="MiSans" pitchFamily="34" charset="0"/>
                <a:ea typeface="MiSans" pitchFamily="34" charset="-122"/>
                <a:cs typeface="MiSans" pitchFamily="34" charset="-120"/>
              </a:rPr>
              <a:t>Interface inspecteur</a:t>
            </a:r>
            <a:endParaRPr lang="en-US" sz="1600" dirty="0"/>
          </a:p>
        </p:txBody>
      </p:sp>
      <p:sp>
        <p:nvSpPr>
          <p:cNvPr id="45" name="Shape 43"/>
          <p:cNvSpPr/>
          <p:nvPr/>
        </p:nvSpPr>
        <p:spPr>
          <a:xfrm>
            <a:off x="8310841" y="4369290"/>
            <a:ext cx="134440" cy="134440"/>
          </a:xfrm>
          <a:custGeom>
            <a:avLst/>
            <a:gdLst/>
            <a:ahLst/>
            <a:cxnLst/>
            <a:rect l="l" t="t" r="r" b="b"/>
            <a:pathLst>
              <a:path w="134440" h="134440">
                <a:moveTo>
                  <a:pt x="16805" y="16805"/>
                </a:moveTo>
                <a:cubicBezTo>
                  <a:pt x="16805" y="12157"/>
                  <a:pt x="13050" y="8402"/>
                  <a:pt x="8402" y="8402"/>
                </a:cubicBezTo>
                <a:cubicBezTo>
                  <a:pt x="3755" y="8402"/>
                  <a:pt x="0" y="12157"/>
                  <a:pt x="0" y="16805"/>
                </a:cubicBezTo>
                <a:lnTo>
                  <a:pt x="0" y="105031"/>
                </a:lnTo>
                <a:cubicBezTo>
                  <a:pt x="0" y="116637"/>
                  <a:pt x="9400" y="126037"/>
                  <a:pt x="21006" y="126037"/>
                </a:cubicBezTo>
                <a:lnTo>
                  <a:pt x="126037" y="126037"/>
                </a:lnTo>
                <a:cubicBezTo>
                  <a:pt x="130685" y="126037"/>
                  <a:pt x="134440" y="122282"/>
                  <a:pt x="134440" y="117635"/>
                </a:cubicBezTo>
                <a:cubicBezTo>
                  <a:pt x="134440" y="112987"/>
                  <a:pt x="130685" y="109232"/>
                  <a:pt x="126037" y="109232"/>
                </a:cubicBezTo>
                <a:lnTo>
                  <a:pt x="21006" y="109232"/>
                </a:lnTo>
                <a:cubicBezTo>
                  <a:pt x="18696" y="109232"/>
                  <a:pt x="16805" y="107342"/>
                  <a:pt x="16805" y="105031"/>
                </a:cubicBezTo>
                <a:lnTo>
                  <a:pt x="16805" y="16805"/>
                </a:lnTo>
                <a:close/>
                <a:moveTo>
                  <a:pt x="123569" y="39544"/>
                </a:moveTo>
                <a:cubicBezTo>
                  <a:pt x="126851" y="36262"/>
                  <a:pt x="126851" y="30932"/>
                  <a:pt x="123569" y="27649"/>
                </a:cubicBezTo>
                <a:cubicBezTo>
                  <a:pt x="120287" y="24367"/>
                  <a:pt x="114956" y="24367"/>
                  <a:pt x="111674" y="27649"/>
                </a:cubicBezTo>
                <a:lnTo>
                  <a:pt x="84025" y="55325"/>
                </a:lnTo>
                <a:lnTo>
                  <a:pt x="68953" y="40279"/>
                </a:lnTo>
                <a:cubicBezTo>
                  <a:pt x="65671" y="36997"/>
                  <a:pt x="60340" y="36997"/>
                  <a:pt x="57058" y="40279"/>
                </a:cubicBezTo>
                <a:lnTo>
                  <a:pt x="31851" y="65487"/>
                </a:lnTo>
                <a:cubicBezTo>
                  <a:pt x="28568" y="68769"/>
                  <a:pt x="28568" y="74099"/>
                  <a:pt x="31851" y="77382"/>
                </a:cubicBezTo>
                <a:cubicBezTo>
                  <a:pt x="35133" y="80664"/>
                  <a:pt x="40463" y="80664"/>
                  <a:pt x="43745" y="77382"/>
                </a:cubicBezTo>
                <a:lnTo>
                  <a:pt x="63019" y="58108"/>
                </a:lnTo>
                <a:lnTo>
                  <a:pt x="78091" y="73180"/>
                </a:lnTo>
                <a:cubicBezTo>
                  <a:pt x="81373" y="76463"/>
                  <a:pt x="86703" y="76463"/>
                  <a:pt x="89985" y="73180"/>
                </a:cubicBezTo>
                <a:lnTo>
                  <a:pt x="123595" y="39570"/>
                </a:lnTo>
                <a:close/>
              </a:path>
            </a:pathLst>
          </a:custGeom>
          <a:solidFill>
            <a:srgbClr val="10B981"/>
          </a:solidFill>
          <a:ln/>
        </p:spPr>
      </p:sp>
      <p:sp>
        <p:nvSpPr>
          <p:cNvPr id="46" name="Text 44"/>
          <p:cNvSpPr/>
          <p:nvPr/>
        </p:nvSpPr>
        <p:spPr>
          <a:xfrm>
            <a:off x="8529306" y="4335680"/>
            <a:ext cx="722613" cy="201660"/>
          </a:xfrm>
          <a:prstGeom prst="rect">
            <a:avLst/>
          </a:prstGeom>
          <a:noFill/>
          <a:ln/>
        </p:spPr>
        <p:txBody>
          <a:bodyPr wrap="square" lIns="0" tIns="0" rIns="0" bIns="0" rtlCol="0" anchor="ctr"/>
          <a:lstStyle/>
          <a:p>
            <a:pPr>
              <a:lnSpc>
                <a:spcPct val="130000"/>
              </a:lnSpc>
            </a:pPr>
            <a:r>
              <a:rPr lang="en-US" sz="1059" dirty="0">
                <a:solidFill>
                  <a:srgbClr val="374151"/>
                </a:solidFill>
                <a:latin typeface="MiSans" pitchFamily="34" charset="0"/>
                <a:ea typeface="MiSans" pitchFamily="34" charset="-122"/>
                <a:cs typeface="MiSans" pitchFamily="34" charset="-120"/>
              </a:rPr>
              <a:t>Dashboard</a:t>
            </a:r>
            <a:endParaRPr lang="en-US" sz="1600" dirty="0"/>
          </a:p>
        </p:txBody>
      </p:sp>
      <p:sp>
        <p:nvSpPr>
          <p:cNvPr id="47" name="Shape 45"/>
          <p:cNvSpPr/>
          <p:nvPr/>
        </p:nvSpPr>
        <p:spPr>
          <a:xfrm>
            <a:off x="8319244" y="4638170"/>
            <a:ext cx="117635" cy="134440"/>
          </a:xfrm>
          <a:custGeom>
            <a:avLst/>
            <a:gdLst/>
            <a:ahLst/>
            <a:cxnLst/>
            <a:rect l="l" t="t" r="r" b="b"/>
            <a:pathLst>
              <a:path w="117635" h="134440">
                <a:moveTo>
                  <a:pt x="16805" y="8402"/>
                </a:moveTo>
                <a:cubicBezTo>
                  <a:pt x="16805" y="3755"/>
                  <a:pt x="13050" y="0"/>
                  <a:pt x="8402" y="0"/>
                </a:cubicBezTo>
                <a:cubicBezTo>
                  <a:pt x="3755" y="0"/>
                  <a:pt x="0" y="3755"/>
                  <a:pt x="0" y="8402"/>
                </a:cubicBezTo>
                <a:lnTo>
                  <a:pt x="0" y="126037"/>
                </a:lnTo>
                <a:cubicBezTo>
                  <a:pt x="0" y="130685"/>
                  <a:pt x="3755" y="134440"/>
                  <a:pt x="8402" y="134440"/>
                </a:cubicBezTo>
                <a:cubicBezTo>
                  <a:pt x="13050" y="134440"/>
                  <a:pt x="16805" y="130685"/>
                  <a:pt x="16805" y="126037"/>
                </a:cubicBezTo>
                <a:lnTo>
                  <a:pt x="16805" y="94108"/>
                </a:lnTo>
                <a:lnTo>
                  <a:pt x="33269" y="89171"/>
                </a:lnTo>
                <a:cubicBezTo>
                  <a:pt x="44271" y="85863"/>
                  <a:pt x="56139" y="86887"/>
                  <a:pt x="66406" y="92033"/>
                </a:cubicBezTo>
                <a:cubicBezTo>
                  <a:pt x="77618" y="97653"/>
                  <a:pt x="90694" y="98335"/>
                  <a:pt x="102431" y="93924"/>
                </a:cubicBezTo>
                <a:lnTo>
                  <a:pt x="112173" y="90274"/>
                </a:lnTo>
                <a:cubicBezTo>
                  <a:pt x="115455" y="89040"/>
                  <a:pt x="117635" y="85915"/>
                  <a:pt x="117635" y="82397"/>
                </a:cubicBezTo>
                <a:lnTo>
                  <a:pt x="117635" y="17356"/>
                </a:lnTo>
                <a:cubicBezTo>
                  <a:pt x="117635" y="11317"/>
                  <a:pt x="111280" y="7378"/>
                  <a:pt x="105871" y="10083"/>
                </a:cubicBezTo>
                <a:lnTo>
                  <a:pt x="102773" y="11632"/>
                </a:lnTo>
                <a:cubicBezTo>
                  <a:pt x="90983" y="17540"/>
                  <a:pt x="77093" y="17540"/>
                  <a:pt x="65277" y="11632"/>
                </a:cubicBezTo>
                <a:cubicBezTo>
                  <a:pt x="55719" y="6853"/>
                  <a:pt x="44717" y="5908"/>
                  <a:pt x="34503" y="8980"/>
                </a:cubicBezTo>
                <a:lnTo>
                  <a:pt x="16805" y="14284"/>
                </a:lnTo>
                <a:lnTo>
                  <a:pt x="16805" y="8402"/>
                </a:lnTo>
                <a:close/>
              </a:path>
            </a:pathLst>
          </a:custGeom>
          <a:solidFill>
            <a:srgbClr val="10B981"/>
          </a:solidFill>
          <a:ln/>
        </p:spPr>
      </p:sp>
      <p:sp>
        <p:nvSpPr>
          <p:cNvPr id="48" name="Text 46"/>
          <p:cNvSpPr/>
          <p:nvPr/>
        </p:nvSpPr>
        <p:spPr>
          <a:xfrm>
            <a:off x="8529306" y="4604560"/>
            <a:ext cx="1251970" cy="201660"/>
          </a:xfrm>
          <a:prstGeom prst="rect">
            <a:avLst/>
          </a:prstGeom>
          <a:noFill/>
          <a:ln/>
        </p:spPr>
        <p:txBody>
          <a:bodyPr wrap="square" lIns="0" tIns="0" rIns="0" bIns="0" rtlCol="0" anchor="ctr"/>
          <a:lstStyle/>
          <a:p>
            <a:pPr>
              <a:lnSpc>
                <a:spcPct val="130000"/>
              </a:lnSpc>
            </a:pPr>
            <a:r>
              <a:rPr lang="en-US" sz="1059" dirty="0">
                <a:solidFill>
                  <a:srgbClr val="374151"/>
                </a:solidFill>
                <a:latin typeface="MiSans" pitchFamily="34" charset="0"/>
                <a:ea typeface="MiSans" pitchFamily="34" charset="-122"/>
                <a:cs typeface="MiSans" pitchFamily="34" charset="-120"/>
              </a:rPr>
              <a:t>Stockage souverain</a:t>
            </a:r>
            <a:endParaRPr lang="en-US" sz="1600" dirty="0"/>
          </a:p>
        </p:txBody>
      </p:sp>
      <p:sp>
        <p:nvSpPr>
          <p:cNvPr id="49" name="Shape 47"/>
          <p:cNvSpPr/>
          <p:nvPr/>
        </p:nvSpPr>
        <p:spPr>
          <a:xfrm>
            <a:off x="336099" y="5276758"/>
            <a:ext cx="11519802" cy="1579666"/>
          </a:xfrm>
          <a:custGeom>
            <a:avLst/>
            <a:gdLst/>
            <a:ahLst/>
            <a:cxnLst/>
            <a:rect l="l" t="t" r="r" b="b"/>
            <a:pathLst>
              <a:path w="11519802" h="1579666">
                <a:moveTo>
                  <a:pt x="134445" y="0"/>
                </a:moveTo>
                <a:lnTo>
                  <a:pt x="11385356" y="0"/>
                </a:lnTo>
                <a:cubicBezTo>
                  <a:pt x="11459608" y="0"/>
                  <a:pt x="11519802" y="60193"/>
                  <a:pt x="11519802" y="134445"/>
                </a:cubicBezTo>
                <a:lnTo>
                  <a:pt x="11519802" y="1445221"/>
                </a:lnTo>
                <a:cubicBezTo>
                  <a:pt x="11519802" y="1519473"/>
                  <a:pt x="11459608" y="1579666"/>
                  <a:pt x="11385356" y="1579666"/>
                </a:cubicBezTo>
                <a:lnTo>
                  <a:pt x="134445" y="1579666"/>
                </a:lnTo>
                <a:cubicBezTo>
                  <a:pt x="60193" y="1579666"/>
                  <a:pt x="0" y="1519473"/>
                  <a:pt x="0" y="1445221"/>
                </a:cubicBezTo>
                <a:lnTo>
                  <a:pt x="0" y="134445"/>
                </a:lnTo>
                <a:cubicBezTo>
                  <a:pt x="0" y="60243"/>
                  <a:pt x="60243" y="0"/>
                  <a:pt x="134445" y="0"/>
                </a:cubicBezTo>
                <a:close/>
              </a:path>
            </a:pathLst>
          </a:custGeom>
          <a:solidFill>
            <a:srgbClr val="F3F4F6"/>
          </a:solidFill>
          <a:ln/>
        </p:spPr>
      </p:sp>
      <p:sp>
        <p:nvSpPr>
          <p:cNvPr id="50" name="Shape 48"/>
          <p:cNvSpPr/>
          <p:nvPr/>
        </p:nvSpPr>
        <p:spPr>
          <a:xfrm>
            <a:off x="504149" y="5444808"/>
            <a:ext cx="336099" cy="336099"/>
          </a:xfrm>
          <a:custGeom>
            <a:avLst/>
            <a:gdLst/>
            <a:ahLst/>
            <a:cxnLst/>
            <a:rect l="l" t="t" r="r" b="b"/>
            <a:pathLst>
              <a:path w="336099" h="336099">
                <a:moveTo>
                  <a:pt x="100830" y="0"/>
                </a:moveTo>
                <a:lnTo>
                  <a:pt x="235269" y="0"/>
                </a:lnTo>
                <a:cubicBezTo>
                  <a:pt x="290956" y="0"/>
                  <a:pt x="336099" y="45143"/>
                  <a:pt x="336099" y="100830"/>
                </a:cubicBezTo>
                <a:lnTo>
                  <a:pt x="336099" y="235269"/>
                </a:lnTo>
                <a:cubicBezTo>
                  <a:pt x="336099" y="290956"/>
                  <a:pt x="290956" y="336099"/>
                  <a:pt x="235269" y="336099"/>
                </a:cubicBezTo>
                <a:lnTo>
                  <a:pt x="100830" y="336099"/>
                </a:lnTo>
                <a:cubicBezTo>
                  <a:pt x="45143" y="336099"/>
                  <a:pt x="0" y="290956"/>
                  <a:pt x="0" y="235269"/>
                </a:cubicBezTo>
                <a:lnTo>
                  <a:pt x="0" y="100830"/>
                </a:lnTo>
                <a:cubicBezTo>
                  <a:pt x="0" y="45180"/>
                  <a:pt x="45180" y="0"/>
                  <a:pt x="100830" y="0"/>
                </a:cubicBezTo>
                <a:close/>
              </a:path>
            </a:pathLst>
          </a:custGeom>
          <a:solidFill>
            <a:srgbClr val="EC4899"/>
          </a:solidFill>
          <a:ln/>
        </p:spPr>
      </p:sp>
      <p:sp>
        <p:nvSpPr>
          <p:cNvPr id="51" name="Shape 49"/>
          <p:cNvSpPr/>
          <p:nvPr/>
        </p:nvSpPr>
        <p:spPr>
          <a:xfrm>
            <a:off x="604979" y="5545637"/>
            <a:ext cx="134440" cy="134440"/>
          </a:xfrm>
          <a:custGeom>
            <a:avLst/>
            <a:gdLst/>
            <a:ahLst/>
            <a:cxnLst/>
            <a:rect l="l" t="t" r="r" b="b"/>
            <a:pathLst>
              <a:path w="134440" h="134440">
                <a:moveTo>
                  <a:pt x="30643" y="8875"/>
                </a:moveTo>
                <a:cubicBezTo>
                  <a:pt x="31824" y="7273"/>
                  <a:pt x="33715" y="6302"/>
                  <a:pt x="35711" y="6302"/>
                </a:cubicBezTo>
                <a:lnTo>
                  <a:pt x="98729" y="6302"/>
                </a:lnTo>
                <a:cubicBezTo>
                  <a:pt x="100725" y="6302"/>
                  <a:pt x="102615" y="7247"/>
                  <a:pt x="103797" y="8875"/>
                </a:cubicBezTo>
                <a:lnTo>
                  <a:pt x="133206" y="48787"/>
                </a:lnTo>
                <a:cubicBezTo>
                  <a:pt x="134991" y="51203"/>
                  <a:pt x="134807" y="54537"/>
                  <a:pt x="132812" y="56769"/>
                </a:cubicBezTo>
                <a:lnTo>
                  <a:pt x="71894" y="123989"/>
                </a:lnTo>
                <a:cubicBezTo>
                  <a:pt x="70712" y="125302"/>
                  <a:pt x="69005" y="126063"/>
                  <a:pt x="67220" y="126063"/>
                </a:cubicBezTo>
                <a:cubicBezTo>
                  <a:pt x="65434" y="126063"/>
                  <a:pt x="63754" y="125302"/>
                  <a:pt x="62546" y="123989"/>
                </a:cubicBezTo>
                <a:lnTo>
                  <a:pt x="1628" y="56769"/>
                </a:lnTo>
                <a:cubicBezTo>
                  <a:pt x="-394" y="54537"/>
                  <a:pt x="-551" y="51203"/>
                  <a:pt x="1234" y="48787"/>
                </a:cubicBezTo>
                <a:lnTo>
                  <a:pt x="30643" y="8875"/>
                </a:lnTo>
                <a:close/>
                <a:moveTo>
                  <a:pt x="40752" y="19326"/>
                </a:moveTo>
                <a:cubicBezTo>
                  <a:pt x="39886" y="19982"/>
                  <a:pt x="39649" y="21164"/>
                  <a:pt x="40201" y="22083"/>
                </a:cubicBezTo>
                <a:lnTo>
                  <a:pt x="55273" y="47211"/>
                </a:lnTo>
                <a:lnTo>
                  <a:pt x="16621" y="50415"/>
                </a:lnTo>
                <a:cubicBezTo>
                  <a:pt x="15545" y="50494"/>
                  <a:pt x="14704" y="51413"/>
                  <a:pt x="14704" y="52516"/>
                </a:cubicBezTo>
                <a:cubicBezTo>
                  <a:pt x="14704" y="53618"/>
                  <a:pt x="15545" y="54511"/>
                  <a:pt x="16621" y="54616"/>
                </a:cubicBezTo>
                <a:lnTo>
                  <a:pt x="67036" y="58817"/>
                </a:lnTo>
                <a:cubicBezTo>
                  <a:pt x="67141" y="58817"/>
                  <a:pt x="67272" y="58817"/>
                  <a:pt x="67377" y="58817"/>
                </a:cubicBezTo>
                <a:lnTo>
                  <a:pt x="117792" y="54616"/>
                </a:lnTo>
                <a:cubicBezTo>
                  <a:pt x="118869" y="54537"/>
                  <a:pt x="119709" y="53618"/>
                  <a:pt x="119709" y="52516"/>
                </a:cubicBezTo>
                <a:cubicBezTo>
                  <a:pt x="119709" y="51413"/>
                  <a:pt x="118869" y="50520"/>
                  <a:pt x="117792" y="50415"/>
                </a:cubicBezTo>
                <a:lnTo>
                  <a:pt x="79141" y="47185"/>
                </a:lnTo>
                <a:lnTo>
                  <a:pt x="94213" y="22083"/>
                </a:lnTo>
                <a:cubicBezTo>
                  <a:pt x="94764" y="21164"/>
                  <a:pt x="94528" y="19956"/>
                  <a:pt x="93661" y="19326"/>
                </a:cubicBezTo>
                <a:cubicBezTo>
                  <a:pt x="92795" y="18696"/>
                  <a:pt x="91587" y="18801"/>
                  <a:pt x="90852" y="19588"/>
                </a:cubicBezTo>
                <a:lnTo>
                  <a:pt x="67220" y="45216"/>
                </a:lnTo>
                <a:lnTo>
                  <a:pt x="43562" y="19588"/>
                </a:lnTo>
                <a:cubicBezTo>
                  <a:pt x="42826" y="18801"/>
                  <a:pt x="41619" y="18696"/>
                  <a:pt x="40752" y="19326"/>
                </a:cubicBezTo>
                <a:close/>
              </a:path>
            </a:pathLst>
          </a:custGeom>
          <a:solidFill>
            <a:srgbClr val="FFFFFF"/>
          </a:solidFill>
          <a:ln/>
        </p:spPr>
      </p:sp>
      <p:sp>
        <p:nvSpPr>
          <p:cNvPr id="52" name="Text 50"/>
          <p:cNvSpPr/>
          <p:nvPr/>
        </p:nvSpPr>
        <p:spPr>
          <a:xfrm>
            <a:off x="941078" y="5495223"/>
            <a:ext cx="1394812" cy="235269"/>
          </a:xfrm>
          <a:prstGeom prst="rect">
            <a:avLst/>
          </a:prstGeom>
          <a:noFill/>
          <a:ln/>
        </p:spPr>
        <p:txBody>
          <a:bodyPr wrap="square" lIns="0" tIns="0" rIns="0" bIns="0" rtlCol="0" anchor="ctr"/>
          <a:lstStyle/>
          <a:p>
            <a:pPr>
              <a:lnSpc>
                <a:spcPct val="120000"/>
              </a:lnSpc>
            </a:pPr>
            <a:r>
              <a:rPr lang="en-US" sz="1323" b="1" dirty="0">
                <a:solidFill>
                  <a:srgbClr val="1E3A8A"/>
                </a:solidFill>
                <a:latin typeface="Noto Sans SC" pitchFamily="34" charset="0"/>
                <a:ea typeface="Noto Sans SC" pitchFamily="34" charset="-122"/>
                <a:cs typeface="Noto Sans SC" pitchFamily="34" charset="-120"/>
              </a:rPr>
              <a:t>Valeur Business</a:t>
            </a:r>
            <a:endParaRPr lang="en-US" sz="1600" dirty="0"/>
          </a:p>
        </p:txBody>
      </p:sp>
      <p:sp>
        <p:nvSpPr>
          <p:cNvPr id="53" name="Shape 51"/>
          <p:cNvSpPr/>
          <p:nvPr/>
        </p:nvSpPr>
        <p:spPr>
          <a:xfrm>
            <a:off x="504149" y="5915347"/>
            <a:ext cx="3638274" cy="773028"/>
          </a:xfrm>
          <a:custGeom>
            <a:avLst/>
            <a:gdLst/>
            <a:ahLst/>
            <a:cxnLst/>
            <a:rect l="l" t="t" r="r" b="b"/>
            <a:pathLst>
              <a:path w="3638274" h="773028">
                <a:moveTo>
                  <a:pt x="100826" y="0"/>
                </a:moveTo>
                <a:lnTo>
                  <a:pt x="3537448" y="0"/>
                </a:lnTo>
                <a:cubicBezTo>
                  <a:pt x="3593133" y="0"/>
                  <a:pt x="3638274" y="45141"/>
                  <a:pt x="3638274" y="100826"/>
                </a:cubicBezTo>
                <a:lnTo>
                  <a:pt x="3638274" y="672202"/>
                </a:lnTo>
                <a:cubicBezTo>
                  <a:pt x="3638274" y="727887"/>
                  <a:pt x="3593133" y="773028"/>
                  <a:pt x="3537448" y="773028"/>
                </a:cubicBezTo>
                <a:lnTo>
                  <a:pt x="100826" y="773028"/>
                </a:lnTo>
                <a:cubicBezTo>
                  <a:pt x="45141" y="773028"/>
                  <a:pt x="0" y="727887"/>
                  <a:pt x="0" y="672202"/>
                </a:cubicBezTo>
                <a:lnTo>
                  <a:pt x="0" y="100826"/>
                </a:lnTo>
                <a:cubicBezTo>
                  <a:pt x="0" y="45179"/>
                  <a:pt x="45179" y="0"/>
                  <a:pt x="100826" y="0"/>
                </a:cubicBezTo>
                <a:close/>
              </a:path>
            </a:pathLst>
          </a:custGeom>
          <a:solidFill>
            <a:srgbClr val="FFFFFF"/>
          </a:solidFill>
          <a:ln/>
        </p:spPr>
      </p:sp>
      <p:sp>
        <p:nvSpPr>
          <p:cNvPr id="54" name="Shape 52"/>
          <p:cNvSpPr/>
          <p:nvPr/>
        </p:nvSpPr>
        <p:spPr>
          <a:xfrm>
            <a:off x="1786971" y="6083396"/>
            <a:ext cx="147043" cy="168050"/>
          </a:xfrm>
          <a:custGeom>
            <a:avLst/>
            <a:gdLst/>
            <a:ahLst/>
            <a:cxnLst/>
            <a:rect l="l" t="t" r="r" b="b"/>
            <a:pathLst>
              <a:path w="147043" h="168050">
                <a:moveTo>
                  <a:pt x="42012" y="0"/>
                </a:moveTo>
                <a:cubicBezTo>
                  <a:pt x="47822" y="0"/>
                  <a:pt x="52516" y="4694"/>
                  <a:pt x="52516" y="10503"/>
                </a:cubicBezTo>
                <a:lnTo>
                  <a:pt x="52516" y="21006"/>
                </a:lnTo>
                <a:lnTo>
                  <a:pt x="94528" y="21006"/>
                </a:lnTo>
                <a:lnTo>
                  <a:pt x="94528" y="10503"/>
                </a:lnTo>
                <a:cubicBezTo>
                  <a:pt x="94528" y="4694"/>
                  <a:pt x="99221" y="0"/>
                  <a:pt x="105031" y="0"/>
                </a:cubicBezTo>
                <a:cubicBezTo>
                  <a:pt x="110841" y="0"/>
                  <a:pt x="115534" y="4694"/>
                  <a:pt x="115534" y="10503"/>
                </a:cubicBezTo>
                <a:lnTo>
                  <a:pt x="115534" y="21006"/>
                </a:lnTo>
                <a:lnTo>
                  <a:pt x="126037" y="21006"/>
                </a:lnTo>
                <a:cubicBezTo>
                  <a:pt x="137623" y="21006"/>
                  <a:pt x="147043" y="30426"/>
                  <a:pt x="147043" y="42012"/>
                </a:cubicBezTo>
                <a:lnTo>
                  <a:pt x="147043" y="136540"/>
                </a:lnTo>
                <a:cubicBezTo>
                  <a:pt x="147043" y="148127"/>
                  <a:pt x="137623" y="157547"/>
                  <a:pt x="126037" y="157547"/>
                </a:cubicBezTo>
                <a:lnTo>
                  <a:pt x="21006" y="157547"/>
                </a:lnTo>
                <a:cubicBezTo>
                  <a:pt x="9420" y="157547"/>
                  <a:pt x="0" y="148127"/>
                  <a:pt x="0" y="136540"/>
                </a:cubicBezTo>
                <a:lnTo>
                  <a:pt x="0" y="42012"/>
                </a:lnTo>
                <a:cubicBezTo>
                  <a:pt x="0" y="30426"/>
                  <a:pt x="9420" y="21006"/>
                  <a:pt x="21006" y="21006"/>
                </a:cubicBezTo>
                <a:lnTo>
                  <a:pt x="31509" y="21006"/>
                </a:lnTo>
                <a:lnTo>
                  <a:pt x="31509" y="10503"/>
                </a:lnTo>
                <a:cubicBezTo>
                  <a:pt x="31509" y="4694"/>
                  <a:pt x="36203" y="0"/>
                  <a:pt x="42012" y="0"/>
                </a:cubicBezTo>
                <a:close/>
                <a:moveTo>
                  <a:pt x="42012" y="84025"/>
                </a:moveTo>
                <a:cubicBezTo>
                  <a:pt x="36203" y="84025"/>
                  <a:pt x="31509" y="88718"/>
                  <a:pt x="31509" y="94528"/>
                </a:cubicBezTo>
                <a:lnTo>
                  <a:pt x="31509" y="115534"/>
                </a:lnTo>
                <a:cubicBezTo>
                  <a:pt x="31509" y="121344"/>
                  <a:pt x="36203" y="126037"/>
                  <a:pt x="42012" y="126037"/>
                </a:cubicBezTo>
                <a:lnTo>
                  <a:pt x="63019" y="126037"/>
                </a:lnTo>
                <a:cubicBezTo>
                  <a:pt x="68828" y="126037"/>
                  <a:pt x="73522" y="121344"/>
                  <a:pt x="73522" y="115534"/>
                </a:cubicBezTo>
                <a:lnTo>
                  <a:pt x="73522" y="94528"/>
                </a:lnTo>
                <a:cubicBezTo>
                  <a:pt x="73522" y="88718"/>
                  <a:pt x="68828" y="84025"/>
                  <a:pt x="63019" y="84025"/>
                </a:cubicBezTo>
                <a:lnTo>
                  <a:pt x="42012" y="84025"/>
                </a:lnTo>
                <a:close/>
              </a:path>
            </a:pathLst>
          </a:custGeom>
          <a:solidFill>
            <a:srgbClr val="10B981"/>
          </a:solidFill>
          <a:ln/>
        </p:spPr>
      </p:sp>
      <p:sp>
        <p:nvSpPr>
          <p:cNvPr id="55" name="Text 53"/>
          <p:cNvSpPr/>
          <p:nvPr/>
        </p:nvSpPr>
        <p:spPr>
          <a:xfrm>
            <a:off x="1994933" y="6049786"/>
            <a:ext cx="932675" cy="235269"/>
          </a:xfrm>
          <a:prstGeom prst="rect">
            <a:avLst/>
          </a:prstGeom>
          <a:noFill/>
          <a:ln/>
        </p:spPr>
        <p:txBody>
          <a:bodyPr wrap="square" lIns="0" tIns="0" rIns="0" bIns="0" rtlCol="0" anchor="ctr"/>
          <a:lstStyle/>
          <a:p>
            <a:pPr algn="ctr">
              <a:lnSpc>
                <a:spcPct val="130000"/>
              </a:lnSpc>
            </a:pPr>
            <a:r>
              <a:rPr lang="en-US" sz="1191" b="1" dirty="0">
                <a:solidFill>
                  <a:srgbClr val="1E3A8A"/>
                </a:solidFill>
                <a:latin typeface="MiSans" pitchFamily="34" charset="0"/>
                <a:ea typeface="MiSans" pitchFamily="34" charset="-122"/>
                <a:cs typeface="MiSans" pitchFamily="34" charset="-120"/>
              </a:rPr>
              <a:t>Court terme</a:t>
            </a:r>
            <a:endParaRPr lang="en-US" sz="1600" dirty="0"/>
          </a:p>
        </p:txBody>
      </p:sp>
      <p:sp>
        <p:nvSpPr>
          <p:cNvPr id="56" name="Text 54"/>
          <p:cNvSpPr/>
          <p:nvPr/>
        </p:nvSpPr>
        <p:spPr>
          <a:xfrm>
            <a:off x="604979" y="6352276"/>
            <a:ext cx="3436615" cy="201660"/>
          </a:xfrm>
          <a:prstGeom prst="rect">
            <a:avLst/>
          </a:prstGeom>
          <a:noFill/>
          <a:ln/>
        </p:spPr>
        <p:txBody>
          <a:bodyPr wrap="square" lIns="0" tIns="0" rIns="0" bIns="0" rtlCol="0" anchor="ctr"/>
          <a:lstStyle/>
          <a:p>
            <a:pPr algn="ctr">
              <a:lnSpc>
                <a:spcPct val="130000"/>
              </a:lnSpc>
            </a:pPr>
            <a:r>
              <a:rPr lang="en-US" sz="1059" dirty="0">
                <a:solidFill>
                  <a:srgbClr val="374151"/>
                </a:solidFill>
                <a:latin typeface="MiSans" pitchFamily="34" charset="0"/>
                <a:ea typeface="MiSans" pitchFamily="34" charset="-122"/>
                <a:cs typeface="MiSans" pitchFamily="34" charset="-120"/>
              </a:rPr>
              <a:t>Rebuts </a:t>
            </a:r>
            <a:r>
              <a:rPr lang="en-US" sz="1059" b="1" dirty="0">
                <a:solidFill>
                  <a:srgbClr val="10B981"/>
                </a:solidFill>
                <a:latin typeface="MiSans" pitchFamily="34" charset="0"/>
                <a:ea typeface="MiSans" pitchFamily="34" charset="-122"/>
                <a:cs typeface="MiSans" pitchFamily="34" charset="-120"/>
              </a:rPr>
              <a:t>↓</a:t>
            </a:r>
            <a:endParaRPr lang="en-US" sz="1600" dirty="0"/>
          </a:p>
        </p:txBody>
      </p:sp>
      <p:sp>
        <p:nvSpPr>
          <p:cNvPr id="57" name="Shape 55"/>
          <p:cNvSpPr/>
          <p:nvPr/>
        </p:nvSpPr>
        <p:spPr>
          <a:xfrm>
            <a:off x="4275813" y="5915347"/>
            <a:ext cx="3638274" cy="773028"/>
          </a:xfrm>
          <a:custGeom>
            <a:avLst/>
            <a:gdLst/>
            <a:ahLst/>
            <a:cxnLst/>
            <a:rect l="l" t="t" r="r" b="b"/>
            <a:pathLst>
              <a:path w="3638274" h="773028">
                <a:moveTo>
                  <a:pt x="100826" y="0"/>
                </a:moveTo>
                <a:lnTo>
                  <a:pt x="3537448" y="0"/>
                </a:lnTo>
                <a:cubicBezTo>
                  <a:pt x="3593133" y="0"/>
                  <a:pt x="3638274" y="45141"/>
                  <a:pt x="3638274" y="100826"/>
                </a:cubicBezTo>
                <a:lnTo>
                  <a:pt x="3638274" y="672202"/>
                </a:lnTo>
                <a:cubicBezTo>
                  <a:pt x="3638274" y="727887"/>
                  <a:pt x="3593133" y="773028"/>
                  <a:pt x="3537448" y="773028"/>
                </a:cubicBezTo>
                <a:lnTo>
                  <a:pt x="100826" y="773028"/>
                </a:lnTo>
                <a:cubicBezTo>
                  <a:pt x="45141" y="773028"/>
                  <a:pt x="0" y="727887"/>
                  <a:pt x="0" y="672202"/>
                </a:cubicBezTo>
                <a:lnTo>
                  <a:pt x="0" y="100826"/>
                </a:lnTo>
                <a:cubicBezTo>
                  <a:pt x="0" y="45179"/>
                  <a:pt x="45179" y="0"/>
                  <a:pt x="100826" y="0"/>
                </a:cubicBezTo>
                <a:close/>
              </a:path>
            </a:pathLst>
          </a:custGeom>
          <a:solidFill>
            <a:srgbClr val="FFFFFF"/>
          </a:solidFill>
          <a:ln/>
        </p:spPr>
      </p:sp>
      <p:sp>
        <p:nvSpPr>
          <p:cNvPr id="58" name="Shape 56"/>
          <p:cNvSpPr/>
          <p:nvPr/>
        </p:nvSpPr>
        <p:spPr>
          <a:xfrm>
            <a:off x="5520824" y="6083396"/>
            <a:ext cx="147043" cy="168050"/>
          </a:xfrm>
          <a:custGeom>
            <a:avLst/>
            <a:gdLst/>
            <a:ahLst/>
            <a:cxnLst/>
            <a:rect l="l" t="t" r="r" b="b"/>
            <a:pathLst>
              <a:path w="147043" h="168050">
                <a:moveTo>
                  <a:pt x="42012" y="0"/>
                </a:moveTo>
                <a:cubicBezTo>
                  <a:pt x="47822" y="0"/>
                  <a:pt x="52516" y="4694"/>
                  <a:pt x="52516" y="10503"/>
                </a:cubicBezTo>
                <a:lnTo>
                  <a:pt x="52516" y="21006"/>
                </a:lnTo>
                <a:lnTo>
                  <a:pt x="94528" y="21006"/>
                </a:lnTo>
                <a:lnTo>
                  <a:pt x="94528" y="10503"/>
                </a:lnTo>
                <a:cubicBezTo>
                  <a:pt x="94528" y="4694"/>
                  <a:pt x="99221" y="0"/>
                  <a:pt x="105031" y="0"/>
                </a:cubicBezTo>
                <a:cubicBezTo>
                  <a:pt x="110841" y="0"/>
                  <a:pt x="115534" y="4694"/>
                  <a:pt x="115534" y="10503"/>
                </a:cubicBezTo>
                <a:lnTo>
                  <a:pt x="115534" y="21006"/>
                </a:lnTo>
                <a:lnTo>
                  <a:pt x="126037" y="21006"/>
                </a:lnTo>
                <a:cubicBezTo>
                  <a:pt x="137623" y="21006"/>
                  <a:pt x="147043" y="30426"/>
                  <a:pt x="147043" y="42012"/>
                </a:cubicBezTo>
                <a:lnTo>
                  <a:pt x="147043" y="136540"/>
                </a:lnTo>
                <a:cubicBezTo>
                  <a:pt x="147043" y="148127"/>
                  <a:pt x="137623" y="157547"/>
                  <a:pt x="126037" y="157547"/>
                </a:cubicBezTo>
                <a:lnTo>
                  <a:pt x="21006" y="157547"/>
                </a:lnTo>
                <a:cubicBezTo>
                  <a:pt x="9420" y="157547"/>
                  <a:pt x="0" y="148127"/>
                  <a:pt x="0" y="136540"/>
                </a:cubicBezTo>
                <a:lnTo>
                  <a:pt x="0" y="42012"/>
                </a:lnTo>
                <a:cubicBezTo>
                  <a:pt x="0" y="30426"/>
                  <a:pt x="9420" y="21006"/>
                  <a:pt x="21006" y="21006"/>
                </a:cubicBezTo>
                <a:lnTo>
                  <a:pt x="31509" y="21006"/>
                </a:lnTo>
                <a:lnTo>
                  <a:pt x="31509" y="10503"/>
                </a:lnTo>
                <a:cubicBezTo>
                  <a:pt x="31509" y="4694"/>
                  <a:pt x="36203" y="0"/>
                  <a:pt x="42012" y="0"/>
                </a:cubicBezTo>
                <a:close/>
                <a:moveTo>
                  <a:pt x="42012" y="84025"/>
                </a:moveTo>
                <a:cubicBezTo>
                  <a:pt x="36203" y="84025"/>
                  <a:pt x="31509" y="88718"/>
                  <a:pt x="31509" y="94528"/>
                </a:cubicBezTo>
                <a:lnTo>
                  <a:pt x="31509" y="115534"/>
                </a:lnTo>
                <a:cubicBezTo>
                  <a:pt x="31509" y="121344"/>
                  <a:pt x="36203" y="126037"/>
                  <a:pt x="42012" y="126037"/>
                </a:cubicBezTo>
                <a:lnTo>
                  <a:pt x="105031" y="126037"/>
                </a:lnTo>
                <a:cubicBezTo>
                  <a:pt x="110841" y="126037"/>
                  <a:pt x="115534" y="121344"/>
                  <a:pt x="115534" y="115534"/>
                </a:cubicBezTo>
                <a:lnTo>
                  <a:pt x="115534" y="94528"/>
                </a:lnTo>
                <a:cubicBezTo>
                  <a:pt x="115534" y="88718"/>
                  <a:pt x="110841" y="84025"/>
                  <a:pt x="105031" y="84025"/>
                </a:cubicBezTo>
                <a:lnTo>
                  <a:pt x="42012" y="84025"/>
                </a:lnTo>
                <a:close/>
              </a:path>
            </a:pathLst>
          </a:custGeom>
          <a:solidFill>
            <a:srgbClr val="3B82F6"/>
          </a:solidFill>
          <a:ln/>
        </p:spPr>
      </p:sp>
      <p:sp>
        <p:nvSpPr>
          <p:cNvPr id="59" name="Text 57"/>
          <p:cNvSpPr/>
          <p:nvPr/>
        </p:nvSpPr>
        <p:spPr>
          <a:xfrm>
            <a:off x="5728785" y="6049786"/>
            <a:ext cx="1008298" cy="235269"/>
          </a:xfrm>
          <a:prstGeom prst="rect">
            <a:avLst/>
          </a:prstGeom>
          <a:noFill/>
          <a:ln/>
        </p:spPr>
        <p:txBody>
          <a:bodyPr wrap="square" lIns="0" tIns="0" rIns="0" bIns="0" rtlCol="0" anchor="ctr"/>
          <a:lstStyle/>
          <a:p>
            <a:pPr algn="ctr">
              <a:lnSpc>
                <a:spcPct val="130000"/>
              </a:lnSpc>
            </a:pPr>
            <a:r>
              <a:rPr lang="en-US" sz="1191" b="1" dirty="0">
                <a:solidFill>
                  <a:srgbClr val="1E3A8A"/>
                </a:solidFill>
                <a:latin typeface="MiSans" pitchFamily="34" charset="0"/>
                <a:ea typeface="MiSans" pitchFamily="34" charset="-122"/>
                <a:cs typeface="MiSans" pitchFamily="34" charset="-120"/>
              </a:rPr>
              <a:t>Moyen terme</a:t>
            </a:r>
            <a:endParaRPr lang="en-US" sz="1600" dirty="0"/>
          </a:p>
        </p:txBody>
      </p:sp>
      <p:sp>
        <p:nvSpPr>
          <p:cNvPr id="60" name="Text 58"/>
          <p:cNvSpPr/>
          <p:nvPr/>
        </p:nvSpPr>
        <p:spPr>
          <a:xfrm>
            <a:off x="4376642" y="6352276"/>
            <a:ext cx="3436615" cy="201660"/>
          </a:xfrm>
          <a:prstGeom prst="rect">
            <a:avLst/>
          </a:prstGeom>
          <a:noFill/>
          <a:ln/>
        </p:spPr>
        <p:txBody>
          <a:bodyPr wrap="square" lIns="0" tIns="0" rIns="0" bIns="0" rtlCol="0" anchor="ctr"/>
          <a:lstStyle/>
          <a:p>
            <a:pPr algn="ctr">
              <a:lnSpc>
                <a:spcPct val="130000"/>
              </a:lnSpc>
            </a:pPr>
            <a:r>
              <a:rPr lang="en-US" sz="1059" dirty="0">
                <a:solidFill>
                  <a:srgbClr val="374151"/>
                </a:solidFill>
                <a:latin typeface="MiSans" pitchFamily="34" charset="0"/>
                <a:ea typeface="MiSans" pitchFamily="34" charset="-122"/>
                <a:cs typeface="MiSans" pitchFamily="34" charset="-120"/>
              </a:rPr>
              <a:t>Dashboards</a:t>
            </a:r>
            <a:endParaRPr lang="en-US" sz="1600" dirty="0"/>
          </a:p>
        </p:txBody>
      </p:sp>
      <p:sp>
        <p:nvSpPr>
          <p:cNvPr id="61" name="Shape 59"/>
          <p:cNvSpPr/>
          <p:nvPr/>
        </p:nvSpPr>
        <p:spPr>
          <a:xfrm>
            <a:off x="8047608" y="5915347"/>
            <a:ext cx="3638274" cy="773028"/>
          </a:xfrm>
          <a:custGeom>
            <a:avLst/>
            <a:gdLst/>
            <a:ahLst/>
            <a:cxnLst/>
            <a:rect l="l" t="t" r="r" b="b"/>
            <a:pathLst>
              <a:path w="3638274" h="773028">
                <a:moveTo>
                  <a:pt x="100826" y="0"/>
                </a:moveTo>
                <a:lnTo>
                  <a:pt x="3537448" y="0"/>
                </a:lnTo>
                <a:cubicBezTo>
                  <a:pt x="3593133" y="0"/>
                  <a:pt x="3638274" y="45141"/>
                  <a:pt x="3638274" y="100826"/>
                </a:cubicBezTo>
                <a:lnTo>
                  <a:pt x="3638274" y="672202"/>
                </a:lnTo>
                <a:cubicBezTo>
                  <a:pt x="3638274" y="727887"/>
                  <a:pt x="3593133" y="773028"/>
                  <a:pt x="3537448" y="773028"/>
                </a:cubicBezTo>
                <a:lnTo>
                  <a:pt x="100826" y="773028"/>
                </a:lnTo>
                <a:cubicBezTo>
                  <a:pt x="45141" y="773028"/>
                  <a:pt x="0" y="727887"/>
                  <a:pt x="0" y="672202"/>
                </a:cubicBezTo>
                <a:lnTo>
                  <a:pt x="0" y="100826"/>
                </a:lnTo>
                <a:cubicBezTo>
                  <a:pt x="0" y="45179"/>
                  <a:pt x="45179" y="0"/>
                  <a:pt x="100826" y="0"/>
                </a:cubicBezTo>
                <a:close/>
              </a:path>
            </a:pathLst>
          </a:custGeom>
          <a:solidFill>
            <a:srgbClr val="FFFFFF"/>
          </a:solidFill>
          <a:ln/>
        </p:spPr>
      </p:sp>
      <p:sp>
        <p:nvSpPr>
          <p:cNvPr id="62" name="Shape 60"/>
          <p:cNvSpPr/>
          <p:nvPr/>
        </p:nvSpPr>
        <p:spPr>
          <a:xfrm>
            <a:off x="9347235" y="6083396"/>
            <a:ext cx="147043" cy="168050"/>
          </a:xfrm>
          <a:custGeom>
            <a:avLst/>
            <a:gdLst/>
            <a:ahLst/>
            <a:cxnLst/>
            <a:rect l="l" t="t" r="r" b="b"/>
            <a:pathLst>
              <a:path w="147043" h="168050">
                <a:moveTo>
                  <a:pt x="42012" y="0"/>
                </a:moveTo>
                <a:cubicBezTo>
                  <a:pt x="47822" y="0"/>
                  <a:pt x="52516" y="4694"/>
                  <a:pt x="52516" y="10503"/>
                </a:cubicBezTo>
                <a:lnTo>
                  <a:pt x="52516" y="21006"/>
                </a:lnTo>
                <a:lnTo>
                  <a:pt x="94528" y="21006"/>
                </a:lnTo>
                <a:lnTo>
                  <a:pt x="94528" y="10503"/>
                </a:lnTo>
                <a:cubicBezTo>
                  <a:pt x="94528" y="4694"/>
                  <a:pt x="99221" y="0"/>
                  <a:pt x="105031" y="0"/>
                </a:cubicBezTo>
                <a:cubicBezTo>
                  <a:pt x="110841" y="0"/>
                  <a:pt x="115534" y="4694"/>
                  <a:pt x="115534" y="10503"/>
                </a:cubicBezTo>
                <a:lnTo>
                  <a:pt x="115534" y="21006"/>
                </a:lnTo>
                <a:lnTo>
                  <a:pt x="126037" y="21006"/>
                </a:lnTo>
                <a:cubicBezTo>
                  <a:pt x="137623" y="21006"/>
                  <a:pt x="147043" y="30426"/>
                  <a:pt x="147043" y="42012"/>
                </a:cubicBezTo>
                <a:lnTo>
                  <a:pt x="147043" y="136540"/>
                </a:lnTo>
                <a:cubicBezTo>
                  <a:pt x="147043" y="148127"/>
                  <a:pt x="137623" y="157547"/>
                  <a:pt x="126037" y="157547"/>
                </a:cubicBezTo>
                <a:lnTo>
                  <a:pt x="21006" y="157547"/>
                </a:lnTo>
                <a:cubicBezTo>
                  <a:pt x="9420" y="157547"/>
                  <a:pt x="0" y="148127"/>
                  <a:pt x="0" y="136540"/>
                </a:cubicBezTo>
                <a:lnTo>
                  <a:pt x="0" y="42012"/>
                </a:lnTo>
                <a:cubicBezTo>
                  <a:pt x="0" y="30426"/>
                  <a:pt x="9420" y="21006"/>
                  <a:pt x="21006" y="21006"/>
                </a:cubicBezTo>
                <a:lnTo>
                  <a:pt x="31509" y="21006"/>
                </a:lnTo>
                <a:lnTo>
                  <a:pt x="31509" y="10503"/>
                </a:lnTo>
                <a:cubicBezTo>
                  <a:pt x="31509" y="4694"/>
                  <a:pt x="36203" y="0"/>
                  <a:pt x="42012" y="0"/>
                </a:cubicBezTo>
                <a:close/>
                <a:moveTo>
                  <a:pt x="21006" y="78773"/>
                </a:moveTo>
                <a:lnTo>
                  <a:pt x="21006" y="89276"/>
                </a:lnTo>
                <a:cubicBezTo>
                  <a:pt x="21006" y="92165"/>
                  <a:pt x="23369" y="94528"/>
                  <a:pt x="26258" y="94528"/>
                </a:cubicBezTo>
                <a:lnTo>
                  <a:pt x="36761" y="94528"/>
                </a:lnTo>
                <a:cubicBezTo>
                  <a:pt x="39649" y="94528"/>
                  <a:pt x="42012" y="92165"/>
                  <a:pt x="42012" y="89276"/>
                </a:cubicBezTo>
                <a:lnTo>
                  <a:pt x="42012" y="78773"/>
                </a:lnTo>
                <a:cubicBezTo>
                  <a:pt x="42012" y="75885"/>
                  <a:pt x="39649" y="73522"/>
                  <a:pt x="36761" y="73522"/>
                </a:cubicBezTo>
                <a:lnTo>
                  <a:pt x="26258" y="73522"/>
                </a:lnTo>
                <a:cubicBezTo>
                  <a:pt x="23369" y="73522"/>
                  <a:pt x="21006" y="75885"/>
                  <a:pt x="21006" y="78773"/>
                </a:cubicBezTo>
                <a:close/>
                <a:moveTo>
                  <a:pt x="63019" y="78773"/>
                </a:moveTo>
                <a:lnTo>
                  <a:pt x="63019" y="89276"/>
                </a:lnTo>
                <a:cubicBezTo>
                  <a:pt x="63019" y="92165"/>
                  <a:pt x="65382" y="94528"/>
                  <a:pt x="68270" y="94528"/>
                </a:cubicBezTo>
                <a:lnTo>
                  <a:pt x="78773" y="94528"/>
                </a:lnTo>
                <a:cubicBezTo>
                  <a:pt x="81662" y="94528"/>
                  <a:pt x="84025" y="92165"/>
                  <a:pt x="84025" y="89276"/>
                </a:cubicBezTo>
                <a:lnTo>
                  <a:pt x="84025" y="78773"/>
                </a:lnTo>
                <a:cubicBezTo>
                  <a:pt x="84025" y="75885"/>
                  <a:pt x="81662" y="73522"/>
                  <a:pt x="78773" y="73522"/>
                </a:cubicBezTo>
                <a:lnTo>
                  <a:pt x="68270" y="73522"/>
                </a:lnTo>
                <a:cubicBezTo>
                  <a:pt x="65382" y="73522"/>
                  <a:pt x="63019" y="75885"/>
                  <a:pt x="63019" y="78773"/>
                </a:cubicBezTo>
                <a:close/>
                <a:moveTo>
                  <a:pt x="110283" y="73522"/>
                </a:moveTo>
                <a:cubicBezTo>
                  <a:pt x="107394" y="73522"/>
                  <a:pt x="105031" y="75885"/>
                  <a:pt x="105031" y="78773"/>
                </a:cubicBezTo>
                <a:lnTo>
                  <a:pt x="105031" y="89276"/>
                </a:lnTo>
                <a:cubicBezTo>
                  <a:pt x="105031" y="92165"/>
                  <a:pt x="107394" y="94528"/>
                  <a:pt x="110283" y="94528"/>
                </a:cubicBezTo>
                <a:lnTo>
                  <a:pt x="120786" y="94528"/>
                </a:lnTo>
                <a:cubicBezTo>
                  <a:pt x="123674" y="94528"/>
                  <a:pt x="126037" y="92165"/>
                  <a:pt x="126037" y="89276"/>
                </a:cubicBezTo>
                <a:lnTo>
                  <a:pt x="126037" y="78773"/>
                </a:lnTo>
                <a:cubicBezTo>
                  <a:pt x="126037" y="75885"/>
                  <a:pt x="123674" y="73522"/>
                  <a:pt x="120786" y="73522"/>
                </a:cubicBezTo>
                <a:lnTo>
                  <a:pt x="110283" y="73522"/>
                </a:lnTo>
                <a:close/>
                <a:moveTo>
                  <a:pt x="21006" y="120786"/>
                </a:moveTo>
                <a:lnTo>
                  <a:pt x="21006" y="131289"/>
                </a:lnTo>
                <a:cubicBezTo>
                  <a:pt x="21006" y="134177"/>
                  <a:pt x="23369" y="136540"/>
                  <a:pt x="26258" y="136540"/>
                </a:cubicBezTo>
                <a:lnTo>
                  <a:pt x="36761" y="136540"/>
                </a:lnTo>
                <a:cubicBezTo>
                  <a:pt x="39649" y="136540"/>
                  <a:pt x="42012" y="134177"/>
                  <a:pt x="42012" y="131289"/>
                </a:cubicBezTo>
                <a:lnTo>
                  <a:pt x="42012" y="120786"/>
                </a:lnTo>
                <a:cubicBezTo>
                  <a:pt x="42012" y="117897"/>
                  <a:pt x="39649" y="115534"/>
                  <a:pt x="36761" y="115534"/>
                </a:cubicBezTo>
                <a:lnTo>
                  <a:pt x="26258" y="115534"/>
                </a:lnTo>
                <a:cubicBezTo>
                  <a:pt x="23369" y="115534"/>
                  <a:pt x="21006" y="117897"/>
                  <a:pt x="21006" y="120786"/>
                </a:cubicBezTo>
                <a:close/>
                <a:moveTo>
                  <a:pt x="68270" y="115534"/>
                </a:moveTo>
                <a:cubicBezTo>
                  <a:pt x="65382" y="115534"/>
                  <a:pt x="63019" y="117897"/>
                  <a:pt x="63019" y="120786"/>
                </a:cubicBezTo>
                <a:lnTo>
                  <a:pt x="63019" y="131289"/>
                </a:lnTo>
                <a:cubicBezTo>
                  <a:pt x="63019" y="134177"/>
                  <a:pt x="65382" y="136540"/>
                  <a:pt x="68270" y="136540"/>
                </a:cubicBezTo>
                <a:lnTo>
                  <a:pt x="78773" y="136540"/>
                </a:lnTo>
                <a:cubicBezTo>
                  <a:pt x="81662" y="136540"/>
                  <a:pt x="84025" y="134177"/>
                  <a:pt x="84025" y="131289"/>
                </a:cubicBezTo>
                <a:lnTo>
                  <a:pt x="84025" y="120786"/>
                </a:lnTo>
                <a:cubicBezTo>
                  <a:pt x="84025" y="117897"/>
                  <a:pt x="81662" y="115534"/>
                  <a:pt x="78773" y="115534"/>
                </a:cubicBezTo>
                <a:lnTo>
                  <a:pt x="68270" y="115534"/>
                </a:lnTo>
                <a:close/>
                <a:moveTo>
                  <a:pt x="105031" y="120786"/>
                </a:moveTo>
                <a:lnTo>
                  <a:pt x="105031" y="131289"/>
                </a:lnTo>
                <a:cubicBezTo>
                  <a:pt x="105031" y="134177"/>
                  <a:pt x="107394" y="136540"/>
                  <a:pt x="110283" y="136540"/>
                </a:cubicBezTo>
                <a:lnTo>
                  <a:pt x="120786" y="136540"/>
                </a:lnTo>
                <a:cubicBezTo>
                  <a:pt x="123674" y="136540"/>
                  <a:pt x="126037" y="134177"/>
                  <a:pt x="126037" y="131289"/>
                </a:cubicBezTo>
                <a:lnTo>
                  <a:pt x="126037" y="120786"/>
                </a:lnTo>
                <a:cubicBezTo>
                  <a:pt x="126037" y="117897"/>
                  <a:pt x="123674" y="115534"/>
                  <a:pt x="120786" y="115534"/>
                </a:cubicBezTo>
                <a:lnTo>
                  <a:pt x="110283" y="115534"/>
                </a:lnTo>
                <a:cubicBezTo>
                  <a:pt x="107394" y="115534"/>
                  <a:pt x="105031" y="117897"/>
                  <a:pt x="105031" y="120786"/>
                </a:cubicBezTo>
                <a:close/>
              </a:path>
            </a:pathLst>
          </a:custGeom>
          <a:solidFill>
            <a:srgbClr val="8B5CF6"/>
          </a:solidFill>
          <a:ln/>
        </p:spPr>
      </p:sp>
      <p:sp>
        <p:nvSpPr>
          <p:cNvPr id="63" name="Text 61"/>
          <p:cNvSpPr/>
          <p:nvPr/>
        </p:nvSpPr>
        <p:spPr>
          <a:xfrm>
            <a:off x="9555196" y="6049786"/>
            <a:ext cx="899065" cy="235269"/>
          </a:xfrm>
          <a:prstGeom prst="rect">
            <a:avLst/>
          </a:prstGeom>
          <a:noFill/>
          <a:ln/>
        </p:spPr>
        <p:txBody>
          <a:bodyPr wrap="square" lIns="0" tIns="0" rIns="0" bIns="0" rtlCol="0" anchor="ctr"/>
          <a:lstStyle/>
          <a:p>
            <a:pPr algn="ctr">
              <a:lnSpc>
                <a:spcPct val="130000"/>
              </a:lnSpc>
            </a:pPr>
            <a:r>
              <a:rPr lang="en-US" sz="1191" b="1" dirty="0">
                <a:solidFill>
                  <a:srgbClr val="1E3A8A"/>
                </a:solidFill>
                <a:latin typeface="MiSans" pitchFamily="34" charset="0"/>
                <a:ea typeface="MiSans" pitchFamily="34" charset="-122"/>
                <a:cs typeface="MiSans" pitchFamily="34" charset="-120"/>
              </a:rPr>
              <a:t>Long terme</a:t>
            </a:r>
            <a:endParaRPr lang="en-US" sz="1600" dirty="0"/>
          </a:p>
        </p:txBody>
      </p:sp>
      <p:sp>
        <p:nvSpPr>
          <p:cNvPr id="64" name="Text 62"/>
          <p:cNvSpPr/>
          <p:nvPr/>
        </p:nvSpPr>
        <p:spPr>
          <a:xfrm>
            <a:off x="8148437" y="6352276"/>
            <a:ext cx="3436615" cy="201660"/>
          </a:xfrm>
          <a:prstGeom prst="rect">
            <a:avLst/>
          </a:prstGeom>
          <a:noFill/>
          <a:ln/>
        </p:spPr>
        <p:txBody>
          <a:bodyPr wrap="square" lIns="0" tIns="0" rIns="0" bIns="0" rtlCol="0" anchor="ctr"/>
          <a:lstStyle/>
          <a:p>
            <a:pPr algn="ctr">
              <a:lnSpc>
                <a:spcPct val="130000"/>
              </a:lnSpc>
            </a:pPr>
            <a:r>
              <a:rPr lang="en-US" sz="1059" dirty="0">
                <a:solidFill>
                  <a:srgbClr val="374151"/>
                </a:solidFill>
                <a:latin typeface="MiSans" pitchFamily="34" charset="0"/>
                <a:ea typeface="MiSans" pitchFamily="34" charset="-122"/>
                <a:cs typeface="MiSans" pitchFamily="34" charset="-120"/>
              </a:rPr>
              <a:t>Avantage concurrentiel</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35406" y="201243"/>
            <a:ext cx="1786036" cy="301865"/>
          </a:xfrm>
          <a:custGeom>
            <a:avLst/>
            <a:gdLst/>
            <a:ahLst/>
            <a:cxnLst/>
            <a:rect l="l" t="t" r="r" b="b"/>
            <a:pathLst>
              <a:path w="1786036" h="301865">
                <a:moveTo>
                  <a:pt x="150933" y="0"/>
                </a:moveTo>
                <a:lnTo>
                  <a:pt x="1635103" y="0"/>
                </a:lnTo>
                <a:cubicBezTo>
                  <a:pt x="1718461" y="0"/>
                  <a:pt x="1786036" y="67575"/>
                  <a:pt x="1786036" y="150933"/>
                </a:cubicBezTo>
                <a:lnTo>
                  <a:pt x="1786036" y="150933"/>
                </a:lnTo>
                <a:cubicBezTo>
                  <a:pt x="1786036" y="234290"/>
                  <a:pt x="1718461" y="301865"/>
                  <a:pt x="1635103" y="301865"/>
                </a:cubicBezTo>
                <a:lnTo>
                  <a:pt x="150933" y="301865"/>
                </a:lnTo>
                <a:cubicBezTo>
                  <a:pt x="67631" y="301865"/>
                  <a:pt x="0" y="234235"/>
                  <a:pt x="0" y="150933"/>
                </a:cubicBezTo>
                <a:lnTo>
                  <a:pt x="0" y="150933"/>
                </a:lnTo>
                <a:cubicBezTo>
                  <a:pt x="0" y="67631"/>
                  <a:pt x="67631" y="0"/>
                  <a:pt x="150933" y="0"/>
                </a:cubicBezTo>
                <a:close/>
              </a:path>
            </a:pathLst>
          </a:custGeom>
          <a:solidFill>
            <a:srgbClr val="10B981"/>
          </a:solidFill>
          <a:ln/>
        </p:spPr>
      </p:sp>
      <p:sp>
        <p:nvSpPr>
          <p:cNvPr id="3" name="Text 1"/>
          <p:cNvSpPr/>
          <p:nvPr/>
        </p:nvSpPr>
        <p:spPr>
          <a:xfrm>
            <a:off x="469568" y="268325"/>
            <a:ext cx="1576407" cy="167703"/>
          </a:xfrm>
          <a:prstGeom prst="rect">
            <a:avLst/>
          </a:prstGeom>
          <a:noFill/>
          <a:ln/>
        </p:spPr>
        <p:txBody>
          <a:bodyPr wrap="square" lIns="0" tIns="0" rIns="0" bIns="0" rtlCol="0" anchor="ctr"/>
          <a:lstStyle/>
          <a:p>
            <a:pPr>
              <a:lnSpc>
                <a:spcPct val="120000"/>
              </a:lnSpc>
            </a:pPr>
            <a:r>
              <a:rPr lang="en-US" sz="924" b="1" kern="0" spc="23" dirty="0">
                <a:solidFill>
                  <a:srgbClr val="FFFFFF"/>
                </a:solidFill>
                <a:latin typeface="MiSans" pitchFamily="34" charset="0"/>
                <a:ea typeface="MiSans" pitchFamily="34" charset="-122"/>
                <a:cs typeface="MiSans" pitchFamily="34" charset="-120"/>
              </a:rPr>
              <a:t>DISCOVERY - OBJECTIFS</a:t>
            </a:r>
            <a:endParaRPr lang="en-US" sz="1600" dirty="0"/>
          </a:p>
        </p:txBody>
      </p:sp>
      <p:sp>
        <p:nvSpPr>
          <p:cNvPr id="4" name="Text 2"/>
          <p:cNvSpPr/>
          <p:nvPr/>
        </p:nvSpPr>
        <p:spPr>
          <a:xfrm>
            <a:off x="335406" y="872055"/>
            <a:ext cx="11672121" cy="335406"/>
          </a:xfrm>
          <a:prstGeom prst="rect">
            <a:avLst/>
          </a:prstGeom>
          <a:noFill/>
          <a:ln/>
        </p:spPr>
        <p:txBody>
          <a:bodyPr wrap="square" lIns="0" tIns="0" rIns="0" bIns="0" rtlCol="0" anchor="ctr"/>
          <a:lstStyle/>
          <a:p>
            <a:pPr>
              <a:lnSpc>
                <a:spcPct val="90000"/>
              </a:lnSpc>
            </a:pPr>
            <a:r>
              <a:rPr lang="en-US" sz="2377" b="1" dirty="0">
                <a:solidFill>
                  <a:srgbClr val="1E3A8A"/>
                </a:solidFill>
                <a:latin typeface="Noto Sans SC" pitchFamily="34" charset="0"/>
                <a:ea typeface="Noto Sans SC" pitchFamily="34" charset="-122"/>
                <a:cs typeface="Noto Sans SC" pitchFamily="34" charset="-120"/>
              </a:rPr>
              <a:t>KPIs — Indicateurs de Performance Clés</a:t>
            </a:r>
            <a:endParaRPr lang="en-US" sz="1600" dirty="0"/>
          </a:p>
        </p:txBody>
      </p:sp>
      <p:sp>
        <p:nvSpPr>
          <p:cNvPr id="5" name="Shape 3"/>
          <p:cNvSpPr/>
          <p:nvPr/>
        </p:nvSpPr>
        <p:spPr>
          <a:xfrm>
            <a:off x="335406" y="1408704"/>
            <a:ext cx="3706234" cy="1358393"/>
          </a:xfrm>
          <a:custGeom>
            <a:avLst/>
            <a:gdLst/>
            <a:ahLst/>
            <a:cxnLst/>
            <a:rect l="l" t="t" r="r" b="b"/>
            <a:pathLst>
              <a:path w="3706234" h="1358393">
                <a:moveTo>
                  <a:pt x="134169" y="0"/>
                </a:moveTo>
                <a:lnTo>
                  <a:pt x="3572065" y="0"/>
                </a:lnTo>
                <a:cubicBezTo>
                  <a:pt x="3646165" y="0"/>
                  <a:pt x="3706234" y="60069"/>
                  <a:pt x="3706234" y="134169"/>
                </a:cubicBezTo>
                <a:lnTo>
                  <a:pt x="3706234" y="1224225"/>
                </a:lnTo>
                <a:cubicBezTo>
                  <a:pt x="3706234" y="1298274"/>
                  <a:pt x="3646115" y="1358393"/>
                  <a:pt x="3572065" y="1358393"/>
                </a:cubicBezTo>
                <a:lnTo>
                  <a:pt x="134169" y="1358393"/>
                </a:lnTo>
                <a:cubicBezTo>
                  <a:pt x="60069" y="1358393"/>
                  <a:pt x="0" y="1298324"/>
                  <a:pt x="0" y="1224225"/>
                </a:cubicBezTo>
                <a:lnTo>
                  <a:pt x="0" y="134169"/>
                </a:lnTo>
                <a:cubicBezTo>
                  <a:pt x="0" y="60119"/>
                  <a:pt x="60119" y="0"/>
                  <a:pt x="134169" y="0"/>
                </a:cubicBezTo>
                <a:close/>
              </a:path>
            </a:pathLst>
          </a:custGeom>
          <a:solidFill>
            <a:srgbClr val="10B981"/>
          </a:solidFill>
          <a:ln/>
        </p:spPr>
      </p:sp>
      <p:sp>
        <p:nvSpPr>
          <p:cNvPr id="6" name="Shape 4"/>
          <p:cNvSpPr/>
          <p:nvPr/>
        </p:nvSpPr>
        <p:spPr>
          <a:xfrm>
            <a:off x="2065104" y="1609948"/>
            <a:ext cx="251554" cy="251554"/>
          </a:xfrm>
          <a:custGeom>
            <a:avLst/>
            <a:gdLst/>
            <a:ahLst/>
            <a:cxnLst/>
            <a:rect l="l" t="t" r="r" b="b"/>
            <a:pathLst>
              <a:path w="251554" h="251554">
                <a:moveTo>
                  <a:pt x="204388" y="102194"/>
                </a:moveTo>
                <a:cubicBezTo>
                  <a:pt x="204388" y="124745"/>
                  <a:pt x="197067" y="145577"/>
                  <a:pt x="184735" y="162479"/>
                </a:cubicBezTo>
                <a:lnTo>
                  <a:pt x="246936" y="224728"/>
                </a:lnTo>
                <a:cubicBezTo>
                  <a:pt x="253077" y="230870"/>
                  <a:pt x="253077" y="240844"/>
                  <a:pt x="246936" y="246985"/>
                </a:cubicBezTo>
                <a:cubicBezTo>
                  <a:pt x="240794" y="253127"/>
                  <a:pt x="230821" y="253127"/>
                  <a:pt x="224679" y="246985"/>
                </a:cubicBezTo>
                <a:lnTo>
                  <a:pt x="162479" y="184735"/>
                </a:lnTo>
                <a:cubicBezTo>
                  <a:pt x="145577" y="197067"/>
                  <a:pt x="124745" y="204388"/>
                  <a:pt x="102194" y="204388"/>
                </a:cubicBezTo>
                <a:cubicBezTo>
                  <a:pt x="45742" y="204388"/>
                  <a:pt x="0" y="158646"/>
                  <a:pt x="0" y="102194"/>
                </a:cubicBezTo>
                <a:cubicBezTo>
                  <a:pt x="0" y="45742"/>
                  <a:pt x="45742" y="0"/>
                  <a:pt x="102194" y="0"/>
                </a:cubicBezTo>
                <a:cubicBezTo>
                  <a:pt x="158646" y="0"/>
                  <a:pt x="204388" y="45742"/>
                  <a:pt x="204388" y="102194"/>
                </a:cubicBezTo>
                <a:close/>
                <a:moveTo>
                  <a:pt x="102194" y="55028"/>
                </a:moveTo>
                <a:cubicBezTo>
                  <a:pt x="95659" y="55028"/>
                  <a:pt x="90402" y="60285"/>
                  <a:pt x="90402" y="66819"/>
                </a:cubicBezTo>
                <a:lnTo>
                  <a:pt x="90402" y="90402"/>
                </a:lnTo>
                <a:lnTo>
                  <a:pt x="66819" y="90402"/>
                </a:lnTo>
                <a:cubicBezTo>
                  <a:pt x="60285" y="90402"/>
                  <a:pt x="55028" y="95659"/>
                  <a:pt x="55028" y="102194"/>
                </a:cubicBezTo>
                <a:cubicBezTo>
                  <a:pt x="55028" y="108728"/>
                  <a:pt x="60285" y="113986"/>
                  <a:pt x="66819" y="113986"/>
                </a:cubicBezTo>
                <a:lnTo>
                  <a:pt x="90402" y="113986"/>
                </a:lnTo>
                <a:lnTo>
                  <a:pt x="90402" y="137569"/>
                </a:lnTo>
                <a:cubicBezTo>
                  <a:pt x="90402" y="144103"/>
                  <a:pt x="95659" y="149360"/>
                  <a:pt x="102194" y="149360"/>
                </a:cubicBezTo>
                <a:cubicBezTo>
                  <a:pt x="108728" y="149360"/>
                  <a:pt x="113986" y="144103"/>
                  <a:pt x="113986" y="137569"/>
                </a:cubicBezTo>
                <a:lnTo>
                  <a:pt x="113986" y="113986"/>
                </a:lnTo>
                <a:lnTo>
                  <a:pt x="137569" y="113986"/>
                </a:lnTo>
                <a:cubicBezTo>
                  <a:pt x="144103" y="113986"/>
                  <a:pt x="149360" y="108728"/>
                  <a:pt x="149360" y="102194"/>
                </a:cubicBezTo>
                <a:cubicBezTo>
                  <a:pt x="149360" y="95659"/>
                  <a:pt x="144103" y="90402"/>
                  <a:pt x="137569" y="90402"/>
                </a:cubicBezTo>
                <a:lnTo>
                  <a:pt x="113986" y="90402"/>
                </a:lnTo>
                <a:lnTo>
                  <a:pt x="113986" y="66819"/>
                </a:lnTo>
                <a:cubicBezTo>
                  <a:pt x="113986" y="60285"/>
                  <a:pt x="108728" y="55028"/>
                  <a:pt x="102194" y="55028"/>
                </a:cubicBezTo>
                <a:close/>
              </a:path>
            </a:pathLst>
          </a:custGeom>
          <a:solidFill>
            <a:srgbClr val="FFFFFF"/>
          </a:solidFill>
          <a:ln/>
        </p:spPr>
      </p:sp>
      <p:sp>
        <p:nvSpPr>
          <p:cNvPr id="7" name="Text 5"/>
          <p:cNvSpPr/>
          <p:nvPr/>
        </p:nvSpPr>
        <p:spPr>
          <a:xfrm>
            <a:off x="436028" y="1928583"/>
            <a:ext cx="3504990" cy="402487"/>
          </a:xfrm>
          <a:prstGeom prst="rect">
            <a:avLst/>
          </a:prstGeom>
          <a:noFill/>
          <a:ln/>
        </p:spPr>
        <p:txBody>
          <a:bodyPr wrap="square" lIns="0" tIns="0" rIns="0" bIns="0" rtlCol="0" anchor="ctr"/>
          <a:lstStyle/>
          <a:p>
            <a:pPr algn="ctr">
              <a:lnSpc>
                <a:spcPct val="80000"/>
              </a:lnSpc>
            </a:pPr>
            <a:r>
              <a:rPr lang="en-US" sz="3169" b="1" dirty="0">
                <a:solidFill>
                  <a:srgbClr val="FFFFFF"/>
                </a:solidFill>
                <a:latin typeface="Noto Sans SC" pitchFamily="34" charset="0"/>
                <a:ea typeface="Noto Sans SC" pitchFamily="34" charset="-122"/>
                <a:cs typeface="Noto Sans SC" pitchFamily="34" charset="-120"/>
              </a:rPr>
              <a:t>≥ 95%</a:t>
            </a:r>
            <a:endParaRPr lang="en-US" sz="1600" dirty="0"/>
          </a:p>
        </p:txBody>
      </p:sp>
      <p:sp>
        <p:nvSpPr>
          <p:cNvPr id="8" name="Text 6"/>
          <p:cNvSpPr/>
          <p:nvPr/>
        </p:nvSpPr>
        <p:spPr>
          <a:xfrm>
            <a:off x="503109" y="2364611"/>
            <a:ext cx="3370828" cy="201243"/>
          </a:xfrm>
          <a:prstGeom prst="rect">
            <a:avLst/>
          </a:prstGeom>
          <a:noFill/>
          <a:ln/>
        </p:spPr>
        <p:txBody>
          <a:bodyPr wrap="square" lIns="0" tIns="0" rIns="0" bIns="0" rtlCol="0" anchor="ctr"/>
          <a:lstStyle/>
          <a:p>
            <a:pPr algn="ctr">
              <a:lnSpc>
                <a:spcPct val="130000"/>
              </a:lnSpc>
            </a:pPr>
            <a:r>
              <a:rPr lang="en-US" sz="1056" dirty="0">
                <a:solidFill>
                  <a:srgbClr val="FFFFFF">
                    <a:alpha val="80000"/>
                  </a:srgbClr>
                </a:solidFill>
                <a:latin typeface="MiSans" pitchFamily="34" charset="0"/>
                <a:ea typeface="MiSans" pitchFamily="34" charset="-122"/>
                <a:cs typeface="MiSans" pitchFamily="34" charset="-120"/>
              </a:rPr>
              <a:t>Détection (vs ~85%)</a:t>
            </a:r>
            <a:endParaRPr lang="en-US" sz="1600" dirty="0"/>
          </a:p>
        </p:txBody>
      </p:sp>
      <p:sp>
        <p:nvSpPr>
          <p:cNvPr id="9" name="Shape 7"/>
          <p:cNvSpPr/>
          <p:nvPr/>
        </p:nvSpPr>
        <p:spPr>
          <a:xfrm>
            <a:off x="4243407" y="1408704"/>
            <a:ext cx="3706234" cy="1358393"/>
          </a:xfrm>
          <a:custGeom>
            <a:avLst/>
            <a:gdLst/>
            <a:ahLst/>
            <a:cxnLst/>
            <a:rect l="l" t="t" r="r" b="b"/>
            <a:pathLst>
              <a:path w="3706234" h="1358393">
                <a:moveTo>
                  <a:pt x="134169" y="0"/>
                </a:moveTo>
                <a:lnTo>
                  <a:pt x="3572065" y="0"/>
                </a:lnTo>
                <a:cubicBezTo>
                  <a:pt x="3646165" y="0"/>
                  <a:pt x="3706234" y="60069"/>
                  <a:pt x="3706234" y="134169"/>
                </a:cubicBezTo>
                <a:lnTo>
                  <a:pt x="3706234" y="1224225"/>
                </a:lnTo>
                <a:cubicBezTo>
                  <a:pt x="3706234" y="1298274"/>
                  <a:pt x="3646115" y="1358393"/>
                  <a:pt x="3572065" y="1358393"/>
                </a:cubicBezTo>
                <a:lnTo>
                  <a:pt x="134169" y="1358393"/>
                </a:lnTo>
                <a:cubicBezTo>
                  <a:pt x="60069" y="1358393"/>
                  <a:pt x="0" y="1298324"/>
                  <a:pt x="0" y="1224225"/>
                </a:cubicBezTo>
                <a:lnTo>
                  <a:pt x="0" y="134169"/>
                </a:lnTo>
                <a:cubicBezTo>
                  <a:pt x="0" y="60119"/>
                  <a:pt x="60119" y="0"/>
                  <a:pt x="134169" y="0"/>
                </a:cubicBezTo>
                <a:close/>
              </a:path>
            </a:pathLst>
          </a:custGeom>
          <a:solidFill>
            <a:srgbClr val="3B82F6"/>
          </a:solidFill>
          <a:ln/>
        </p:spPr>
      </p:sp>
      <p:sp>
        <p:nvSpPr>
          <p:cNvPr id="10" name="Shape 8"/>
          <p:cNvSpPr/>
          <p:nvPr/>
        </p:nvSpPr>
        <p:spPr>
          <a:xfrm>
            <a:off x="5973105" y="1609948"/>
            <a:ext cx="251554" cy="251554"/>
          </a:xfrm>
          <a:custGeom>
            <a:avLst/>
            <a:gdLst/>
            <a:ahLst/>
            <a:cxnLst/>
            <a:rect l="l" t="t" r="r" b="b"/>
            <a:pathLst>
              <a:path w="251554" h="251554">
                <a:moveTo>
                  <a:pt x="125777" y="0"/>
                </a:moveTo>
                <a:cubicBezTo>
                  <a:pt x="195195" y="0"/>
                  <a:pt x="251554" y="56359"/>
                  <a:pt x="251554" y="125777"/>
                </a:cubicBezTo>
                <a:cubicBezTo>
                  <a:pt x="251554" y="195195"/>
                  <a:pt x="195195" y="251554"/>
                  <a:pt x="125777" y="251554"/>
                </a:cubicBezTo>
                <a:cubicBezTo>
                  <a:pt x="56359" y="251554"/>
                  <a:pt x="0" y="195195"/>
                  <a:pt x="0" y="125777"/>
                </a:cubicBezTo>
                <a:cubicBezTo>
                  <a:pt x="0" y="56359"/>
                  <a:pt x="56359" y="0"/>
                  <a:pt x="125777" y="0"/>
                </a:cubicBezTo>
                <a:close/>
                <a:moveTo>
                  <a:pt x="113986" y="58958"/>
                </a:moveTo>
                <a:lnTo>
                  <a:pt x="113986" y="125777"/>
                </a:lnTo>
                <a:cubicBezTo>
                  <a:pt x="113986" y="129708"/>
                  <a:pt x="115951" y="133393"/>
                  <a:pt x="119243" y="135604"/>
                </a:cubicBezTo>
                <a:lnTo>
                  <a:pt x="166409" y="167048"/>
                </a:lnTo>
                <a:cubicBezTo>
                  <a:pt x="171814" y="170684"/>
                  <a:pt x="179134" y="169210"/>
                  <a:pt x="182770" y="163756"/>
                </a:cubicBezTo>
                <a:cubicBezTo>
                  <a:pt x="186406" y="158302"/>
                  <a:pt x="184932" y="151031"/>
                  <a:pt x="179478" y="147395"/>
                </a:cubicBezTo>
                <a:lnTo>
                  <a:pt x="137569" y="119488"/>
                </a:lnTo>
                <a:lnTo>
                  <a:pt x="137569" y="58958"/>
                </a:lnTo>
                <a:cubicBezTo>
                  <a:pt x="137569" y="52424"/>
                  <a:pt x="132312" y="47166"/>
                  <a:pt x="125777" y="47166"/>
                </a:cubicBezTo>
                <a:cubicBezTo>
                  <a:pt x="119243" y="47166"/>
                  <a:pt x="113986" y="52424"/>
                  <a:pt x="113986" y="58958"/>
                </a:cubicBezTo>
                <a:close/>
              </a:path>
            </a:pathLst>
          </a:custGeom>
          <a:solidFill>
            <a:srgbClr val="FFFFFF"/>
          </a:solidFill>
          <a:ln/>
        </p:spPr>
      </p:sp>
      <p:sp>
        <p:nvSpPr>
          <p:cNvPr id="11" name="Text 9"/>
          <p:cNvSpPr/>
          <p:nvPr/>
        </p:nvSpPr>
        <p:spPr>
          <a:xfrm>
            <a:off x="4344029" y="1928583"/>
            <a:ext cx="3504990" cy="402487"/>
          </a:xfrm>
          <a:prstGeom prst="rect">
            <a:avLst/>
          </a:prstGeom>
          <a:noFill/>
          <a:ln/>
        </p:spPr>
        <p:txBody>
          <a:bodyPr wrap="square" lIns="0" tIns="0" rIns="0" bIns="0" rtlCol="0" anchor="ctr"/>
          <a:lstStyle/>
          <a:p>
            <a:pPr algn="ctr">
              <a:lnSpc>
                <a:spcPct val="80000"/>
              </a:lnSpc>
            </a:pPr>
            <a:r>
              <a:rPr lang="en-US" sz="3169" b="1" dirty="0">
                <a:solidFill>
                  <a:srgbClr val="FFFFFF"/>
                </a:solidFill>
                <a:latin typeface="Noto Sans SC" pitchFamily="34" charset="0"/>
                <a:ea typeface="Noto Sans SC" pitchFamily="34" charset="-122"/>
                <a:cs typeface="Noto Sans SC" pitchFamily="34" charset="-120"/>
              </a:rPr>
              <a:t>&lt; 2 min</a:t>
            </a:r>
            <a:endParaRPr lang="en-US" sz="1600" dirty="0"/>
          </a:p>
        </p:txBody>
      </p:sp>
      <p:sp>
        <p:nvSpPr>
          <p:cNvPr id="12" name="Text 10"/>
          <p:cNvSpPr/>
          <p:nvPr/>
        </p:nvSpPr>
        <p:spPr>
          <a:xfrm>
            <a:off x="4411110" y="2364611"/>
            <a:ext cx="3370828" cy="201243"/>
          </a:xfrm>
          <a:prstGeom prst="rect">
            <a:avLst/>
          </a:prstGeom>
          <a:noFill/>
          <a:ln/>
        </p:spPr>
        <p:txBody>
          <a:bodyPr wrap="square" lIns="0" tIns="0" rIns="0" bIns="0" rtlCol="0" anchor="ctr"/>
          <a:lstStyle/>
          <a:p>
            <a:pPr algn="ctr">
              <a:lnSpc>
                <a:spcPct val="130000"/>
              </a:lnSpc>
            </a:pPr>
            <a:r>
              <a:rPr lang="en-US" sz="1056" dirty="0">
                <a:solidFill>
                  <a:srgbClr val="FFFFFF">
                    <a:alpha val="80000"/>
                  </a:srgbClr>
                </a:solidFill>
                <a:latin typeface="MiSans" pitchFamily="34" charset="0"/>
                <a:ea typeface="MiSans" pitchFamily="34" charset="-122"/>
                <a:cs typeface="MiSans" pitchFamily="34" charset="-120"/>
              </a:rPr>
              <a:t>Par pièce (vs 2-10)</a:t>
            </a:r>
            <a:endParaRPr lang="en-US" sz="1600" dirty="0"/>
          </a:p>
        </p:txBody>
      </p:sp>
      <p:sp>
        <p:nvSpPr>
          <p:cNvPr id="13" name="Shape 11"/>
          <p:cNvSpPr/>
          <p:nvPr/>
        </p:nvSpPr>
        <p:spPr>
          <a:xfrm>
            <a:off x="8151540" y="1408704"/>
            <a:ext cx="3706234" cy="1358393"/>
          </a:xfrm>
          <a:custGeom>
            <a:avLst/>
            <a:gdLst/>
            <a:ahLst/>
            <a:cxnLst/>
            <a:rect l="l" t="t" r="r" b="b"/>
            <a:pathLst>
              <a:path w="3706234" h="1358393">
                <a:moveTo>
                  <a:pt x="134169" y="0"/>
                </a:moveTo>
                <a:lnTo>
                  <a:pt x="3572065" y="0"/>
                </a:lnTo>
                <a:cubicBezTo>
                  <a:pt x="3646165" y="0"/>
                  <a:pt x="3706234" y="60069"/>
                  <a:pt x="3706234" y="134169"/>
                </a:cubicBezTo>
                <a:lnTo>
                  <a:pt x="3706234" y="1224225"/>
                </a:lnTo>
                <a:cubicBezTo>
                  <a:pt x="3706234" y="1298274"/>
                  <a:pt x="3646115" y="1358393"/>
                  <a:pt x="3572065" y="1358393"/>
                </a:cubicBezTo>
                <a:lnTo>
                  <a:pt x="134169" y="1358393"/>
                </a:lnTo>
                <a:cubicBezTo>
                  <a:pt x="60069" y="1358393"/>
                  <a:pt x="0" y="1298324"/>
                  <a:pt x="0" y="1224225"/>
                </a:cubicBezTo>
                <a:lnTo>
                  <a:pt x="0" y="134169"/>
                </a:lnTo>
                <a:cubicBezTo>
                  <a:pt x="0" y="60119"/>
                  <a:pt x="60119" y="0"/>
                  <a:pt x="134169" y="0"/>
                </a:cubicBezTo>
                <a:close/>
              </a:path>
            </a:pathLst>
          </a:custGeom>
          <a:solidFill>
            <a:srgbClr val="F97316"/>
          </a:solidFill>
          <a:ln/>
        </p:spPr>
      </p:sp>
      <p:sp>
        <p:nvSpPr>
          <p:cNvPr id="14" name="Shape 12"/>
          <p:cNvSpPr/>
          <p:nvPr/>
        </p:nvSpPr>
        <p:spPr>
          <a:xfrm>
            <a:off x="9881238" y="1609948"/>
            <a:ext cx="251554" cy="251554"/>
          </a:xfrm>
          <a:custGeom>
            <a:avLst/>
            <a:gdLst/>
            <a:ahLst/>
            <a:cxnLst/>
            <a:rect l="l" t="t" r="r" b="b"/>
            <a:pathLst>
              <a:path w="251554" h="251554">
                <a:moveTo>
                  <a:pt x="125777" y="251554"/>
                </a:moveTo>
                <a:cubicBezTo>
                  <a:pt x="195195" y="251554"/>
                  <a:pt x="251554" y="195195"/>
                  <a:pt x="251554" y="125777"/>
                </a:cubicBezTo>
                <a:cubicBezTo>
                  <a:pt x="251554" y="56359"/>
                  <a:pt x="195195" y="0"/>
                  <a:pt x="125777" y="0"/>
                </a:cubicBezTo>
                <a:cubicBezTo>
                  <a:pt x="56359" y="0"/>
                  <a:pt x="0" y="56359"/>
                  <a:pt x="0" y="125777"/>
                </a:cubicBezTo>
                <a:cubicBezTo>
                  <a:pt x="0" y="195195"/>
                  <a:pt x="56359" y="251554"/>
                  <a:pt x="125777" y="251554"/>
                </a:cubicBezTo>
                <a:close/>
                <a:moveTo>
                  <a:pt x="82050" y="82050"/>
                </a:moveTo>
                <a:cubicBezTo>
                  <a:pt x="86668" y="77432"/>
                  <a:pt x="94136" y="77432"/>
                  <a:pt x="98706" y="82050"/>
                </a:cubicBezTo>
                <a:lnTo>
                  <a:pt x="125728" y="109072"/>
                </a:lnTo>
                <a:lnTo>
                  <a:pt x="152750" y="82050"/>
                </a:lnTo>
                <a:cubicBezTo>
                  <a:pt x="157369" y="77432"/>
                  <a:pt x="164837" y="77432"/>
                  <a:pt x="169406" y="82050"/>
                </a:cubicBezTo>
                <a:cubicBezTo>
                  <a:pt x="173975" y="86668"/>
                  <a:pt x="174025" y="94136"/>
                  <a:pt x="169406" y="98706"/>
                </a:cubicBezTo>
                <a:lnTo>
                  <a:pt x="142384" y="125728"/>
                </a:lnTo>
                <a:lnTo>
                  <a:pt x="169406" y="152750"/>
                </a:lnTo>
                <a:cubicBezTo>
                  <a:pt x="174025" y="157369"/>
                  <a:pt x="174025" y="164837"/>
                  <a:pt x="169406" y="169406"/>
                </a:cubicBezTo>
                <a:cubicBezTo>
                  <a:pt x="164788" y="173975"/>
                  <a:pt x="157320" y="174025"/>
                  <a:pt x="152750" y="169406"/>
                </a:cubicBezTo>
                <a:lnTo>
                  <a:pt x="125728" y="142384"/>
                </a:lnTo>
                <a:lnTo>
                  <a:pt x="98706" y="169406"/>
                </a:lnTo>
                <a:cubicBezTo>
                  <a:pt x="94087" y="174025"/>
                  <a:pt x="86619" y="174025"/>
                  <a:pt x="82050" y="169406"/>
                </a:cubicBezTo>
                <a:cubicBezTo>
                  <a:pt x="77481" y="164788"/>
                  <a:pt x="77432" y="157320"/>
                  <a:pt x="82050" y="152750"/>
                </a:cubicBezTo>
                <a:lnTo>
                  <a:pt x="109072" y="125728"/>
                </a:lnTo>
                <a:lnTo>
                  <a:pt x="82050" y="98706"/>
                </a:lnTo>
                <a:cubicBezTo>
                  <a:pt x="77432" y="94087"/>
                  <a:pt x="77432" y="86619"/>
                  <a:pt x="82050" y="82050"/>
                </a:cubicBezTo>
                <a:close/>
              </a:path>
            </a:pathLst>
          </a:custGeom>
          <a:solidFill>
            <a:srgbClr val="FFFFFF"/>
          </a:solidFill>
          <a:ln/>
        </p:spPr>
      </p:sp>
      <p:sp>
        <p:nvSpPr>
          <p:cNvPr id="15" name="Text 13"/>
          <p:cNvSpPr/>
          <p:nvPr/>
        </p:nvSpPr>
        <p:spPr>
          <a:xfrm>
            <a:off x="8252161" y="1928583"/>
            <a:ext cx="3504990" cy="402487"/>
          </a:xfrm>
          <a:prstGeom prst="rect">
            <a:avLst/>
          </a:prstGeom>
          <a:noFill/>
          <a:ln/>
        </p:spPr>
        <p:txBody>
          <a:bodyPr wrap="square" lIns="0" tIns="0" rIns="0" bIns="0" rtlCol="0" anchor="ctr"/>
          <a:lstStyle/>
          <a:p>
            <a:pPr algn="ctr">
              <a:lnSpc>
                <a:spcPct val="80000"/>
              </a:lnSpc>
            </a:pPr>
            <a:r>
              <a:rPr lang="en-US" sz="3169" b="1" dirty="0">
                <a:solidFill>
                  <a:srgbClr val="FFFFFF"/>
                </a:solidFill>
                <a:latin typeface="Noto Sans SC" pitchFamily="34" charset="0"/>
                <a:ea typeface="Noto Sans SC" pitchFamily="34" charset="-122"/>
                <a:cs typeface="Noto Sans SC" pitchFamily="34" charset="-120"/>
              </a:rPr>
              <a:t>&lt; 10%</a:t>
            </a:r>
            <a:endParaRPr lang="en-US" sz="1600" dirty="0"/>
          </a:p>
        </p:txBody>
      </p:sp>
      <p:sp>
        <p:nvSpPr>
          <p:cNvPr id="16" name="Text 14"/>
          <p:cNvSpPr/>
          <p:nvPr/>
        </p:nvSpPr>
        <p:spPr>
          <a:xfrm>
            <a:off x="8319242" y="2364611"/>
            <a:ext cx="3370828" cy="201243"/>
          </a:xfrm>
          <a:prstGeom prst="rect">
            <a:avLst/>
          </a:prstGeom>
          <a:noFill/>
          <a:ln/>
        </p:spPr>
        <p:txBody>
          <a:bodyPr wrap="square" lIns="0" tIns="0" rIns="0" bIns="0" rtlCol="0" anchor="ctr"/>
          <a:lstStyle/>
          <a:p>
            <a:pPr algn="ctr">
              <a:lnSpc>
                <a:spcPct val="130000"/>
              </a:lnSpc>
            </a:pPr>
            <a:r>
              <a:rPr lang="en-US" sz="1056" dirty="0">
                <a:solidFill>
                  <a:srgbClr val="FFFFFF">
                    <a:alpha val="80000"/>
                  </a:srgbClr>
                </a:solidFill>
                <a:latin typeface="MiSans" pitchFamily="34" charset="0"/>
                <a:ea typeface="MiSans" pitchFamily="34" charset="-122"/>
                <a:cs typeface="MiSans" pitchFamily="34" charset="-120"/>
              </a:rPr>
              <a:t>Faux rebuts (vs 35%)</a:t>
            </a:r>
            <a:endParaRPr lang="en-US" sz="1600" dirty="0"/>
          </a:p>
        </p:txBody>
      </p:sp>
      <p:sp>
        <p:nvSpPr>
          <p:cNvPr id="17" name="Shape 15"/>
          <p:cNvSpPr/>
          <p:nvPr/>
        </p:nvSpPr>
        <p:spPr>
          <a:xfrm>
            <a:off x="335406" y="2968341"/>
            <a:ext cx="11521188" cy="3219895"/>
          </a:xfrm>
          <a:custGeom>
            <a:avLst/>
            <a:gdLst/>
            <a:ahLst/>
            <a:cxnLst/>
            <a:rect l="l" t="t" r="r" b="b"/>
            <a:pathLst>
              <a:path w="11521188" h="3219895">
                <a:moveTo>
                  <a:pt x="134173" y="0"/>
                </a:moveTo>
                <a:lnTo>
                  <a:pt x="11387015" y="0"/>
                </a:lnTo>
                <a:cubicBezTo>
                  <a:pt x="11461117" y="0"/>
                  <a:pt x="11521188" y="60071"/>
                  <a:pt x="11521188" y="134173"/>
                </a:cubicBezTo>
                <a:lnTo>
                  <a:pt x="11521188" y="3085722"/>
                </a:lnTo>
                <a:cubicBezTo>
                  <a:pt x="11521188" y="3159824"/>
                  <a:pt x="11461117" y="3219895"/>
                  <a:pt x="11387015" y="3219895"/>
                </a:cubicBezTo>
                <a:lnTo>
                  <a:pt x="134173" y="3219895"/>
                </a:lnTo>
                <a:cubicBezTo>
                  <a:pt x="60121" y="3219895"/>
                  <a:pt x="0" y="3159775"/>
                  <a:pt x="0" y="3085722"/>
                </a:cubicBezTo>
                <a:lnTo>
                  <a:pt x="0" y="134173"/>
                </a:lnTo>
                <a:cubicBezTo>
                  <a:pt x="0" y="60121"/>
                  <a:pt x="60121" y="0"/>
                  <a:pt x="134173" y="0"/>
                </a:cubicBezTo>
                <a:close/>
              </a:path>
            </a:pathLst>
          </a:custGeom>
          <a:solidFill>
            <a:srgbClr val="F3F4F6"/>
          </a:solidFill>
          <a:ln/>
        </p:spPr>
      </p:sp>
      <p:sp>
        <p:nvSpPr>
          <p:cNvPr id="18" name="Text 16"/>
          <p:cNvSpPr/>
          <p:nvPr/>
        </p:nvSpPr>
        <p:spPr>
          <a:xfrm>
            <a:off x="503109" y="3136044"/>
            <a:ext cx="3697849" cy="167703"/>
          </a:xfrm>
          <a:prstGeom prst="rect">
            <a:avLst/>
          </a:prstGeom>
          <a:noFill/>
          <a:ln/>
        </p:spPr>
        <p:txBody>
          <a:bodyPr wrap="square" lIns="0" tIns="0" rIns="0" bIns="0" rtlCol="0" anchor="ctr"/>
          <a:lstStyle/>
          <a:p>
            <a:pPr>
              <a:lnSpc>
                <a:spcPct val="120000"/>
              </a:lnSpc>
            </a:pPr>
            <a:r>
              <a:rPr lang="en-US" sz="924" b="1" dirty="0">
                <a:solidFill>
                  <a:srgbClr val="6B7280"/>
                </a:solidFill>
                <a:latin typeface="MiSans" pitchFamily="34" charset="0"/>
                <a:ea typeface="MiSans" pitchFamily="34" charset="-122"/>
                <a:cs typeface="MiSans" pitchFamily="34" charset="-120"/>
              </a:rPr>
              <a:t>KPI</a:t>
            </a:r>
            <a:endParaRPr lang="en-US" sz="1600" dirty="0"/>
          </a:p>
        </p:txBody>
      </p:sp>
      <p:sp>
        <p:nvSpPr>
          <p:cNvPr id="19" name="Text 17"/>
          <p:cNvSpPr/>
          <p:nvPr/>
        </p:nvSpPr>
        <p:spPr>
          <a:xfrm>
            <a:off x="4247600" y="3136044"/>
            <a:ext cx="2758713" cy="167703"/>
          </a:xfrm>
          <a:prstGeom prst="rect">
            <a:avLst/>
          </a:prstGeom>
          <a:noFill/>
          <a:ln/>
        </p:spPr>
        <p:txBody>
          <a:bodyPr wrap="square" lIns="0" tIns="0" rIns="0" bIns="0" rtlCol="0" anchor="ctr"/>
          <a:lstStyle/>
          <a:p>
            <a:pPr algn="ctr">
              <a:lnSpc>
                <a:spcPct val="120000"/>
              </a:lnSpc>
            </a:pPr>
            <a:r>
              <a:rPr lang="en-US" sz="924" b="1" dirty="0">
                <a:solidFill>
                  <a:srgbClr val="6B7280"/>
                </a:solidFill>
                <a:latin typeface="MiSans" pitchFamily="34" charset="0"/>
                <a:ea typeface="MiSans" pitchFamily="34" charset="-122"/>
                <a:cs typeface="MiSans" pitchFamily="34" charset="-120"/>
              </a:rPr>
              <a:t>Baseline</a:t>
            </a:r>
            <a:endParaRPr lang="en-US" sz="1600" dirty="0"/>
          </a:p>
        </p:txBody>
      </p:sp>
      <p:sp>
        <p:nvSpPr>
          <p:cNvPr id="20" name="Text 18"/>
          <p:cNvSpPr/>
          <p:nvPr/>
        </p:nvSpPr>
        <p:spPr>
          <a:xfrm>
            <a:off x="7078110" y="3136044"/>
            <a:ext cx="2758713" cy="167703"/>
          </a:xfrm>
          <a:prstGeom prst="rect">
            <a:avLst/>
          </a:prstGeom>
          <a:noFill/>
          <a:ln/>
        </p:spPr>
        <p:txBody>
          <a:bodyPr wrap="square" lIns="0" tIns="0" rIns="0" bIns="0" rtlCol="0" anchor="ctr"/>
          <a:lstStyle/>
          <a:p>
            <a:pPr algn="ctr">
              <a:lnSpc>
                <a:spcPct val="120000"/>
              </a:lnSpc>
            </a:pPr>
            <a:r>
              <a:rPr lang="en-US" sz="924" b="1" dirty="0">
                <a:solidFill>
                  <a:srgbClr val="6B7280"/>
                </a:solidFill>
                <a:latin typeface="MiSans" pitchFamily="34" charset="0"/>
                <a:ea typeface="MiSans" pitchFamily="34" charset="-122"/>
                <a:cs typeface="MiSans" pitchFamily="34" charset="-120"/>
              </a:rPr>
              <a:t>Cible</a:t>
            </a:r>
            <a:endParaRPr lang="en-US" sz="1600" dirty="0"/>
          </a:p>
        </p:txBody>
      </p:sp>
      <p:sp>
        <p:nvSpPr>
          <p:cNvPr id="21" name="Text 19"/>
          <p:cNvSpPr/>
          <p:nvPr/>
        </p:nvSpPr>
        <p:spPr>
          <a:xfrm>
            <a:off x="9908489" y="3136044"/>
            <a:ext cx="1811191" cy="167703"/>
          </a:xfrm>
          <a:prstGeom prst="rect">
            <a:avLst/>
          </a:prstGeom>
          <a:noFill/>
          <a:ln/>
        </p:spPr>
        <p:txBody>
          <a:bodyPr wrap="square" lIns="0" tIns="0" rIns="0" bIns="0" rtlCol="0" anchor="ctr"/>
          <a:lstStyle/>
          <a:p>
            <a:pPr algn="ctr">
              <a:lnSpc>
                <a:spcPct val="120000"/>
              </a:lnSpc>
            </a:pPr>
            <a:r>
              <a:rPr lang="en-US" sz="924" b="1" dirty="0">
                <a:solidFill>
                  <a:srgbClr val="6B7280"/>
                </a:solidFill>
                <a:latin typeface="MiSans" pitchFamily="34" charset="0"/>
                <a:ea typeface="MiSans" pitchFamily="34" charset="-122"/>
                <a:cs typeface="MiSans" pitchFamily="34" charset="-120"/>
              </a:rPr>
              <a:t>Owner</a:t>
            </a:r>
            <a:endParaRPr lang="en-US" sz="1600" dirty="0"/>
          </a:p>
        </p:txBody>
      </p:sp>
      <p:sp>
        <p:nvSpPr>
          <p:cNvPr id="22" name="Shape 20"/>
          <p:cNvSpPr/>
          <p:nvPr/>
        </p:nvSpPr>
        <p:spPr>
          <a:xfrm>
            <a:off x="503109" y="3404369"/>
            <a:ext cx="11185783" cy="469568"/>
          </a:xfrm>
          <a:custGeom>
            <a:avLst/>
            <a:gdLst/>
            <a:ahLst/>
            <a:cxnLst/>
            <a:rect l="l" t="t" r="r" b="b"/>
            <a:pathLst>
              <a:path w="11185783" h="469568">
                <a:moveTo>
                  <a:pt x="100624" y="0"/>
                </a:moveTo>
                <a:lnTo>
                  <a:pt x="11085159" y="0"/>
                </a:lnTo>
                <a:cubicBezTo>
                  <a:pt x="11140732" y="0"/>
                  <a:pt x="11185783" y="45051"/>
                  <a:pt x="11185783" y="100624"/>
                </a:cubicBezTo>
                <a:lnTo>
                  <a:pt x="11185783" y="368944"/>
                </a:lnTo>
                <a:cubicBezTo>
                  <a:pt x="11185783" y="424517"/>
                  <a:pt x="11140732" y="469568"/>
                  <a:pt x="11085159" y="469568"/>
                </a:cubicBezTo>
                <a:lnTo>
                  <a:pt x="100624" y="469568"/>
                </a:lnTo>
                <a:cubicBezTo>
                  <a:pt x="45088" y="469568"/>
                  <a:pt x="0" y="424480"/>
                  <a:pt x="0" y="368944"/>
                </a:cubicBezTo>
                <a:lnTo>
                  <a:pt x="0" y="100624"/>
                </a:lnTo>
                <a:cubicBezTo>
                  <a:pt x="0" y="45051"/>
                  <a:pt x="45051" y="0"/>
                  <a:pt x="100624" y="0"/>
                </a:cubicBezTo>
                <a:close/>
              </a:path>
            </a:pathLst>
          </a:custGeom>
          <a:solidFill>
            <a:srgbClr val="FFFFFF"/>
          </a:solidFill>
          <a:ln/>
        </p:spPr>
      </p:sp>
      <p:sp>
        <p:nvSpPr>
          <p:cNvPr id="23" name="Shape 21"/>
          <p:cNvSpPr/>
          <p:nvPr/>
        </p:nvSpPr>
        <p:spPr>
          <a:xfrm>
            <a:off x="620501" y="3572072"/>
            <a:ext cx="134162" cy="134162"/>
          </a:xfrm>
          <a:custGeom>
            <a:avLst/>
            <a:gdLst/>
            <a:ahLst/>
            <a:cxnLst/>
            <a:rect l="l" t="t" r="r" b="b"/>
            <a:pathLst>
              <a:path w="134162" h="134162">
                <a:moveTo>
                  <a:pt x="109007" y="54503"/>
                </a:moveTo>
                <a:cubicBezTo>
                  <a:pt x="109007" y="66531"/>
                  <a:pt x="105103" y="77641"/>
                  <a:pt x="98525" y="86655"/>
                </a:cubicBezTo>
                <a:lnTo>
                  <a:pt x="131699" y="119855"/>
                </a:lnTo>
                <a:cubicBezTo>
                  <a:pt x="134975" y="123131"/>
                  <a:pt x="134975" y="128450"/>
                  <a:pt x="131699" y="131725"/>
                </a:cubicBezTo>
                <a:cubicBezTo>
                  <a:pt x="128424" y="135001"/>
                  <a:pt x="123104" y="135001"/>
                  <a:pt x="119829" y="131725"/>
                </a:cubicBezTo>
                <a:lnTo>
                  <a:pt x="86655" y="98525"/>
                </a:lnTo>
                <a:cubicBezTo>
                  <a:pt x="77641" y="105103"/>
                  <a:pt x="66531" y="109007"/>
                  <a:pt x="54503" y="109007"/>
                </a:cubicBezTo>
                <a:cubicBezTo>
                  <a:pt x="24396" y="109007"/>
                  <a:pt x="0" y="84611"/>
                  <a:pt x="0" y="54503"/>
                </a:cubicBezTo>
                <a:cubicBezTo>
                  <a:pt x="0" y="24396"/>
                  <a:pt x="24396" y="0"/>
                  <a:pt x="54503" y="0"/>
                </a:cubicBezTo>
                <a:cubicBezTo>
                  <a:pt x="84611" y="0"/>
                  <a:pt x="109007" y="24396"/>
                  <a:pt x="109007" y="54503"/>
                </a:cubicBezTo>
                <a:close/>
                <a:moveTo>
                  <a:pt x="54503" y="92237"/>
                </a:moveTo>
                <a:cubicBezTo>
                  <a:pt x="75329" y="92237"/>
                  <a:pt x="92237" y="75329"/>
                  <a:pt x="92237" y="54503"/>
                </a:cubicBezTo>
                <a:cubicBezTo>
                  <a:pt x="92237" y="33678"/>
                  <a:pt x="75329" y="16770"/>
                  <a:pt x="54503" y="16770"/>
                </a:cubicBezTo>
                <a:cubicBezTo>
                  <a:pt x="33678" y="16770"/>
                  <a:pt x="16770" y="33678"/>
                  <a:pt x="16770" y="54503"/>
                </a:cubicBezTo>
                <a:cubicBezTo>
                  <a:pt x="16770" y="75329"/>
                  <a:pt x="33678" y="92237"/>
                  <a:pt x="54503" y="92237"/>
                </a:cubicBezTo>
                <a:close/>
              </a:path>
            </a:pathLst>
          </a:custGeom>
          <a:solidFill>
            <a:srgbClr val="10B981"/>
          </a:solidFill>
          <a:ln/>
        </p:spPr>
      </p:sp>
      <p:sp>
        <p:nvSpPr>
          <p:cNvPr id="24" name="Text 22"/>
          <p:cNvSpPr/>
          <p:nvPr/>
        </p:nvSpPr>
        <p:spPr>
          <a:xfrm>
            <a:off x="838514" y="3538531"/>
            <a:ext cx="1207461" cy="201243"/>
          </a:xfrm>
          <a:prstGeom prst="rect">
            <a:avLst/>
          </a:prstGeom>
          <a:noFill/>
          <a:ln/>
        </p:spPr>
        <p:txBody>
          <a:bodyPr wrap="square" lIns="0" tIns="0" rIns="0" bIns="0" rtlCol="0" anchor="ctr"/>
          <a:lstStyle/>
          <a:p>
            <a:pPr>
              <a:lnSpc>
                <a:spcPct val="130000"/>
              </a:lnSpc>
            </a:pPr>
            <a:r>
              <a:rPr lang="en-US" sz="1056" b="1" dirty="0">
                <a:solidFill>
                  <a:srgbClr val="374151"/>
                </a:solidFill>
                <a:latin typeface="MiSans" pitchFamily="34" charset="0"/>
                <a:ea typeface="MiSans" pitchFamily="34" charset="-122"/>
                <a:cs typeface="MiSans" pitchFamily="34" charset="-120"/>
              </a:rPr>
              <a:t>Taux de détection</a:t>
            </a:r>
            <a:endParaRPr lang="en-US" sz="1600" dirty="0"/>
          </a:p>
        </p:txBody>
      </p:sp>
      <p:sp>
        <p:nvSpPr>
          <p:cNvPr id="25" name="Text 23"/>
          <p:cNvSpPr/>
          <p:nvPr/>
        </p:nvSpPr>
        <p:spPr>
          <a:xfrm>
            <a:off x="5329545" y="3563686"/>
            <a:ext cx="607923" cy="142547"/>
          </a:xfrm>
          <a:prstGeom prst="rect">
            <a:avLst/>
          </a:prstGeom>
          <a:noFill/>
          <a:ln/>
        </p:spPr>
        <p:txBody>
          <a:bodyPr wrap="square" lIns="0" tIns="0" rIns="0" bIns="0" rtlCol="0" anchor="ctr"/>
          <a:lstStyle/>
          <a:p>
            <a:pPr algn="ctr">
              <a:lnSpc>
                <a:spcPct val="130000"/>
              </a:lnSpc>
            </a:pPr>
            <a:r>
              <a:rPr lang="en-US" sz="1056" dirty="0">
                <a:solidFill>
                  <a:srgbClr val="6B7280"/>
                </a:solidFill>
                <a:latin typeface="MiSans" pitchFamily="34" charset="0"/>
                <a:ea typeface="MiSans" pitchFamily="34" charset="-122"/>
                <a:cs typeface="MiSans" pitchFamily="34" charset="-120"/>
              </a:rPr>
              <a:t>~80-85%</a:t>
            </a:r>
            <a:endParaRPr lang="en-US" sz="1600" dirty="0"/>
          </a:p>
        </p:txBody>
      </p:sp>
      <p:sp>
        <p:nvSpPr>
          <p:cNvPr id="26" name="Text 24"/>
          <p:cNvSpPr/>
          <p:nvPr/>
        </p:nvSpPr>
        <p:spPr>
          <a:xfrm>
            <a:off x="8078694" y="3521761"/>
            <a:ext cx="669763" cy="226399"/>
          </a:xfrm>
          <a:prstGeom prst="rect">
            <a:avLst/>
          </a:prstGeom>
          <a:noFill/>
          <a:ln/>
        </p:spPr>
        <p:txBody>
          <a:bodyPr wrap="square" lIns="0" tIns="0" rIns="0" bIns="0" rtlCol="0" anchor="ctr"/>
          <a:lstStyle/>
          <a:p>
            <a:pPr algn="ctr">
              <a:lnSpc>
                <a:spcPct val="110000"/>
              </a:lnSpc>
            </a:pPr>
            <a:r>
              <a:rPr lang="en-US" sz="1585" b="1" dirty="0">
                <a:solidFill>
                  <a:srgbClr val="10B981"/>
                </a:solidFill>
                <a:latin typeface="Noto Sans SC" pitchFamily="34" charset="0"/>
                <a:ea typeface="Noto Sans SC" pitchFamily="34" charset="-122"/>
                <a:cs typeface="Noto Sans SC" pitchFamily="34" charset="-120"/>
              </a:rPr>
              <a:t>≥ 95%</a:t>
            </a:r>
            <a:endParaRPr lang="en-US" sz="1600" dirty="0"/>
          </a:p>
        </p:txBody>
      </p:sp>
      <p:sp>
        <p:nvSpPr>
          <p:cNvPr id="27" name="Shape 25"/>
          <p:cNvSpPr/>
          <p:nvPr/>
        </p:nvSpPr>
        <p:spPr>
          <a:xfrm>
            <a:off x="10446973" y="3538531"/>
            <a:ext cx="566783" cy="201243"/>
          </a:xfrm>
          <a:custGeom>
            <a:avLst/>
            <a:gdLst/>
            <a:ahLst/>
            <a:cxnLst/>
            <a:rect l="l" t="t" r="r" b="b"/>
            <a:pathLst>
              <a:path w="566783" h="201243">
                <a:moveTo>
                  <a:pt x="100622" y="0"/>
                </a:moveTo>
                <a:lnTo>
                  <a:pt x="466162" y="0"/>
                </a:lnTo>
                <a:cubicBezTo>
                  <a:pt x="521733" y="0"/>
                  <a:pt x="566783" y="45050"/>
                  <a:pt x="566783" y="100622"/>
                </a:cubicBezTo>
                <a:lnTo>
                  <a:pt x="566783" y="100622"/>
                </a:lnTo>
                <a:cubicBezTo>
                  <a:pt x="566783" y="156194"/>
                  <a:pt x="521733" y="201243"/>
                  <a:pt x="466162" y="201243"/>
                </a:cubicBezTo>
                <a:lnTo>
                  <a:pt x="100622" y="201243"/>
                </a:lnTo>
                <a:cubicBezTo>
                  <a:pt x="45087" y="201243"/>
                  <a:pt x="0" y="156156"/>
                  <a:pt x="0" y="100622"/>
                </a:cubicBezTo>
                <a:lnTo>
                  <a:pt x="0" y="100622"/>
                </a:lnTo>
                <a:cubicBezTo>
                  <a:pt x="0" y="45087"/>
                  <a:pt x="45087" y="0"/>
                  <a:pt x="100622" y="0"/>
                </a:cubicBezTo>
                <a:close/>
              </a:path>
            </a:pathLst>
          </a:custGeom>
          <a:solidFill>
            <a:srgbClr val="8B5CF6"/>
          </a:solidFill>
          <a:ln/>
        </p:spPr>
      </p:sp>
      <p:sp>
        <p:nvSpPr>
          <p:cNvPr id="28" name="Text 26"/>
          <p:cNvSpPr/>
          <p:nvPr/>
        </p:nvSpPr>
        <p:spPr>
          <a:xfrm>
            <a:off x="10417625" y="3538531"/>
            <a:ext cx="625479" cy="201243"/>
          </a:xfrm>
          <a:prstGeom prst="rect">
            <a:avLst/>
          </a:prstGeom>
          <a:noFill/>
          <a:ln/>
        </p:spPr>
        <p:txBody>
          <a:bodyPr wrap="square" lIns="100622" tIns="33541" rIns="100622" bIns="33541" rtlCol="0" anchor="ctr"/>
          <a:lstStyle/>
          <a:p>
            <a:pPr algn="ctr">
              <a:lnSpc>
                <a:spcPct val="120000"/>
              </a:lnSpc>
            </a:pPr>
            <a:r>
              <a:rPr lang="en-US" sz="924" dirty="0">
                <a:solidFill>
                  <a:srgbClr val="FFFFFF"/>
                </a:solidFill>
                <a:latin typeface="MiSans" pitchFamily="34" charset="0"/>
                <a:ea typeface="MiSans" pitchFamily="34" charset="-122"/>
                <a:cs typeface="MiSans" pitchFamily="34" charset="-120"/>
              </a:rPr>
              <a:t>Sophie</a:t>
            </a:r>
            <a:endParaRPr lang="en-US" sz="1600" dirty="0"/>
          </a:p>
        </p:txBody>
      </p:sp>
      <p:sp>
        <p:nvSpPr>
          <p:cNvPr id="29" name="Shape 27"/>
          <p:cNvSpPr/>
          <p:nvPr/>
        </p:nvSpPr>
        <p:spPr>
          <a:xfrm>
            <a:off x="503109" y="3941018"/>
            <a:ext cx="11185783" cy="469568"/>
          </a:xfrm>
          <a:custGeom>
            <a:avLst/>
            <a:gdLst/>
            <a:ahLst/>
            <a:cxnLst/>
            <a:rect l="l" t="t" r="r" b="b"/>
            <a:pathLst>
              <a:path w="11185783" h="469568">
                <a:moveTo>
                  <a:pt x="100624" y="0"/>
                </a:moveTo>
                <a:lnTo>
                  <a:pt x="11085159" y="0"/>
                </a:lnTo>
                <a:cubicBezTo>
                  <a:pt x="11140732" y="0"/>
                  <a:pt x="11185783" y="45051"/>
                  <a:pt x="11185783" y="100624"/>
                </a:cubicBezTo>
                <a:lnTo>
                  <a:pt x="11185783" y="368944"/>
                </a:lnTo>
                <a:cubicBezTo>
                  <a:pt x="11185783" y="424517"/>
                  <a:pt x="11140732" y="469568"/>
                  <a:pt x="11085159" y="469568"/>
                </a:cubicBezTo>
                <a:lnTo>
                  <a:pt x="100624" y="469568"/>
                </a:lnTo>
                <a:cubicBezTo>
                  <a:pt x="45088" y="469568"/>
                  <a:pt x="0" y="424480"/>
                  <a:pt x="0" y="368944"/>
                </a:cubicBezTo>
                <a:lnTo>
                  <a:pt x="0" y="100624"/>
                </a:lnTo>
                <a:cubicBezTo>
                  <a:pt x="0" y="45051"/>
                  <a:pt x="45051" y="0"/>
                  <a:pt x="100624" y="0"/>
                </a:cubicBezTo>
                <a:close/>
              </a:path>
            </a:pathLst>
          </a:custGeom>
          <a:solidFill>
            <a:srgbClr val="FFFFFF"/>
          </a:solidFill>
          <a:ln/>
        </p:spPr>
      </p:sp>
      <p:sp>
        <p:nvSpPr>
          <p:cNvPr id="30" name="Shape 28"/>
          <p:cNvSpPr/>
          <p:nvPr/>
        </p:nvSpPr>
        <p:spPr>
          <a:xfrm>
            <a:off x="620501" y="4108721"/>
            <a:ext cx="134162" cy="134162"/>
          </a:xfrm>
          <a:custGeom>
            <a:avLst/>
            <a:gdLst/>
            <a:ahLst/>
            <a:cxnLst/>
            <a:rect l="l" t="t" r="r" b="b"/>
            <a:pathLst>
              <a:path w="134162" h="134162">
                <a:moveTo>
                  <a:pt x="67081" y="134162"/>
                </a:moveTo>
                <a:cubicBezTo>
                  <a:pt x="104104" y="134162"/>
                  <a:pt x="134162" y="104104"/>
                  <a:pt x="134162" y="67081"/>
                </a:cubicBezTo>
                <a:cubicBezTo>
                  <a:pt x="134162" y="30058"/>
                  <a:pt x="104104" y="0"/>
                  <a:pt x="67081" y="0"/>
                </a:cubicBezTo>
                <a:cubicBezTo>
                  <a:pt x="30058" y="0"/>
                  <a:pt x="0" y="30058"/>
                  <a:pt x="0" y="67081"/>
                </a:cubicBezTo>
                <a:cubicBezTo>
                  <a:pt x="0" y="104104"/>
                  <a:pt x="30058" y="134162"/>
                  <a:pt x="67081" y="134162"/>
                </a:cubicBezTo>
                <a:close/>
                <a:moveTo>
                  <a:pt x="43760" y="43760"/>
                </a:moveTo>
                <a:cubicBezTo>
                  <a:pt x="46223" y="41297"/>
                  <a:pt x="50206" y="41297"/>
                  <a:pt x="52643" y="43760"/>
                </a:cubicBezTo>
                <a:lnTo>
                  <a:pt x="67055" y="58172"/>
                </a:lnTo>
                <a:lnTo>
                  <a:pt x="81467" y="43760"/>
                </a:lnTo>
                <a:cubicBezTo>
                  <a:pt x="83930" y="41297"/>
                  <a:pt x="87913" y="41297"/>
                  <a:pt x="90350" y="43760"/>
                </a:cubicBezTo>
                <a:cubicBezTo>
                  <a:pt x="92787" y="46223"/>
                  <a:pt x="92813" y="50206"/>
                  <a:pt x="90350" y="52643"/>
                </a:cubicBezTo>
                <a:lnTo>
                  <a:pt x="75938" y="67055"/>
                </a:lnTo>
                <a:lnTo>
                  <a:pt x="90350" y="81467"/>
                </a:lnTo>
                <a:cubicBezTo>
                  <a:pt x="92813" y="83930"/>
                  <a:pt x="92813" y="87913"/>
                  <a:pt x="90350" y="90350"/>
                </a:cubicBezTo>
                <a:cubicBezTo>
                  <a:pt x="87887" y="92787"/>
                  <a:pt x="83904" y="92813"/>
                  <a:pt x="81467" y="90350"/>
                </a:cubicBezTo>
                <a:lnTo>
                  <a:pt x="67055" y="75938"/>
                </a:lnTo>
                <a:lnTo>
                  <a:pt x="52643" y="90350"/>
                </a:lnTo>
                <a:cubicBezTo>
                  <a:pt x="50180" y="92813"/>
                  <a:pt x="46197" y="92813"/>
                  <a:pt x="43760" y="90350"/>
                </a:cubicBezTo>
                <a:cubicBezTo>
                  <a:pt x="41323" y="87887"/>
                  <a:pt x="41297" y="83904"/>
                  <a:pt x="43760" y="81467"/>
                </a:cubicBezTo>
                <a:lnTo>
                  <a:pt x="58172" y="67055"/>
                </a:lnTo>
                <a:lnTo>
                  <a:pt x="43760" y="52643"/>
                </a:lnTo>
                <a:cubicBezTo>
                  <a:pt x="41297" y="50180"/>
                  <a:pt x="41297" y="46197"/>
                  <a:pt x="43760" y="43760"/>
                </a:cubicBezTo>
                <a:close/>
              </a:path>
            </a:pathLst>
          </a:custGeom>
          <a:solidFill>
            <a:srgbClr val="F97316"/>
          </a:solidFill>
          <a:ln/>
        </p:spPr>
      </p:sp>
      <p:sp>
        <p:nvSpPr>
          <p:cNvPr id="31" name="Text 29"/>
          <p:cNvSpPr/>
          <p:nvPr/>
        </p:nvSpPr>
        <p:spPr>
          <a:xfrm>
            <a:off x="838514" y="4075180"/>
            <a:ext cx="830129" cy="201243"/>
          </a:xfrm>
          <a:prstGeom prst="rect">
            <a:avLst/>
          </a:prstGeom>
          <a:noFill/>
          <a:ln/>
        </p:spPr>
        <p:txBody>
          <a:bodyPr wrap="square" lIns="0" tIns="0" rIns="0" bIns="0" rtlCol="0" anchor="ctr"/>
          <a:lstStyle/>
          <a:p>
            <a:pPr>
              <a:lnSpc>
                <a:spcPct val="130000"/>
              </a:lnSpc>
            </a:pPr>
            <a:r>
              <a:rPr lang="en-US" sz="1056" b="1" dirty="0">
                <a:solidFill>
                  <a:srgbClr val="374151"/>
                </a:solidFill>
                <a:latin typeface="MiSans" pitchFamily="34" charset="0"/>
                <a:ea typeface="MiSans" pitchFamily="34" charset="-122"/>
                <a:cs typeface="MiSans" pitchFamily="34" charset="-120"/>
              </a:rPr>
              <a:t>Faux rebuts</a:t>
            </a:r>
            <a:endParaRPr lang="en-US" sz="1600" dirty="0"/>
          </a:p>
        </p:txBody>
      </p:sp>
      <p:sp>
        <p:nvSpPr>
          <p:cNvPr id="32" name="Text 30"/>
          <p:cNvSpPr/>
          <p:nvPr/>
        </p:nvSpPr>
        <p:spPr>
          <a:xfrm>
            <a:off x="5465673" y="4100336"/>
            <a:ext cx="335668" cy="142547"/>
          </a:xfrm>
          <a:prstGeom prst="rect">
            <a:avLst/>
          </a:prstGeom>
          <a:noFill/>
          <a:ln/>
        </p:spPr>
        <p:txBody>
          <a:bodyPr wrap="square" lIns="0" tIns="0" rIns="0" bIns="0" rtlCol="0" anchor="ctr"/>
          <a:lstStyle/>
          <a:p>
            <a:pPr algn="ctr">
              <a:lnSpc>
                <a:spcPct val="130000"/>
              </a:lnSpc>
            </a:pPr>
            <a:r>
              <a:rPr lang="en-US" sz="1056" dirty="0">
                <a:solidFill>
                  <a:srgbClr val="6B7280"/>
                </a:solidFill>
                <a:latin typeface="MiSans" pitchFamily="34" charset="0"/>
                <a:ea typeface="MiSans" pitchFamily="34" charset="-122"/>
                <a:cs typeface="MiSans" pitchFamily="34" charset="-120"/>
              </a:rPr>
              <a:t>35%</a:t>
            </a:r>
            <a:endParaRPr lang="en-US" sz="1600" dirty="0"/>
          </a:p>
        </p:txBody>
      </p:sp>
      <p:sp>
        <p:nvSpPr>
          <p:cNvPr id="33" name="Text 31"/>
          <p:cNvSpPr/>
          <p:nvPr/>
        </p:nvSpPr>
        <p:spPr>
          <a:xfrm>
            <a:off x="8075156" y="4058410"/>
            <a:ext cx="676838" cy="226399"/>
          </a:xfrm>
          <a:prstGeom prst="rect">
            <a:avLst/>
          </a:prstGeom>
          <a:noFill/>
          <a:ln/>
        </p:spPr>
        <p:txBody>
          <a:bodyPr wrap="square" lIns="0" tIns="0" rIns="0" bIns="0" rtlCol="0" anchor="ctr"/>
          <a:lstStyle/>
          <a:p>
            <a:pPr algn="ctr">
              <a:lnSpc>
                <a:spcPct val="110000"/>
              </a:lnSpc>
            </a:pPr>
            <a:r>
              <a:rPr lang="en-US" sz="1585" b="1" dirty="0">
                <a:solidFill>
                  <a:srgbClr val="10B981"/>
                </a:solidFill>
                <a:latin typeface="Noto Sans SC" pitchFamily="34" charset="0"/>
                <a:ea typeface="Noto Sans SC" pitchFamily="34" charset="-122"/>
                <a:cs typeface="Noto Sans SC" pitchFamily="34" charset="-120"/>
              </a:rPr>
              <a:t>&lt; 10%</a:t>
            </a:r>
            <a:endParaRPr lang="en-US" sz="1600" dirty="0"/>
          </a:p>
        </p:txBody>
      </p:sp>
      <p:sp>
        <p:nvSpPr>
          <p:cNvPr id="34" name="Shape 32"/>
          <p:cNvSpPr/>
          <p:nvPr/>
        </p:nvSpPr>
        <p:spPr>
          <a:xfrm>
            <a:off x="10180351" y="4075180"/>
            <a:ext cx="566783" cy="201243"/>
          </a:xfrm>
          <a:custGeom>
            <a:avLst/>
            <a:gdLst/>
            <a:ahLst/>
            <a:cxnLst/>
            <a:rect l="l" t="t" r="r" b="b"/>
            <a:pathLst>
              <a:path w="566783" h="201243">
                <a:moveTo>
                  <a:pt x="100622" y="0"/>
                </a:moveTo>
                <a:lnTo>
                  <a:pt x="466162" y="0"/>
                </a:lnTo>
                <a:cubicBezTo>
                  <a:pt x="521733" y="0"/>
                  <a:pt x="566783" y="45050"/>
                  <a:pt x="566783" y="100622"/>
                </a:cubicBezTo>
                <a:lnTo>
                  <a:pt x="566783" y="100622"/>
                </a:lnTo>
                <a:cubicBezTo>
                  <a:pt x="566783" y="156194"/>
                  <a:pt x="521733" y="201243"/>
                  <a:pt x="466162" y="201243"/>
                </a:cubicBezTo>
                <a:lnTo>
                  <a:pt x="100622" y="201243"/>
                </a:lnTo>
                <a:cubicBezTo>
                  <a:pt x="45087" y="201243"/>
                  <a:pt x="0" y="156156"/>
                  <a:pt x="0" y="100622"/>
                </a:cubicBezTo>
                <a:lnTo>
                  <a:pt x="0" y="100622"/>
                </a:lnTo>
                <a:cubicBezTo>
                  <a:pt x="0" y="45087"/>
                  <a:pt x="45087" y="0"/>
                  <a:pt x="100622" y="0"/>
                </a:cubicBezTo>
                <a:close/>
              </a:path>
            </a:pathLst>
          </a:custGeom>
          <a:solidFill>
            <a:srgbClr val="8B5CF6"/>
          </a:solidFill>
          <a:ln/>
        </p:spPr>
      </p:sp>
      <p:sp>
        <p:nvSpPr>
          <p:cNvPr id="35" name="Text 33"/>
          <p:cNvSpPr/>
          <p:nvPr/>
        </p:nvSpPr>
        <p:spPr>
          <a:xfrm>
            <a:off x="10151003" y="4075180"/>
            <a:ext cx="625479" cy="201243"/>
          </a:xfrm>
          <a:prstGeom prst="rect">
            <a:avLst/>
          </a:prstGeom>
          <a:noFill/>
          <a:ln/>
        </p:spPr>
        <p:txBody>
          <a:bodyPr wrap="square" lIns="100622" tIns="33541" rIns="100622" bIns="33541" rtlCol="0" anchor="ctr"/>
          <a:lstStyle/>
          <a:p>
            <a:pPr algn="ctr">
              <a:lnSpc>
                <a:spcPct val="120000"/>
              </a:lnSpc>
            </a:pPr>
            <a:r>
              <a:rPr lang="en-US" sz="924" dirty="0">
                <a:solidFill>
                  <a:srgbClr val="FFFFFF"/>
                </a:solidFill>
                <a:latin typeface="MiSans" pitchFamily="34" charset="0"/>
                <a:ea typeface="MiSans" pitchFamily="34" charset="-122"/>
                <a:cs typeface="MiSans" pitchFamily="34" charset="-120"/>
              </a:rPr>
              <a:t>Sophie</a:t>
            </a:r>
            <a:endParaRPr lang="en-US" sz="1600" dirty="0"/>
          </a:p>
        </p:txBody>
      </p:sp>
      <p:sp>
        <p:nvSpPr>
          <p:cNvPr id="36" name="Shape 34"/>
          <p:cNvSpPr/>
          <p:nvPr/>
        </p:nvSpPr>
        <p:spPr>
          <a:xfrm>
            <a:off x="10818015" y="4075180"/>
            <a:ext cx="462231" cy="201243"/>
          </a:xfrm>
          <a:custGeom>
            <a:avLst/>
            <a:gdLst/>
            <a:ahLst/>
            <a:cxnLst/>
            <a:rect l="l" t="t" r="r" b="b"/>
            <a:pathLst>
              <a:path w="462231" h="201243">
                <a:moveTo>
                  <a:pt x="100622" y="0"/>
                </a:moveTo>
                <a:lnTo>
                  <a:pt x="361609" y="0"/>
                </a:lnTo>
                <a:cubicBezTo>
                  <a:pt x="417144" y="0"/>
                  <a:pt x="462231" y="45087"/>
                  <a:pt x="462231" y="100622"/>
                </a:cubicBezTo>
                <a:lnTo>
                  <a:pt x="462231" y="100622"/>
                </a:lnTo>
                <a:cubicBezTo>
                  <a:pt x="462231" y="156156"/>
                  <a:pt x="417144" y="201243"/>
                  <a:pt x="361609" y="201243"/>
                </a:cubicBezTo>
                <a:lnTo>
                  <a:pt x="100622" y="201243"/>
                </a:lnTo>
                <a:cubicBezTo>
                  <a:pt x="45087" y="201243"/>
                  <a:pt x="0" y="156156"/>
                  <a:pt x="0" y="100622"/>
                </a:cubicBezTo>
                <a:lnTo>
                  <a:pt x="0" y="100622"/>
                </a:lnTo>
                <a:cubicBezTo>
                  <a:pt x="0" y="45087"/>
                  <a:pt x="45087" y="0"/>
                  <a:pt x="100622" y="0"/>
                </a:cubicBezTo>
                <a:close/>
              </a:path>
            </a:pathLst>
          </a:custGeom>
          <a:solidFill>
            <a:srgbClr val="3B82F6"/>
          </a:solidFill>
          <a:ln/>
        </p:spPr>
      </p:sp>
      <p:sp>
        <p:nvSpPr>
          <p:cNvPr id="37" name="Text 35"/>
          <p:cNvSpPr/>
          <p:nvPr/>
        </p:nvSpPr>
        <p:spPr>
          <a:xfrm>
            <a:off x="10788667" y="4075180"/>
            <a:ext cx="520927" cy="201243"/>
          </a:xfrm>
          <a:prstGeom prst="rect">
            <a:avLst/>
          </a:prstGeom>
          <a:noFill/>
          <a:ln/>
        </p:spPr>
        <p:txBody>
          <a:bodyPr wrap="square" lIns="100622" tIns="33541" rIns="100622" bIns="33541" rtlCol="0" anchor="ctr"/>
          <a:lstStyle/>
          <a:p>
            <a:pPr algn="ctr">
              <a:lnSpc>
                <a:spcPct val="120000"/>
              </a:lnSpc>
            </a:pPr>
            <a:r>
              <a:rPr lang="en-US" sz="924" dirty="0">
                <a:solidFill>
                  <a:srgbClr val="FFFFFF"/>
                </a:solidFill>
                <a:latin typeface="MiSans" pitchFamily="34" charset="0"/>
                <a:ea typeface="MiSans" pitchFamily="34" charset="-122"/>
                <a:cs typeface="MiSans" pitchFamily="34" charset="-120"/>
              </a:rPr>
              <a:t>Marc</a:t>
            </a:r>
            <a:endParaRPr lang="en-US" sz="1600" dirty="0"/>
          </a:p>
        </p:txBody>
      </p:sp>
      <p:sp>
        <p:nvSpPr>
          <p:cNvPr id="38" name="Shape 36"/>
          <p:cNvSpPr/>
          <p:nvPr/>
        </p:nvSpPr>
        <p:spPr>
          <a:xfrm>
            <a:off x="503109" y="4477667"/>
            <a:ext cx="11185783" cy="469568"/>
          </a:xfrm>
          <a:custGeom>
            <a:avLst/>
            <a:gdLst/>
            <a:ahLst/>
            <a:cxnLst/>
            <a:rect l="l" t="t" r="r" b="b"/>
            <a:pathLst>
              <a:path w="11185783" h="469568">
                <a:moveTo>
                  <a:pt x="100624" y="0"/>
                </a:moveTo>
                <a:lnTo>
                  <a:pt x="11085159" y="0"/>
                </a:lnTo>
                <a:cubicBezTo>
                  <a:pt x="11140732" y="0"/>
                  <a:pt x="11185783" y="45051"/>
                  <a:pt x="11185783" y="100624"/>
                </a:cubicBezTo>
                <a:lnTo>
                  <a:pt x="11185783" y="368944"/>
                </a:lnTo>
                <a:cubicBezTo>
                  <a:pt x="11185783" y="424517"/>
                  <a:pt x="11140732" y="469568"/>
                  <a:pt x="11085159" y="469568"/>
                </a:cubicBezTo>
                <a:lnTo>
                  <a:pt x="100624" y="469568"/>
                </a:lnTo>
                <a:cubicBezTo>
                  <a:pt x="45088" y="469568"/>
                  <a:pt x="0" y="424480"/>
                  <a:pt x="0" y="368944"/>
                </a:cubicBezTo>
                <a:lnTo>
                  <a:pt x="0" y="100624"/>
                </a:lnTo>
                <a:cubicBezTo>
                  <a:pt x="0" y="45051"/>
                  <a:pt x="45051" y="0"/>
                  <a:pt x="100624" y="0"/>
                </a:cubicBezTo>
                <a:close/>
              </a:path>
            </a:pathLst>
          </a:custGeom>
          <a:solidFill>
            <a:srgbClr val="FFFFFF"/>
          </a:solidFill>
          <a:ln/>
        </p:spPr>
      </p:sp>
      <p:sp>
        <p:nvSpPr>
          <p:cNvPr id="39" name="Shape 37"/>
          <p:cNvSpPr/>
          <p:nvPr/>
        </p:nvSpPr>
        <p:spPr>
          <a:xfrm>
            <a:off x="620501" y="4645370"/>
            <a:ext cx="134162" cy="134162"/>
          </a:xfrm>
          <a:custGeom>
            <a:avLst/>
            <a:gdLst/>
            <a:ahLst/>
            <a:cxnLst/>
            <a:rect l="l" t="t" r="r" b="b"/>
            <a:pathLst>
              <a:path w="134162" h="134162">
                <a:moveTo>
                  <a:pt x="67081" y="0"/>
                </a:moveTo>
                <a:cubicBezTo>
                  <a:pt x="104104" y="0"/>
                  <a:pt x="134162" y="30058"/>
                  <a:pt x="134162" y="67081"/>
                </a:cubicBezTo>
                <a:cubicBezTo>
                  <a:pt x="134162" y="104104"/>
                  <a:pt x="104104" y="134162"/>
                  <a:pt x="67081" y="134162"/>
                </a:cubicBezTo>
                <a:cubicBezTo>
                  <a:pt x="30058" y="134162"/>
                  <a:pt x="0" y="104104"/>
                  <a:pt x="0" y="67081"/>
                </a:cubicBezTo>
                <a:cubicBezTo>
                  <a:pt x="0" y="30058"/>
                  <a:pt x="30058" y="0"/>
                  <a:pt x="67081" y="0"/>
                </a:cubicBezTo>
                <a:close/>
                <a:moveTo>
                  <a:pt x="60792" y="31444"/>
                </a:moveTo>
                <a:lnTo>
                  <a:pt x="60792" y="67081"/>
                </a:lnTo>
                <a:cubicBezTo>
                  <a:pt x="60792" y="69177"/>
                  <a:pt x="61840" y="71143"/>
                  <a:pt x="63596" y="72322"/>
                </a:cubicBezTo>
                <a:lnTo>
                  <a:pt x="88752" y="89092"/>
                </a:lnTo>
                <a:cubicBezTo>
                  <a:pt x="91634" y="91031"/>
                  <a:pt x="95538" y="90245"/>
                  <a:pt x="97477" y="87337"/>
                </a:cubicBezTo>
                <a:cubicBezTo>
                  <a:pt x="99416" y="84428"/>
                  <a:pt x="98630" y="80550"/>
                  <a:pt x="95722" y="78611"/>
                </a:cubicBezTo>
                <a:lnTo>
                  <a:pt x="73370" y="63727"/>
                </a:lnTo>
                <a:lnTo>
                  <a:pt x="73370" y="31444"/>
                </a:lnTo>
                <a:cubicBezTo>
                  <a:pt x="73370" y="27959"/>
                  <a:pt x="70566" y="25155"/>
                  <a:pt x="67081" y="25155"/>
                </a:cubicBezTo>
                <a:cubicBezTo>
                  <a:pt x="63596" y="25155"/>
                  <a:pt x="60792" y="27959"/>
                  <a:pt x="60792" y="31444"/>
                </a:cubicBezTo>
                <a:close/>
              </a:path>
            </a:pathLst>
          </a:custGeom>
          <a:solidFill>
            <a:srgbClr val="3B82F6"/>
          </a:solidFill>
          <a:ln/>
        </p:spPr>
      </p:sp>
      <p:sp>
        <p:nvSpPr>
          <p:cNvPr id="40" name="Text 38"/>
          <p:cNvSpPr/>
          <p:nvPr/>
        </p:nvSpPr>
        <p:spPr>
          <a:xfrm>
            <a:off x="838514" y="4611829"/>
            <a:ext cx="1450630" cy="201243"/>
          </a:xfrm>
          <a:prstGeom prst="rect">
            <a:avLst/>
          </a:prstGeom>
          <a:noFill/>
          <a:ln/>
        </p:spPr>
        <p:txBody>
          <a:bodyPr wrap="square" lIns="0" tIns="0" rIns="0" bIns="0" rtlCol="0" anchor="ctr"/>
          <a:lstStyle/>
          <a:p>
            <a:pPr>
              <a:lnSpc>
                <a:spcPct val="130000"/>
              </a:lnSpc>
            </a:pPr>
            <a:r>
              <a:rPr lang="en-US" sz="1056" b="1" dirty="0">
                <a:solidFill>
                  <a:srgbClr val="374151"/>
                </a:solidFill>
                <a:latin typeface="MiSans" pitchFamily="34" charset="0"/>
                <a:ea typeface="MiSans" pitchFamily="34" charset="-122"/>
                <a:cs typeface="MiSans" pitchFamily="34" charset="-120"/>
              </a:rPr>
              <a:t>Temps contrôle/pièce</a:t>
            </a:r>
            <a:endParaRPr lang="en-US" sz="1600" dirty="0"/>
          </a:p>
        </p:txBody>
      </p:sp>
      <p:sp>
        <p:nvSpPr>
          <p:cNvPr id="41" name="Text 39"/>
          <p:cNvSpPr/>
          <p:nvPr/>
        </p:nvSpPr>
        <p:spPr>
          <a:xfrm>
            <a:off x="5338979" y="4636985"/>
            <a:ext cx="589056" cy="142547"/>
          </a:xfrm>
          <a:prstGeom prst="rect">
            <a:avLst/>
          </a:prstGeom>
          <a:noFill/>
          <a:ln/>
        </p:spPr>
        <p:txBody>
          <a:bodyPr wrap="square" lIns="0" tIns="0" rIns="0" bIns="0" rtlCol="0" anchor="ctr"/>
          <a:lstStyle/>
          <a:p>
            <a:pPr algn="ctr">
              <a:lnSpc>
                <a:spcPct val="130000"/>
              </a:lnSpc>
            </a:pPr>
            <a:r>
              <a:rPr lang="en-US" sz="1056" dirty="0">
                <a:solidFill>
                  <a:srgbClr val="6B7280"/>
                </a:solidFill>
                <a:latin typeface="MiSans" pitchFamily="34" charset="0"/>
                <a:ea typeface="MiSans" pitchFamily="34" charset="-122"/>
                <a:cs typeface="MiSans" pitchFamily="34" charset="-120"/>
              </a:rPr>
              <a:t>2-10 min</a:t>
            </a:r>
            <a:endParaRPr lang="en-US" sz="1600" dirty="0"/>
          </a:p>
        </p:txBody>
      </p:sp>
      <p:sp>
        <p:nvSpPr>
          <p:cNvPr id="42" name="Text 40"/>
          <p:cNvSpPr/>
          <p:nvPr/>
        </p:nvSpPr>
        <p:spPr>
          <a:xfrm>
            <a:off x="8013709" y="4595059"/>
            <a:ext cx="799733" cy="226399"/>
          </a:xfrm>
          <a:prstGeom prst="rect">
            <a:avLst/>
          </a:prstGeom>
          <a:noFill/>
          <a:ln/>
        </p:spPr>
        <p:txBody>
          <a:bodyPr wrap="square" lIns="0" tIns="0" rIns="0" bIns="0" rtlCol="0" anchor="ctr"/>
          <a:lstStyle/>
          <a:p>
            <a:pPr algn="ctr">
              <a:lnSpc>
                <a:spcPct val="110000"/>
              </a:lnSpc>
            </a:pPr>
            <a:r>
              <a:rPr lang="en-US" sz="1585" b="1" dirty="0">
                <a:solidFill>
                  <a:srgbClr val="10B981"/>
                </a:solidFill>
                <a:latin typeface="Noto Sans SC" pitchFamily="34" charset="0"/>
                <a:ea typeface="Noto Sans SC" pitchFamily="34" charset="-122"/>
                <a:cs typeface="Noto Sans SC" pitchFamily="34" charset="-120"/>
              </a:rPr>
              <a:t>&lt; 2 min</a:t>
            </a:r>
            <a:endParaRPr lang="en-US" sz="1600" dirty="0"/>
          </a:p>
        </p:txBody>
      </p:sp>
      <p:sp>
        <p:nvSpPr>
          <p:cNvPr id="43" name="Shape 41"/>
          <p:cNvSpPr/>
          <p:nvPr/>
        </p:nvSpPr>
        <p:spPr>
          <a:xfrm>
            <a:off x="10446973" y="4611829"/>
            <a:ext cx="566783" cy="201243"/>
          </a:xfrm>
          <a:custGeom>
            <a:avLst/>
            <a:gdLst/>
            <a:ahLst/>
            <a:cxnLst/>
            <a:rect l="l" t="t" r="r" b="b"/>
            <a:pathLst>
              <a:path w="566783" h="201243">
                <a:moveTo>
                  <a:pt x="100622" y="0"/>
                </a:moveTo>
                <a:lnTo>
                  <a:pt x="466162" y="0"/>
                </a:lnTo>
                <a:cubicBezTo>
                  <a:pt x="521733" y="0"/>
                  <a:pt x="566783" y="45050"/>
                  <a:pt x="566783" y="100622"/>
                </a:cubicBezTo>
                <a:lnTo>
                  <a:pt x="566783" y="100622"/>
                </a:lnTo>
                <a:cubicBezTo>
                  <a:pt x="566783" y="156194"/>
                  <a:pt x="521733" y="201243"/>
                  <a:pt x="466162" y="201243"/>
                </a:cubicBezTo>
                <a:lnTo>
                  <a:pt x="100622" y="201243"/>
                </a:lnTo>
                <a:cubicBezTo>
                  <a:pt x="45087" y="201243"/>
                  <a:pt x="0" y="156156"/>
                  <a:pt x="0" y="100622"/>
                </a:cubicBezTo>
                <a:lnTo>
                  <a:pt x="0" y="100622"/>
                </a:lnTo>
                <a:cubicBezTo>
                  <a:pt x="0" y="45087"/>
                  <a:pt x="45087" y="0"/>
                  <a:pt x="100622" y="0"/>
                </a:cubicBezTo>
                <a:close/>
              </a:path>
            </a:pathLst>
          </a:custGeom>
          <a:solidFill>
            <a:srgbClr val="8B5CF6"/>
          </a:solidFill>
          <a:ln/>
        </p:spPr>
      </p:sp>
      <p:sp>
        <p:nvSpPr>
          <p:cNvPr id="44" name="Text 42"/>
          <p:cNvSpPr/>
          <p:nvPr/>
        </p:nvSpPr>
        <p:spPr>
          <a:xfrm>
            <a:off x="10417625" y="4611829"/>
            <a:ext cx="625479" cy="201243"/>
          </a:xfrm>
          <a:prstGeom prst="rect">
            <a:avLst/>
          </a:prstGeom>
          <a:noFill/>
          <a:ln/>
        </p:spPr>
        <p:txBody>
          <a:bodyPr wrap="square" lIns="100622" tIns="33541" rIns="100622" bIns="33541" rtlCol="0" anchor="ctr"/>
          <a:lstStyle/>
          <a:p>
            <a:pPr algn="ctr">
              <a:lnSpc>
                <a:spcPct val="120000"/>
              </a:lnSpc>
            </a:pPr>
            <a:r>
              <a:rPr lang="en-US" sz="924" dirty="0">
                <a:solidFill>
                  <a:srgbClr val="FFFFFF"/>
                </a:solidFill>
                <a:latin typeface="MiSans" pitchFamily="34" charset="0"/>
                <a:ea typeface="MiSans" pitchFamily="34" charset="-122"/>
                <a:cs typeface="MiSans" pitchFamily="34" charset="-120"/>
              </a:rPr>
              <a:t>Sophie</a:t>
            </a:r>
            <a:endParaRPr lang="en-US" sz="1600" dirty="0"/>
          </a:p>
        </p:txBody>
      </p:sp>
      <p:sp>
        <p:nvSpPr>
          <p:cNvPr id="45" name="Shape 43"/>
          <p:cNvSpPr/>
          <p:nvPr/>
        </p:nvSpPr>
        <p:spPr>
          <a:xfrm>
            <a:off x="503109" y="5014316"/>
            <a:ext cx="11185783" cy="469568"/>
          </a:xfrm>
          <a:custGeom>
            <a:avLst/>
            <a:gdLst/>
            <a:ahLst/>
            <a:cxnLst/>
            <a:rect l="l" t="t" r="r" b="b"/>
            <a:pathLst>
              <a:path w="11185783" h="469568">
                <a:moveTo>
                  <a:pt x="100624" y="0"/>
                </a:moveTo>
                <a:lnTo>
                  <a:pt x="11085159" y="0"/>
                </a:lnTo>
                <a:cubicBezTo>
                  <a:pt x="11140732" y="0"/>
                  <a:pt x="11185783" y="45051"/>
                  <a:pt x="11185783" y="100624"/>
                </a:cubicBezTo>
                <a:lnTo>
                  <a:pt x="11185783" y="368944"/>
                </a:lnTo>
                <a:cubicBezTo>
                  <a:pt x="11185783" y="424517"/>
                  <a:pt x="11140732" y="469568"/>
                  <a:pt x="11085159" y="469568"/>
                </a:cubicBezTo>
                <a:lnTo>
                  <a:pt x="100624" y="469568"/>
                </a:lnTo>
                <a:cubicBezTo>
                  <a:pt x="45088" y="469568"/>
                  <a:pt x="0" y="424480"/>
                  <a:pt x="0" y="368944"/>
                </a:cubicBezTo>
                <a:lnTo>
                  <a:pt x="0" y="100624"/>
                </a:lnTo>
                <a:cubicBezTo>
                  <a:pt x="0" y="45051"/>
                  <a:pt x="45051" y="0"/>
                  <a:pt x="100624" y="0"/>
                </a:cubicBezTo>
                <a:close/>
              </a:path>
            </a:pathLst>
          </a:custGeom>
          <a:solidFill>
            <a:srgbClr val="FFFFFF"/>
          </a:solidFill>
          <a:ln/>
        </p:spPr>
      </p:sp>
      <p:sp>
        <p:nvSpPr>
          <p:cNvPr id="46" name="Shape 44"/>
          <p:cNvSpPr/>
          <p:nvPr/>
        </p:nvSpPr>
        <p:spPr>
          <a:xfrm>
            <a:off x="620501" y="5182019"/>
            <a:ext cx="134162" cy="134162"/>
          </a:xfrm>
          <a:custGeom>
            <a:avLst/>
            <a:gdLst/>
            <a:ahLst/>
            <a:cxnLst/>
            <a:rect l="l" t="t" r="r" b="b"/>
            <a:pathLst>
              <a:path w="134162" h="134162">
                <a:moveTo>
                  <a:pt x="67081" y="0"/>
                </a:moveTo>
                <a:cubicBezTo>
                  <a:pt x="70933" y="0"/>
                  <a:pt x="74471" y="2122"/>
                  <a:pt x="76305" y="5503"/>
                </a:cubicBezTo>
                <a:lnTo>
                  <a:pt x="132905" y="110317"/>
                </a:lnTo>
                <a:cubicBezTo>
                  <a:pt x="134660" y="113566"/>
                  <a:pt x="134582" y="117497"/>
                  <a:pt x="132695" y="120667"/>
                </a:cubicBezTo>
                <a:cubicBezTo>
                  <a:pt x="130808" y="123838"/>
                  <a:pt x="127376" y="125777"/>
                  <a:pt x="123681" y="125777"/>
                </a:cubicBezTo>
                <a:lnTo>
                  <a:pt x="10481" y="125777"/>
                </a:lnTo>
                <a:cubicBezTo>
                  <a:pt x="6787" y="125777"/>
                  <a:pt x="3380" y="123838"/>
                  <a:pt x="1467" y="120667"/>
                </a:cubicBezTo>
                <a:cubicBezTo>
                  <a:pt x="-445" y="117497"/>
                  <a:pt x="-498" y="113566"/>
                  <a:pt x="1258" y="110317"/>
                </a:cubicBezTo>
                <a:lnTo>
                  <a:pt x="57857" y="5503"/>
                </a:lnTo>
                <a:cubicBezTo>
                  <a:pt x="59692" y="2122"/>
                  <a:pt x="63229" y="0"/>
                  <a:pt x="67081" y="0"/>
                </a:cubicBezTo>
                <a:close/>
                <a:moveTo>
                  <a:pt x="67081" y="44022"/>
                </a:moveTo>
                <a:cubicBezTo>
                  <a:pt x="63596" y="44022"/>
                  <a:pt x="60792" y="46826"/>
                  <a:pt x="60792" y="50311"/>
                </a:cubicBezTo>
                <a:lnTo>
                  <a:pt x="60792" y="79659"/>
                </a:lnTo>
                <a:cubicBezTo>
                  <a:pt x="60792" y="83144"/>
                  <a:pt x="63596" y="85948"/>
                  <a:pt x="67081" y="85948"/>
                </a:cubicBezTo>
                <a:cubicBezTo>
                  <a:pt x="70566" y="85948"/>
                  <a:pt x="73370" y="83144"/>
                  <a:pt x="73370" y="79659"/>
                </a:cubicBezTo>
                <a:lnTo>
                  <a:pt x="73370" y="50311"/>
                </a:lnTo>
                <a:cubicBezTo>
                  <a:pt x="73370" y="46826"/>
                  <a:pt x="70566" y="44022"/>
                  <a:pt x="67081" y="44022"/>
                </a:cubicBezTo>
                <a:close/>
                <a:moveTo>
                  <a:pt x="74078" y="100622"/>
                </a:moveTo>
                <a:cubicBezTo>
                  <a:pt x="74237" y="98025"/>
                  <a:pt x="72942" y="95554"/>
                  <a:pt x="70715" y="94207"/>
                </a:cubicBezTo>
                <a:cubicBezTo>
                  <a:pt x="68489" y="92861"/>
                  <a:pt x="65699" y="92861"/>
                  <a:pt x="63473" y="94207"/>
                </a:cubicBezTo>
                <a:cubicBezTo>
                  <a:pt x="61247" y="95554"/>
                  <a:pt x="59952" y="98025"/>
                  <a:pt x="60111" y="100622"/>
                </a:cubicBezTo>
                <a:cubicBezTo>
                  <a:pt x="59952" y="103219"/>
                  <a:pt x="61247" y="105689"/>
                  <a:pt x="63473" y="107036"/>
                </a:cubicBezTo>
                <a:cubicBezTo>
                  <a:pt x="65699" y="108383"/>
                  <a:pt x="68489" y="108383"/>
                  <a:pt x="70715" y="107036"/>
                </a:cubicBezTo>
                <a:cubicBezTo>
                  <a:pt x="72942" y="105689"/>
                  <a:pt x="74237" y="103219"/>
                  <a:pt x="74078" y="100622"/>
                </a:cubicBezTo>
                <a:close/>
              </a:path>
            </a:pathLst>
          </a:custGeom>
          <a:solidFill>
            <a:srgbClr val="F97316"/>
          </a:solidFill>
          <a:ln/>
        </p:spPr>
      </p:sp>
      <p:sp>
        <p:nvSpPr>
          <p:cNvPr id="47" name="Text 45"/>
          <p:cNvSpPr/>
          <p:nvPr/>
        </p:nvSpPr>
        <p:spPr>
          <a:xfrm>
            <a:off x="838514" y="5148479"/>
            <a:ext cx="821744" cy="201243"/>
          </a:xfrm>
          <a:prstGeom prst="rect">
            <a:avLst/>
          </a:prstGeom>
          <a:noFill/>
          <a:ln/>
        </p:spPr>
        <p:txBody>
          <a:bodyPr wrap="square" lIns="0" tIns="0" rIns="0" bIns="0" rtlCol="0" anchor="ctr"/>
          <a:lstStyle/>
          <a:p>
            <a:pPr>
              <a:lnSpc>
                <a:spcPct val="130000"/>
              </a:lnSpc>
            </a:pPr>
            <a:r>
              <a:rPr lang="en-US" sz="1056" b="1" dirty="0">
                <a:solidFill>
                  <a:srgbClr val="374151"/>
                </a:solidFill>
                <a:latin typeface="MiSans" pitchFamily="34" charset="0"/>
                <a:ea typeface="MiSans" pitchFamily="34" charset="-122"/>
                <a:cs typeface="MiSans" pitchFamily="34" charset="-120"/>
              </a:rPr>
              <a:t>NCR livrées</a:t>
            </a:r>
            <a:endParaRPr lang="en-US" sz="1600" dirty="0"/>
          </a:p>
        </p:txBody>
      </p:sp>
      <p:sp>
        <p:nvSpPr>
          <p:cNvPr id="48" name="Text 46"/>
          <p:cNvSpPr/>
          <p:nvPr/>
        </p:nvSpPr>
        <p:spPr>
          <a:xfrm>
            <a:off x="5342647" y="5173634"/>
            <a:ext cx="581719" cy="142547"/>
          </a:xfrm>
          <a:prstGeom prst="rect">
            <a:avLst/>
          </a:prstGeom>
          <a:noFill/>
          <a:ln/>
        </p:spPr>
        <p:txBody>
          <a:bodyPr wrap="square" lIns="0" tIns="0" rIns="0" bIns="0" rtlCol="0" anchor="ctr"/>
          <a:lstStyle/>
          <a:p>
            <a:pPr algn="ctr">
              <a:lnSpc>
                <a:spcPct val="130000"/>
              </a:lnSpc>
            </a:pPr>
            <a:r>
              <a:rPr lang="en-US" sz="1056" dirty="0">
                <a:solidFill>
                  <a:srgbClr val="6B7280"/>
                </a:solidFill>
                <a:latin typeface="MiSans" pitchFamily="34" charset="0"/>
                <a:ea typeface="MiSans" pitchFamily="34" charset="-122"/>
                <a:cs typeface="MiSans" pitchFamily="34" charset="-120"/>
              </a:rPr>
              <a:t>Baseline</a:t>
            </a:r>
            <a:endParaRPr lang="en-US" sz="1600" dirty="0"/>
          </a:p>
        </p:txBody>
      </p:sp>
      <p:sp>
        <p:nvSpPr>
          <p:cNvPr id="49" name="Text 47"/>
          <p:cNvSpPr/>
          <p:nvPr/>
        </p:nvSpPr>
        <p:spPr>
          <a:xfrm>
            <a:off x="8128349" y="5131708"/>
            <a:ext cx="570452" cy="226399"/>
          </a:xfrm>
          <a:prstGeom prst="rect">
            <a:avLst/>
          </a:prstGeom>
          <a:noFill/>
          <a:ln/>
        </p:spPr>
        <p:txBody>
          <a:bodyPr wrap="square" lIns="0" tIns="0" rIns="0" bIns="0" rtlCol="0" anchor="ctr"/>
          <a:lstStyle/>
          <a:p>
            <a:pPr algn="ctr">
              <a:lnSpc>
                <a:spcPct val="110000"/>
              </a:lnSpc>
            </a:pPr>
            <a:r>
              <a:rPr lang="en-US" sz="1585" b="1" dirty="0">
                <a:solidFill>
                  <a:srgbClr val="10B981"/>
                </a:solidFill>
                <a:latin typeface="Noto Sans SC" pitchFamily="34" charset="0"/>
                <a:ea typeface="Noto Sans SC" pitchFamily="34" charset="-122"/>
                <a:cs typeface="Noto Sans SC" pitchFamily="34" charset="-120"/>
              </a:rPr>
              <a:t>-30%</a:t>
            </a:r>
            <a:endParaRPr lang="en-US" sz="1600" dirty="0"/>
          </a:p>
        </p:txBody>
      </p:sp>
      <p:sp>
        <p:nvSpPr>
          <p:cNvPr id="50" name="Shape 48"/>
          <p:cNvSpPr/>
          <p:nvPr/>
        </p:nvSpPr>
        <p:spPr>
          <a:xfrm>
            <a:off x="10499249" y="5148479"/>
            <a:ext cx="462231" cy="201243"/>
          </a:xfrm>
          <a:custGeom>
            <a:avLst/>
            <a:gdLst/>
            <a:ahLst/>
            <a:cxnLst/>
            <a:rect l="l" t="t" r="r" b="b"/>
            <a:pathLst>
              <a:path w="462231" h="201243">
                <a:moveTo>
                  <a:pt x="100622" y="0"/>
                </a:moveTo>
                <a:lnTo>
                  <a:pt x="361609" y="0"/>
                </a:lnTo>
                <a:cubicBezTo>
                  <a:pt x="417144" y="0"/>
                  <a:pt x="462231" y="45087"/>
                  <a:pt x="462231" y="100622"/>
                </a:cubicBezTo>
                <a:lnTo>
                  <a:pt x="462231" y="100622"/>
                </a:lnTo>
                <a:cubicBezTo>
                  <a:pt x="462231" y="156156"/>
                  <a:pt x="417144" y="201243"/>
                  <a:pt x="361609" y="201243"/>
                </a:cubicBezTo>
                <a:lnTo>
                  <a:pt x="100622" y="201243"/>
                </a:lnTo>
                <a:cubicBezTo>
                  <a:pt x="45087" y="201243"/>
                  <a:pt x="0" y="156156"/>
                  <a:pt x="0" y="100622"/>
                </a:cubicBezTo>
                <a:lnTo>
                  <a:pt x="0" y="100622"/>
                </a:lnTo>
                <a:cubicBezTo>
                  <a:pt x="0" y="45087"/>
                  <a:pt x="45087" y="0"/>
                  <a:pt x="100622" y="0"/>
                </a:cubicBezTo>
                <a:close/>
              </a:path>
            </a:pathLst>
          </a:custGeom>
          <a:solidFill>
            <a:srgbClr val="3B82F6"/>
          </a:solidFill>
          <a:ln/>
        </p:spPr>
      </p:sp>
      <p:sp>
        <p:nvSpPr>
          <p:cNvPr id="51" name="Text 49"/>
          <p:cNvSpPr/>
          <p:nvPr/>
        </p:nvSpPr>
        <p:spPr>
          <a:xfrm>
            <a:off x="10469901" y="5148479"/>
            <a:ext cx="520927" cy="201243"/>
          </a:xfrm>
          <a:prstGeom prst="rect">
            <a:avLst/>
          </a:prstGeom>
          <a:noFill/>
          <a:ln/>
        </p:spPr>
        <p:txBody>
          <a:bodyPr wrap="square" lIns="100622" tIns="33541" rIns="100622" bIns="33541" rtlCol="0" anchor="ctr"/>
          <a:lstStyle/>
          <a:p>
            <a:pPr algn="ctr">
              <a:lnSpc>
                <a:spcPct val="120000"/>
              </a:lnSpc>
            </a:pPr>
            <a:r>
              <a:rPr lang="en-US" sz="924" dirty="0">
                <a:solidFill>
                  <a:srgbClr val="FFFFFF"/>
                </a:solidFill>
                <a:latin typeface="MiSans" pitchFamily="34" charset="0"/>
                <a:ea typeface="MiSans" pitchFamily="34" charset="-122"/>
                <a:cs typeface="MiSans" pitchFamily="34" charset="-120"/>
              </a:rPr>
              <a:t>Marc</a:t>
            </a:r>
            <a:endParaRPr lang="en-US" sz="1600" dirty="0"/>
          </a:p>
        </p:txBody>
      </p:sp>
      <p:sp>
        <p:nvSpPr>
          <p:cNvPr id="52" name="Shape 50"/>
          <p:cNvSpPr/>
          <p:nvPr/>
        </p:nvSpPr>
        <p:spPr>
          <a:xfrm>
            <a:off x="503109" y="5550966"/>
            <a:ext cx="11185783" cy="469568"/>
          </a:xfrm>
          <a:custGeom>
            <a:avLst/>
            <a:gdLst/>
            <a:ahLst/>
            <a:cxnLst/>
            <a:rect l="l" t="t" r="r" b="b"/>
            <a:pathLst>
              <a:path w="11185783" h="469568">
                <a:moveTo>
                  <a:pt x="100624" y="0"/>
                </a:moveTo>
                <a:lnTo>
                  <a:pt x="11085159" y="0"/>
                </a:lnTo>
                <a:cubicBezTo>
                  <a:pt x="11140732" y="0"/>
                  <a:pt x="11185783" y="45051"/>
                  <a:pt x="11185783" y="100624"/>
                </a:cubicBezTo>
                <a:lnTo>
                  <a:pt x="11185783" y="368944"/>
                </a:lnTo>
                <a:cubicBezTo>
                  <a:pt x="11185783" y="424517"/>
                  <a:pt x="11140732" y="469568"/>
                  <a:pt x="11085159" y="469568"/>
                </a:cubicBezTo>
                <a:lnTo>
                  <a:pt x="100624" y="469568"/>
                </a:lnTo>
                <a:cubicBezTo>
                  <a:pt x="45088" y="469568"/>
                  <a:pt x="0" y="424480"/>
                  <a:pt x="0" y="368944"/>
                </a:cubicBezTo>
                <a:lnTo>
                  <a:pt x="0" y="100624"/>
                </a:lnTo>
                <a:cubicBezTo>
                  <a:pt x="0" y="45051"/>
                  <a:pt x="45051" y="0"/>
                  <a:pt x="100624" y="0"/>
                </a:cubicBezTo>
                <a:close/>
              </a:path>
            </a:pathLst>
          </a:custGeom>
          <a:solidFill>
            <a:srgbClr val="FFFFFF"/>
          </a:solidFill>
          <a:ln/>
        </p:spPr>
      </p:sp>
      <p:sp>
        <p:nvSpPr>
          <p:cNvPr id="53" name="Shape 51"/>
          <p:cNvSpPr/>
          <p:nvPr/>
        </p:nvSpPr>
        <p:spPr>
          <a:xfrm>
            <a:off x="612116" y="5718669"/>
            <a:ext cx="150933" cy="134162"/>
          </a:xfrm>
          <a:custGeom>
            <a:avLst/>
            <a:gdLst/>
            <a:ahLst/>
            <a:cxnLst/>
            <a:rect l="l" t="t" r="r" b="b"/>
            <a:pathLst>
              <a:path w="150933" h="134162">
                <a:moveTo>
                  <a:pt x="0" y="25155"/>
                </a:moveTo>
                <a:cubicBezTo>
                  <a:pt x="0" y="15906"/>
                  <a:pt x="7520" y="8385"/>
                  <a:pt x="16770" y="8385"/>
                </a:cubicBezTo>
                <a:lnTo>
                  <a:pt x="92237" y="8385"/>
                </a:lnTo>
                <a:cubicBezTo>
                  <a:pt x="101486" y="8385"/>
                  <a:pt x="109007" y="15906"/>
                  <a:pt x="109007" y="25155"/>
                </a:cubicBezTo>
                <a:lnTo>
                  <a:pt x="109007" y="33541"/>
                </a:lnTo>
                <a:lnTo>
                  <a:pt x="122292" y="33541"/>
                </a:lnTo>
                <a:cubicBezTo>
                  <a:pt x="126747" y="33541"/>
                  <a:pt x="131018" y="35296"/>
                  <a:pt x="134162" y="38441"/>
                </a:cubicBezTo>
                <a:lnTo>
                  <a:pt x="146033" y="50311"/>
                </a:lnTo>
                <a:cubicBezTo>
                  <a:pt x="149177" y="53455"/>
                  <a:pt x="150933" y="57726"/>
                  <a:pt x="150933" y="62181"/>
                </a:cubicBezTo>
                <a:lnTo>
                  <a:pt x="150933" y="100622"/>
                </a:lnTo>
                <a:cubicBezTo>
                  <a:pt x="150933" y="109872"/>
                  <a:pt x="143412" y="117392"/>
                  <a:pt x="134162" y="117392"/>
                </a:cubicBezTo>
                <a:lnTo>
                  <a:pt x="133298" y="117392"/>
                </a:lnTo>
                <a:cubicBezTo>
                  <a:pt x="130572" y="127061"/>
                  <a:pt x="121663" y="134162"/>
                  <a:pt x="111103" y="134162"/>
                </a:cubicBezTo>
                <a:cubicBezTo>
                  <a:pt x="100543" y="134162"/>
                  <a:pt x="91660" y="127061"/>
                  <a:pt x="88909" y="117392"/>
                </a:cubicBezTo>
                <a:lnTo>
                  <a:pt x="62024" y="117392"/>
                </a:lnTo>
                <a:cubicBezTo>
                  <a:pt x="59299" y="127061"/>
                  <a:pt x="50389" y="134162"/>
                  <a:pt x="39829" y="134162"/>
                </a:cubicBezTo>
                <a:cubicBezTo>
                  <a:pt x="29269" y="134162"/>
                  <a:pt x="20386" y="127061"/>
                  <a:pt x="17635" y="117392"/>
                </a:cubicBezTo>
                <a:lnTo>
                  <a:pt x="16770" y="117392"/>
                </a:lnTo>
                <a:cubicBezTo>
                  <a:pt x="7520" y="117392"/>
                  <a:pt x="0" y="109872"/>
                  <a:pt x="0" y="100622"/>
                </a:cubicBezTo>
                <a:lnTo>
                  <a:pt x="0" y="25155"/>
                </a:lnTo>
                <a:close/>
                <a:moveTo>
                  <a:pt x="134162" y="75466"/>
                </a:moveTo>
                <a:lnTo>
                  <a:pt x="134162" y="62181"/>
                </a:lnTo>
                <a:lnTo>
                  <a:pt x="122292" y="50311"/>
                </a:lnTo>
                <a:lnTo>
                  <a:pt x="109007" y="50311"/>
                </a:lnTo>
                <a:lnTo>
                  <a:pt x="109007" y="75466"/>
                </a:lnTo>
                <a:lnTo>
                  <a:pt x="134162" y="75466"/>
                </a:lnTo>
                <a:close/>
                <a:moveTo>
                  <a:pt x="50311" y="111103"/>
                </a:moveTo>
                <a:cubicBezTo>
                  <a:pt x="50311" y="105318"/>
                  <a:pt x="45614" y="100622"/>
                  <a:pt x="39829" y="100622"/>
                </a:cubicBezTo>
                <a:cubicBezTo>
                  <a:pt x="34045" y="100622"/>
                  <a:pt x="29348" y="105318"/>
                  <a:pt x="29348" y="111103"/>
                </a:cubicBezTo>
                <a:cubicBezTo>
                  <a:pt x="29348" y="116888"/>
                  <a:pt x="34045" y="121585"/>
                  <a:pt x="39829" y="121585"/>
                </a:cubicBezTo>
                <a:cubicBezTo>
                  <a:pt x="45614" y="121585"/>
                  <a:pt x="50311" y="116888"/>
                  <a:pt x="50311" y="111103"/>
                </a:cubicBezTo>
                <a:close/>
                <a:moveTo>
                  <a:pt x="111103" y="121585"/>
                </a:moveTo>
                <a:cubicBezTo>
                  <a:pt x="116888" y="121585"/>
                  <a:pt x="121585" y="116888"/>
                  <a:pt x="121585" y="111103"/>
                </a:cubicBezTo>
                <a:cubicBezTo>
                  <a:pt x="121585" y="105318"/>
                  <a:pt x="116888" y="100622"/>
                  <a:pt x="111103" y="100622"/>
                </a:cubicBezTo>
                <a:cubicBezTo>
                  <a:pt x="105318" y="100622"/>
                  <a:pt x="100622" y="105318"/>
                  <a:pt x="100622" y="111103"/>
                </a:cubicBezTo>
                <a:cubicBezTo>
                  <a:pt x="100622" y="116888"/>
                  <a:pt x="105318" y="121585"/>
                  <a:pt x="111103" y="121585"/>
                </a:cubicBezTo>
                <a:close/>
              </a:path>
            </a:pathLst>
          </a:custGeom>
          <a:solidFill>
            <a:srgbClr val="10B981"/>
          </a:solidFill>
          <a:ln/>
        </p:spPr>
      </p:sp>
      <p:sp>
        <p:nvSpPr>
          <p:cNvPr id="54" name="Text 52"/>
          <p:cNvSpPr/>
          <p:nvPr/>
        </p:nvSpPr>
        <p:spPr>
          <a:xfrm>
            <a:off x="838514" y="5685128"/>
            <a:ext cx="352176" cy="201243"/>
          </a:xfrm>
          <a:prstGeom prst="rect">
            <a:avLst/>
          </a:prstGeom>
          <a:noFill/>
          <a:ln/>
        </p:spPr>
        <p:txBody>
          <a:bodyPr wrap="square" lIns="0" tIns="0" rIns="0" bIns="0" rtlCol="0" anchor="ctr"/>
          <a:lstStyle/>
          <a:p>
            <a:pPr>
              <a:lnSpc>
                <a:spcPct val="130000"/>
              </a:lnSpc>
            </a:pPr>
            <a:r>
              <a:rPr lang="en-US" sz="1056" b="1" dirty="0">
                <a:solidFill>
                  <a:srgbClr val="374151"/>
                </a:solidFill>
                <a:latin typeface="MiSans" pitchFamily="34" charset="0"/>
                <a:ea typeface="MiSans" pitchFamily="34" charset="-122"/>
                <a:cs typeface="MiSans" pitchFamily="34" charset="-120"/>
              </a:rPr>
              <a:t>OTD</a:t>
            </a:r>
            <a:endParaRPr lang="en-US" sz="1600" dirty="0"/>
          </a:p>
        </p:txBody>
      </p:sp>
      <p:sp>
        <p:nvSpPr>
          <p:cNvPr id="55" name="Text 53"/>
          <p:cNvSpPr/>
          <p:nvPr/>
        </p:nvSpPr>
        <p:spPr>
          <a:xfrm>
            <a:off x="5342647" y="5710283"/>
            <a:ext cx="581719" cy="142547"/>
          </a:xfrm>
          <a:prstGeom prst="rect">
            <a:avLst/>
          </a:prstGeom>
          <a:noFill/>
          <a:ln/>
        </p:spPr>
        <p:txBody>
          <a:bodyPr wrap="square" lIns="0" tIns="0" rIns="0" bIns="0" rtlCol="0" anchor="ctr"/>
          <a:lstStyle/>
          <a:p>
            <a:pPr algn="ctr">
              <a:lnSpc>
                <a:spcPct val="130000"/>
              </a:lnSpc>
            </a:pPr>
            <a:r>
              <a:rPr lang="en-US" sz="1056" dirty="0">
                <a:solidFill>
                  <a:srgbClr val="6B7280"/>
                </a:solidFill>
                <a:latin typeface="MiSans" pitchFamily="34" charset="0"/>
                <a:ea typeface="MiSans" pitchFamily="34" charset="-122"/>
                <a:cs typeface="MiSans" pitchFamily="34" charset="-120"/>
              </a:rPr>
              <a:t>Dégradé</a:t>
            </a:r>
            <a:endParaRPr lang="en-US" sz="1600" dirty="0"/>
          </a:p>
        </p:txBody>
      </p:sp>
      <p:sp>
        <p:nvSpPr>
          <p:cNvPr id="56" name="Text 54"/>
          <p:cNvSpPr/>
          <p:nvPr/>
        </p:nvSpPr>
        <p:spPr>
          <a:xfrm>
            <a:off x="7787048" y="5668358"/>
            <a:ext cx="1253055" cy="226399"/>
          </a:xfrm>
          <a:prstGeom prst="rect">
            <a:avLst/>
          </a:prstGeom>
          <a:noFill/>
          <a:ln/>
        </p:spPr>
        <p:txBody>
          <a:bodyPr wrap="square" lIns="0" tIns="0" rIns="0" bIns="0" rtlCol="0" anchor="ctr"/>
          <a:lstStyle/>
          <a:p>
            <a:pPr algn="ctr">
              <a:lnSpc>
                <a:spcPct val="110000"/>
              </a:lnSpc>
            </a:pPr>
            <a:r>
              <a:rPr lang="en-US" sz="1585" b="1" dirty="0">
                <a:solidFill>
                  <a:srgbClr val="10B981"/>
                </a:solidFill>
                <a:latin typeface="Noto Sans SC" pitchFamily="34" charset="0"/>
                <a:ea typeface="Noto Sans SC" pitchFamily="34" charset="-122"/>
                <a:cs typeface="Noto Sans SC" pitchFamily="34" charset="-120"/>
              </a:rPr>
              <a:t>+5 à +10 pts</a:t>
            </a:r>
            <a:endParaRPr lang="en-US" sz="1600" dirty="0"/>
          </a:p>
        </p:txBody>
      </p:sp>
      <p:sp>
        <p:nvSpPr>
          <p:cNvPr id="57" name="Shape 55"/>
          <p:cNvSpPr/>
          <p:nvPr/>
        </p:nvSpPr>
        <p:spPr>
          <a:xfrm>
            <a:off x="10499249" y="5685128"/>
            <a:ext cx="462231" cy="201243"/>
          </a:xfrm>
          <a:custGeom>
            <a:avLst/>
            <a:gdLst/>
            <a:ahLst/>
            <a:cxnLst/>
            <a:rect l="l" t="t" r="r" b="b"/>
            <a:pathLst>
              <a:path w="462231" h="201243">
                <a:moveTo>
                  <a:pt x="100622" y="0"/>
                </a:moveTo>
                <a:lnTo>
                  <a:pt x="361609" y="0"/>
                </a:lnTo>
                <a:cubicBezTo>
                  <a:pt x="417144" y="0"/>
                  <a:pt x="462231" y="45087"/>
                  <a:pt x="462231" y="100622"/>
                </a:cubicBezTo>
                <a:lnTo>
                  <a:pt x="462231" y="100622"/>
                </a:lnTo>
                <a:cubicBezTo>
                  <a:pt x="462231" y="156156"/>
                  <a:pt x="417144" y="201243"/>
                  <a:pt x="361609" y="201243"/>
                </a:cubicBezTo>
                <a:lnTo>
                  <a:pt x="100622" y="201243"/>
                </a:lnTo>
                <a:cubicBezTo>
                  <a:pt x="45087" y="201243"/>
                  <a:pt x="0" y="156156"/>
                  <a:pt x="0" y="100622"/>
                </a:cubicBezTo>
                <a:lnTo>
                  <a:pt x="0" y="100622"/>
                </a:lnTo>
                <a:cubicBezTo>
                  <a:pt x="0" y="45087"/>
                  <a:pt x="45087" y="0"/>
                  <a:pt x="100622" y="0"/>
                </a:cubicBezTo>
                <a:close/>
              </a:path>
            </a:pathLst>
          </a:custGeom>
          <a:solidFill>
            <a:srgbClr val="3B82F6"/>
          </a:solidFill>
          <a:ln/>
        </p:spPr>
      </p:sp>
      <p:sp>
        <p:nvSpPr>
          <p:cNvPr id="58" name="Text 56"/>
          <p:cNvSpPr/>
          <p:nvPr/>
        </p:nvSpPr>
        <p:spPr>
          <a:xfrm>
            <a:off x="10469901" y="5685128"/>
            <a:ext cx="520927" cy="201243"/>
          </a:xfrm>
          <a:prstGeom prst="rect">
            <a:avLst/>
          </a:prstGeom>
          <a:noFill/>
          <a:ln/>
        </p:spPr>
        <p:txBody>
          <a:bodyPr wrap="square" lIns="100622" tIns="33541" rIns="100622" bIns="33541" rtlCol="0" anchor="ctr"/>
          <a:lstStyle/>
          <a:p>
            <a:pPr algn="ctr">
              <a:lnSpc>
                <a:spcPct val="120000"/>
              </a:lnSpc>
            </a:pPr>
            <a:r>
              <a:rPr lang="en-US" sz="924" dirty="0">
                <a:solidFill>
                  <a:srgbClr val="FFFFFF"/>
                </a:solidFill>
                <a:latin typeface="MiSans" pitchFamily="34" charset="0"/>
                <a:ea typeface="MiSans" pitchFamily="34" charset="-122"/>
                <a:cs typeface="MiSans" pitchFamily="34" charset="-120"/>
              </a:rPr>
              <a:t>Marc</a:t>
            </a:r>
            <a:endParaRPr lang="en-US" sz="1600" dirty="0"/>
          </a:p>
        </p:txBody>
      </p:sp>
      <p:sp>
        <p:nvSpPr>
          <p:cNvPr id="59" name="Text 57"/>
          <p:cNvSpPr/>
          <p:nvPr/>
        </p:nvSpPr>
        <p:spPr>
          <a:xfrm>
            <a:off x="301865" y="6322399"/>
            <a:ext cx="11588270" cy="201243"/>
          </a:xfrm>
          <a:prstGeom prst="rect">
            <a:avLst/>
          </a:prstGeom>
          <a:noFill/>
          <a:ln/>
        </p:spPr>
        <p:txBody>
          <a:bodyPr wrap="square" lIns="0" tIns="0" rIns="0" bIns="0" rtlCol="0" anchor="ctr"/>
          <a:lstStyle/>
          <a:p>
            <a:pPr algn="ctr">
              <a:lnSpc>
                <a:spcPct val="130000"/>
              </a:lnSpc>
            </a:pPr>
            <a:r>
              <a:rPr lang="en-US" sz="1056" b="1" dirty="0">
                <a:solidFill>
                  <a:srgbClr val="8B5CF6"/>
                </a:solidFill>
                <a:latin typeface="MiSans" pitchFamily="34" charset="0"/>
                <a:ea typeface="MiSans" pitchFamily="34" charset="-122"/>
                <a:cs typeface="MiSans" pitchFamily="34" charset="-120"/>
              </a:rPr>
              <a:t>3 premiers</a:t>
            </a:r>
            <a:r>
              <a:rPr lang="en-US" sz="1056" dirty="0">
                <a:solidFill>
                  <a:srgbClr val="6B7280"/>
                </a:solidFill>
                <a:latin typeface="MiSans" pitchFamily="34" charset="0"/>
                <a:ea typeface="MiSans" pitchFamily="34" charset="-122"/>
                <a:cs typeface="MiSans" pitchFamily="34" charset="-120"/>
              </a:rPr>
              <a:t> = quotidien Sophie · </a:t>
            </a:r>
            <a:r>
              <a:rPr lang="en-US" sz="1056" b="1" dirty="0">
                <a:solidFill>
                  <a:srgbClr val="3B82F6"/>
                </a:solidFill>
                <a:latin typeface="MiSans" pitchFamily="34" charset="0"/>
                <a:ea typeface="MiSans" pitchFamily="34" charset="-122"/>
                <a:cs typeface="MiSans" pitchFamily="34" charset="-120"/>
              </a:rPr>
              <a:t>2 derniers</a:t>
            </a:r>
            <a:r>
              <a:rPr lang="en-US" sz="1056" dirty="0">
                <a:solidFill>
                  <a:srgbClr val="6B7280"/>
                </a:solidFill>
                <a:latin typeface="MiSans" pitchFamily="34" charset="0"/>
                <a:ea typeface="MiSans" pitchFamily="34" charset="-122"/>
                <a:cs typeface="MiSans" pitchFamily="34" charset="-120"/>
              </a:rPr>
              <a:t> = impact business Marc</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40797" y="204478"/>
            <a:ext cx="2078860" cy="306717"/>
          </a:xfrm>
          <a:custGeom>
            <a:avLst/>
            <a:gdLst/>
            <a:ahLst/>
            <a:cxnLst/>
            <a:rect l="l" t="t" r="r" b="b"/>
            <a:pathLst>
              <a:path w="2078860" h="306717">
                <a:moveTo>
                  <a:pt x="153358" y="0"/>
                </a:moveTo>
                <a:lnTo>
                  <a:pt x="1925501" y="0"/>
                </a:lnTo>
                <a:cubicBezTo>
                  <a:pt x="2010199" y="0"/>
                  <a:pt x="2078860" y="68661"/>
                  <a:pt x="2078860" y="153358"/>
                </a:cubicBezTo>
                <a:lnTo>
                  <a:pt x="2078860" y="153358"/>
                </a:lnTo>
                <a:cubicBezTo>
                  <a:pt x="2078860" y="238056"/>
                  <a:pt x="2010199" y="306717"/>
                  <a:pt x="1925501" y="306717"/>
                </a:cubicBezTo>
                <a:lnTo>
                  <a:pt x="153358" y="306717"/>
                </a:lnTo>
                <a:cubicBezTo>
                  <a:pt x="68661" y="306717"/>
                  <a:pt x="0" y="238056"/>
                  <a:pt x="0" y="153358"/>
                </a:cubicBezTo>
                <a:lnTo>
                  <a:pt x="0" y="153358"/>
                </a:lnTo>
                <a:cubicBezTo>
                  <a:pt x="0" y="68661"/>
                  <a:pt x="68661" y="0"/>
                  <a:pt x="153358" y="0"/>
                </a:cubicBezTo>
                <a:close/>
              </a:path>
            </a:pathLst>
          </a:custGeom>
          <a:solidFill>
            <a:srgbClr val="3B82F6"/>
          </a:solidFill>
          <a:ln/>
        </p:spPr>
      </p:sp>
      <p:sp>
        <p:nvSpPr>
          <p:cNvPr id="3" name="Text 1"/>
          <p:cNvSpPr/>
          <p:nvPr/>
        </p:nvSpPr>
        <p:spPr>
          <a:xfrm>
            <a:off x="477115" y="272637"/>
            <a:ext cx="1865862" cy="170398"/>
          </a:xfrm>
          <a:prstGeom prst="rect">
            <a:avLst/>
          </a:prstGeom>
          <a:noFill/>
          <a:ln/>
        </p:spPr>
        <p:txBody>
          <a:bodyPr wrap="square" lIns="0" tIns="0" rIns="0" bIns="0" rtlCol="0" anchor="ctr"/>
          <a:lstStyle/>
          <a:p>
            <a:pPr>
              <a:lnSpc>
                <a:spcPct val="120000"/>
              </a:lnSpc>
            </a:pPr>
            <a:r>
              <a:rPr lang="en-US" sz="939" b="1" kern="0" spc="23" dirty="0">
                <a:solidFill>
                  <a:srgbClr val="FFFFFF"/>
                </a:solidFill>
                <a:latin typeface="MiSans" pitchFamily="34" charset="0"/>
                <a:ea typeface="MiSans" pitchFamily="34" charset="-122"/>
                <a:cs typeface="MiSans" pitchFamily="34" charset="-120"/>
              </a:rPr>
              <a:t>DISCOVERY - PLANIFICATION</a:t>
            </a:r>
            <a:endParaRPr lang="en-US" sz="1600" dirty="0"/>
          </a:p>
        </p:txBody>
      </p:sp>
      <p:sp>
        <p:nvSpPr>
          <p:cNvPr id="4" name="Text 2"/>
          <p:cNvSpPr/>
          <p:nvPr/>
        </p:nvSpPr>
        <p:spPr>
          <a:xfrm>
            <a:off x="340797" y="886071"/>
            <a:ext cx="11663765" cy="340797"/>
          </a:xfrm>
          <a:prstGeom prst="rect">
            <a:avLst/>
          </a:prstGeom>
          <a:noFill/>
          <a:ln/>
        </p:spPr>
        <p:txBody>
          <a:bodyPr wrap="square" lIns="0" tIns="0" rIns="0" bIns="0" rtlCol="0" anchor="ctr"/>
          <a:lstStyle/>
          <a:p>
            <a:pPr>
              <a:lnSpc>
                <a:spcPct val="90000"/>
              </a:lnSpc>
            </a:pPr>
            <a:r>
              <a:rPr lang="en-US" sz="2415" b="1" dirty="0">
                <a:solidFill>
                  <a:srgbClr val="1E3A8A"/>
                </a:solidFill>
                <a:latin typeface="Noto Sans SC" pitchFamily="34" charset="0"/>
                <a:ea typeface="Noto Sans SC" pitchFamily="34" charset="-122"/>
                <a:cs typeface="Noto Sans SC" pitchFamily="34" charset="-120"/>
              </a:rPr>
              <a:t>Roadmap — Frise Chronologique</a:t>
            </a:r>
            <a:endParaRPr lang="en-US" sz="1600" dirty="0"/>
          </a:p>
        </p:txBody>
      </p:sp>
      <p:sp>
        <p:nvSpPr>
          <p:cNvPr id="5" name="Shape 3"/>
          <p:cNvSpPr/>
          <p:nvPr/>
        </p:nvSpPr>
        <p:spPr>
          <a:xfrm>
            <a:off x="340797" y="1431346"/>
            <a:ext cx="34080" cy="4430356"/>
          </a:xfrm>
          <a:custGeom>
            <a:avLst/>
            <a:gdLst/>
            <a:ahLst/>
            <a:cxnLst/>
            <a:rect l="l" t="t" r="r" b="b"/>
            <a:pathLst>
              <a:path w="34080" h="4430356">
                <a:moveTo>
                  <a:pt x="17040" y="0"/>
                </a:moveTo>
                <a:lnTo>
                  <a:pt x="17040" y="0"/>
                </a:lnTo>
                <a:cubicBezTo>
                  <a:pt x="26444" y="0"/>
                  <a:pt x="34080" y="7635"/>
                  <a:pt x="34080" y="17040"/>
                </a:cubicBezTo>
                <a:lnTo>
                  <a:pt x="34080" y="4413317"/>
                </a:lnTo>
                <a:cubicBezTo>
                  <a:pt x="34080" y="4422727"/>
                  <a:pt x="26451" y="4430356"/>
                  <a:pt x="17040" y="4430356"/>
                </a:cubicBezTo>
                <a:lnTo>
                  <a:pt x="17040" y="4430356"/>
                </a:lnTo>
                <a:cubicBezTo>
                  <a:pt x="7629" y="4430356"/>
                  <a:pt x="0" y="4422727"/>
                  <a:pt x="0" y="4413317"/>
                </a:cubicBezTo>
                <a:lnTo>
                  <a:pt x="0" y="17040"/>
                </a:lnTo>
                <a:cubicBezTo>
                  <a:pt x="0" y="7635"/>
                  <a:pt x="7635" y="0"/>
                  <a:pt x="17040" y="0"/>
                </a:cubicBezTo>
                <a:close/>
              </a:path>
            </a:pathLst>
          </a:custGeom>
          <a:solidFill>
            <a:srgbClr val="D1D5DB"/>
          </a:solidFill>
          <a:ln/>
        </p:spPr>
      </p:sp>
      <p:sp>
        <p:nvSpPr>
          <p:cNvPr id="6" name="Shape 4"/>
          <p:cNvSpPr/>
          <p:nvPr/>
        </p:nvSpPr>
        <p:spPr>
          <a:xfrm>
            <a:off x="289677" y="1431346"/>
            <a:ext cx="136319" cy="136319"/>
          </a:xfrm>
          <a:custGeom>
            <a:avLst/>
            <a:gdLst/>
            <a:ahLst/>
            <a:cxnLst/>
            <a:rect l="l" t="t" r="r" b="b"/>
            <a:pathLst>
              <a:path w="136319" h="136319">
                <a:moveTo>
                  <a:pt x="68159" y="0"/>
                </a:moveTo>
                <a:lnTo>
                  <a:pt x="68159" y="0"/>
                </a:lnTo>
                <a:cubicBezTo>
                  <a:pt x="105777" y="0"/>
                  <a:pt x="136319" y="30541"/>
                  <a:pt x="136319" y="68159"/>
                </a:cubicBezTo>
                <a:lnTo>
                  <a:pt x="136319" y="68159"/>
                </a:lnTo>
                <a:cubicBezTo>
                  <a:pt x="136319" y="105777"/>
                  <a:pt x="105777" y="136319"/>
                  <a:pt x="68159" y="136319"/>
                </a:cubicBezTo>
                <a:lnTo>
                  <a:pt x="68159" y="136319"/>
                </a:lnTo>
                <a:cubicBezTo>
                  <a:pt x="30541" y="136319"/>
                  <a:pt x="0" y="105777"/>
                  <a:pt x="0" y="68159"/>
                </a:cubicBezTo>
                <a:lnTo>
                  <a:pt x="0" y="68159"/>
                </a:lnTo>
                <a:cubicBezTo>
                  <a:pt x="0" y="30541"/>
                  <a:pt x="30541" y="0"/>
                  <a:pt x="68159" y="0"/>
                </a:cubicBezTo>
                <a:close/>
              </a:path>
            </a:pathLst>
          </a:custGeom>
          <a:solidFill>
            <a:srgbClr val="10B981"/>
          </a:solidFill>
          <a:ln/>
        </p:spPr>
      </p:sp>
      <p:sp>
        <p:nvSpPr>
          <p:cNvPr id="7" name="Shape 5"/>
          <p:cNvSpPr/>
          <p:nvPr/>
        </p:nvSpPr>
        <p:spPr>
          <a:xfrm>
            <a:off x="289677" y="2317417"/>
            <a:ext cx="136319" cy="136319"/>
          </a:xfrm>
          <a:custGeom>
            <a:avLst/>
            <a:gdLst/>
            <a:ahLst/>
            <a:cxnLst/>
            <a:rect l="l" t="t" r="r" b="b"/>
            <a:pathLst>
              <a:path w="136319" h="136319">
                <a:moveTo>
                  <a:pt x="68159" y="0"/>
                </a:moveTo>
                <a:lnTo>
                  <a:pt x="68159" y="0"/>
                </a:lnTo>
                <a:cubicBezTo>
                  <a:pt x="105777" y="0"/>
                  <a:pt x="136319" y="30541"/>
                  <a:pt x="136319" y="68159"/>
                </a:cubicBezTo>
                <a:lnTo>
                  <a:pt x="136319" y="68159"/>
                </a:lnTo>
                <a:cubicBezTo>
                  <a:pt x="136319" y="105777"/>
                  <a:pt x="105777" y="136319"/>
                  <a:pt x="68159" y="136319"/>
                </a:cubicBezTo>
                <a:lnTo>
                  <a:pt x="68159" y="136319"/>
                </a:lnTo>
                <a:cubicBezTo>
                  <a:pt x="30541" y="136319"/>
                  <a:pt x="0" y="105777"/>
                  <a:pt x="0" y="68159"/>
                </a:cubicBezTo>
                <a:lnTo>
                  <a:pt x="0" y="68159"/>
                </a:lnTo>
                <a:cubicBezTo>
                  <a:pt x="0" y="30541"/>
                  <a:pt x="30541" y="0"/>
                  <a:pt x="68159" y="0"/>
                </a:cubicBezTo>
                <a:close/>
              </a:path>
            </a:pathLst>
          </a:custGeom>
          <a:solidFill>
            <a:srgbClr val="3B82F6"/>
          </a:solidFill>
          <a:ln/>
        </p:spPr>
      </p:sp>
      <p:sp>
        <p:nvSpPr>
          <p:cNvPr id="8" name="Shape 6"/>
          <p:cNvSpPr/>
          <p:nvPr/>
        </p:nvSpPr>
        <p:spPr>
          <a:xfrm>
            <a:off x="289677" y="3203488"/>
            <a:ext cx="136319" cy="136319"/>
          </a:xfrm>
          <a:custGeom>
            <a:avLst/>
            <a:gdLst/>
            <a:ahLst/>
            <a:cxnLst/>
            <a:rect l="l" t="t" r="r" b="b"/>
            <a:pathLst>
              <a:path w="136319" h="136319">
                <a:moveTo>
                  <a:pt x="68159" y="0"/>
                </a:moveTo>
                <a:lnTo>
                  <a:pt x="68159" y="0"/>
                </a:lnTo>
                <a:cubicBezTo>
                  <a:pt x="105777" y="0"/>
                  <a:pt x="136319" y="30541"/>
                  <a:pt x="136319" y="68159"/>
                </a:cubicBezTo>
                <a:lnTo>
                  <a:pt x="136319" y="68159"/>
                </a:lnTo>
                <a:cubicBezTo>
                  <a:pt x="136319" y="105777"/>
                  <a:pt x="105777" y="136319"/>
                  <a:pt x="68159" y="136319"/>
                </a:cubicBezTo>
                <a:lnTo>
                  <a:pt x="68159" y="136319"/>
                </a:lnTo>
                <a:cubicBezTo>
                  <a:pt x="30541" y="136319"/>
                  <a:pt x="0" y="105777"/>
                  <a:pt x="0" y="68159"/>
                </a:cubicBezTo>
                <a:lnTo>
                  <a:pt x="0" y="68159"/>
                </a:lnTo>
                <a:cubicBezTo>
                  <a:pt x="0" y="30541"/>
                  <a:pt x="30541" y="0"/>
                  <a:pt x="68159" y="0"/>
                </a:cubicBezTo>
                <a:close/>
              </a:path>
            </a:pathLst>
          </a:custGeom>
          <a:solidFill>
            <a:srgbClr val="6B7280"/>
          </a:solidFill>
          <a:ln/>
        </p:spPr>
      </p:sp>
      <p:sp>
        <p:nvSpPr>
          <p:cNvPr id="9" name="Shape 7"/>
          <p:cNvSpPr/>
          <p:nvPr/>
        </p:nvSpPr>
        <p:spPr>
          <a:xfrm>
            <a:off x="289677" y="4089560"/>
            <a:ext cx="136319" cy="136319"/>
          </a:xfrm>
          <a:custGeom>
            <a:avLst/>
            <a:gdLst/>
            <a:ahLst/>
            <a:cxnLst/>
            <a:rect l="l" t="t" r="r" b="b"/>
            <a:pathLst>
              <a:path w="136319" h="136319">
                <a:moveTo>
                  <a:pt x="68159" y="0"/>
                </a:moveTo>
                <a:lnTo>
                  <a:pt x="68159" y="0"/>
                </a:lnTo>
                <a:cubicBezTo>
                  <a:pt x="105777" y="0"/>
                  <a:pt x="136319" y="30541"/>
                  <a:pt x="136319" y="68159"/>
                </a:cubicBezTo>
                <a:lnTo>
                  <a:pt x="136319" y="68159"/>
                </a:lnTo>
                <a:cubicBezTo>
                  <a:pt x="136319" y="105777"/>
                  <a:pt x="105777" y="136319"/>
                  <a:pt x="68159" y="136319"/>
                </a:cubicBezTo>
                <a:lnTo>
                  <a:pt x="68159" y="136319"/>
                </a:lnTo>
                <a:cubicBezTo>
                  <a:pt x="30541" y="136319"/>
                  <a:pt x="0" y="105777"/>
                  <a:pt x="0" y="68159"/>
                </a:cubicBezTo>
                <a:lnTo>
                  <a:pt x="0" y="68159"/>
                </a:lnTo>
                <a:cubicBezTo>
                  <a:pt x="0" y="30541"/>
                  <a:pt x="30541" y="0"/>
                  <a:pt x="68159" y="0"/>
                </a:cubicBezTo>
                <a:close/>
              </a:path>
            </a:pathLst>
          </a:custGeom>
          <a:solidFill>
            <a:srgbClr val="6B7280"/>
          </a:solidFill>
          <a:ln/>
        </p:spPr>
      </p:sp>
      <p:sp>
        <p:nvSpPr>
          <p:cNvPr id="10" name="Shape 8"/>
          <p:cNvSpPr/>
          <p:nvPr/>
        </p:nvSpPr>
        <p:spPr>
          <a:xfrm>
            <a:off x="289677" y="4975631"/>
            <a:ext cx="136319" cy="136319"/>
          </a:xfrm>
          <a:custGeom>
            <a:avLst/>
            <a:gdLst/>
            <a:ahLst/>
            <a:cxnLst/>
            <a:rect l="l" t="t" r="r" b="b"/>
            <a:pathLst>
              <a:path w="136319" h="136319">
                <a:moveTo>
                  <a:pt x="68159" y="0"/>
                </a:moveTo>
                <a:lnTo>
                  <a:pt x="68159" y="0"/>
                </a:lnTo>
                <a:cubicBezTo>
                  <a:pt x="105777" y="0"/>
                  <a:pt x="136319" y="30541"/>
                  <a:pt x="136319" y="68159"/>
                </a:cubicBezTo>
                <a:lnTo>
                  <a:pt x="136319" y="68159"/>
                </a:lnTo>
                <a:cubicBezTo>
                  <a:pt x="136319" y="105777"/>
                  <a:pt x="105777" y="136319"/>
                  <a:pt x="68159" y="136319"/>
                </a:cubicBezTo>
                <a:lnTo>
                  <a:pt x="68159" y="136319"/>
                </a:lnTo>
                <a:cubicBezTo>
                  <a:pt x="30541" y="136319"/>
                  <a:pt x="0" y="105777"/>
                  <a:pt x="0" y="68159"/>
                </a:cubicBezTo>
                <a:lnTo>
                  <a:pt x="0" y="68159"/>
                </a:lnTo>
                <a:cubicBezTo>
                  <a:pt x="0" y="30541"/>
                  <a:pt x="30541" y="0"/>
                  <a:pt x="68159" y="0"/>
                </a:cubicBezTo>
                <a:close/>
              </a:path>
            </a:pathLst>
          </a:custGeom>
          <a:solidFill>
            <a:srgbClr val="6B7280"/>
          </a:solidFill>
          <a:ln/>
        </p:spPr>
      </p:sp>
      <p:sp>
        <p:nvSpPr>
          <p:cNvPr id="11" name="Shape 9"/>
          <p:cNvSpPr/>
          <p:nvPr/>
        </p:nvSpPr>
        <p:spPr>
          <a:xfrm>
            <a:off x="647514" y="1550625"/>
            <a:ext cx="477115" cy="477115"/>
          </a:xfrm>
          <a:custGeom>
            <a:avLst/>
            <a:gdLst/>
            <a:ahLst/>
            <a:cxnLst/>
            <a:rect l="l" t="t" r="r" b="b"/>
            <a:pathLst>
              <a:path w="477115" h="477115">
                <a:moveTo>
                  <a:pt x="102241" y="0"/>
                </a:moveTo>
                <a:lnTo>
                  <a:pt x="374874" y="0"/>
                </a:lnTo>
                <a:cubicBezTo>
                  <a:pt x="431303" y="0"/>
                  <a:pt x="477115" y="45813"/>
                  <a:pt x="477115" y="102241"/>
                </a:cubicBezTo>
                <a:lnTo>
                  <a:pt x="477115" y="374874"/>
                </a:lnTo>
                <a:cubicBezTo>
                  <a:pt x="477115" y="431303"/>
                  <a:pt x="431303" y="477115"/>
                  <a:pt x="374874" y="477115"/>
                </a:cubicBezTo>
                <a:lnTo>
                  <a:pt x="102241" y="477115"/>
                </a:lnTo>
                <a:cubicBezTo>
                  <a:pt x="45813" y="477115"/>
                  <a:pt x="0" y="431303"/>
                  <a:pt x="0" y="374874"/>
                </a:cubicBezTo>
                <a:lnTo>
                  <a:pt x="0" y="102241"/>
                </a:lnTo>
                <a:cubicBezTo>
                  <a:pt x="0" y="45813"/>
                  <a:pt x="45813" y="0"/>
                  <a:pt x="102241" y="0"/>
                </a:cubicBezTo>
                <a:close/>
              </a:path>
            </a:pathLst>
          </a:custGeom>
          <a:solidFill>
            <a:srgbClr val="10B981"/>
          </a:solidFill>
          <a:ln/>
        </p:spPr>
      </p:sp>
      <p:sp>
        <p:nvSpPr>
          <p:cNvPr id="12" name="Text 10"/>
          <p:cNvSpPr/>
          <p:nvPr/>
        </p:nvSpPr>
        <p:spPr>
          <a:xfrm>
            <a:off x="838679" y="1669904"/>
            <a:ext cx="178918" cy="238558"/>
          </a:xfrm>
          <a:prstGeom prst="rect">
            <a:avLst/>
          </a:prstGeom>
          <a:noFill/>
          <a:ln/>
        </p:spPr>
        <p:txBody>
          <a:bodyPr wrap="square" lIns="0" tIns="0" rIns="0" bIns="0" rtlCol="0" anchor="ctr"/>
          <a:lstStyle/>
          <a:p>
            <a:pPr>
              <a:lnSpc>
                <a:spcPct val="120000"/>
              </a:lnSpc>
            </a:pPr>
            <a:r>
              <a:rPr lang="en-US" sz="1342" b="1" dirty="0">
                <a:solidFill>
                  <a:srgbClr val="FFFFFF"/>
                </a:solidFill>
                <a:latin typeface="Noto Sans SC" pitchFamily="34" charset="0"/>
                <a:ea typeface="Noto Sans SC" pitchFamily="34" charset="-122"/>
                <a:cs typeface="Noto Sans SC" pitchFamily="34" charset="-120"/>
              </a:rPr>
              <a:t>1</a:t>
            </a:r>
            <a:endParaRPr lang="en-US" sz="1600" dirty="0"/>
          </a:p>
        </p:txBody>
      </p:sp>
      <p:sp>
        <p:nvSpPr>
          <p:cNvPr id="13" name="Shape 11"/>
          <p:cNvSpPr/>
          <p:nvPr/>
        </p:nvSpPr>
        <p:spPr>
          <a:xfrm>
            <a:off x="1260948" y="1431346"/>
            <a:ext cx="10590256" cy="715673"/>
          </a:xfrm>
          <a:custGeom>
            <a:avLst/>
            <a:gdLst/>
            <a:ahLst/>
            <a:cxnLst/>
            <a:rect l="l" t="t" r="r" b="b"/>
            <a:pathLst>
              <a:path w="10590256" h="715673">
                <a:moveTo>
                  <a:pt x="102241" y="0"/>
                </a:moveTo>
                <a:lnTo>
                  <a:pt x="10488015" y="0"/>
                </a:lnTo>
                <a:cubicBezTo>
                  <a:pt x="10544481" y="0"/>
                  <a:pt x="10590256" y="45775"/>
                  <a:pt x="10590256" y="102241"/>
                </a:cubicBezTo>
                <a:lnTo>
                  <a:pt x="10590256" y="613432"/>
                </a:lnTo>
                <a:cubicBezTo>
                  <a:pt x="10590256" y="669898"/>
                  <a:pt x="10544481" y="715673"/>
                  <a:pt x="10488015" y="715673"/>
                </a:cubicBezTo>
                <a:lnTo>
                  <a:pt x="102241" y="715673"/>
                </a:lnTo>
                <a:cubicBezTo>
                  <a:pt x="45813" y="715673"/>
                  <a:pt x="0" y="669860"/>
                  <a:pt x="0" y="613432"/>
                </a:cubicBezTo>
                <a:lnTo>
                  <a:pt x="0" y="102241"/>
                </a:lnTo>
                <a:cubicBezTo>
                  <a:pt x="0" y="45813"/>
                  <a:pt x="45813" y="0"/>
                  <a:pt x="102241" y="0"/>
                </a:cubicBezTo>
                <a:close/>
              </a:path>
            </a:pathLst>
          </a:custGeom>
          <a:solidFill>
            <a:srgbClr val="10B981">
              <a:alpha val="10196"/>
            </a:srgbClr>
          </a:solidFill>
          <a:ln/>
        </p:spPr>
      </p:sp>
      <p:sp>
        <p:nvSpPr>
          <p:cNvPr id="14" name="Text 12"/>
          <p:cNvSpPr/>
          <p:nvPr/>
        </p:nvSpPr>
        <p:spPr>
          <a:xfrm>
            <a:off x="1397266" y="1567665"/>
            <a:ext cx="1874382" cy="238558"/>
          </a:xfrm>
          <a:prstGeom prst="rect">
            <a:avLst/>
          </a:prstGeom>
          <a:noFill/>
          <a:ln/>
        </p:spPr>
        <p:txBody>
          <a:bodyPr wrap="square" lIns="0" tIns="0" rIns="0" bIns="0" rtlCol="0" anchor="ctr"/>
          <a:lstStyle/>
          <a:p>
            <a:pPr>
              <a:lnSpc>
                <a:spcPct val="130000"/>
              </a:lnSpc>
            </a:pPr>
            <a:r>
              <a:rPr lang="en-US" sz="1208" b="1" dirty="0">
                <a:solidFill>
                  <a:srgbClr val="374151"/>
                </a:solidFill>
                <a:latin typeface="MiSans" pitchFamily="34" charset="0"/>
                <a:ea typeface="MiSans" pitchFamily="34" charset="-122"/>
                <a:cs typeface="MiSans" pitchFamily="34" charset="-120"/>
              </a:rPr>
              <a:t>A1 — Détection visuelle</a:t>
            </a:r>
            <a:endParaRPr lang="en-US" sz="1600" dirty="0"/>
          </a:p>
        </p:txBody>
      </p:sp>
      <p:sp>
        <p:nvSpPr>
          <p:cNvPr id="15" name="Text 13"/>
          <p:cNvSpPr/>
          <p:nvPr/>
        </p:nvSpPr>
        <p:spPr>
          <a:xfrm>
            <a:off x="1397266" y="1806222"/>
            <a:ext cx="1865862" cy="204478"/>
          </a:xfrm>
          <a:prstGeom prst="rect">
            <a:avLst/>
          </a:prstGeom>
          <a:noFill/>
          <a:ln/>
        </p:spPr>
        <p:txBody>
          <a:bodyPr wrap="square" lIns="0" tIns="0" rIns="0" bIns="0" rtlCol="0" anchor="ctr"/>
          <a:lstStyle/>
          <a:p>
            <a:pPr>
              <a:lnSpc>
                <a:spcPct val="130000"/>
              </a:lnSpc>
            </a:pPr>
            <a:r>
              <a:rPr lang="en-US" sz="1073" dirty="0">
                <a:solidFill>
                  <a:srgbClr val="6B7280"/>
                </a:solidFill>
                <a:latin typeface="MiSans" pitchFamily="34" charset="0"/>
                <a:ea typeface="MiSans" pitchFamily="34" charset="-122"/>
                <a:cs typeface="MiSans" pitchFamily="34" charset="-120"/>
              </a:rPr>
              <a:t>MVP avec validation humaine</a:t>
            </a:r>
            <a:endParaRPr lang="en-US" sz="1600" dirty="0"/>
          </a:p>
        </p:txBody>
      </p:sp>
      <p:sp>
        <p:nvSpPr>
          <p:cNvPr id="16" name="Shape 14"/>
          <p:cNvSpPr/>
          <p:nvPr/>
        </p:nvSpPr>
        <p:spPr>
          <a:xfrm>
            <a:off x="10564563" y="1618784"/>
            <a:ext cx="1150189" cy="340797"/>
          </a:xfrm>
          <a:custGeom>
            <a:avLst/>
            <a:gdLst/>
            <a:ahLst/>
            <a:cxnLst/>
            <a:rect l="l" t="t" r="r" b="b"/>
            <a:pathLst>
              <a:path w="1150189" h="340797">
                <a:moveTo>
                  <a:pt x="170398" y="0"/>
                </a:moveTo>
                <a:lnTo>
                  <a:pt x="979790" y="0"/>
                </a:lnTo>
                <a:cubicBezTo>
                  <a:pt x="1073899" y="0"/>
                  <a:pt x="1150189" y="76290"/>
                  <a:pt x="1150189" y="170398"/>
                </a:cubicBezTo>
                <a:lnTo>
                  <a:pt x="1150189" y="170398"/>
                </a:lnTo>
                <a:cubicBezTo>
                  <a:pt x="1150189" y="264507"/>
                  <a:pt x="1073899" y="340797"/>
                  <a:pt x="979790" y="340797"/>
                </a:cubicBezTo>
                <a:lnTo>
                  <a:pt x="170398" y="340797"/>
                </a:lnTo>
                <a:cubicBezTo>
                  <a:pt x="76290" y="340797"/>
                  <a:pt x="0" y="264507"/>
                  <a:pt x="0" y="170398"/>
                </a:cubicBezTo>
                <a:lnTo>
                  <a:pt x="0" y="170398"/>
                </a:lnTo>
                <a:cubicBezTo>
                  <a:pt x="0" y="76290"/>
                  <a:pt x="76290" y="0"/>
                  <a:pt x="170398" y="0"/>
                </a:cubicBezTo>
                <a:close/>
              </a:path>
            </a:pathLst>
          </a:custGeom>
          <a:solidFill>
            <a:srgbClr val="10B981"/>
          </a:solidFill>
          <a:ln/>
        </p:spPr>
      </p:sp>
      <p:sp>
        <p:nvSpPr>
          <p:cNvPr id="17" name="Text 15"/>
          <p:cNvSpPr/>
          <p:nvPr/>
        </p:nvSpPr>
        <p:spPr>
          <a:xfrm>
            <a:off x="10700882" y="1712503"/>
            <a:ext cx="946776" cy="144839"/>
          </a:xfrm>
          <a:prstGeom prst="rect">
            <a:avLst/>
          </a:prstGeom>
          <a:noFill/>
          <a:ln/>
        </p:spPr>
        <p:txBody>
          <a:bodyPr wrap="square" lIns="0" tIns="0" rIns="0" bIns="0" rtlCol="0" anchor="ctr"/>
          <a:lstStyle/>
          <a:p>
            <a:pPr>
              <a:lnSpc>
                <a:spcPct val="130000"/>
              </a:lnSpc>
            </a:pPr>
            <a:r>
              <a:rPr lang="en-US" sz="1073" b="1" dirty="0">
                <a:solidFill>
                  <a:srgbClr val="FFFFFF"/>
                </a:solidFill>
                <a:latin typeface="MiSans" pitchFamily="34" charset="0"/>
                <a:ea typeface="MiSans" pitchFamily="34" charset="-122"/>
                <a:cs typeface="MiSans" pitchFamily="34" charset="-120"/>
              </a:rPr>
              <a:t>PRIORITAIRE</a:t>
            </a:r>
            <a:endParaRPr lang="en-US" sz="1600" dirty="0"/>
          </a:p>
        </p:txBody>
      </p:sp>
      <p:sp>
        <p:nvSpPr>
          <p:cNvPr id="18" name="Shape 16"/>
          <p:cNvSpPr/>
          <p:nvPr/>
        </p:nvSpPr>
        <p:spPr>
          <a:xfrm>
            <a:off x="647514" y="2479296"/>
            <a:ext cx="477115" cy="477115"/>
          </a:xfrm>
          <a:custGeom>
            <a:avLst/>
            <a:gdLst/>
            <a:ahLst/>
            <a:cxnLst/>
            <a:rect l="l" t="t" r="r" b="b"/>
            <a:pathLst>
              <a:path w="477115" h="477115">
                <a:moveTo>
                  <a:pt x="102241" y="0"/>
                </a:moveTo>
                <a:lnTo>
                  <a:pt x="374874" y="0"/>
                </a:lnTo>
                <a:cubicBezTo>
                  <a:pt x="431303" y="0"/>
                  <a:pt x="477115" y="45813"/>
                  <a:pt x="477115" y="102241"/>
                </a:cubicBezTo>
                <a:lnTo>
                  <a:pt x="477115" y="374874"/>
                </a:lnTo>
                <a:cubicBezTo>
                  <a:pt x="477115" y="431303"/>
                  <a:pt x="431303" y="477115"/>
                  <a:pt x="374874" y="477115"/>
                </a:cubicBezTo>
                <a:lnTo>
                  <a:pt x="102241" y="477115"/>
                </a:lnTo>
                <a:cubicBezTo>
                  <a:pt x="45813" y="477115"/>
                  <a:pt x="0" y="431303"/>
                  <a:pt x="0" y="374874"/>
                </a:cubicBezTo>
                <a:lnTo>
                  <a:pt x="0" y="102241"/>
                </a:lnTo>
                <a:cubicBezTo>
                  <a:pt x="0" y="45813"/>
                  <a:pt x="45813" y="0"/>
                  <a:pt x="102241" y="0"/>
                </a:cubicBezTo>
                <a:close/>
              </a:path>
            </a:pathLst>
          </a:custGeom>
          <a:solidFill>
            <a:srgbClr val="3B82F6"/>
          </a:solidFill>
          <a:ln/>
        </p:spPr>
      </p:sp>
      <p:sp>
        <p:nvSpPr>
          <p:cNvPr id="19" name="Text 17"/>
          <p:cNvSpPr/>
          <p:nvPr/>
        </p:nvSpPr>
        <p:spPr>
          <a:xfrm>
            <a:off x="838679" y="2598574"/>
            <a:ext cx="178918" cy="238558"/>
          </a:xfrm>
          <a:prstGeom prst="rect">
            <a:avLst/>
          </a:prstGeom>
          <a:noFill/>
          <a:ln/>
        </p:spPr>
        <p:txBody>
          <a:bodyPr wrap="square" lIns="0" tIns="0" rIns="0" bIns="0" rtlCol="0" anchor="ctr"/>
          <a:lstStyle/>
          <a:p>
            <a:pPr>
              <a:lnSpc>
                <a:spcPct val="120000"/>
              </a:lnSpc>
            </a:pPr>
            <a:r>
              <a:rPr lang="en-US" sz="1342" b="1" dirty="0">
                <a:solidFill>
                  <a:srgbClr val="FFFFFF"/>
                </a:solidFill>
                <a:latin typeface="Noto Sans SC" pitchFamily="34" charset="0"/>
                <a:ea typeface="Noto Sans SC" pitchFamily="34" charset="-122"/>
                <a:cs typeface="Noto Sans SC" pitchFamily="34" charset="-120"/>
              </a:rPr>
              <a:t>2</a:t>
            </a:r>
            <a:endParaRPr lang="en-US" sz="1600" dirty="0"/>
          </a:p>
        </p:txBody>
      </p:sp>
      <p:sp>
        <p:nvSpPr>
          <p:cNvPr id="20" name="Shape 18"/>
          <p:cNvSpPr/>
          <p:nvPr/>
        </p:nvSpPr>
        <p:spPr>
          <a:xfrm>
            <a:off x="1260948" y="2360017"/>
            <a:ext cx="10590256" cy="715673"/>
          </a:xfrm>
          <a:custGeom>
            <a:avLst/>
            <a:gdLst/>
            <a:ahLst/>
            <a:cxnLst/>
            <a:rect l="l" t="t" r="r" b="b"/>
            <a:pathLst>
              <a:path w="10590256" h="715673">
                <a:moveTo>
                  <a:pt x="102241" y="0"/>
                </a:moveTo>
                <a:lnTo>
                  <a:pt x="10488015" y="0"/>
                </a:lnTo>
                <a:cubicBezTo>
                  <a:pt x="10544481" y="0"/>
                  <a:pt x="10590256" y="45775"/>
                  <a:pt x="10590256" y="102241"/>
                </a:cubicBezTo>
                <a:lnTo>
                  <a:pt x="10590256" y="613432"/>
                </a:lnTo>
                <a:cubicBezTo>
                  <a:pt x="10590256" y="669898"/>
                  <a:pt x="10544481" y="715673"/>
                  <a:pt x="10488015" y="715673"/>
                </a:cubicBezTo>
                <a:lnTo>
                  <a:pt x="102241" y="715673"/>
                </a:lnTo>
                <a:cubicBezTo>
                  <a:pt x="45813" y="715673"/>
                  <a:pt x="0" y="669860"/>
                  <a:pt x="0" y="613432"/>
                </a:cubicBezTo>
                <a:lnTo>
                  <a:pt x="0" y="102241"/>
                </a:lnTo>
                <a:cubicBezTo>
                  <a:pt x="0" y="45813"/>
                  <a:pt x="45813" y="0"/>
                  <a:pt x="102241" y="0"/>
                </a:cubicBezTo>
                <a:close/>
              </a:path>
            </a:pathLst>
          </a:custGeom>
          <a:solidFill>
            <a:srgbClr val="3B82F6">
              <a:alpha val="10196"/>
            </a:srgbClr>
          </a:solidFill>
          <a:ln/>
        </p:spPr>
      </p:sp>
      <p:sp>
        <p:nvSpPr>
          <p:cNvPr id="21" name="Text 19"/>
          <p:cNvSpPr/>
          <p:nvPr/>
        </p:nvSpPr>
        <p:spPr>
          <a:xfrm>
            <a:off x="1397266" y="2496335"/>
            <a:ext cx="1985140" cy="238558"/>
          </a:xfrm>
          <a:prstGeom prst="rect">
            <a:avLst/>
          </a:prstGeom>
          <a:noFill/>
          <a:ln/>
        </p:spPr>
        <p:txBody>
          <a:bodyPr wrap="square" lIns="0" tIns="0" rIns="0" bIns="0" rtlCol="0" anchor="ctr"/>
          <a:lstStyle/>
          <a:p>
            <a:pPr>
              <a:lnSpc>
                <a:spcPct val="130000"/>
              </a:lnSpc>
            </a:pPr>
            <a:r>
              <a:rPr lang="en-US" sz="1208" b="1" dirty="0">
                <a:solidFill>
                  <a:srgbClr val="374151"/>
                </a:solidFill>
                <a:latin typeface="MiSans" pitchFamily="34" charset="0"/>
                <a:ea typeface="MiSans" pitchFamily="34" charset="-122"/>
                <a:cs typeface="MiSans" pitchFamily="34" charset="-120"/>
              </a:rPr>
              <a:t>A4 — Centraliser données</a:t>
            </a:r>
            <a:endParaRPr lang="en-US" sz="1600" dirty="0"/>
          </a:p>
        </p:txBody>
      </p:sp>
      <p:sp>
        <p:nvSpPr>
          <p:cNvPr id="22" name="Text 20"/>
          <p:cNvSpPr/>
          <p:nvPr/>
        </p:nvSpPr>
        <p:spPr>
          <a:xfrm>
            <a:off x="1397266" y="2734893"/>
            <a:ext cx="1976621" cy="204478"/>
          </a:xfrm>
          <a:prstGeom prst="rect">
            <a:avLst/>
          </a:prstGeom>
          <a:noFill/>
          <a:ln/>
        </p:spPr>
        <p:txBody>
          <a:bodyPr wrap="square" lIns="0" tIns="0" rIns="0" bIns="0" rtlCol="0" anchor="ctr"/>
          <a:lstStyle/>
          <a:p>
            <a:pPr>
              <a:lnSpc>
                <a:spcPct val="130000"/>
              </a:lnSpc>
            </a:pPr>
            <a:r>
              <a:rPr lang="en-US" sz="1073" dirty="0">
                <a:solidFill>
                  <a:srgbClr val="6B7280"/>
                </a:solidFill>
                <a:latin typeface="MiSans" pitchFamily="34" charset="0"/>
                <a:ea typeface="MiSans" pitchFamily="34" charset="-122"/>
                <a:cs typeface="MiSans" pitchFamily="34" charset="-120"/>
              </a:rPr>
              <a:t>Socle pour évolutions</a:t>
            </a:r>
            <a:endParaRPr lang="en-US" sz="1600" dirty="0"/>
          </a:p>
        </p:txBody>
      </p:sp>
      <p:sp>
        <p:nvSpPr>
          <p:cNvPr id="23" name="Shape 21"/>
          <p:cNvSpPr/>
          <p:nvPr/>
        </p:nvSpPr>
        <p:spPr>
          <a:xfrm>
            <a:off x="10398025" y="2547455"/>
            <a:ext cx="1320587" cy="340797"/>
          </a:xfrm>
          <a:custGeom>
            <a:avLst/>
            <a:gdLst/>
            <a:ahLst/>
            <a:cxnLst/>
            <a:rect l="l" t="t" r="r" b="b"/>
            <a:pathLst>
              <a:path w="1320587" h="340797">
                <a:moveTo>
                  <a:pt x="170398" y="0"/>
                </a:moveTo>
                <a:lnTo>
                  <a:pt x="1150189" y="0"/>
                </a:lnTo>
                <a:cubicBezTo>
                  <a:pt x="1244297" y="0"/>
                  <a:pt x="1320587" y="76290"/>
                  <a:pt x="1320587" y="170398"/>
                </a:cubicBezTo>
                <a:lnTo>
                  <a:pt x="1320587" y="170398"/>
                </a:lnTo>
                <a:cubicBezTo>
                  <a:pt x="1320587" y="264507"/>
                  <a:pt x="1244297" y="340797"/>
                  <a:pt x="1150189" y="340797"/>
                </a:cubicBezTo>
                <a:lnTo>
                  <a:pt x="170398" y="340797"/>
                </a:lnTo>
                <a:cubicBezTo>
                  <a:pt x="76290" y="340797"/>
                  <a:pt x="0" y="264507"/>
                  <a:pt x="0" y="170398"/>
                </a:cubicBezTo>
                <a:lnTo>
                  <a:pt x="0" y="170398"/>
                </a:lnTo>
                <a:cubicBezTo>
                  <a:pt x="0" y="76290"/>
                  <a:pt x="76290" y="0"/>
                  <a:pt x="170398" y="0"/>
                </a:cubicBezTo>
                <a:close/>
              </a:path>
            </a:pathLst>
          </a:custGeom>
          <a:solidFill>
            <a:srgbClr val="3B82F6"/>
          </a:solidFill>
          <a:ln/>
        </p:spPr>
      </p:sp>
      <p:sp>
        <p:nvSpPr>
          <p:cNvPr id="24" name="Text 22"/>
          <p:cNvSpPr/>
          <p:nvPr/>
        </p:nvSpPr>
        <p:spPr>
          <a:xfrm>
            <a:off x="10534344" y="2641174"/>
            <a:ext cx="1113313" cy="144839"/>
          </a:xfrm>
          <a:prstGeom prst="rect">
            <a:avLst/>
          </a:prstGeom>
          <a:noFill/>
          <a:ln/>
        </p:spPr>
        <p:txBody>
          <a:bodyPr wrap="square" lIns="0" tIns="0" rIns="0" bIns="0" rtlCol="0" anchor="ctr"/>
          <a:lstStyle/>
          <a:p>
            <a:pPr>
              <a:lnSpc>
                <a:spcPct val="130000"/>
              </a:lnSpc>
            </a:pPr>
            <a:r>
              <a:rPr lang="en-US" sz="1073" b="1" dirty="0">
                <a:solidFill>
                  <a:srgbClr val="FFFFFF"/>
                </a:solidFill>
                <a:latin typeface="MiSans" pitchFamily="34" charset="0"/>
                <a:ea typeface="MiSans" pitchFamily="34" charset="-122"/>
                <a:cs typeface="MiSans" pitchFamily="34" charset="-120"/>
              </a:rPr>
              <a:t>EN PARALLÈLE</a:t>
            </a:r>
            <a:endParaRPr lang="en-US" sz="1600" dirty="0"/>
          </a:p>
        </p:txBody>
      </p:sp>
      <p:sp>
        <p:nvSpPr>
          <p:cNvPr id="25" name="Shape 23"/>
          <p:cNvSpPr/>
          <p:nvPr/>
        </p:nvSpPr>
        <p:spPr>
          <a:xfrm>
            <a:off x="647514" y="3407966"/>
            <a:ext cx="477115" cy="477115"/>
          </a:xfrm>
          <a:custGeom>
            <a:avLst/>
            <a:gdLst/>
            <a:ahLst/>
            <a:cxnLst/>
            <a:rect l="l" t="t" r="r" b="b"/>
            <a:pathLst>
              <a:path w="477115" h="477115">
                <a:moveTo>
                  <a:pt x="102241" y="0"/>
                </a:moveTo>
                <a:lnTo>
                  <a:pt x="374874" y="0"/>
                </a:lnTo>
                <a:cubicBezTo>
                  <a:pt x="431303" y="0"/>
                  <a:pt x="477115" y="45813"/>
                  <a:pt x="477115" y="102241"/>
                </a:cubicBezTo>
                <a:lnTo>
                  <a:pt x="477115" y="374874"/>
                </a:lnTo>
                <a:cubicBezTo>
                  <a:pt x="477115" y="431303"/>
                  <a:pt x="431303" y="477115"/>
                  <a:pt x="374874" y="477115"/>
                </a:cubicBezTo>
                <a:lnTo>
                  <a:pt x="102241" y="477115"/>
                </a:lnTo>
                <a:cubicBezTo>
                  <a:pt x="45813" y="477115"/>
                  <a:pt x="0" y="431303"/>
                  <a:pt x="0" y="374874"/>
                </a:cubicBezTo>
                <a:lnTo>
                  <a:pt x="0" y="102241"/>
                </a:lnTo>
                <a:cubicBezTo>
                  <a:pt x="0" y="45813"/>
                  <a:pt x="45813" y="0"/>
                  <a:pt x="102241" y="0"/>
                </a:cubicBezTo>
                <a:close/>
              </a:path>
            </a:pathLst>
          </a:custGeom>
          <a:solidFill>
            <a:srgbClr val="6B7280"/>
          </a:solidFill>
          <a:ln/>
        </p:spPr>
      </p:sp>
      <p:sp>
        <p:nvSpPr>
          <p:cNvPr id="26" name="Text 24"/>
          <p:cNvSpPr/>
          <p:nvPr/>
        </p:nvSpPr>
        <p:spPr>
          <a:xfrm>
            <a:off x="838679" y="3527245"/>
            <a:ext cx="178918" cy="238558"/>
          </a:xfrm>
          <a:prstGeom prst="rect">
            <a:avLst/>
          </a:prstGeom>
          <a:noFill/>
          <a:ln/>
        </p:spPr>
        <p:txBody>
          <a:bodyPr wrap="square" lIns="0" tIns="0" rIns="0" bIns="0" rtlCol="0" anchor="ctr"/>
          <a:lstStyle/>
          <a:p>
            <a:pPr>
              <a:lnSpc>
                <a:spcPct val="120000"/>
              </a:lnSpc>
            </a:pPr>
            <a:r>
              <a:rPr lang="en-US" sz="1342" b="1" dirty="0">
                <a:solidFill>
                  <a:srgbClr val="FFFFFF"/>
                </a:solidFill>
                <a:latin typeface="Noto Sans SC" pitchFamily="34" charset="0"/>
                <a:ea typeface="Noto Sans SC" pitchFamily="34" charset="-122"/>
                <a:cs typeface="Noto Sans SC" pitchFamily="34" charset="-120"/>
              </a:rPr>
              <a:t>3</a:t>
            </a:r>
            <a:endParaRPr lang="en-US" sz="1600" dirty="0"/>
          </a:p>
        </p:txBody>
      </p:sp>
      <p:sp>
        <p:nvSpPr>
          <p:cNvPr id="27" name="Shape 25"/>
          <p:cNvSpPr/>
          <p:nvPr/>
        </p:nvSpPr>
        <p:spPr>
          <a:xfrm>
            <a:off x="1260948" y="3288688"/>
            <a:ext cx="10590256" cy="715673"/>
          </a:xfrm>
          <a:custGeom>
            <a:avLst/>
            <a:gdLst/>
            <a:ahLst/>
            <a:cxnLst/>
            <a:rect l="l" t="t" r="r" b="b"/>
            <a:pathLst>
              <a:path w="10590256" h="715673">
                <a:moveTo>
                  <a:pt x="102241" y="0"/>
                </a:moveTo>
                <a:lnTo>
                  <a:pt x="10488015" y="0"/>
                </a:lnTo>
                <a:cubicBezTo>
                  <a:pt x="10544481" y="0"/>
                  <a:pt x="10590256" y="45775"/>
                  <a:pt x="10590256" y="102241"/>
                </a:cubicBezTo>
                <a:lnTo>
                  <a:pt x="10590256" y="613432"/>
                </a:lnTo>
                <a:cubicBezTo>
                  <a:pt x="10590256" y="669898"/>
                  <a:pt x="10544481" y="715673"/>
                  <a:pt x="10488015" y="715673"/>
                </a:cubicBezTo>
                <a:lnTo>
                  <a:pt x="102241" y="715673"/>
                </a:lnTo>
                <a:cubicBezTo>
                  <a:pt x="45813" y="715673"/>
                  <a:pt x="0" y="669860"/>
                  <a:pt x="0" y="613432"/>
                </a:cubicBezTo>
                <a:lnTo>
                  <a:pt x="0" y="102241"/>
                </a:lnTo>
                <a:cubicBezTo>
                  <a:pt x="0" y="45813"/>
                  <a:pt x="45813" y="0"/>
                  <a:pt x="102241" y="0"/>
                </a:cubicBezTo>
                <a:close/>
              </a:path>
            </a:pathLst>
          </a:custGeom>
          <a:solidFill>
            <a:srgbClr val="F3F4F6"/>
          </a:solidFill>
          <a:ln/>
        </p:spPr>
      </p:sp>
      <p:sp>
        <p:nvSpPr>
          <p:cNvPr id="28" name="Text 26"/>
          <p:cNvSpPr/>
          <p:nvPr/>
        </p:nvSpPr>
        <p:spPr>
          <a:xfrm>
            <a:off x="1397266" y="3425006"/>
            <a:ext cx="10394298" cy="238558"/>
          </a:xfrm>
          <a:prstGeom prst="rect">
            <a:avLst/>
          </a:prstGeom>
          <a:noFill/>
          <a:ln/>
        </p:spPr>
        <p:txBody>
          <a:bodyPr wrap="square" lIns="0" tIns="0" rIns="0" bIns="0" rtlCol="0" anchor="ctr"/>
          <a:lstStyle/>
          <a:p>
            <a:pPr>
              <a:lnSpc>
                <a:spcPct val="130000"/>
              </a:lnSpc>
            </a:pPr>
            <a:r>
              <a:rPr lang="en-US" sz="1208" b="1" dirty="0">
                <a:solidFill>
                  <a:srgbClr val="374151"/>
                </a:solidFill>
                <a:latin typeface="MiSans" pitchFamily="34" charset="0"/>
                <a:ea typeface="MiSans" pitchFamily="34" charset="-122"/>
                <a:cs typeface="MiSans" pitchFamily="34" charset="-120"/>
              </a:rPr>
              <a:t>A2 — Accélérer le contrôle</a:t>
            </a:r>
            <a:endParaRPr lang="en-US" sz="1600" dirty="0"/>
          </a:p>
        </p:txBody>
      </p:sp>
      <p:sp>
        <p:nvSpPr>
          <p:cNvPr id="29" name="Text 27"/>
          <p:cNvSpPr/>
          <p:nvPr/>
        </p:nvSpPr>
        <p:spPr>
          <a:xfrm>
            <a:off x="1397266" y="3663564"/>
            <a:ext cx="10385778" cy="204478"/>
          </a:xfrm>
          <a:prstGeom prst="rect">
            <a:avLst/>
          </a:prstGeom>
          <a:noFill/>
          <a:ln/>
        </p:spPr>
        <p:txBody>
          <a:bodyPr wrap="square" lIns="0" tIns="0" rIns="0" bIns="0" rtlCol="0" anchor="ctr"/>
          <a:lstStyle/>
          <a:p>
            <a:pPr>
              <a:lnSpc>
                <a:spcPct val="130000"/>
              </a:lnSpc>
            </a:pPr>
            <a:r>
              <a:rPr lang="en-US" sz="1073" dirty="0">
                <a:solidFill>
                  <a:srgbClr val="6B7280"/>
                </a:solidFill>
                <a:latin typeface="MiSans" pitchFamily="34" charset="0"/>
                <a:ea typeface="MiSans" pitchFamily="34" charset="-122"/>
                <a:cs typeface="MiSans" pitchFamily="34" charset="-120"/>
              </a:rPr>
              <a:t>Partiellement résolu par A1</a:t>
            </a:r>
            <a:endParaRPr lang="en-US" sz="1600" dirty="0"/>
          </a:p>
        </p:txBody>
      </p:sp>
      <p:sp>
        <p:nvSpPr>
          <p:cNvPr id="30" name="Shape 28"/>
          <p:cNvSpPr/>
          <p:nvPr/>
        </p:nvSpPr>
        <p:spPr>
          <a:xfrm>
            <a:off x="647514" y="4336637"/>
            <a:ext cx="477115" cy="477115"/>
          </a:xfrm>
          <a:custGeom>
            <a:avLst/>
            <a:gdLst/>
            <a:ahLst/>
            <a:cxnLst/>
            <a:rect l="l" t="t" r="r" b="b"/>
            <a:pathLst>
              <a:path w="477115" h="477115">
                <a:moveTo>
                  <a:pt x="102241" y="0"/>
                </a:moveTo>
                <a:lnTo>
                  <a:pt x="374874" y="0"/>
                </a:lnTo>
                <a:cubicBezTo>
                  <a:pt x="431303" y="0"/>
                  <a:pt x="477115" y="45813"/>
                  <a:pt x="477115" y="102241"/>
                </a:cubicBezTo>
                <a:lnTo>
                  <a:pt x="477115" y="374874"/>
                </a:lnTo>
                <a:cubicBezTo>
                  <a:pt x="477115" y="431303"/>
                  <a:pt x="431303" y="477115"/>
                  <a:pt x="374874" y="477115"/>
                </a:cubicBezTo>
                <a:lnTo>
                  <a:pt x="102241" y="477115"/>
                </a:lnTo>
                <a:cubicBezTo>
                  <a:pt x="45813" y="477115"/>
                  <a:pt x="0" y="431303"/>
                  <a:pt x="0" y="374874"/>
                </a:cubicBezTo>
                <a:lnTo>
                  <a:pt x="0" y="102241"/>
                </a:lnTo>
                <a:cubicBezTo>
                  <a:pt x="0" y="45813"/>
                  <a:pt x="45813" y="0"/>
                  <a:pt x="102241" y="0"/>
                </a:cubicBezTo>
                <a:close/>
              </a:path>
            </a:pathLst>
          </a:custGeom>
          <a:solidFill>
            <a:srgbClr val="6B7280"/>
          </a:solidFill>
          <a:ln/>
        </p:spPr>
      </p:sp>
      <p:sp>
        <p:nvSpPr>
          <p:cNvPr id="31" name="Text 29"/>
          <p:cNvSpPr/>
          <p:nvPr/>
        </p:nvSpPr>
        <p:spPr>
          <a:xfrm>
            <a:off x="838679" y="4455916"/>
            <a:ext cx="178918" cy="238558"/>
          </a:xfrm>
          <a:prstGeom prst="rect">
            <a:avLst/>
          </a:prstGeom>
          <a:noFill/>
          <a:ln/>
        </p:spPr>
        <p:txBody>
          <a:bodyPr wrap="square" lIns="0" tIns="0" rIns="0" bIns="0" rtlCol="0" anchor="ctr"/>
          <a:lstStyle/>
          <a:p>
            <a:pPr>
              <a:lnSpc>
                <a:spcPct val="120000"/>
              </a:lnSpc>
            </a:pPr>
            <a:r>
              <a:rPr lang="en-US" sz="1342" b="1" dirty="0">
                <a:solidFill>
                  <a:srgbClr val="FFFFFF"/>
                </a:solidFill>
                <a:latin typeface="Noto Sans SC" pitchFamily="34" charset="0"/>
                <a:ea typeface="Noto Sans SC" pitchFamily="34" charset="-122"/>
                <a:cs typeface="Noto Sans SC" pitchFamily="34" charset="-120"/>
              </a:rPr>
              <a:t>4</a:t>
            </a:r>
            <a:endParaRPr lang="en-US" sz="1600" dirty="0"/>
          </a:p>
        </p:txBody>
      </p:sp>
      <p:sp>
        <p:nvSpPr>
          <p:cNvPr id="32" name="Shape 30"/>
          <p:cNvSpPr/>
          <p:nvPr/>
        </p:nvSpPr>
        <p:spPr>
          <a:xfrm>
            <a:off x="1260948" y="4217358"/>
            <a:ext cx="10590256" cy="715673"/>
          </a:xfrm>
          <a:custGeom>
            <a:avLst/>
            <a:gdLst/>
            <a:ahLst/>
            <a:cxnLst/>
            <a:rect l="l" t="t" r="r" b="b"/>
            <a:pathLst>
              <a:path w="10590256" h="715673">
                <a:moveTo>
                  <a:pt x="102241" y="0"/>
                </a:moveTo>
                <a:lnTo>
                  <a:pt x="10488015" y="0"/>
                </a:lnTo>
                <a:cubicBezTo>
                  <a:pt x="10544481" y="0"/>
                  <a:pt x="10590256" y="45775"/>
                  <a:pt x="10590256" y="102241"/>
                </a:cubicBezTo>
                <a:lnTo>
                  <a:pt x="10590256" y="613432"/>
                </a:lnTo>
                <a:cubicBezTo>
                  <a:pt x="10590256" y="669898"/>
                  <a:pt x="10544481" y="715673"/>
                  <a:pt x="10488015" y="715673"/>
                </a:cubicBezTo>
                <a:lnTo>
                  <a:pt x="102241" y="715673"/>
                </a:lnTo>
                <a:cubicBezTo>
                  <a:pt x="45813" y="715673"/>
                  <a:pt x="0" y="669860"/>
                  <a:pt x="0" y="613432"/>
                </a:cubicBezTo>
                <a:lnTo>
                  <a:pt x="0" y="102241"/>
                </a:lnTo>
                <a:cubicBezTo>
                  <a:pt x="0" y="45813"/>
                  <a:pt x="45813" y="0"/>
                  <a:pt x="102241" y="0"/>
                </a:cubicBezTo>
                <a:close/>
              </a:path>
            </a:pathLst>
          </a:custGeom>
          <a:solidFill>
            <a:srgbClr val="F3F4F6"/>
          </a:solidFill>
          <a:ln/>
        </p:spPr>
      </p:sp>
      <p:sp>
        <p:nvSpPr>
          <p:cNvPr id="33" name="Text 31"/>
          <p:cNvSpPr/>
          <p:nvPr/>
        </p:nvSpPr>
        <p:spPr>
          <a:xfrm>
            <a:off x="1397266" y="4353677"/>
            <a:ext cx="10394298" cy="238558"/>
          </a:xfrm>
          <a:prstGeom prst="rect">
            <a:avLst/>
          </a:prstGeom>
          <a:noFill/>
          <a:ln/>
        </p:spPr>
        <p:txBody>
          <a:bodyPr wrap="square" lIns="0" tIns="0" rIns="0" bIns="0" rtlCol="0" anchor="ctr"/>
          <a:lstStyle/>
          <a:p>
            <a:pPr>
              <a:lnSpc>
                <a:spcPct val="130000"/>
              </a:lnSpc>
            </a:pPr>
            <a:r>
              <a:rPr lang="en-US" sz="1208" b="1" dirty="0">
                <a:solidFill>
                  <a:srgbClr val="374151"/>
                </a:solidFill>
                <a:latin typeface="MiSans" pitchFamily="34" charset="0"/>
                <a:ea typeface="MiSans" pitchFamily="34" charset="-122"/>
                <a:cs typeface="MiSans" pitchFamily="34" charset="-120"/>
              </a:rPr>
              <a:t>A5 — Monitoring production</a:t>
            </a:r>
            <a:endParaRPr lang="en-US" sz="1600" dirty="0"/>
          </a:p>
        </p:txBody>
      </p:sp>
      <p:sp>
        <p:nvSpPr>
          <p:cNvPr id="34" name="Text 32"/>
          <p:cNvSpPr/>
          <p:nvPr/>
        </p:nvSpPr>
        <p:spPr>
          <a:xfrm>
            <a:off x="1397266" y="4592235"/>
            <a:ext cx="10385778" cy="204478"/>
          </a:xfrm>
          <a:prstGeom prst="rect">
            <a:avLst/>
          </a:prstGeom>
          <a:noFill/>
          <a:ln/>
        </p:spPr>
        <p:txBody>
          <a:bodyPr wrap="square" lIns="0" tIns="0" rIns="0" bIns="0" rtlCol="0" anchor="ctr"/>
          <a:lstStyle/>
          <a:p>
            <a:pPr>
              <a:lnSpc>
                <a:spcPct val="130000"/>
              </a:lnSpc>
            </a:pPr>
            <a:r>
              <a:rPr lang="en-US" sz="1073" dirty="0">
                <a:solidFill>
                  <a:srgbClr val="6B7280"/>
                </a:solidFill>
                <a:latin typeface="MiSans" pitchFamily="34" charset="0"/>
                <a:ea typeface="MiSans" pitchFamily="34" charset="-122"/>
                <a:cs typeface="MiSans" pitchFamily="34" charset="-120"/>
              </a:rPr>
              <a:t>Nécessite A4 + capteurs</a:t>
            </a:r>
            <a:endParaRPr lang="en-US" sz="1600" dirty="0"/>
          </a:p>
        </p:txBody>
      </p:sp>
      <p:sp>
        <p:nvSpPr>
          <p:cNvPr id="35" name="Shape 33"/>
          <p:cNvSpPr/>
          <p:nvPr/>
        </p:nvSpPr>
        <p:spPr>
          <a:xfrm>
            <a:off x="647514" y="5265308"/>
            <a:ext cx="477115" cy="477115"/>
          </a:xfrm>
          <a:custGeom>
            <a:avLst/>
            <a:gdLst/>
            <a:ahLst/>
            <a:cxnLst/>
            <a:rect l="l" t="t" r="r" b="b"/>
            <a:pathLst>
              <a:path w="477115" h="477115">
                <a:moveTo>
                  <a:pt x="102241" y="0"/>
                </a:moveTo>
                <a:lnTo>
                  <a:pt x="374874" y="0"/>
                </a:lnTo>
                <a:cubicBezTo>
                  <a:pt x="431303" y="0"/>
                  <a:pt x="477115" y="45813"/>
                  <a:pt x="477115" y="102241"/>
                </a:cubicBezTo>
                <a:lnTo>
                  <a:pt x="477115" y="374874"/>
                </a:lnTo>
                <a:cubicBezTo>
                  <a:pt x="477115" y="431303"/>
                  <a:pt x="431303" y="477115"/>
                  <a:pt x="374874" y="477115"/>
                </a:cubicBezTo>
                <a:lnTo>
                  <a:pt x="102241" y="477115"/>
                </a:lnTo>
                <a:cubicBezTo>
                  <a:pt x="45813" y="477115"/>
                  <a:pt x="0" y="431303"/>
                  <a:pt x="0" y="374874"/>
                </a:cubicBezTo>
                <a:lnTo>
                  <a:pt x="0" y="102241"/>
                </a:lnTo>
                <a:cubicBezTo>
                  <a:pt x="0" y="45813"/>
                  <a:pt x="45813" y="0"/>
                  <a:pt x="102241" y="0"/>
                </a:cubicBezTo>
                <a:close/>
              </a:path>
            </a:pathLst>
          </a:custGeom>
          <a:solidFill>
            <a:srgbClr val="6B7280"/>
          </a:solidFill>
          <a:ln/>
        </p:spPr>
      </p:sp>
      <p:sp>
        <p:nvSpPr>
          <p:cNvPr id="36" name="Text 34"/>
          <p:cNvSpPr/>
          <p:nvPr/>
        </p:nvSpPr>
        <p:spPr>
          <a:xfrm>
            <a:off x="838679" y="5384587"/>
            <a:ext cx="178918" cy="238558"/>
          </a:xfrm>
          <a:prstGeom prst="rect">
            <a:avLst/>
          </a:prstGeom>
          <a:noFill/>
          <a:ln/>
        </p:spPr>
        <p:txBody>
          <a:bodyPr wrap="square" lIns="0" tIns="0" rIns="0" bIns="0" rtlCol="0" anchor="ctr"/>
          <a:lstStyle/>
          <a:p>
            <a:pPr>
              <a:lnSpc>
                <a:spcPct val="120000"/>
              </a:lnSpc>
            </a:pPr>
            <a:r>
              <a:rPr lang="en-US" sz="1342" b="1" dirty="0">
                <a:solidFill>
                  <a:srgbClr val="FFFFFF"/>
                </a:solidFill>
                <a:latin typeface="Noto Sans SC" pitchFamily="34" charset="0"/>
                <a:ea typeface="Noto Sans SC" pitchFamily="34" charset="-122"/>
                <a:cs typeface="Noto Sans SC" pitchFamily="34" charset="-120"/>
              </a:rPr>
              <a:t>5</a:t>
            </a:r>
            <a:endParaRPr lang="en-US" sz="1600" dirty="0"/>
          </a:p>
        </p:txBody>
      </p:sp>
      <p:sp>
        <p:nvSpPr>
          <p:cNvPr id="37" name="Shape 35"/>
          <p:cNvSpPr/>
          <p:nvPr/>
        </p:nvSpPr>
        <p:spPr>
          <a:xfrm>
            <a:off x="1260948" y="5146029"/>
            <a:ext cx="10590256" cy="715673"/>
          </a:xfrm>
          <a:custGeom>
            <a:avLst/>
            <a:gdLst/>
            <a:ahLst/>
            <a:cxnLst/>
            <a:rect l="l" t="t" r="r" b="b"/>
            <a:pathLst>
              <a:path w="10590256" h="715673">
                <a:moveTo>
                  <a:pt x="102241" y="0"/>
                </a:moveTo>
                <a:lnTo>
                  <a:pt x="10488015" y="0"/>
                </a:lnTo>
                <a:cubicBezTo>
                  <a:pt x="10544481" y="0"/>
                  <a:pt x="10590256" y="45775"/>
                  <a:pt x="10590256" y="102241"/>
                </a:cubicBezTo>
                <a:lnTo>
                  <a:pt x="10590256" y="613432"/>
                </a:lnTo>
                <a:cubicBezTo>
                  <a:pt x="10590256" y="669898"/>
                  <a:pt x="10544481" y="715673"/>
                  <a:pt x="10488015" y="715673"/>
                </a:cubicBezTo>
                <a:lnTo>
                  <a:pt x="102241" y="715673"/>
                </a:lnTo>
                <a:cubicBezTo>
                  <a:pt x="45813" y="715673"/>
                  <a:pt x="0" y="669860"/>
                  <a:pt x="0" y="613432"/>
                </a:cubicBezTo>
                <a:lnTo>
                  <a:pt x="0" y="102241"/>
                </a:lnTo>
                <a:cubicBezTo>
                  <a:pt x="0" y="45813"/>
                  <a:pt x="45813" y="0"/>
                  <a:pt x="102241" y="0"/>
                </a:cubicBezTo>
                <a:close/>
              </a:path>
            </a:pathLst>
          </a:custGeom>
          <a:solidFill>
            <a:srgbClr val="F3F4F6"/>
          </a:solidFill>
          <a:ln/>
        </p:spPr>
      </p:sp>
      <p:sp>
        <p:nvSpPr>
          <p:cNvPr id="38" name="Text 36"/>
          <p:cNvSpPr/>
          <p:nvPr/>
        </p:nvSpPr>
        <p:spPr>
          <a:xfrm>
            <a:off x="1397266" y="5282348"/>
            <a:ext cx="10394298" cy="238558"/>
          </a:xfrm>
          <a:prstGeom prst="rect">
            <a:avLst/>
          </a:prstGeom>
          <a:noFill/>
          <a:ln/>
        </p:spPr>
        <p:txBody>
          <a:bodyPr wrap="square" lIns="0" tIns="0" rIns="0" bIns="0" rtlCol="0" anchor="ctr"/>
          <a:lstStyle/>
          <a:p>
            <a:pPr>
              <a:lnSpc>
                <a:spcPct val="130000"/>
              </a:lnSpc>
            </a:pPr>
            <a:r>
              <a:rPr lang="en-US" sz="1208" b="1" dirty="0">
                <a:solidFill>
                  <a:srgbClr val="374151"/>
                </a:solidFill>
                <a:latin typeface="MiSans" pitchFamily="34" charset="0"/>
                <a:ea typeface="MiSans" pitchFamily="34" charset="-122"/>
                <a:cs typeface="MiSans" pitchFamily="34" charset="-120"/>
              </a:rPr>
              <a:t>A3 — Causes racines</a:t>
            </a:r>
            <a:endParaRPr lang="en-US" sz="1600" dirty="0"/>
          </a:p>
        </p:txBody>
      </p:sp>
      <p:sp>
        <p:nvSpPr>
          <p:cNvPr id="39" name="Text 37"/>
          <p:cNvSpPr/>
          <p:nvPr/>
        </p:nvSpPr>
        <p:spPr>
          <a:xfrm>
            <a:off x="1397266" y="5520906"/>
            <a:ext cx="10385778" cy="204478"/>
          </a:xfrm>
          <a:prstGeom prst="rect">
            <a:avLst/>
          </a:prstGeom>
          <a:noFill/>
          <a:ln/>
        </p:spPr>
        <p:txBody>
          <a:bodyPr wrap="square" lIns="0" tIns="0" rIns="0" bIns="0" rtlCol="0" anchor="ctr"/>
          <a:lstStyle/>
          <a:p>
            <a:pPr>
              <a:lnSpc>
                <a:spcPct val="130000"/>
              </a:lnSpc>
            </a:pPr>
            <a:r>
              <a:rPr lang="en-US" sz="1073" dirty="0">
                <a:solidFill>
                  <a:srgbClr val="6B7280"/>
                </a:solidFill>
                <a:latin typeface="MiSans" pitchFamily="34" charset="0"/>
                <a:ea typeface="MiSans" pitchFamily="34" charset="-122"/>
                <a:cs typeface="MiSans" pitchFamily="34" charset="-120"/>
              </a:rPr>
              <a:t>Nécessite A4</a:t>
            </a:r>
            <a:endParaRPr lang="en-US" sz="1600" dirty="0"/>
          </a:p>
        </p:txBody>
      </p:sp>
      <p:sp>
        <p:nvSpPr>
          <p:cNvPr id="40" name="Shape 38"/>
          <p:cNvSpPr/>
          <p:nvPr/>
        </p:nvSpPr>
        <p:spPr>
          <a:xfrm>
            <a:off x="340797" y="5998021"/>
            <a:ext cx="11510407" cy="519715"/>
          </a:xfrm>
          <a:custGeom>
            <a:avLst/>
            <a:gdLst/>
            <a:ahLst/>
            <a:cxnLst/>
            <a:rect l="l" t="t" r="r" b="b"/>
            <a:pathLst>
              <a:path w="11510407" h="519715">
                <a:moveTo>
                  <a:pt x="102238" y="0"/>
                </a:moveTo>
                <a:lnTo>
                  <a:pt x="11408168" y="0"/>
                </a:lnTo>
                <a:cubicBezTo>
                  <a:pt x="11464633" y="0"/>
                  <a:pt x="11510407" y="45774"/>
                  <a:pt x="11510407" y="102238"/>
                </a:cubicBezTo>
                <a:lnTo>
                  <a:pt x="11510407" y="417477"/>
                </a:lnTo>
                <a:cubicBezTo>
                  <a:pt x="11510407" y="473941"/>
                  <a:pt x="11464633" y="519715"/>
                  <a:pt x="11408168" y="519715"/>
                </a:cubicBezTo>
                <a:lnTo>
                  <a:pt x="102238" y="519715"/>
                </a:lnTo>
                <a:cubicBezTo>
                  <a:pt x="45774" y="519715"/>
                  <a:pt x="0" y="473941"/>
                  <a:pt x="0" y="417477"/>
                </a:cubicBezTo>
                <a:lnTo>
                  <a:pt x="0" y="102238"/>
                </a:lnTo>
                <a:cubicBezTo>
                  <a:pt x="0" y="45774"/>
                  <a:pt x="45774" y="0"/>
                  <a:pt x="102238" y="0"/>
                </a:cubicBezTo>
                <a:close/>
              </a:path>
            </a:pathLst>
          </a:custGeom>
          <a:solidFill>
            <a:srgbClr val="1E3A8A"/>
          </a:solidFill>
          <a:ln/>
        </p:spPr>
      </p:sp>
      <p:sp>
        <p:nvSpPr>
          <p:cNvPr id="41" name="Shape 39"/>
          <p:cNvSpPr/>
          <p:nvPr/>
        </p:nvSpPr>
        <p:spPr>
          <a:xfrm>
            <a:off x="502675" y="6155639"/>
            <a:ext cx="204478" cy="204478"/>
          </a:xfrm>
          <a:custGeom>
            <a:avLst/>
            <a:gdLst/>
            <a:ahLst/>
            <a:cxnLst/>
            <a:rect l="l" t="t" r="r" b="b"/>
            <a:pathLst>
              <a:path w="204478" h="204478">
                <a:moveTo>
                  <a:pt x="0" y="31950"/>
                </a:moveTo>
                <a:cubicBezTo>
                  <a:pt x="0" y="21366"/>
                  <a:pt x="8586" y="12780"/>
                  <a:pt x="19170" y="12780"/>
                </a:cubicBezTo>
                <a:lnTo>
                  <a:pt x="57509" y="12780"/>
                </a:lnTo>
                <a:cubicBezTo>
                  <a:pt x="68093" y="12780"/>
                  <a:pt x="76679" y="21366"/>
                  <a:pt x="76679" y="31950"/>
                </a:cubicBezTo>
                <a:lnTo>
                  <a:pt x="76679" y="38340"/>
                </a:lnTo>
                <a:lnTo>
                  <a:pt x="127799" y="38340"/>
                </a:lnTo>
                <a:lnTo>
                  <a:pt x="127799" y="31950"/>
                </a:lnTo>
                <a:cubicBezTo>
                  <a:pt x="127799" y="21366"/>
                  <a:pt x="136385" y="12780"/>
                  <a:pt x="146969" y="12780"/>
                </a:cubicBezTo>
                <a:lnTo>
                  <a:pt x="185308" y="12780"/>
                </a:lnTo>
                <a:cubicBezTo>
                  <a:pt x="195892" y="12780"/>
                  <a:pt x="204478" y="21366"/>
                  <a:pt x="204478" y="31950"/>
                </a:cubicBezTo>
                <a:lnTo>
                  <a:pt x="204478" y="70289"/>
                </a:lnTo>
                <a:cubicBezTo>
                  <a:pt x="204478" y="80873"/>
                  <a:pt x="195892" y="89459"/>
                  <a:pt x="185308" y="89459"/>
                </a:cubicBezTo>
                <a:lnTo>
                  <a:pt x="146969" y="89459"/>
                </a:lnTo>
                <a:cubicBezTo>
                  <a:pt x="136385" y="89459"/>
                  <a:pt x="127799" y="80873"/>
                  <a:pt x="127799" y="70289"/>
                </a:cubicBezTo>
                <a:lnTo>
                  <a:pt x="127799" y="63899"/>
                </a:lnTo>
                <a:lnTo>
                  <a:pt x="76679" y="63899"/>
                </a:lnTo>
                <a:lnTo>
                  <a:pt x="76679" y="70289"/>
                </a:lnTo>
                <a:cubicBezTo>
                  <a:pt x="76679" y="73205"/>
                  <a:pt x="76000" y="76000"/>
                  <a:pt x="74842" y="78476"/>
                </a:cubicBezTo>
                <a:lnTo>
                  <a:pt x="102239" y="115019"/>
                </a:lnTo>
                <a:lnTo>
                  <a:pt x="134189" y="115019"/>
                </a:lnTo>
                <a:cubicBezTo>
                  <a:pt x="144772" y="115019"/>
                  <a:pt x="153358" y="123605"/>
                  <a:pt x="153358" y="134189"/>
                </a:cubicBezTo>
                <a:lnTo>
                  <a:pt x="153358" y="172528"/>
                </a:lnTo>
                <a:cubicBezTo>
                  <a:pt x="153358" y="183112"/>
                  <a:pt x="144772" y="191698"/>
                  <a:pt x="134189" y="191698"/>
                </a:cubicBezTo>
                <a:lnTo>
                  <a:pt x="95849" y="191698"/>
                </a:lnTo>
                <a:cubicBezTo>
                  <a:pt x="85266" y="191698"/>
                  <a:pt x="76679" y="183112"/>
                  <a:pt x="76679" y="172528"/>
                </a:cubicBezTo>
                <a:lnTo>
                  <a:pt x="76679" y="134189"/>
                </a:lnTo>
                <a:cubicBezTo>
                  <a:pt x="76679" y="131273"/>
                  <a:pt x="77358" y="128478"/>
                  <a:pt x="78516" y="126002"/>
                </a:cubicBezTo>
                <a:lnTo>
                  <a:pt x="51119" y="89459"/>
                </a:lnTo>
                <a:lnTo>
                  <a:pt x="19170" y="89459"/>
                </a:lnTo>
                <a:cubicBezTo>
                  <a:pt x="8586" y="89459"/>
                  <a:pt x="0" y="80873"/>
                  <a:pt x="0" y="70289"/>
                </a:cubicBezTo>
                <a:lnTo>
                  <a:pt x="0" y="31950"/>
                </a:lnTo>
                <a:close/>
              </a:path>
            </a:pathLst>
          </a:custGeom>
          <a:solidFill>
            <a:srgbClr val="FFFFFF"/>
          </a:solidFill>
          <a:ln/>
        </p:spPr>
      </p:sp>
      <p:sp>
        <p:nvSpPr>
          <p:cNvPr id="42" name="Text 40"/>
          <p:cNvSpPr/>
          <p:nvPr/>
        </p:nvSpPr>
        <p:spPr>
          <a:xfrm>
            <a:off x="869031" y="6134340"/>
            <a:ext cx="5180109" cy="247078"/>
          </a:xfrm>
          <a:prstGeom prst="rect">
            <a:avLst/>
          </a:prstGeom>
          <a:noFill/>
          <a:ln/>
        </p:spPr>
        <p:txBody>
          <a:bodyPr wrap="square" lIns="0" tIns="0" rIns="0" bIns="0" rtlCol="0" anchor="ctr"/>
          <a:lstStyle/>
          <a:p>
            <a:pPr>
              <a:lnSpc>
                <a:spcPct val="130000"/>
              </a:lnSpc>
            </a:pPr>
            <a:r>
              <a:rPr lang="en-US" sz="1208" b="1" dirty="0">
                <a:solidFill>
                  <a:srgbClr val="FFFFFF"/>
                </a:solidFill>
                <a:latin typeface="MiSans" pitchFamily="34" charset="0"/>
                <a:ea typeface="MiSans" pitchFamily="34" charset="-122"/>
                <a:cs typeface="MiSans" pitchFamily="34" charset="-120"/>
              </a:rPr>
              <a:t>Dépendances : A4 = socle pour A3 et A5 · A1 couvre une partie d'A2</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0578" y="222347"/>
            <a:ext cx="2121556" cy="333520"/>
          </a:xfrm>
          <a:custGeom>
            <a:avLst/>
            <a:gdLst/>
            <a:ahLst/>
            <a:cxnLst/>
            <a:rect l="l" t="t" r="r" b="b"/>
            <a:pathLst>
              <a:path w="2121556" h="333520">
                <a:moveTo>
                  <a:pt x="166760" y="0"/>
                </a:moveTo>
                <a:lnTo>
                  <a:pt x="1954796" y="0"/>
                </a:lnTo>
                <a:cubicBezTo>
                  <a:pt x="2046895" y="0"/>
                  <a:pt x="2121556" y="74661"/>
                  <a:pt x="2121556" y="166760"/>
                </a:cubicBezTo>
                <a:lnTo>
                  <a:pt x="2121556" y="166760"/>
                </a:lnTo>
                <a:cubicBezTo>
                  <a:pt x="2121556" y="258859"/>
                  <a:pt x="2046895" y="333520"/>
                  <a:pt x="1954796" y="333520"/>
                </a:cubicBezTo>
                <a:lnTo>
                  <a:pt x="166760" y="333520"/>
                </a:lnTo>
                <a:cubicBezTo>
                  <a:pt x="74723" y="333520"/>
                  <a:pt x="0" y="258797"/>
                  <a:pt x="0" y="166760"/>
                </a:cubicBezTo>
                <a:lnTo>
                  <a:pt x="0" y="166760"/>
                </a:lnTo>
                <a:cubicBezTo>
                  <a:pt x="0" y="74723"/>
                  <a:pt x="74723" y="0"/>
                  <a:pt x="166760" y="0"/>
                </a:cubicBezTo>
                <a:close/>
              </a:path>
            </a:pathLst>
          </a:custGeom>
          <a:solidFill>
            <a:srgbClr val="EC4899"/>
          </a:solidFill>
          <a:ln/>
        </p:spPr>
      </p:sp>
      <p:sp>
        <p:nvSpPr>
          <p:cNvPr id="3" name="Text 1"/>
          <p:cNvSpPr/>
          <p:nvPr/>
        </p:nvSpPr>
        <p:spPr>
          <a:xfrm>
            <a:off x="518809" y="296462"/>
            <a:ext cx="1889945" cy="185289"/>
          </a:xfrm>
          <a:prstGeom prst="rect">
            <a:avLst/>
          </a:prstGeom>
          <a:noFill/>
          <a:ln/>
        </p:spPr>
        <p:txBody>
          <a:bodyPr wrap="square" lIns="0" tIns="0" rIns="0" bIns="0" rtlCol="0" anchor="ctr"/>
          <a:lstStyle/>
          <a:p>
            <a:pPr>
              <a:lnSpc>
                <a:spcPct val="120000"/>
              </a:lnSpc>
            </a:pPr>
            <a:r>
              <a:rPr lang="en-US" sz="1021" b="1" kern="0" spc="26" dirty="0">
                <a:solidFill>
                  <a:srgbClr val="FFFFFF"/>
                </a:solidFill>
                <a:latin typeface="MiSans" pitchFamily="34" charset="0"/>
                <a:ea typeface="MiSans" pitchFamily="34" charset="-122"/>
                <a:cs typeface="MiSans" pitchFamily="34" charset="-120"/>
              </a:rPr>
              <a:t>CONCEPTION - ML CANVAS</a:t>
            </a:r>
            <a:endParaRPr lang="en-US" sz="1600" dirty="0"/>
          </a:p>
        </p:txBody>
      </p:sp>
      <p:sp>
        <p:nvSpPr>
          <p:cNvPr id="4" name="Text 2"/>
          <p:cNvSpPr/>
          <p:nvPr/>
        </p:nvSpPr>
        <p:spPr>
          <a:xfrm>
            <a:off x="370578" y="963502"/>
            <a:ext cx="11617605" cy="370578"/>
          </a:xfrm>
          <a:prstGeom prst="rect">
            <a:avLst/>
          </a:prstGeom>
          <a:noFill/>
          <a:ln/>
        </p:spPr>
        <p:txBody>
          <a:bodyPr wrap="square" lIns="0" tIns="0" rIns="0" bIns="0" rtlCol="0" anchor="ctr"/>
          <a:lstStyle/>
          <a:p>
            <a:pPr>
              <a:lnSpc>
                <a:spcPct val="90000"/>
              </a:lnSpc>
            </a:pPr>
            <a:r>
              <a:rPr lang="en-US" sz="2626" b="1" dirty="0">
                <a:solidFill>
                  <a:srgbClr val="1E3A8A"/>
                </a:solidFill>
                <a:latin typeface="Noto Sans SC" pitchFamily="34" charset="0"/>
                <a:ea typeface="Noto Sans SC" pitchFamily="34" charset="-122"/>
                <a:cs typeface="Noto Sans SC" pitchFamily="34" charset="-120"/>
              </a:rPr>
              <a:t>Machine Learning Canvas — FQA</a:t>
            </a:r>
            <a:endParaRPr lang="en-US" sz="1600" dirty="0"/>
          </a:p>
        </p:txBody>
      </p:sp>
      <p:sp>
        <p:nvSpPr>
          <p:cNvPr id="5" name="Shape 3"/>
          <p:cNvSpPr/>
          <p:nvPr/>
        </p:nvSpPr>
        <p:spPr>
          <a:xfrm>
            <a:off x="370578" y="1482310"/>
            <a:ext cx="4511781" cy="1445252"/>
          </a:xfrm>
          <a:custGeom>
            <a:avLst/>
            <a:gdLst/>
            <a:ahLst/>
            <a:cxnLst/>
            <a:rect l="l" t="t" r="r" b="b"/>
            <a:pathLst>
              <a:path w="4511781" h="1445252">
                <a:moveTo>
                  <a:pt x="111169" y="0"/>
                </a:moveTo>
                <a:lnTo>
                  <a:pt x="4400612" y="0"/>
                </a:lnTo>
                <a:cubicBezTo>
                  <a:pt x="4462009" y="0"/>
                  <a:pt x="4511781" y="49772"/>
                  <a:pt x="4511781" y="111169"/>
                </a:cubicBezTo>
                <a:lnTo>
                  <a:pt x="4511781" y="1334083"/>
                </a:lnTo>
                <a:cubicBezTo>
                  <a:pt x="4511781" y="1395480"/>
                  <a:pt x="4462009" y="1445252"/>
                  <a:pt x="4400612" y="1445252"/>
                </a:cubicBezTo>
                <a:lnTo>
                  <a:pt x="111169" y="1445252"/>
                </a:lnTo>
                <a:cubicBezTo>
                  <a:pt x="49772" y="1445252"/>
                  <a:pt x="0" y="1395480"/>
                  <a:pt x="0" y="1334083"/>
                </a:cubicBezTo>
                <a:lnTo>
                  <a:pt x="0" y="111169"/>
                </a:lnTo>
                <a:cubicBezTo>
                  <a:pt x="0" y="49813"/>
                  <a:pt x="49813" y="0"/>
                  <a:pt x="111169" y="0"/>
                </a:cubicBezTo>
                <a:close/>
              </a:path>
            </a:pathLst>
          </a:custGeom>
          <a:solidFill>
            <a:srgbClr val="1E3A8A"/>
          </a:solidFill>
          <a:ln/>
        </p:spPr>
      </p:sp>
      <p:sp>
        <p:nvSpPr>
          <p:cNvPr id="6" name="Shape 4"/>
          <p:cNvSpPr/>
          <p:nvPr/>
        </p:nvSpPr>
        <p:spPr>
          <a:xfrm>
            <a:off x="541970" y="1899210"/>
            <a:ext cx="166760" cy="166760"/>
          </a:xfrm>
          <a:custGeom>
            <a:avLst/>
            <a:gdLst/>
            <a:ahLst/>
            <a:cxnLst/>
            <a:rect l="l" t="t" r="r" b="b"/>
            <a:pathLst>
              <a:path w="166760" h="166760">
                <a:moveTo>
                  <a:pt x="38010" y="11009"/>
                </a:moveTo>
                <a:cubicBezTo>
                  <a:pt x="39475" y="9022"/>
                  <a:pt x="41820" y="7817"/>
                  <a:pt x="44296" y="7817"/>
                </a:cubicBezTo>
                <a:lnTo>
                  <a:pt x="122464" y="7817"/>
                </a:lnTo>
                <a:cubicBezTo>
                  <a:pt x="124940" y="7817"/>
                  <a:pt x="127285" y="8989"/>
                  <a:pt x="128750" y="11009"/>
                </a:cubicBezTo>
                <a:lnTo>
                  <a:pt x="165229" y="60516"/>
                </a:lnTo>
                <a:cubicBezTo>
                  <a:pt x="167444" y="63512"/>
                  <a:pt x="167216" y="67648"/>
                  <a:pt x="164741" y="70417"/>
                </a:cubicBezTo>
                <a:lnTo>
                  <a:pt x="89177" y="153797"/>
                </a:lnTo>
                <a:cubicBezTo>
                  <a:pt x="87712" y="155425"/>
                  <a:pt x="85595" y="156370"/>
                  <a:pt x="83380" y="156370"/>
                </a:cubicBezTo>
                <a:cubicBezTo>
                  <a:pt x="81165" y="156370"/>
                  <a:pt x="79081" y="155425"/>
                  <a:pt x="77582" y="153797"/>
                </a:cubicBezTo>
                <a:lnTo>
                  <a:pt x="2019" y="70417"/>
                </a:lnTo>
                <a:cubicBezTo>
                  <a:pt x="-489" y="67648"/>
                  <a:pt x="-684" y="63512"/>
                  <a:pt x="1531" y="60516"/>
                </a:cubicBezTo>
                <a:lnTo>
                  <a:pt x="38010" y="11009"/>
                </a:lnTo>
                <a:close/>
                <a:moveTo>
                  <a:pt x="50549" y="23972"/>
                </a:moveTo>
                <a:cubicBezTo>
                  <a:pt x="49474" y="24786"/>
                  <a:pt x="49181" y="26252"/>
                  <a:pt x="49865" y="27392"/>
                </a:cubicBezTo>
                <a:lnTo>
                  <a:pt x="68560" y="58561"/>
                </a:lnTo>
                <a:lnTo>
                  <a:pt x="20617" y="62535"/>
                </a:lnTo>
                <a:cubicBezTo>
                  <a:pt x="19282" y="62633"/>
                  <a:pt x="18239" y="63773"/>
                  <a:pt x="18239" y="65141"/>
                </a:cubicBezTo>
                <a:cubicBezTo>
                  <a:pt x="18239" y="66509"/>
                  <a:pt x="19282" y="67616"/>
                  <a:pt x="20617" y="67746"/>
                </a:cubicBezTo>
                <a:lnTo>
                  <a:pt x="83152" y="72957"/>
                </a:lnTo>
                <a:cubicBezTo>
                  <a:pt x="83282" y="72957"/>
                  <a:pt x="83445" y="72957"/>
                  <a:pt x="83575" y="72957"/>
                </a:cubicBezTo>
                <a:lnTo>
                  <a:pt x="146110" y="67746"/>
                </a:lnTo>
                <a:cubicBezTo>
                  <a:pt x="147446" y="67648"/>
                  <a:pt x="148488" y="66509"/>
                  <a:pt x="148488" y="65141"/>
                </a:cubicBezTo>
                <a:cubicBezTo>
                  <a:pt x="148488" y="63773"/>
                  <a:pt x="147446" y="62665"/>
                  <a:pt x="146110" y="62535"/>
                </a:cubicBezTo>
                <a:lnTo>
                  <a:pt x="98167" y="58529"/>
                </a:lnTo>
                <a:lnTo>
                  <a:pt x="116862" y="27392"/>
                </a:lnTo>
                <a:cubicBezTo>
                  <a:pt x="117546" y="26252"/>
                  <a:pt x="117253" y="24753"/>
                  <a:pt x="116178" y="23972"/>
                </a:cubicBezTo>
                <a:cubicBezTo>
                  <a:pt x="115103" y="23190"/>
                  <a:pt x="113605" y="23320"/>
                  <a:pt x="112693" y="24297"/>
                </a:cubicBezTo>
                <a:lnTo>
                  <a:pt x="83380" y="56086"/>
                </a:lnTo>
                <a:lnTo>
                  <a:pt x="54034" y="24297"/>
                </a:lnTo>
                <a:cubicBezTo>
                  <a:pt x="53122" y="23320"/>
                  <a:pt x="51624" y="23190"/>
                  <a:pt x="50549" y="23972"/>
                </a:cubicBezTo>
                <a:close/>
              </a:path>
            </a:pathLst>
          </a:custGeom>
          <a:solidFill>
            <a:srgbClr val="FFFFFF"/>
          </a:solidFill>
          <a:ln/>
        </p:spPr>
      </p:sp>
      <p:sp>
        <p:nvSpPr>
          <p:cNvPr id="7" name="Text 5"/>
          <p:cNvSpPr/>
          <p:nvPr/>
        </p:nvSpPr>
        <p:spPr>
          <a:xfrm>
            <a:off x="801374" y="1871416"/>
            <a:ext cx="1602748" cy="222347"/>
          </a:xfrm>
          <a:prstGeom prst="rect">
            <a:avLst/>
          </a:prstGeom>
          <a:noFill/>
          <a:ln/>
        </p:spPr>
        <p:txBody>
          <a:bodyPr wrap="square" lIns="0" tIns="0" rIns="0" bIns="0" rtlCol="0" anchor="ctr"/>
          <a:lstStyle/>
          <a:p>
            <a:pPr>
              <a:lnSpc>
                <a:spcPct val="130000"/>
              </a:lnSpc>
            </a:pPr>
            <a:r>
              <a:rPr lang="en-US" sz="1167" b="1" dirty="0">
                <a:solidFill>
                  <a:srgbClr val="FFFFFF"/>
                </a:solidFill>
                <a:latin typeface="MiSans" pitchFamily="34" charset="0"/>
                <a:ea typeface="MiSans" pitchFamily="34" charset="-122"/>
                <a:cs typeface="MiSans" pitchFamily="34" charset="-120"/>
              </a:rPr>
              <a:t>Proposition de Valeur</a:t>
            </a:r>
            <a:endParaRPr lang="en-US" sz="1600" dirty="0"/>
          </a:p>
        </p:txBody>
      </p:sp>
      <p:sp>
        <p:nvSpPr>
          <p:cNvPr id="8" name="Text 6"/>
          <p:cNvSpPr/>
          <p:nvPr/>
        </p:nvSpPr>
        <p:spPr>
          <a:xfrm>
            <a:off x="518809" y="2167878"/>
            <a:ext cx="4280170" cy="185289"/>
          </a:xfrm>
          <a:prstGeom prst="rect">
            <a:avLst/>
          </a:prstGeom>
          <a:noFill/>
          <a:ln/>
        </p:spPr>
        <p:txBody>
          <a:bodyPr wrap="square" lIns="0" tIns="0" rIns="0" bIns="0" rtlCol="0" anchor="ctr"/>
          <a:lstStyle/>
          <a:p>
            <a:pPr>
              <a:lnSpc>
                <a:spcPct val="120000"/>
              </a:lnSpc>
            </a:pPr>
            <a:r>
              <a:rPr lang="en-US" sz="1021" dirty="0">
                <a:solidFill>
                  <a:srgbClr val="FFFFFF"/>
                </a:solidFill>
                <a:latin typeface="MiSans" pitchFamily="34" charset="0"/>
                <a:ea typeface="MiSans" pitchFamily="34" charset="-122"/>
                <a:cs typeface="MiSans" pitchFamily="34" charset="-120"/>
              </a:rPr>
              <a:t>Détecter défauts visuels </a:t>
            </a:r>
            <a:r>
              <a:rPr lang="en-US" sz="1021" b="1" dirty="0">
                <a:solidFill>
                  <a:srgbClr val="FFFFFF"/>
                </a:solidFill>
                <a:latin typeface="MiSans" pitchFamily="34" charset="0"/>
                <a:ea typeface="MiSans" pitchFamily="34" charset="-122"/>
                <a:cs typeface="MiSans" pitchFamily="34" charset="-120"/>
              </a:rPr>
              <a:t>≥95%</a:t>
            </a:r>
            <a:endParaRPr lang="en-US" sz="1600" dirty="0"/>
          </a:p>
        </p:txBody>
      </p:sp>
      <p:sp>
        <p:nvSpPr>
          <p:cNvPr id="9" name="Text 7"/>
          <p:cNvSpPr/>
          <p:nvPr/>
        </p:nvSpPr>
        <p:spPr>
          <a:xfrm>
            <a:off x="518809" y="2353167"/>
            <a:ext cx="4280170" cy="185289"/>
          </a:xfrm>
          <a:prstGeom prst="rect">
            <a:avLst/>
          </a:prstGeom>
          <a:noFill/>
          <a:ln/>
        </p:spPr>
        <p:txBody>
          <a:bodyPr wrap="square" lIns="0" tIns="0" rIns="0" bIns="0" rtlCol="0" anchor="ctr"/>
          <a:lstStyle/>
          <a:p>
            <a:pPr>
              <a:lnSpc>
                <a:spcPct val="120000"/>
              </a:lnSpc>
            </a:pPr>
            <a:r>
              <a:rPr lang="en-US" sz="1021" dirty="0">
                <a:solidFill>
                  <a:srgbClr val="FFFFFF"/>
                </a:solidFill>
                <a:latin typeface="MiSans" pitchFamily="34" charset="0"/>
                <a:ea typeface="MiSans" pitchFamily="34" charset="-122"/>
                <a:cs typeface="MiSans" pitchFamily="34" charset="-120"/>
              </a:rPr>
              <a:t>Faux rebuts </a:t>
            </a:r>
            <a:r>
              <a:rPr lang="en-US" sz="1021" b="1" dirty="0">
                <a:solidFill>
                  <a:srgbClr val="FFFFFF"/>
                </a:solidFill>
                <a:latin typeface="MiSans" pitchFamily="34" charset="0"/>
                <a:ea typeface="MiSans" pitchFamily="34" charset="-122"/>
                <a:cs typeface="MiSans" pitchFamily="34" charset="-120"/>
              </a:rPr>
              <a:t>&lt;10%</a:t>
            </a:r>
            <a:endParaRPr lang="en-US" sz="1600" dirty="0"/>
          </a:p>
        </p:txBody>
      </p:sp>
      <p:sp>
        <p:nvSpPr>
          <p:cNvPr id="10" name="Shape 8"/>
          <p:cNvSpPr/>
          <p:nvPr/>
        </p:nvSpPr>
        <p:spPr>
          <a:xfrm>
            <a:off x="4993677" y="1482310"/>
            <a:ext cx="4511781" cy="1445252"/>
          </a:xfrm>
          <a:custGeom>
            <a:avLst/>
            <a:gdLst/>
            <a:ahLst/>
            <a:cxnLst/>
            <a:rect l="l" t="t" r="r" b="b"/>
            <a:pathLst>
              <a:path w="4511781" h="1445252">
                <a:moveTo>
                  <a:pt x="111169" y="0"/>
                </a:moveTo>
                <a:lnTo>
                  <a:pt x="4400612" y="0"/>
                </a:lnTo>
                <a:cubicBezTo>
                  <a:pt x="4462009" y="0"/>
                  <a:pt x="4511781" y="49772"/>
                  <a:pt x="4511781" y="111169"/>
                </a:cubicBezTo>
                <a:lnTo>
                  <a:pt x="4511781" y="1334083"/>
                </a:lnTo>
                <a:cubicBezTo>
                  <a:pt x="4511781" y="1395480"/>
                  <a:pt x="4462009" y="1445252"/>
                  <a:pt x="4400612" y="1445252"/>
                </a:cubicBezTo>
                <a:lnTo>
                  <a:pt x="111169" y="1445252"/>
                </a:lnTo>
                <a:cubicBezTo>
                  <a:pt x="49772" y="1445252"/>
                  <a:pt x="0" y="1395480"/>
                  <a:pt x="0" y="1334083"/>
                </a:cubicBezTo>
                <a:lnTo>
                  <a:pt x="0" y="111169"/>
                </a:lnTo>
                <a:cubicBezTo>
                  <a:pt x="0" y="49813"/>
                  <a:pt x="49813" y="0"/>
                  <a:pt x="111169" y="0"/>
                </a:cubicBezTo>
                <a:close/>
              </a:path>
            </a:pathLst>
          </a:custGeom>
          <a:solidFill>
            <a:srgbClr val="F3F4F6"/>
          </a:solidFill>
          <a:ln/>
        </p:spPr>
      </p:sp>
      <p:sp>
        <p:nvSpPr>
          <p:cNvPr id="11" name="Shape 9"/>
          <p:cNvSpPr/>
          <p:nvPr/>
        </p:nvSpPr>
        <p:spPr>
          <a:xfrm>
            <a:off x="5175491" y="1658334"/>
            <a:ext cx="145915" cy="166760"/>
          </a:xfrm>
          <a:custGeom>
            <a:avLst/>
            <a:gdLst/>
            <a:ahLst/>
            <a:cxnLst/>
            <a:rect l="l" t="t" r="r" b="b"/>
            <a:pathLst>
              <a:path w="145915" h="166760">
                <a:moveTo>
                  <a:pt x="145915" y="67030"/>
                </a:moveTo>
                <a:cubicBezTo>
                  <a:pt x="141094" y="70222"/>
                  <a:pt x="135558" y="72795"/>
                  <a:pt x="129793" y="74847"/>
                </a:cubicBezTo>
                <a:cubicBezTo>
                  <a:pt x="114485" y="80318"/>
                  <a:pt x="94389" y="83380"/>
                  <a:pt x="72957" y="83380"/>
                </a:cubicBezTo>
                <a:cubicBezTo>
                  <a:pt x="51526" y="83380"/>
                  <a:pt x="31398" y="80286"/>
                  <a:pt x="16122" y="74847"/>
                </a:cubicBezTo>
                <a:cubicBezTo>
                  <a:pt x="10390" y="72795"/>
                  <a:pt x="4820" y="70222"/>
                  <a:pt x="0" y="67030"/>
                </a:cubicBezTo>
                <a:lnTo>
                  <a:pt x="0" y="93802"/>
                </a:lnTo>
                <a:cubicBezTo>
                  <a:pt x="0" y="108198"/>
                  <a:pt x="32668" y="119859"/>
                  <a:pt x="72957" y="119859"/>
                </a:cubicBezTo>
                <a:cubicBezTo>
                  <a:pt x="113247" y="119859"/>
                  <a:pt x="145915" y="108198"/>
                  <a:pt x="145915" y="93802"/>
                </a:cubicBezTo>
                <a:lnTo>
                  <a:pt x="145915" y="67030"/>
                </a:lnTo>
                <a:close/>
                <a:moveTo>
                  <a:pt x="145915" y="41690"/>
                </a:moveTo>
                <a:lnTo>
                  <a:pt x="145915" y="26056"/>
                </a:lnTo>
                <a:cubicBezTo>
                  <a:pt x="145915" y="11660"/>
                  <a:pt x="113247" y="0"/>
                  <a:pt x="72957" y="0"/>
                </a:cubicBezTo>
                <a:cubicBezTo>
                  <a:pt x="32668" y="0"/>
                  <a:pt x="0" y="11660"/>
                  <a:pt x="0" y="26056"/>
                </a:cubicBezTo>
                <a:lnTo>
                  <a:pt x="0" y="41690"/>
                </a:lnTo>
                <a:cubicBezTo>
                  <a:pt x="0" y="56086"/>
                  <a:pt x="32668" y="67746"/>
                  <a:pt x="72957" y="67746"/>
                </a:cubicBezTo>
                <a:cubicBezTo>
                  <a:pt x="113247" y="67746"/>
                  <a:pt x="145915" y="56086"/>
                  <a:pt x="145915" y="41690"/>
                </a:cubicBezTo>
                <a:close/>
                <a:moveTo>
                  <a:pt x="129793" y="126959"/>
                </a:moveTo>
                <a:cubicBezTo>
                  <a:pt x="114517" y="132398"/>
                  <a:pt x="94421" y="135492"/>
                  <a:pt x="72957" y="135492"/>
                </a:cubicBezTo>
                <a:cubicBezTo>
                  <a:pt x="51494" y="135492"/>
                  <a:pt x="31398" y="132398"/>
                  <a:pt x="16122" y="126959"/>
                </a:cubicBezTo>
                <a:cubicBezTo>
                  <a:pt x="10390" y="124907"/>
                  <a:pt x="4820" y="122334"/>
                  <a:pt x="0" y="119142"/>
                </a:cubicBezTo>
                <a:lnTo>
                  <a:pt x="0" y="140704"/>
                </a:lnTo>
                <a:cubicBezTo>
                  <a:pt x="0" y="155100"/>
                  <a:pt x="32668" y="166760"/>
                  <a:pt x="72957" y="166760"/>
                </a:cubicBezTo>
                <a:cubicBezTo>
                  <a:pt x="113247" y="166760"/>
                  <a:pt x="145915" y="155100"/>
                  <a:pt x="145915" y="140704"/>
                </a:cubicBezTo>
                <a:lnTo>
                  <a:pt x="145915" y="119142"/>
                </a:lnTo>
                <a:cubicBezTo>
                  <a:pt x="141094" y="122334"/>
                  <a:pt x="135558" y="124907"/>
                  <a:pt x="129793" y="126959"/>
                </a:cubicBezTo>
                <a:close/>
              </a:path>
            </a:pathLst>
          </a:custGeom>
          <a:solidFill>
            <a:srgbClr val="8B5CF6"/>
          </a:solidFill>
          <a:ln/>
        </p:spPr>
      </p:sp>
      <p:sp>
        <p:nvSpPr>
          <p:cNvPr id="12" name="Text 10"/>
          <p:cNvSpPr/>
          <p:nvPr/>
        </p:nvSpPr>
        <p:spPr>
          <a:xfrm>
            <a:off x="5424473" y="1630541"/>
            <a:ext cx="1537897" cy="222347"/>
          </a:xfrm>
          <a:prstGeom prst="rect">
            <a:avLst/>
          </a:prstGeom>
          <a:noFill/>
          <a:ln/>
        </p:spPr>
        <p:txBody>
          <a:bodyPr wrap="square" lIns="0" tIns="0" rIns="0" bIns="0" rtlCol="0" anchor="ctr"/>
          <a:lstStyle/>
          <a:p>
            <a:pPr>
              <a:lnSpc>
                <a:spcPct val="130000"/>
              </a:lnSpc>
            </a:pPr>
            <a:r>
              <a:rPr lang="en-US" sz="1167" b="1" dirty="0">
                <a:solidFill>
                  <a:srgbClr val="1E3A8A"/>
                </a:solidFill>
                <a:latin typeface="MiSans" pitchFamily="34" charset="0"/>
                <a:ea typeface="MiSans" pitchFamily="34" charset="-122"/>
                <a:cs typeface="MiSans" pitchFamily="34" charset="-120"/>
              </a:rPr>
              <a:t>Sources de Données</a:t>
            </a:r>
            <a:endParaRPr lang="en-US" sz="1600" dirty="0"/>
          </a:p>
        </p:txBody>
      </p:sp>
      <p:sp>
        <p:nvSpPr>
          <p:cNvPr id="13" name="Text 11"/>
          <p:cNvSpPr/>
          <p:nvPr/>
        </p:nvSpPr>
        <p:spPr>
          <a:xfrm>
            <a:off x="5141908" y="1927003"/>
            <a:ext cx="4280170"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Images pièces (caméra)</a:t>
            </a:r>
            <a:endParaRPr lang="en-US" sz="1600" dirty="0"/>
          </a:p>
        </p:txBody>
      </p:sp>
      <p:sp>
        <p:nvSpPr>
          <p:cNvPr id="14" name="Text 12"/>
          <p:cNvSpPr/>
          <p:nvPr/>
        </p:nvSpPr>
        <p:spPr>
          <a:xfrm>
            <a:off x="5141908" y="2112292"/>
            <a:ext cx="4280170"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Historique (Excel/PDF)</a:t>
            </a:r>
            <a:endParaRPr lang="en-US" sz="1600" dirty="0"/>
          </a:p>
        </p:txBody>
      </p:sp>
      <p:sp>
        <p:nvSpPr>
          <p:cNvPr id="15" name="Text 13"/>
          <p:cNvSpPr/>
          <p:nvPr/>
        </p:nvSpPr>
        <p:spPr>
          <a:xfrm>
            <a:off x="5141908" y="2297581"/>
            <a:ext cx="4280170"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Annotations Sophie</a:t>
            </a:r>
            <a:endParaRPr lang="en-US" sz="1600" dirty="0"/>
          </a:p>
        </p:txBody>
      </p:sp>
      <p:sp>
        <p:nvSpPr>
          <p:cNvPr id="16" name="Shape 14"/>
          <p:cNvSpPr/>
          <p:nvPr/>
        </p:nvSpPr>
        <p:spPr>
          <a:xfrm>
            <a:off x="9616776" y="1482310"/>
            <a:ext cx="2204936" cy="1445252"/>
          </a:xfrm>
          <a:custGeom>
            <a:avLst/>
            <a:gdLst/>
            <a:ahLst/>
            <a:cxnLst/>
            <a:rect l="l" t="t" r="r" b="b"/>
            <a:pathLst>
              <a:path w="2204936" h="1445252">
                <a:moveTo>
                  <a:pt x="111169" y="0"/>
                </a:moveTo>
                <a:lnTo>
                  <a:pt x="2093767" y="0"/>
                </a:lnTo>
                <a:cubicBezTo>
                  <a:pt x="2155164" y="0"/>
                  <a:pt x="2204936" y="49772"/>
                  <a:pt x="2204936" y="111169"/>
                </a:cubicBezTo>
                <a:lnTo>
                  <a:pt x="2204936" y="1334083"/>
                </a:lnTo>
                <a:cubicBezTo>
                  <a:pt x="2204936" y="1395480"/>
                  <a:pt x="2155164" y="1445252"/>
                  <a:pt x="2093767" y="1445252"/>
                </a:cubicBezTo>
                <a:lnTo>
                  <a:pt x="111169" y="1445252"/>
                </a:lnTo>
                <a:cubicBezTo>
                  <a:pt x="49772" y="1445252"/>
                  <a:pt x="0" y="1395480"/>
                  <a:pt x="0" y="1334083"/>
                </a:cubicBezTo>
                <a:lnTo>
                  <a:pt x="0" y="111169"/>
                </a:lnTo>
                <a:cubicBezTo>
                  <a:pt x="0" y="49813"/>
                  <a:pt x="49813" y="0"/>
                  <a:pt x="111169" y="0"/>
                </a:cubicBezTo>
                <a:close/>
              </a:path>
            </a:pathLst>
          </a:custGeom>
          <a:solidFill>
            <a:srgbClr val="F3F4F6"/>
          </a:solidFill>
          <a:ln/>
        </p:spPr>
      </p:sp>
      <p:sp>
        <p:nvSpPr>
          <p:cNvPr id="17" name="Shape 15"/>
          <p:cNvSpPr/>
          <p:nvPr/>
        </p:nvSpPr>
        <p:spPr>
          <a:xfrm>
            <a:off x="9798590" y="1658334"/>
            <a:ext cx="145915" cy="166760"/>
          </a:xfrm>
          <a:custGeom>
            <a:avLst/>
            <a:gdLst/>
            <a:ahLst/>
            <a:cxnLst/>
            <a:rect l="l" t="t" r="r" b="b"/>
            <a:pathLst>
              <a:path w="145915" h="166760">
                <a:moveTo>
                  <a:pt x="83380" y="10422"/>
                </a:moveTo>
                <a:cubicBezTo>
                  <a:pt x="83380" y="4658"/>
                  <a:pt x="78722" y="0"/>
                  <a:pt x="72957" y="0"/>
                </a:cubicBezTo>
                <a:cubicBezTo>
                  <a:pt x="67193" y="0"/>
                  <a:pt x="62535" y="4658"/>
                  <a:pt x="62535" y="10422"/>
                </a:cubicBezTo>
                <a:lnTo>
                  <a:pt x="62535" y="79048"/>
                </a:lnTo>
                <a:lnTo>
                  <a:pt x="49051" y="65564"/>
                </a:lnTo>
                <a:cubicBezTo>
                  <a:pt x="44980" y="61493"/>
                  <a:pt x="38368" y="61493"/>
                  <a:pt x="34297" y="65564"/>
                </a:cubicBezTo>
                <a:cubicBezTo>
                  <a:pt x="30225" y="69635"/>
                  <a:pt x="30225" y="76247"/>
                  <a:pt x="34297" y="80318"/>
                </a:cubicBezTo>
                <a:lnTo>
                  <a:pt x="65564" y="111586"/>
                </a:lnTo>
                <a:cubicBezTo>
                  <a:pt x="69635" y="115657"/>
                  <a:pt x="76247" y="115657"/>
                  <a:pt x="80318" y="111586"/>
                </a:cubicBezTo>
                <a:lnTo>
                  <a:pt x="111586" y="80318"/>
                </a:lnTo>
                <a:cubicBezTo>
                  <a:pt x="115657" y="76247"/>
                  <a:pt x="115657" y="69635"/>
                  <a:pt x="111586" y="65564"/>
                </a:cubicBezTo>
                <a:cubicBezTo>
                  <a:pt x="107515" y="61493"/>
                  <a:pt x="100903" y="61493"/>
                  <a:pt x="96831" y="65564"/>
                </a:cubicBezTo>
                <a:lnTo>
                  <a:pt x="83380" y="79048"/>
                </a:lnTo>
                <a:lnTo>
                  <a:pt x="83380" y="10422"/>
                </a:lnTo>
                <a:close/>
                <a:moveTo>
                  <a:pt x="20845" y="104225"/>
                </a:moveTo>
                <a:cubicBezTo>
                  <a:pt x="9348" y="104225"/>
                  <a:pt x="0" y="113573"/>
                  <a:pt x="0" y="125070"/>
                </a:cubicBezTo>
                <a:lnTo>
                  <a:pt x="0" y="135492"/>
                </a:lnTo>
                <a:cubicBezTo>
                  <a:pt x="0" y="146990"/>
                  <a:pt x="9348" y="156337"/>
                  <a:pt x="20845" y="156337"/>
                </a:cubicBezTo>
                <a:lnTo>
                  <a:pt x="125070" y="156337"/>
                </a:lnTo>
                <a:cubicBezTo>
                  <a:pt x="136567" y="156337"/>
                  <a:pt x="145915" y="146990"/>
                  <a:pt x="145915" y="135492"/>
                </a:cubicBezTo>
                <a:lnTo>
                  <a:pt x="145915" y="125070"/>
                </a:lnTo>
                <a:cubicBezTo>
                  <a:pt x="145915" y="113573"/>
                  <a:pt x="136567" y="104225"/>
                  <a:pt x="125070" y="104225"/>
                </a:cubicBezTo>
                <a:lnTo>
                  <a:pt x="109794" y="104225"/>
                </a:lnTo>
                <a:lnTo>
                  <a:pt x="91360" y="122660"/>
                </a:lnTo>
                <a:cubicBezTo>
                  <a:pt x="81198" y="132822"/>
                  <a:pt x="64685" y="132822"/>
                  <a:pt x="54523" y="122660"/>
                </a:cubicBezTo>
                <a:lnTo>
                  <a:pt x="36120" y="104225"/>
                </a:lnTo>
                <a:lnTo>
                  <a:pt x="20845" y="104225"/>
                </a:lnTo>
                <a:close/>
                <a:moveTo>
                  <a:pt x="119859" y="122464"/>
                </a:moveTo>
                <a:cubicBezTo>
                  <a:pt x="124173" y="122464"/>
                  <a:pt x="127676" y="125967"/>
                  <a:pt x="127676" y="130281"/>
                </a:cubicBezTo>
                <a:cubicBezTo>
                  <a:pt x="127676" y="134595"/>
                  <a:pt x="124173" y="138098"/>
                  <a:pt x="119859" y="138098"/>
                </a:cubicBezTo>
                <a:cubicBezTo>
                  <a:pt x="115544" y="138098"/>
                  <a:pt x="112042" y="134595"/>
                  <a:pt x="112042" y="130281"/>
                </a:cubicBezTo>
                <a:cubicBezTo>
                  <a:pt x="112042" y="125967"/>
                  <a:pt x="115544" y="122464"/>
                  <a:pt x="119859" y="122464"/>
                </a:cubicBezTo>
                <a:close/>
              </a:path>
            </a:pathLst>
          </a:custGeom>
          <a:solidFill>
            <a:srgbClr val="3B82F6"/>
          </a:solidFill>
          <a:ln/>
        </p:spPr>
      </p:sp>
      <p:sp>
        <p:nvSpPr>
          <p:cNvPr id="18" name="Text 16"/>
          <p:cNvSpPr/>
          <p:nvPr/>
        </p:nvSpPr>
        <p:spPr>
          <a:xfrm>
            <a:off x="10047572" y="1630541"/>
            <a:ext cx="648511" cy="222347"/>
          </a:xfrm>
          <a:prstGeom prst="rect">
            <a:avLst/>
          </a:prstGeom>
          <a:noFill/>
          <a:ln/>
        </p:spPr>
        <p:txBody>
          <a:bodyPr wrap="square" lIns="0" tIns="0" rIns="0" bIns="0" rtlCol="0" anchor="ctr"/>
          <a:lstStyle/>
          <a:p>
            <a:pPr>
              <a:lnSpc>
                <a:spcPct val="130000"/>
              </a:lnSpc>
            </a:pPr>
            <a:r>
              <a:rPr lang="en-US" sz="1167" b="1" dirty="0">
                <a:solidFill>
                  <a:srgbClr val="1E3A8A"/>
                </a:solidFill>
                <a:latin typeface="MiSans" pitchFamily="34" charset="0"/>
                <a:ea typeface="MiSans" pitchFamily="34" charset="-122"/>
                <a:cs typeface="MiSans" pitchFamily="34" charset="-120"/>
              </a:rPr>
              <a:t>Collecte</a:t>
            </a:r>
            <a:endParaRPr lang="en-US" sz="1600" dirty="0"/>
          </a:p>
        </p:txBody>
      </p:sp>
      <p:sp>
        <p:nvSpPr>
          <p:cNvPr id="19" name="Text 17"/>
          <p:cNvSpPr/>
          <p:nvPr/>
        </p:nvSpPr>
        <p:spPr>
          <a:xfrm>
            <a:off x="9765007" y="1927003"/>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Capture systématique</a:t>
            </a:r>
            <a:endParaRPr lang="en-US" sz="1600" dirty="0"/>
          </a:p>
        </p:txBody>
      </p:sp>
      <p:sp>
        <p:nvSpPr>
          <p:cNvPr id="20" name="Text 18"/>
          <p:cNvSpPr/>
          <p:nvPr/>
        </p:nvSpPr>
        <p:spPr>
          <a:xfrm>
            <a:off x="9765007" y="2112292"/>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Sophie annote OK/NOK</a:t>
            </a:r>
            <a:endParaRPr lang="en-US" sz="1600" dirty="0"/>
          </a:p>
        </p:txBody>
      </p:sp>
      <p:sp>
        <p:nvSpPr>
          <p:cNvPr id="21" name="Text 19"/>
          <p:cNvSpPr/>
          <p:nvPr/>
        </p:nvSpPr>
        <p:spPr>
          <a:xfrm>
            <a:off x="9765007" y="2297581"/>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Anomaly detection</a:t>
            </a:r>
            <a:endParaRPr lang="en-US" sz="1600" dirty="0"/>
          </a:p>
        </p:txBody>
      </p:sp>
      <p:sp>
        <p:nvSpPr>
          <p:cNvPr id="22" name="Shape 20"/>
          <p:cNvSpPr/>
          <p:nvPr/>
        </p:nvSpPr>
        <p:spPr>
          <a:xfrm>
            <a:off x="370578" y="3038736"/>
            <a:ext cx="2204936" cy="1889945"/>
          </a:xfrm>
          <a:custGeom>
            <a:avLst/>
            <a:gdLst/>
            <a:ahLst/>
            <a:cxnLst/>
            <a:rect l="l" t="t" r="r" b="b"/>
            <a:pathLst>
              <a:path w="2204936" h="1889945">
                <a:moveTo>
                  <a:pt x="111167" y="0"/>
                </a:moveTo>
                <a:lnTo>
                  <a:pt x="2093770" y="0"/>
                </a:lnTo>
                <a:cubicBezTo>
                  <a:pt x="2155165" y="0"/>
                  <a:pt x="2204936" y="49771"/>
                  <a:pt x="2204936" y="111167"/>
                </a:cubicBezTo>
                <a:lnTo>
                  <a:pt x="2204936" y="1778779"/>
                </a:lnTo>
                <a:cubicBezTo>
                  <a:pt x="2204936" y="1840174"/>
                  <a:pt x="2155165" y="1889945"/>
                  <a:pt x="2093770" y="1889945"/>
                </a:cubicBezTo>
                <a:lnTo>
                  <a:pt x="111167" y="1889945"/>
                </a:lnTo>
                <a:cubicBezTo>
                  <a:pt x="49771" y="1889945"/>
                  <a:pt x="0" y="1840174"/>
                  <a:pt x="0" y="1778779"/>
                </a:cubicBezTo>
                <a:lnTo>
                  <a:pt x="0" y="111167"/>
                </a:lnTo>
                <a:cubicBezTo>
                  <a:pt x="0" y="49812"/>
                  <a:pt x="49812" y="0"/>
                  <a:pt x="111167" y="0"/>
                </a:cubicBezTo>
                <a:close/>
              </a:path>
            </a:pathLst>
          </a:custGeom>
          <a:solidFill>
            <a:srgbClr val="F3F4F6"/>
          </a:solidFill>
          <a:ln/>
        </p:spPr>
      </p:sp>
      <p:sp>
        <p:nvSpPr>
          <p:cNvPr id="23" name="Shape 21"/>
          <p:cNvSpPr/>
          <p:nvPr/>
        </p:nvSpPr>
        <p:spPr>
          <a:xfrm>
            <a:off x="521125" y="3214760"/>
            <a:ext cx="208450" cy="166760"/>
          </a:xfrm>
          <a:custGeom>
            <a:avLst/>
            <a:gdLst/>
            <a:ahLst/>
            <a:cxnLst/>
            <a:rect l="l" t="t" r="r" b="b"/>
            <a:pathLst>
              <a:path w="208450" h="166760">
                <a:moveTo>
                  <a:pt x="135460" y="68560"/>
                </a:moveTo>
                <a:cubicBezTo>
                  <a:pt x="139433" y="67486"/>
                  <a:pt x="143602" y="69375"/>
                  <a:pt x="145394" y="73055"/>
                </a:cubicBezTo>
                <a:lnTo>
                  <a:pt x="151452" y="85302"/>
                </a:lnTo>
                <a:cubicBezTo>
                  <a:pt x="154807" y="85758"/>
                  <a:pt x="158096" y="86670"/>
                  <a:pt x="161190" y="87940"/>
                </a:cubicBezTo>
                <a:lnTo>
                  <a:pt x="172590" y="80351"/>
                </a:lnTo>
                <a:cubicBezTo>
                  <a:pt x="176010" y="78071"/>
                  <a:pt x="180537" y="78527"/>
                  <a:pt x="183436" y="81426"/>
                </a:cubicBezTo>
                <a:lnTo>
                  <a:pt x="189689" y="87679"/>
                </a:lnTo>
                <a:cubicBezTo>
                  <a:pt x="192588" y="90578"/>
                  <a:pt x="193044" y="95138"/>
                  <a:pt x="190764" y="98525"/>
                </a:cubicBezTo>
                <a:lnTo>
                  <a:pt x="183175" y="109892"/>
                </a:lnTo>
                <a:cubicBezTo>
                  <a:pt x="183794" y="111423"/>
                  <a:pt x="184348" y="113019"/>
                  <a:pt x="184804" y="114680"/>
                </a:cubicBezTo>
                <a:cubicBezTo>
                  <a:pt x="185260" y="116341"/>
                  <a:pt x="185553" y="117970"/>
                  <a:pt x="185781" y="119631"/>
                </a:cubicBezTo>
                <a:lnTo>
                  <a:pt x="198060" y="125689"/>
                </a:lnTo>
                <a:cubicBezTo>
                  <a:pt x="201740" y="127513"/>
                  <a:pt x="203629" y="131682"/>
                  <a:pt x="202555" y="135623"/>
                </a:cubicBezTo>
                <a:lnTo>
                  <a:pt x="200275" y="144156"/>
                </a:lnTo>
                <a:cubicBezTo>
                  <a:pt x="199200" y="148097"/>
                  <a:pt x="195519" y="150768"/>
                  <a:pt x="191416" y="150507"/>
                </a:cubicBezTo>
                <a:lnTo>
                  <a:pt x="177736" y="149628"/>
                </a:lnTo>
                <a:cubicBezTo>
                  <a:pt x="175684" y="152266"/>
                  <a:pt x="173307" y="154709"/>
                  <a:pt x="170603" y="156793"/>
                </a:cubicBezTo>
                <a:lnTo>
                  <a:pt x="171483" y="170440"/>
                </a:lnTo>
                <a:cubicBezTo>
                  <a:pt x="171743" y="174544"/>
                  <a:pt x="169072" y="178257"/>
                  <a:pt x="165131" y="179299"/>
                </a:cubicBezTo>
                <a:lnTo>
                  <a:pt x="156598" y="181579"/>
                </a:lnTo>
                <a:cubicBezTo>
                  <a:pt x="152624" y="182654"/>
                  <a:pt x="148488" y="180765"/>
                  <a:pt x="146664" y="177085"/>
                </a:cubicBezTo>
                <a:lnTo>
                  <a:pt x="140606" y="164838"/>
                </a:lnTo>
                <a:cubicBezTo>
                  <a:pt x="137251" y="164382"/>
                  <a:pt x="133962" y="163470"/>
                  <a:pt x="130867" y="162200"/>
                </a:cubicBezTo>
                <a:lnTo>
                  <a:pt x="119468" y="169789"/>
                </a:lnTo>
                <a:cubicBezTo>
                  <a:pt x="116048" y="172069"/>
                  <a:pt x="111521" y="171613"/>
                  <a:pt x="108622" y="168714"/>
                </a:cubicBezTo>
                <a:lnTo>
                  <a:pt x="102368" y="162461"/>
                </a:lnTo>
                <a:cubicBezTo>
                  <a:pt x="99470" y="159562"/>
                  <a:pt x="99014" y="155035"/>
                  <a:pt x="101294" y="151615"/>
                </a:cubicBezTo>
                <a:lnTo>
                  <a:pt x="108882" y="140215"/>
                </a:lnTo>
                <a:cubicBezTo>
                  <a:pt x="108264" y="138684"/>
                  <a:pt x="107710" y="137088"/>
                  <a:pt x="107254" y="135427"/>
                </a:cubicBezTo>
                <a:cubicBezTo>
                  <a:pt x="106798" y="133766"/>
                  <a:pt x="106505" y="132105"/>
                  <a:pt x="106277" y="130477"/>
                </a:cubicBezTo>
                <a:lnTo>
                  <a:pt x="93998" y="124419"/>
                </a:lnTo>
                <a:cubicBezTo>
                  <a:pt x="90317" y="122595"/>
                  <a:pt x="88461" y="118426"/>
                  <a:pt x="89503" y="114485"/>
                </a:cubicBezTo>
                <a:lnTo>
                  <a:pt x="91783" y="105951"/>
                </a:lnTo>
                <a:cubicBezTo>
                  <a:pt x="92858" y="102010"/>
                  <a:pt x="96538" y="99339"/>
                  <a:pt x="100642" y="99600"/>
                </a:cubicBezTo>
                <a:lnTo>
                  <a:pt x="114289" y="100479"/>
                </a:lnTo>
                <a:cubicBezTo>
                  <a:pt x="116341" y="97841"/>
                  <a:pt x="118719" y="95398"/>
                  <a:pt x="121422" y="93314"/>
                </a:cubicBezTo>
                <a:lnTo>
                  <a:pt x="120543" y="79699"/>
                </a:lnTo>
                <a:cubicBezTo>
                  <a:pt x="120282" y="75596"/>
                  <a:pt x="122953" y="71883"/>
                  <a:pt x="126894" y="70840"/>
                </a:cubicBezTo>
                <a:lnTo>
                  <a:pt x="135427" y="68560"/>
                </a:lnTo>
                <a:close/>
                <a:moveTo>
                  <a:pt x="146045" y="110739"/>
                </a:moveTo>
                <a:cubicBezTo>
                  <a:pt x="138136" y="110748"/>
                  <a:pt x="131722" y="117177"/>
                  <a:pt x="131731" y="125086"/>
                </a:cubicBezTo>
                <a:cubicBezTo>
                  <a:pt x="131740" y="132996"/>
                  <a:pt x="138168" y="139410"/>
                  <a:pt x="146078" y="139401"/>
                </a:cubicBezTo>
                <a:cubicBezTo>
                  <a:pt x="153987" y="139392"/>
                  <a:pt x="160401" y="132963"/>
                  <a:pt x="160392" y="125054"/>
                </a:cubicBezTo>
                <a:cubicBezTo>
                  <a:pt x="160383" y="117144"/>
                  <a:pt x="153955" y="110730"/>
                  <a:pt x="146045" y="110739"/>
                </a:cubicBezTo>
                <a:close/>
                <a:moveTo>
                  <a:pt x="73251" y="-14819"/>
                </a:moveTo>
                <a:lnTo>
                  <a:pt x="81784" y="-12540"/>
                </a:lnTo>
                <a:cubicBezTo>
                  <a:pt x="85725" y="-11465"/>
                  <a:pt x="88396" y="-7752"/>
                  <a:pt x="88135" y="-3680"/>
                </a:cubicBezTo>
                <a:lnTo>
                  <a:pt x="87256" y="9934"/>
                </a:lnTo>
                <a:cubicBezTo>
                  <a:pt x="89959" y="12018"/>
                  <a:pt x="92337" y="14429"/>
                  <a:pt x="94389" y="17099"/>
                </a:cubicBezTo>
                <a:lnTo>
                  <a:pt x="108068" y="16220"/>
                </a:lnTo>
                <a:cubicBezTo>
                  <a:pt x="112140" y="15959"/>
                  <a:pt x="115853" y="18630"/>
                  <a:pt x="116927" y="22571"/>
                </a:cubicBezTo>
                <a:lnTo>
                  <a:pt x="119207" y="31105"/>
                </a:lnTo>
                <a:cubicBezTo>
                  <a:pt x="120250" y="35046"/>
                  <a:pt x="118393" y="39215"/>
                  <a:pt x="114713" y="41039"/>
                </a:cubicBezTo>
                <a:lnTo>
                  <a:pt x="102434" y="47097"/>
                </a:lnTo>
                <a:cubicBezTo>
                  <a:pt x="102206" y="48758"/>
                  <a:pt x="101880" y="50419"/>
                  <a:pt x="101456" y="52047"/>
                </a:cubicBezTo>
                <a:cubicBezTo>
                  <a:pt x="101033" y="53676"/>
                  <a:pt x="100447" y="55304"/>
                  <a:pt x="99828" y="56835"/>
                </a:cubicBezTo>
                <a:lnTo>
                  <a:pt x="107417" y="68235"/>
                </a:lnTo>
                <a:cubicBezTo>
                  <a:pt x="109697" y="71655"/>
                  <a:pt x="109241" y="76182"/>
                  <a:pt x="106342" y="79081"/>
                </a:cubicBezTo>
                <a:lnTo>
                  <a:pt x="100088" y="85334"/>
                </a:lnTo>
                <a:cubicBezTo>
                  <a:pt x="97190" y="88233"/>
                  <a:pt x="92662" y="88689"/>
                  <a:pt x="89243" y="86409"/>
                </a:cubicBezTo>
                <a:lnTo>
                  <a:pt x="77843" y="78820"/>
                </a:lnTo>
                <a:cubicBezTo>
                  <a:pt x="74749" y="80090"/>
                  <a:pt x="71459" y="81002"/>
                  <a:pt x="68104" y="81458"/>
                </a:cubicBezTo>
                <a:lnTo>
                  <a:pt x="62046" y="93705"/>
                </a:lnTo>
                <a:cubicBezTo>
                  <a:pt x="60222" y="97385"/>
                  <a:pt x="56053" y="99242"/>
                  <a:pt x="52112" y="98199"/>
                </a:cubicBezTo>
                <a:lnTo>
                  <a:pt x="43579" y="95920"/>
                </a:lnTo>
                <a:cubicBezTo>
                  <a:pt x="39605" y="94845"/>
                  <a:pt x="36967" y="91132"/>
                  <a:pt x="37228" y="87060"/>
                </a:cubicBezTo>
                <a:lnTo>
                  <a:pt x="38107" y="73413"/>
                </a:lnTo>
                <a:cubicBezTo>
                  <a:pt x="35404" y="71329"/>
                  <a:pt x="33026" y="68919"/>
                  <a:pt x="30974" y="66248"/>
                </a:cubicBezTo>
                <a:lnTo>
                  <a:pt x="17295" y="67127"/>
                </a:lnTo>
                <a:cubicBezTo>
                  <a:pt x="13224" y="67388"/>
                  <a:pt x="9511" y="64717"/>
                  <a:pt x="8436" y="60776"/>
                </a:cubicBezTo>
                <a:lnTo>
                  <a:pt x="6156" y="52243"/>
                </a:lnTo>
                <a:cubicBezTo>
                  <a:pt x="5114" y="48302"/>
                  <a:pt x="6970" y="44133"/>
                  <a:pt x="10650" y="42309"/>
                </a:cubicBezTo>
                <a:lnTo>
                  <a:pt x="22929" y="36251"/>
                </a:lnTo>
                <a:cubicBezTo>
                  <a:pt x="23157" y="34590"/>
                  <a:pt x="23483" y="32961"/>
                  <a:pt x="23907" y="31300"/>
                </a:cubicBezTo>
                <a:cubicBezTo>
                  <a:pt x="24363" y="29639"/>
                  <a:pt x="24884" y="28043"/>
                  <a:pt x="25535" y="26512"/>
                </a:cubicBezTo>
                <a:lnTo>
                  <a:pt x="17946" y="15145"/>
                </a:lnTo>
                <a:cubicBezTo>
                  <a:pt x="15666" y="11725"/>
                  <a:pt x="16122" y="7198"/>
                  <a:pt x="19021" y="4299"/>
                </a:cubicBezTo>
                <a:lnTo>
                  <a:pt x="25275" y="-1954"/>
                </a:lnTo>
                <a:cubicBezTo>
                  <a:pt x="28173" y="-4853"/>
                  <a:pt x="32701" y="-5309"/>
                  <a:pt x="36120" y="-3029"/>
                </a:cubicBezTo>
                <a:lnTo>
                  <a:pt x="47520" y="4560"/>
                </a:lnTo>
                <a:cubicBezTo>
                  <a:pt x="50614" y="3290"/>
                  <a:pt x="53904" y="2378"/>
                  <a:pt x="57259" y="1922"/>
                </a:cubicBezTo>
                <a:lnTo>
                  <a:pt x="63317" y="-10325"/>
                </a:lnTo>
                <a:cubicBezTo>
                  <a:pt x="65141" y="-14005"/>
                  <a:pt x="69277" y="-15862"/>
                  <a:pt x="73251" y="-14819"/>
                </a:cubicBezTo>
                <a:close/>
                <a:moveTo>
                  <a:pt x="62665" y="27359"/>
                </a:moveTo>
                <a:cubicBezTo>
                  <a:pt x="54756" y="27359"/>
                  <a:pt x="48334" y="33781"/>
                  <a:pt x="48334" y="41690"/>
                </a:cubicBezTo>
                <a:cubicBezTo>
                  <a:pt x="48334" y="49599"/>
                  <a:pt x="54756" y="56021"/>
                  <a:pt x="62665" y="56021"/>
                </a:cubicBezTo>
                <a:cubicBezTo>
                  <a:pt x="70575" y="56021"/>
                  <a:pt x="76996" y="49599"/>
                  <a:pt x="76996" y="41690"/>
                </a:cubicBezTo>
                <a:cubicBezTo>
                  <a:pt x="76996" y="33781"/>
                  <a:pt x="70575" y="27359"/>
                  <a:pt x="62665" y="27359"/>
                </a:cubicBezTo>
                <a:close/>
              </a:path>
            </a:pathLst>
          </a:custGeom>
          <a:solidFill>
            <a:srgbClr val="10B981"/>
          </a:solidFill>
          <a:ln/>
        </p:spPr>
      </p:sp>
      <p:sp>
        <p:nvSpPr>
          <p:cNvPr id="24" name="Text 22"/>
          <p:cNvSpPr/>
          <p:nvPr/>
        </p:nvSpPr>
        <p:spPr>
          <a:xfrm>
            <a:off x="801374" y="3186967"/>
            <a:ext cx="694833" cy="222347"/>
          </a:xfrm>
          <a:prstGeom prst="rect">
            <a:avLst/>
          </a:prstGeom>
          <a:noFill/>
          <a:ln/>
        </p:spPr>
        <p:txBody>
          <a:bodyPr wrap="square" lIns="0" tIns="0" rIns="0" bIns="0" rtlCol="0" anchor="ctr"/>
          <a:lstStyle/>
          <a:p>
            <a:pPr>
              <a:lnSpc>
                <a:spcPct val="130000"/>
              </a:lnSpc>
            </a:pPr>
            <a:r>
              <a:rPr lang="en-US" sz="1167" b="1" dirty="0">
                <a:solidFill>
                  <a:srgbClr val="1E3A8A"/>
                </a:solidFill>
                <a:latin typeface="MiSans" pitchFamily="34" charset="0"/>
                <a:ea typeface="MiSans" pitchFamily="34" charset="-122"/>
                <a:cs typeface="MiSans" pitchFamily="34" charset="-120"/>
              </a:rPr>
              <a:t>Features</a:t>
            </a:r>
            <a:endParaRPr lang="en-US" sz="1600" dirty="0"/>
          </a:p>
        </p:txBody>
      </p:sp>
      <p:sp>
        <p:nvSpPr>
          <p:cNvPr id="25" name="Text 23"/>
          <p:cNvSpPr/>
          <p:nvPr/>
        </p:nvSpPr>
        <p:spPr>
          <a:xfrm>
            <a:off x="518809" y="3483429"/>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Pixels bruts haute résolution</a:t>
            </a:r>
            <a:endParaRPr lang="en-US" sz="1600" dirty="0"/>
          </a:p>
        </p:txBody>
      </p:sp>
      <p:sp>
        <p:nvSpPr>
          <p:cNvPr id="26" name="Text 24"/>
          <p:cNvSpPr/>
          <p:nvPr/>
        </p:nvSpPr>
        <p:spPr>
          <a:xfrm>
            <a:off x="518809" y="3668717"/>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Features extraites par CNN</a:t>
            </a:r>
            <a:endParaRPr lang="en-US" sz="1600" dirty="0"/>
          </a:p>
        </p:txBody>
      </p:sp>
      <p:sp>
        <p:nvSpPr>
          <p:cNvPr id="27" name="Text 25"/>
          <p:cNvSpPr/>
          <p:nvPr/>
        </p:nvSpPr>
        <p:spPr>
          <a:xfrm>
            <a:off x="518809" y="3854006"/>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Pas de feature engineering</a:t>
            </a:r>
            <a:endParaRPr lang="en-US" sz="1600" dirty="0"/>
          </a:p>
        </p:txBody>
      </p:sp>
      <p:sp>
        <p:nvSpPr>
          <p:cNvPr id="28" name="Shape 26"/>
          <p:cNvSpPr/>
          <p:nvPr/>
        </p:nvSpPr>
        <p:spPr>
          <a:xfrm>
            <a:off x="2682055" y="3038736"/>
            <a:ext cx="4511781" cy="1889945"/>
          </a:xfrm>
          <a:custGeom>
            <a:avLst/>
            <a:gdLst/>
            <a:ahLst/>
            <a:cxnLst/>
            <a:rect l="l" t="t" r="r" b="b"/>
            <a:pathLst>
              <a:path w="4511781" h="1889945">
                <a:moveTo>
                  <a:pt x="111167" y="0"/>
                </a:moveTo>
                <a:lnTo>
                  <a:pt x="4400615" y="0"/>
                </a:lnTo>
                <a:cubicBezTo>
                  <a:pt x="4462010" y="0"/>
                  <a:pt x="4511781" y="49771"/>
                  <a:pt x="4511781" y="111167"/>
                </a:cubicBezTo>
                <a:lnTo>
                  <a:pt x="4511781" y="1778779"/>
                </a:lnTo>
                <a:cubicBezTo>
                  <a:pt x="4511781" y="1840174"/>
                  <a:pt x="4462010" y="1889945"/>
                  <a:pt x="4400615" y="1889945"/>
                </a:cubicBezTo>
                <a:lnTo>
                  <a:pt x="111167" y="1889945"/>
                </a:lnTo>
                <a:cubicBezTo>
                  <a:pt x="49771" y="1889945"/>
                  <a:pt x="0" y="1840174"/>
                  <a:pt x="0" y="1778779"/>
                </a:cubicBezTo>
                <a:lnTo>
                  <a:pt x="0" y="111167"/>
                </a:lnTo>
                <a:cubicBezTo>
                  <a:pt x="0" y="49812"/>
                  <a:pt x="49812" y="0"/>
                  <a:pt x="111167" y="0"/>
                </a:cubicBezTo>
                <a:close/>
              </a:path>
            </a:pathLst>
          </a:custGeom>
          <a:solidFill>
            <a:srgbClr val="F3F4F6"/>
          </a:solidFill>
          <a:ln/>
        </p:spPr>
      </p:sp>
      <p:sp>
        <p:nvSpPr>
          <p:cNvPr id="29" name="Shape 27"/>
          <p:cNvSpPr/>
          <p:nvPr/>
        </p:nvSpPr>
        <p:spPr>
          <a:xfrm>
            <a:off x="2832602" y="3214760"/>
            <a:ext cx="208450" cy="166760"/>
          </a:xfrm>
          <a:custGeom>
            <a:avLst/>
            <a:gdLst/>
            <a:ahLst/>
            <a:cxnLst/>
            <a:rect l="l" t="t" r="r" b="b"/>
            <a:pathLst>
              <a:path w="208450" h="166760">
                <a:moveTo>
                  <a:pt x="114647" y="0"/>
                </a:moveTo>
                <a:cubicBezTo>
                  <a:pt x="114647" y="-5765"/>
                  <a:pt x="109990" y="-10422"/>
                  <a:pt x="104225" y="-10422"/>
                </a:cubicBezTo>
                <a:cubicBezTo>
                  <a:pt x="98460" y="-10422"/>
                  <a:pt x="93802" y="-5765"/>
                  <a:pt x="93802" y="0"/>
                </a:cubicBezTo>
                <a:lnTo>
                  <a:pt x="93802" y="20845"/>
                </a:lnTo>
                <a:lnTo>
                  <a:pt x="62535" y="20845"/>
                </a:lnTo>
                <a:cubicBezTo>
                  <a:pt x="45273" y="20845"/>
                  <a:pt x="31267" y="34850"/>
                  <a:pt x="31267" y="52112"/>
                </a:cubicBezTo>
                <a:lnTo>
                  <a:pt x="31267" y="125070"/>
                </a:lnTo>
                <a:cubicBezTo>
                  <a:pt x="31267" y="142332"/>
                  <a:pt x="45273" y="156337"/>
                  <a:pt x="62535" y="156337"/>
                </a:cubicBezTo>
                <a:lnTo>
                  <a:pt x="145915" y="156337"/>
                </a:lnTo>
                <a:cubicBezTo>
                  <a:pt x="163177" y="156337"/>
                  <a:pt x="177182" y="142332"/>
                  <a:pt x="177182" y="125070"/>
                </a:cubicBezTo>
                <a:lnTo>
                  <a:pt x="177182" y="52112"/>
                </a:lnTo>
                <a:cubicBezTo>
                  <a:pt x="177182" y="34850"/>
                  <a:pt x="163177" y="20845"/>
                  <a:pt x="145915" y="20845"/>
                </a:cubicBezTo>
                <a:lnTo>
                  <a:pt x="114647" y="20845"/>
                </a:lnTo>
                <a:lnTo>
                  <a:pt x="114647" y="0"/>
                </a:lnTo>
                <a:close/>
                <a:moveTo>
                  <a:pt x="52112" y="119859"/>
                </a:moveTo>
                <a:cubicBezTo>
                  <a:pt x="52112" y="115527"/>
                  <a:pt x="55597" y="112042"/>
                  <a:pt x="59929" y="112042"/>
                </a:cubicBezTo>
                <a:lnTo>
                  <a:pt x="70352" y="112042"/>
                </a:lnTo>
                <a:cubicBezTo>
                  <a:pt x="74684" y="112042"/>
                  <a:pt x="78169" y="115527"/>
                  <a:pt x="78169" y="119859"/>
                </a:cubicBezTo>
                <a:cubicBezTo>
                  <a:pt x="78169" y="124191"/>
                  <a:pt x="74684" y="127676"/>
                  <a:pt x="70352" y="127676"/>
                </a:cubicBezTo>
                <a:lnTo>
                  <a:pt x="59929" y="127676"/>
                </a:lnTo>
                <a:cubicBezTo>
                  <a:pt x="55597" y="127676"/>
                  <a:pt x="52112" y="124191"/>
                  <a:pt x="52112" y="119859"/>
                </a:cubicBezTo>
                <a:close/>
                <a:moveTo>
                  <a:pt x="91197" y="119859"/>
                </a:moveTo>
                <a:cubicBezTo>
                  <a:pt x="91197" y="115527"/>
                  <a:pt x="94682" y="112042"/>
                  <a:pt x="99014" y="112042"/>
                </a:cubicBezTo>
                <a:lnTo>
                  <a:pt x="109436" y="112042"/>
                </a:lnTo>
                <a:cubicBezTo>
                  <a:pt x="113768" y="112042"/>
                  <a:pt x="117253" y="115527"/>
                  <a:pt x="117253" y="119859"/>
                </a:cubicBezTo>
                <a:cubicBezTo>
                  <a:pt x="117253" y="124191"/>
                  <a:pt x="113768" y="127676"/>
                  <a:pt x="109436" y="127676"/>
                </a:cubicBezTo>
                <a:lnTo>
                  <a:pt x="99014" y="127676"/>
                </a:lnTo>
                <a:cubicBezTo>
                  <a:pt x="94682" y="127676"/>
                  <a:pt x="91197" y="124191"/>
                  <a:pt x="91197" y="119859"/>
                </a:cubicBezTo>
                <a:close/>
                <a:moveTo>
                  <a:pt x="130281" y="119859"/>
                </a:moveTo>
                <a:cubicBezTo>
                  <a:pt x="130281" y="115527"/>
                  <a:pt x="133766" y="112042"/>
                  <a:pt x="138098" y="112042"/>
                </a:cubicBezTo>
                <a:lnTo>
                  <a:pt x="148521" y="112042"/>
                </a:lnTo>
                <a:cubicBezTo>
                  <a:pt x="152852" y="112042"/>
                  <a:pt x="156337" y="115527"/>
                  <a:pt x="156337" y="119859"/>
                </a:cubicBezTo>
                <a:cubicBezTo>
                  <a:pt x="156337" y="124191"/>
                  <a:pt x="152852" y="127676"/>
                  <a:pt x="148521" y="127676"/>
                </a:cubicBezTo>
                <a:lnTo>
                  <a:pt x="138098" y="127676"/>
                </a:lnTo>
                <a:cubicBezTo>
                  <a:pt x="133766" y="127676"/>
                  <a:pt x="130281" y="124191"/>
                  <a:pt x="130281" y="119859"/>
                </a:cubicBezTo>
                <a:close/>
                <a:moveTo>
                  <a:pt x="72957" y="57324"/>
                </a:moveTo>
                <a:cubicBezTo>
                  <a:pt x="81586" y="57324"/>
                  <a:pt x="88591" y="64329"/>
                  <a:pt x="88591" y="72957"/>
                </a:cubicBezTo>
                <a:cubicBezTo>
                  <a:pt x="88591" y="81586"/>
                  <a:pt x="81586" y="88591"/>
                  <a:pt x="72957" y="88591"/>
                </a:cubicBezTo>
                <a:cubicBezTo>
                  <a:pt x="64329" y="88591"/>
                  <a:pt x="57324" y="81586"/>
                  <a:pt x="57324" y="72957"/>
                </a:cubicBezTo>
                <a:cubicBezTo>
                  <a:pt x="57324" y="64329"/>
                  <a:pt x="64329" y="57324"/>
                  <a:pt x="72957" y="57324"/>
                </a:cubicBezTo>
                <a:close/>
                <a:moveTo>
                  <a:pt x="119859" y="72957"/>
                </a:moveTo>
                <a:cubicBezTo>
                  <a:pt x="119859" y="64329"/>
                  <a:pt x="126864" y="57324"/>
                  <a:pt x="135492" y="57324"/>
                </a:cubicBezTo>
                <a:cubicBezTo>
                  <a:pt x="144121" y="57324"/>
                  <a:pt x="151126" y="64329"/>
                  <a:pt x="151126" y="72957"/>
                </a:cubicBezTo>
                <a:cubicBezTo>
                  <a:pt x="151126" y="81586"/>
                  <a:pt x="144121" y="88591"/>
                  <a:pt x="135492" y="88591"/>
                </a:cubicBezTo>
                <a:cubicBezTo>
                  <a:pt x="126864" y="88591"/>
                  <a:pt x="119859" y="81586"/>
                  <a:pt x="119859" y="72957"/>
                </a:cubicBezTo>
                <a:close/>
                <a:moveTo>
                  <a:pt x="20845" y="72957"/>
                </a:moveTo>
                <a:cubicBezTo>
                  <a:pt x="20845" y="67193"/>
                  <a:pt x="16187" y="62535"/>
                  <a:pt x="10422" y="62535"/>
                </a:cubicBezTo>
                <a:cubicBezTo>
                  <a:pt x="4658" y="62535"/>
                  <a:pt x="0" y="67193"/>
                  <a:pt x="0" y="72957"/>
                </a:cubicBezTo>
                <a:lnTo>
                  <a:pt x="0" y="104225"/>
                </a:lnTo>
                <a:cubicBezTo>
                  <a:pt x="0" y="109990"/>
                  <a:pt x="4658" y="114647"/>
                  <a:pt x="10422" y="114647"/>
                </a:cubicBezTo>
                <a:cubicBezTo>
                  <a:pt x="16187" y="114647"/>
                  <a:pt x="20845" y="109990"/>
                  <a:pt x="20845" y="104225"/>
                </a:cubicBezTo>
                <a:lnTo>
                  <a:pt x="20845" y="72957"/>
                </a:lnTo>
                <a:close/>
                <a:moveTo>
                  <a:pt x="198027" y="62535"/>
                </a:moveTo>
                <a:cubicBezTo>
                  <a:pt x="192262" y="62535"/>
                  <a:pt x="187605" y="67193"/>
                  <a:pt x="187605" y="72957"/>
                </a:cubicBezTo>
                <a:lnTo>
                  <a:pt x="187605" y="104225"/>
                </a:lnTo>
                <a:cubicBezTo>
                  <a:pt x="187605" y="109990"/>
                  <a:pt x="192262" y="114647"/>
                  <a:pt x="198027" y="114647"/>
                </a:cubicBezTo>
                <a:cubicBezTo>
                  <a:pt x="203792" y="114647"/>
                  <a:pt x="208450" y="109990"/>
                  <a:pt x="208450" y="104225"/>
                </a:cubicBezTo>
                <a:lnTo>
                  <a:pt x="208450" y="72957"/>
                </a:lnTo>
                <a:cubicBezTo>
                  <a:pt x="208450" y="67193"/>
                  <a:pt x="203792" y="62535"/>
                  <a:pt x="198027" y="62535"/>
                </a:cubicBezTo>
                <a:close/>
              </a:path>
            </a:pathLst>
          </a:custGeom>
          <a:solidFill>
            <a:srgbClr val="EC4899"/>
          </a:solidFill>
          <a:ln/>
        </p:spPr>
      </p:sp>
      <p:sp>
        <p:nvSpPr>
          <p:cNvPr id="30" name="Text 28"/>
          <p:cNvSpPr/>
          <p:nvPr/>
        </p:nvSpPr>
        <p:spPr>
          <a:xfrm>
            <a:off x="3112851" y="3186967"/>
            <a:ext cx="759684" cy="222347"/>
          </a:xfrm>
          <a:prstGeom prst="rect">
            <a:avLst/>
          </a:prstGeom>
          <a:noFill/>
          <a:ln/>
        </p:spPr>
        <p:txBody>
          <a:bodyPr wrap="square" lIns="0" tIns="0" rIns="0" bIns="0" rtlCol="0" anchor="ctr"/>
          <a:lstStyle/>
          <a:p>
            <a:pPr>
              <a:lnSpc>
                <a:spcPct val="130000"/>
              </a:lnSpc>
            </a:pPr>
            <a:r>
              <a:rPr lang="en-US" sz="1167" b="1" dirty="0">
                <a:solidFill>
                  <a:srgbClr val="1E3A8A"/>
                </a:solidFill>
                <a:latin typeface="MiSans" pitchFamily="34" charset="0"/>
                <a:ea typeface="MiSans" pitchFamily="34" charset="-122"/>
                <a:cs typeface="MiSans" pitchFamily="34" charset="-120"/>
              </a:rPr>
              <a:t>Tâche ML</a:t>
            </a:r>
            <a:endParaRPr lang="en-US" sz="1600" dirty="0"/>
          </a:p>
        </p:txBody>
      </p:sp>
      <p:sp>
        <p:nvSpPr>
          <p:cNvPr id="31" name="Text 29"/>
          <p:cNvSpPr/>
          <p:nvPr/>
        </p:nvSpPr>
        <p:spPr>
          <a:xfrm>
            <a:off x="2830286" y="3483429"/>
            <a:ext cx="4280170"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Détection d'anomalies (semi-supervisé)</a:t>
            </a:r>
            <a:endParaRPr lang="en-US" sz="1600" dirty="0"/>
          </a:p>
        </p:txBody>
      </p:sp>
      <p:sp>
        <p:nvSpPr>
          <p:cNvPr id="32" name="Text 30"/>
          <p:cNvSpPr/>
          <p:nvPr/>
        </p:nvSpPr>
        <p:spPr>
          <a:xfrm>
            <a:off x="2830286" y="3668717"/>
            <a:ext cx="4280170"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Autoencoder apprend les pièces conformes</a:t>
            </a:r>
            <a:endParaRPr lang="en-US" sz="1600" dirty="0"/>
          </a:p>
        </p:txBody>
      </p:sp>
      <p:sp>
        <p:nvSpPr>
          <p:cNvPr id="33" name="Shape 31"/>
          <p:cNvSpPr/>
          <p:nvPr/>
        </p:nvSpPr>
        <p:spPr>
          <a:xfrm>
            <a:off x="7305154" y="3038736"/>
            <a:ext cx="4511781" cy="1889945"/>
          </a:xfrm>
          <a:custGeom>
            <a:avLst/>
            <a:gdLst/>
            <a:ahLst/>
            <a:cxnLst/>
            <a:rect l="l" t="t" r="r" b="b"/>
            <a:pathLst>
              <a:path w="4511781" h="1889945">
                <a:moveTo>
                  <a:pt x="111167" y="0"/>
                </a:moveTo>
                <a:lnTo>
                  <a:pt x="4400615" y="0"/>
                </a:lnTo>
                <a:cubicBezTo>
                  <a:pt x="4462010" y="0"/>
                  <a:pt x="4511781" y="49771"/>
                  <a:pt x="4511781" y="111167"/>
                </a:cubicBezTo>
                <a:lnTo>
                  <a:pt x="4511781" y="1778779"/>
                </a:lnTo>
                <a:cubicBezTo>
                  <a:pt x="4511781" y="1840174"/>
                  <a:pt x="4462010" y="1889945"/>
                  <a:pt x="4400615" y="1889945"/>
                </a:cubicBezTo>
                <a:lnTo>
                  <a:pt x="111167" y="1889945"/>
                </a:lnTo>
                <a:cubicBezTo>
                  <a:pt x="49771" y="1889945"/>
                  <a:pt x="0" y="1840174"/>
                  <a:pt x="0" y="1778779"/>
                </a:cubicBezTo>
                <a:lnTo>
                  <a:pt x="0" y="111167"/>
                </a:lnTo>
                <a:cubicBezTo>
                  <a:pt x="0" y="49812"/>
                  <a:pt x="49812" y="0"/>
                  <a:pt x="111167" y="0"/>
                </a:cubicBezTo>
                <a:close/>
              </a:path>
            </a:pathLst>
          </a:custGeom>
          <a:solidFill>
            <a:srgbClr val="10B981"/>
          </a:solidFill>
          <a:ln/>
        </p:spPr>
      </p:sp>
      <p:sp>
        <p:nvSpPr>
          <p:cNvPr id="34" name="Shape 32"/>
          <p:cNvSpPr/>
          <p:nvPr/>
        </p:nvSpPr>
        <p:spPr>
          <a:xfrm>
            <a:off x="7476546" y="3362991"/>
            <a:ext cx="166760" cy="166760"/>
          </a:xfrm>
          <a:custGeom>
            <a:avLst/>
            <a:gdLst/>
            <a:ahLst/>
            <a:cxnLst/>
            <a:rect l="l" t="t" r="r" b="b"/>
            <a:pathLst>
              <a:path w="166760" h="166760">
                <a:moveTo>
                  <a:pt x="39084" y="18239"/>
                </a:moveTo>
                <a:cubicBezTo>
                  <a:pt x="39084" y="8175"/>
                  <a:pt x="47259" y="0"/>
                  <a:pt x="57324" y="0"/>
                </a:cubicBezTo>
                <a:lnTo>
                  <a:pt x="65141" y="0"/>
                </a:lnTo>
                <a:cubicBezTo>
                  <a:pt x="70906" y="0"/>
                  <a:pt x="75563" y="4658"/>
                  <a:pt x="75563" y="10422"/>
                </a:cubicBezTo>
                <a:lnTo>
                  <a:pt x="75563" y="156337"/>
                </a:lnTo>
                <a:cubicBezTo>
                  <a:pt x="75563" y="162102"/>
                  <a:pt x="70906" y="166760"/>
                  <a:pt x="65141" y="166760"/>
                </a:cubicBezTo>
                <a:lnTo>
                  <a:pt x="54718" y="166760"/>
                </a:lnTo>
                <a:cubicBezTo>
                  <a:pt x="45012" y="166760"/>
                  <a:pt x="36837" y="160116"/>
                  <a:pt x="34525" y="151126"/>
                </a:cubicBezTo>
                <a:cubicBezTo>
                  <a:pt x="34297" y="151126"/>
                  <a:pt x="34101" y="151126"/>
                  <a:pt x="33873" y="151126"/>
                </a:cubicBezTo>
                <a:cubicBezTo>
                  <a:pt x="19477" y="151126"/>
                  <a:pt x="7817" y="139466"/>
                  <a:pt x="7817" y="125070"/>
                </a:cubicBezTo>
                <a:cubicBezTo>
                  <a:pt x="7817" y="119207"/>
                  <a:pt x="9771" y="113801"/>
                  <a:pt x="13028" y="109436"/>
                </a:cubicBezTo>
                <a:cubicBezTo>
                  <a:pt x="6709" y="104681"/>
                  <a:pt x="2606" y="97125"/>
                  <a:pt x="2606" y="88591"/>
                </a:cubicBezTo>
                <a:cubicBezTo>
                  <a:pt x="2606" y="78527"/>
                  <a:pt x="8338" y="69766"/>
                  <a:pt x="16676" y="65434"/>
                </a:cubicBezTo>
                <a:cubicBezTo>
                  <a:pt x="14363" y="61525"/>
                  <a:pt x="13028" y="56965"/>
                  <a:pt x="13028" y="52112"/>
                </a:cubicBezTo>
                <a:cubicBezTo>
                  <a:pt x="13028" y="37716"/>
                  <a:pt x="24688" y="26056"/>
                  <a:pt x="39084" y="26056"/>
                </a:cubicBezTo>
                <a:lnTo>
                  <a:pt x="39084" y="18239"/>
                </a:lnTo>
                <a:close/>
                <a:moveTo>
                  <a:pt x="127676" y="18239"/>
                </a:moveTo>
                <a:lnTo>
                  <a:pt x="127676" y="26056"/>
                </a:lnTo>
                <a:cubicBezTo>
                  <a:pt x="142072" y="26056"/>
                  <a:pt x="153732" y="37716"/>
                  <a:pt x="153732" y="52112"/>
                </a:cubicBezTo>
                <a:cubicBezTo>
                  <a:pt x="153732" y="56998"/>
                  <a:pt x="152396" y="61558"/>
                  <a:pt x="150084" y="65434"/>
                </a:cubicBezTo>
                <a:cubicBezTo>
                  <a:pt x="158454" y="69766"/>
                  <a:pt x="164154" y="78494"/>
                  <a:pt x="164154" y="88591"/>
                </a:cubicBezTo>
                <a:cubicBezTo>
                  <a:pt x="164154" y="97125"/>
                  <a:pt x="160050" y="104681"/>
                  <a:pt x="153732" y="109436"/>
                </a:cubicBezTo>
                <a:cubicBezTo>
                  <a:pt x="156989" y="113801"/>
                  <a:pt x="158943" y="119207"/>
                  <a:pt x="158943" y="125070"/>
                </a:cubicBezTo>
                <a:cubicBezTo>
                  <a:pt x="158943" y="139466"/>
                  <a:pt x="147283" y="151126"/>
                  <a:pt x="132887" y="151126"/>
                </a:cubicBezTo>
                <a:cubicBezTo>
                  <a:pt x="132659" y="151126"/>
                  <a:pt x="132463" y="151126"/>
                  <a:pt x="132235" y="151126"/>
                </a:cubicBezTo>
                <a:cubicBezTo>
                  <a:pt x="129923" y="160116"/>
                  <a:pt x="121748" y="166760"/>
                  <a:pt x="112042" y="166760"/>
                </a:cubicBezTo>
                <a:lnTo>
                  <a:pt x="101619" y="166760"/>
                </a:lnTo>
                <a:cubicBezTo>
                  <a:pt x="95854" y="166760"/>
                  <a:pt x="91197" y="162102"/>
                  <a:pt x="91197" y="156337"/>
                </a:cubicBezTo>
                <a:lnTo>
                  <a:pt x="91197" y="10422"/>
                </a:lnTo>
                <a:cubicBezTo>
                  <a:pt x="91197" y="4658"/>
                  <a:pt x="95854" y="0"/>
                  <a:pt x="101619" y="0"/>
                </a:cubicBezTo>
                <a:lnTo>
                  <a:pt x="109436" y="0"/>
                </a:lnTo>
                <a:cubicBezTo>
                  <a:pt x="119500" y="0"/>
                  <a:pt x="127676" y="8175"/>
                  <a:pt x="127676" y="18239"/>
                </a:cubicBezTo>
                <a:close/>
              </a:path>
            </a:pathLst>
          </a:custGeom>
          <a:solidFill>
            <a:srgbClr val="FFFFFF"/>
          </a:solidFill>
          <a:ln/>
        </p:spPr>
      </p:sp>
      <p:sp>
        <p:nvSpPr>
          <p:cNvPr id="35" name="Text 33"/>
          <p:cNvSpPr/>
          <p:nvPr/>
        </p:nvSpPr>
        <p:spPr>
          <a:xfrm>
            <a:off x="7735950" y="3335198"/>
            <a:ext cx="1130261" cy="222347"/>
          </a:xfrm>
          <a:prstGeom prst="rect">
            <a:avLst/>
          </a:prstGeom>
          <a:noFill/>
          <a:ln/>
        </p:spPr>
        <p:txBody>
          <a:bodyPr wrap="square" lIns="0" tIns="0" rIns="0" bIns="0" rtlCol="0" anchor="ctr"/>
          <a:lstStyle/>
          <a:p>
            <a:pPr>
              <a:lnSpc>
                <a:spcPct val="130000"/>
              </a:lnSpc>
            </a:pPr>
            <a:r>
              <a:rPr lang="en-US" sz="1167" b="1" dirty="0">
                <a:solidFill>
                  <a:srgbClr val="FFFFFF"/>
                </a:solidFill>
                <a:latin typeface="MiSans" pitchFamily="34" charset="0"/>
                <a:ea typeface="MiSans" pitchFamily="34" charset="-122"/>
                <a:cs typeface="MiSans" pitchFamily="34" charset="-120"/>
              </a:rPr>
              <a:t>Modèle Retenu</a:t>
            </a:r>
            <a:endParaRPr lang="en-US" sz="1600" dirty="0"/>
          </a:p>
        </p:txBody>
      </p:sp>
      <p:sp>
        <p:nvSpPr>
          <p:cNvPr id="36" name="Text 34"/>
          <p:cNvSpPr/>
          <p:nvPr/>
        </p:nvSpPr>
        <p:spPr>
          <a:xfrm>
            <a:off x="7453385" y="3631660"/>
            <a:ext cx="4298699" cy="259404"/>
          </a:xfrm>
          <a:prstGeom prst="rect">
            <a:avLst/>
          </a:prstGeom>
          <a:noFill/>
          <a:ln/>
        </p:spPr>
        <p:txBody>
          <a:bodyPr wrap="square" lIns="0" tIns="0" rIns="0" bIns="0" rtlCol="0" anchor="ctr"/>
          <a:lstStyle/>
          <a:p>
            <a:pPr>
              <a:lnSpc>
                <a:spcPct val="130000"/>
              </a:lnSpc>
            </a:pPr>
            <a:r>
              <a:rPr lang="en-US" sz="1313" b="1" dirty="0">
                <a:solidFill>
                  <a:srgbClr val="FFFFFF"/>
                </a:solidFill>
                <a:latin typeface="MiSans" pitchFamily="34" charset="0"/>
                <a:ea typeface="MiSans" pitchFamily="34" charset="-122"/>
                <a:cs typeface="MiSans" pitchFamily="34" charset="-120"/>
              </a:rPr>
              <a:t>Autoencoder convolutif ✅</a:t>
            </a:r>
            <a:endParaRPr lang="en-US" sz="1600" dirty="0"/>
          </a:p>
        </p:txBody>
      </p:sp>
      <p:sp>
        <p:nvSpPr>
          <p:cNvPr id="37" name="Text 35"/>
          <p:cNvSpPr/>
          <p:nvPr/>
        </p:nvSpPr>
        <p:spPr>
          <a:xfrm>
            <a:off x="7453385" y="3891064"/>
            <a:ext cx="4280170" cy="185289"/>
          </a:xfrm>
          <a:prstGeom prst="rect">
            <a:avLst/>
          </a:prstGeom>
          <a:noFill/>
          <a:ln/>
        </p:spPr>
        <p:txBody>
          <a:bodyPr wrap="square" lIns="0" tIns="0" rIns="0" bIns="0" rtlCol="0" anchor="ctr"/>
          <a:lstStyle/>
          <a:p>
            <a:pPr>
              <a:lnSpc>
                <a:spcPct val="120000"/>
              </a:lnSpc>
            </a:pPr>
            <a:r>
              <a:rPr lang="en-US" sz="1021" dirty="0">
                <a:solidFill>
                  <a:srgbClr val="FFFFFF"/>
                </a:solidFill>
                <a:latin typeface="MiSans" pitchFamily="34" charset="0"/>
                <a:ea typeface="MiSans" pitchFamily="34" charset="-122"/>
                <a:cs typeface="MiSans" pitchFamily="34" charset="-120"/>
              </a:rPr>
              <a:t>• Peu de défauts nécessaires</a:t>
            </a:r>
            <a:endParaRPr lang="en-US" sz="1600" dirty="0"/>
          </a:p>
        </p:txBody>
      </p:sp>
      <p:sp>
        <p:nvSpPr>
          <p:cNvPr id="38" name="Text 36"/>
          <p:cNvSpPr/>
          <p:nvPr/>
        </p:nvSpPr>
        <p:spPr>
          <a:xfrm>
            <a:off x="7453385" y="4076353"/>
            <a:ext cx="4280170" cy="185289"/>
          </a:xfrm>
          <a:prstGeom prst="rect">
            <a:avLst/>
          </a:prstGeom>
          <a:noFill/>
          <a:ln/>
        </p:spPr>
        <p:txBody>
          <a:bodyPr wrap="square" lIns="0" tIns="0" rIns="0" bIns="0" rtlCol="0" anchor="ctr"/>
          <a:lstStyle/>
          <a:p>
            <a:pPr>
              <a:lnSpc>
                <a:spcPct val="120000"/>
              </a:lnSpc>
            </a:pPr>
            <a:r>
              <a:rPr lang="en-US" sz="1021" dirty="0">
                <a:solidFill>
                  <a:srgbClr val="FFFFFF"/>
                </a:solidFill>
                <a:latin typeface="MiSans" pitchFamily="34" charset="0"/>
                <a:ea typeface="MiSans" pitchFamily="34" charset="-122"/>
                <a:cs typeface="MiSans" pitchFamily="34" charset="-120"/>
              </a:rPr>
              <a:t>• Détecte l'inconnu</a:t>
            </a:r>
            <a:endParaRPr lang="en-US" sz="1600" dirty="0"/>
          </a:p>
        </p:txBody>
      </p:sp>
      <p:sp>
        <p:nvSpPr>
          <p:cNvPr id="39" name="Text 37"/>
          <p:cNvSpPr/>
          <p:nvPr/>
        </p:nvSpPr>
        <p:spPr>
          <a:xfrm>
            <a:off x="7453385" y="4261641"/>
            <a:ext cx="4280170" cy="185289"/>
          </a:xfrm>
          <a:prstGeom prst="rect">
            <a:avLst/>
          </a:prstGeom>
          <a:noFill/>
          <a:ln/>
        </p:spPr>
        <p:txBody>
          <a:bodyPr wrap="square" lIns="0" tIns="0" rIns="0" bIns="0" rtlCol="0" anchor="ctr"/>
          <a:lstStyle/>
          <a:p>
            <a:pPr>
              <a:lnSpc>
                <a:spcPct val="120000"/>
              </a:lnSpc>
            </a:pPr>
            <a:r>
              <a:rPr lang="en-US" sz="1021" dirty="0">
                <a:solidFill>
                  <a:srgbClr val="FFFFFF"/>
                </a:solidFill>
                <a:latin typeface="MiSans" pitchFamily="34" charset="0"/>
                <a:ea typeface="MiSans" pitchFamily="34" charset="-122"/>
                <a:cs typeface="MiSans" pitchFamily="34" charset="-120"/>
              </a:rPr>
              <a:t>• Adapté PME</a:t>
            </a:r>
            <a:endParaRPr lang="en-US" sz="1600" dirty="0"/>
          </a:p>
        </p:txBody>
      </p:sp>
      <p:sp>
        <p:nvSpPr>
          <p:cNvPr id="40" name="Text 38"/>
          <p:cNvSpPr/>
          <p:nvPr/>
        </p:nvSpPr>
        <p:spPr>
          <a:xfrm>
            <a:off x="7453385" y="4483988"/>
            <a:ext cx="4270906" cy="148231"/>
          </a:xfrm>
          <a:prstGeom prst="rect">
            <a:avLst/>
          </a:prstGeom>
          <a:noFill/>
          <a:ln/>
        </p:spPr>
        <p:txBody>
          <a:bodyPr wrap="square" lIns="0" tIns="0" rIns="0" bIns="0" rtlCol="0" anchor="ctr"/>
          <a:lstStyle/>
          <a:p>
            <a:pPr>
              <a:lnSpc>
                <a:spcPct val="110000"/>
              </a:lnSpc>
            </a:pPr>
            <a:r>
              <a:rPr lang="en-US" sz="875" dirty="0">
                <a:solidFill>
                  <a:srgbClr val="FFFFFF">
                    <a:alpha val="80000"/>
                  </a:srgbClr>
                </a:solidFill>
                <a:latin typeface="MiSans" pitchFamily="34" charset="0"/>
                <a:ea typeface="MiSans" pitchFamily="34" charset="-122"/>
                <a:cs typeface="MiSans" pitchFamily="34" charset="-120"/>
              </a:rPr>
              <a:t>CNN supervisé envisageable en V2</a:t>
            </a:r>
            <a:endParaRPr lang="en-US" sz="1600" dirty="0"/>
          </a:p>
        </p:txBody>
      </p:sp>
      <p:sp>
        <p:nvSpPr>
          <p:cNvPr id="41" name="Shape 39"/>
          <p:cNvSpPr/>
          <p:nvPr/>
        </p:nvSpPr>
        <p:spPr>
          <a:xfrm>
            <a:off x="370578" y="5039854"/>
            <a:ext cx="2204936" cy="1445252"/>
          </a:xfrm>
          <a:custGeom>
            <a:avLst/>
            <a:gdLst/>
            <a:ahLst/>
            <a:cxnLst/>
            <a:rect l="l" t="t" r="r" b="b"/>
            <a:pathLst>
              <a:path w="2204936" h="1445252">
                <a:moveTo>
                  <a:pt x="111169" y="0"/>
                </a:moveTo>
                <a:lnTo>
                  <a:pt x="2093767" y="0"/>
                </a:lnTo>
                <a:cubicBezTo>
                  <a:pt x="2155164" y="0"/>
                  <a:pt x="2204936" y="49772"/>
                  <a:pt x="2204936" y="111169"/>
                </a:cubicBezTo>
                <a:lnTo>
                  <a:pt x="2204936" y="1334083"/>
                </a:lnTo>
                <a:cubicBezTo>
                  <a:pt x="2204936" y="1395480"/>
                  <a:pt x="2155164" y="1445252"/>
                  <a:pt x="2093767" y="1445252"/>
                </a:cubicBezTo>
                <a:lnTo>
                  <a:pt x="111169" y="1445252"/>
                </a:lnTo>
                <a:cubicBezTo>
                  <a:pt x="49772" y="1445252"/>
                  <a:pt x="0" y="1395480"/>
                  <a:pt x="0" y="1334083"/>
                </a:cubicBezTo>
                <a:lnTo>
                  <a:pt x="0" y="111169"/>
                </a:lnTo>
                <a:cubicBezTo>
                  <a:pt x="0" y="49813"/>
                  <a:pt x="49813" y="0"/>
                  <a:pt x="111169" y="0"/>
                </a:cubicBezTo>
                <a:close/>
              </a:path>
            </a:pathLst>
          </a:custGeom>
          <a:solidFill>
            <a:srgbClr val="F3F4F6"/>
          </a:solidFill>
          <a:ln/>
        </p:spPr>
      </p:sp>
      <p:sp>
        <p:nvSpPr>
          <p:cNvPr id="42" name="Shape 40"/>
          <p:cNvSpPr/>
          <p:nvPr/>
        </p:nvSpPr>
        <p:spPr>
          <a:xfrm>
            <a:off x="541970" y="5215878"/>
            <a:ext cx="166760" cy="166760"/>
          </a:xfrm>
          <a:custGeom>
            <a:avLst/>
            <a:gdLst/>
            <a:ahLst/>
            <a:cxnLst/>
            <a:rect l="l" t="t" r="r" b="b"/>
            <a:pathLst>
              <a:path w="166760" h="166760">
                <a:moveTo>
                  <a:pt x="83380" y="166760"/>
                </a:moveTo>
                <a:cubicBezTo>
                  <a:pt x="129399" y="166760"/>
                  <a:pt x="166760" y="129399"/>
                  <a:pt x="166760" y="83380"/>
                </a:cubicBezTo>
                <a:cubicBezTo>
                  <a:pt x="166760" y="37361"/>
                  <a:pt x="129399" y="0"/>
                  <a:pt x="83380" y="0"/>
                </a:cubicBezTo>
                <a:cubicBezTo>
                  <a:pt x="37361" y="0"/>
                  <a:pt x="0" y="37361"/>
                  <a:pt x="0" y="83380"/>
                </a:cubicBezTo>
                <a:cubicBezTo>
                  <a:pt x="0" y="129399"/>
                  <a:pt x="37361" y="166760"/>
                  <a:pt x="83380" y="166760"/>
                </a:cubicBezTo>
                <a:close/>
                <a:moveTo>
                  <a:pt x="110869" y="69277"/>
                </a:moveTo>
                <a:lnTo>
                  <a:pt x="84813" y="110967"/>
                </a:lnTo>
                <a:cubicBezTo>
                  <a:pt x="83445" y="113149"/>
                  <a:pt x="81100" y="114517"/>
                  <a:pt x="78527" y="114647"/>
                </a:cubicBezTo>
                <a:cubicBezTo>
                  <a:pt x="75954" y="114778"/>
                  <a:pt x="73479" y="113605"/>
                  <a:pt x="71948" y="111521"/>
                </a:cubicBezTo>
                <a:lnTo>
                  <a:pt x="56314" y="90676"/>
                </a:lnTo>
                <a:cubicBezTo>
                  <a:pt x="53708" y="87223"/>
                  <a:pt x="54425" y="82338"/>
                  <a:pt x="57877" y="79732"/>
                </a:cubicBezTo>
                <a:cubicBezTo>
                  <a:pt x="61330" y="77126"/>
                  <a:pt x="66215" y="77843"/>
                  <a:pt x="68821" y="81295"/>
                </a:cubicBezTo>
                <a:lnTo>
                  <a:pt x="77615" y="93021"/>
                </a:lnTo>
                <a:lnTo>
                  <a:pt x="97613" y="61004"/>
                </a:lnTo>
                <a:cubicBezTo>
                  <a:pt x="99893" y="57356"/>
                  <a:pt x="104713" y="56216"/>
                  <a:pt x="108394" y="58529"/>
                </a:cubicBezTo>
                <a:cubicBezTo>
                  <a:pt x="112074" y="60841"/>
                  <a:pt x="113182" y="65629"/>
                  <a:pt x="110869" y="69310"/>
                </a:cubicBezTo>
                <a:close/>
              </a:path>
            </a:pathLst>
          </a:custGeom>
          <a:solidFill>
            <a:srgbClr val="10B981"/>
          </a:solidFill>
          <a:ln/>
        </p:spPr>
      </p:sp>
      <p:sp>
        <p:nvSpPr>
          <p:cNvPr id="43" name="Text 41"/>
          <p:cNvSpPr/>
          <p:nvPr/>
        </p:nvSpPr>
        <p:spPr>
          <a:xfrm>
            <a:off x="801374" y="5188085"/>
            <a:ext cx="778213" cy="222347"/>
          </a:xfrm>
          <a:prstGeom prst="rect">
            <a:avLst/>
          </a:prstGeom>
          <a:noFill/>
          <a:ln/>
        </p:spPr>
        <p:txBody>
          <a:bodyPr wrap="square" lIns="0" tIns="0" rIns="0" bIns="0" rtlCol="0" anchor="ctr"/>
          <a:lstStyle/>
          <a:p>
            <a:pPr>
              <a:lnSpc>
                <a:spcPct val="130000"/>
              </a:lnSpc>
            </a:pPr>
            <a:r>
              <a:rPr lang="en-US" sz="1167" b="1" dirty="0">
                <a:solidFill>
                  <a:srgbClr val="1E3A8A"/>
                </a:solidFill>
                <a:latin typeface="MiSans" pitchFamily="34" charset="0"/>
                <a:ea typeface="MiSans" pitchFamily="34" charset="-122"/>
                <a:cs typeface="MiSans" pitchFamily="34" charset="-120"/>
              </a:rPr>
              <a:t>Décisions</a:t>
            </a:r>
            <a:endParaRPr lang="en-US" sz="1600" dirty="0"/>
          </a:p>
        </p:txBody>
      </p:sp>
      <p:sp>
        <p:nvSpPr>
          <p:cNvPr id="44" name="Text 42"/>
          <p:cNvSpPr/>
          <p:nvPr/>
        </p:nvSpPr>
        <p:spPr>
          <a:xfrm>
            <a:off x="518809" y="5484547"/>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IA propose OK/NOK + heatmap</a:t>
            </a:r>
            <a:endParaRPr lang="en-US" sz="1600" dirty="0"/>
          </a:p>
        </p:txBody>
      </p:sp>
      <p:sp>
        <p:nvSpPr>
          <p:cNvPr id="45" name="Text 43"/>
          <p:cNvSpPr/>
          <p:nvPr/>
        </p:nvSpPr>
        <p:spPr>
          <a:xfrm>
            <a:off x="518809" y="5669836"/>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Sophie valide</a:t>
            </a:r>
            <a:endParaRPr lang="en-US" sz="1600" dirty="0"/>
          </a:p>
        </p:txBody>
      </p:sp>
      <p:sp>
        <p:nvSpPr>
          <p:cNvPr id="46" name="Text 44"/>
          <p:cNvSpPr/>
          <p:nvPr/>
        </p:nvSpPr>
        <p:spPr>
          <a:xfrm>
            <a:off x="518809" y="5855125"/>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Décision finale = humaine (V1)</a:t>
            </a:r>
            <a:endParaRPr lang="en-US" sz="1600" dirty="0"/>
          </a:p>
        </p:txBody>
      </p:sp>
      <p:sp>
        <p:nvSpPr>
          <p:cNvPr id="47" name="Shape 45"/>
          <p:cNvSpPr/>
          <p:nvPr/>
        </p:nvSpPr>
        <p:spPr>
          <a:xfrm>
            <a:off x="2682055" y="5039854"/>
            <a:ext cx="2204936" cy="1445252"/>
          </a:xfrm>
          <a:custGeom>
            <a:avLst/>
            <a:gdLst/>
            <a:ahLst/>
            <a:cxnLst/>
            <a:rect l="l" t="t" r="r" b="b"/>
            <a:pathLst>
              <a:path w="2204936" h="1445252">
                <a:moveTo>
                  <a:pt x="111169" y="0"/>
                </a:moveTo>
                <a:lnTo>
                  <a:pt x="2093767" y="0"/>
                </a:lnTo>
                <a:cubicBezTo>
                  <a:pt x="2155164" y="0"/>
                  <a:pt x="2204936" y="49772"/>
                  <a:pt x="2204936" y="111169"/>
                </a:cubicBezTo>
                <a:lnTo>
                  <a:pt x="2204936" y="1334083"/>
                </a:lnTo>
                <a:cubicBezTo>
                  <a:pt x="2204936" y="1395480"/>
                  <a:pt x="2155164" y="1445252"/>
                  <a:pt x="2093767" y="1445252"/>
                </a:cubicBezTo>
                <a:lnTo>
                  <a:pt x="111169" y="1445252"/>
                </a:lnTo>
                <a:cubicBezTo>
                  <a:pt x="49772" y="1445252"/>
                  <a:pt x="0" y="1395480"/>
                  <a:pt x="0" y="1334083"/>
                </a:cubicBezTo>
                <a:lnTo>
                  <a:pt x="0" y="111169"/>
                </a:lnTo>
                <a:cubicBezTo>
                  <a:pt x="0" y="49813"/>
                  <a:pt x="49813" y="0"/>
                  <a:pt x="111169" y="0"/>
                </a:cubicBezTo>
                <a:close/>
              </a:path>
            </a:pathLst>
          </a:custGeom>
          <a:solidFill>
            <a:srgbClr val="F3F4F6"/>
          </a:solidFill>
          <a:ln/>
        </p:spPr>
      </p:sp>
      <p:sp>
        <p:nvSpPr>
          <p:cNvPr id="48" name="Shape 46"/>
          <p:cNvSpPr/>
          <p:nvPr/>
        </p:nvSpPr>
        <p:spPr>
          <a:xfrm>
            <a:off x="2863869" y="5215878"/>
            <a:ext cx="145915" cy="166760"/>
          </a:xfrm>
          <a:custGeom>
            <a:avLst/>
            <a:gdLst/>
            <a:ahLst/>
            <a:cxnLst/>
            <a:rect l="l" t="t" r="r" b="b"/>
            <a:pathLst>
              <a:path w="145915" h="166760">
                <a:moveTo>
                  <a:pt x="110348" y="-3224"/>
                </a:moveTo>
                <a:cubicBezTo>
                  <a:pt x="114224" y="-423"/>
                  <a:pt x="115657" y="4658"/>
                  <a:pt x="113898" y="9087"/>
                </a:cubicBezTo>
                <a:lnTo>
                  <a:pt x="88363" y="72957"/>
                </a:lnTo>
                <a:lnTo>
                  <a:pt x="135492" y="72957"/>
                </a:lnTo>
                <a:cubicBezTo>
                  <a:pt x="139889" y="72957"/>
                  <a:pt x="143798" y="75693"/>
                  <a:pt x="145296" y="79830"/>
                </a:cubicBezTo>
                <a:cubicBezTo>
                  <a:pt x="146794" y="83966"/>
                  <a:pt x="145524" y="88591"/>
                  <a:pt x="142169" y="91392"/>
                </a:cubicBezTo>
                <a:lnTo>
                  <a:pt x="48367" y="169561"/>
                </a:lnTo>
                <a:cubicBezTo>
                  <a:pt x="44686" y="172623"/>
                  <a:pt x="39443" y="172785"/>
                  <a:pt x="35567" y="169984"/>
                </a:cubicBezTo>
                <a:cubicBezTo>
                  <a:pt x="31691" y="167183"/>
                  <a:pt x="30258" y="162102"/>
                  <a:pt x="32017" y="157673"/>
                </a:cubicBezTo>
                <a:lnTo>
                  <a:pt x="57552" y="93802"/>
                </a:lnTo>
                <a:lnTo>
                  <a:pt x="10422" y="93802"/>
                </a:lnTo>
                <a:cubicBezTo>
                  <a:pt x="6026" y="93802"/>
                  <a:pt x="2117" y="91067"/>
                  <a:pt x="619" y="86930"/>
                </a:cubicBezTo>
                <a:cubicBezTo>
                  <a:pt x="-879" y="82794"/>
                  <a:pt x="391" y="78169"/>
                  <a:pt x="3746" y="75368"/>
                </a:cubicBezTo>
                <a:lnTo>
                  <a:pt x="97548" y="-2801"/>
                </a:lnTo>
                <a:cubicBezTo>
                  <a:pt x="101228" y="-5863"/>
                  <a:pt x="106472" y="-6026"/>
                  <a:pt x="110348" y="-3224"/>
                </a:cubicBezTo>
                <a:close/>
              </a:path>
            </a:pathLst>
          </a:custGeom>
          <a:solidFill>
            <a:srgbClr val="F97316"/>
          </a:solidFill>
          <a:ln/>
        </p:spPr>
      </p:sp>
      <p:sp>
        <p:nvSpPr>
          <p:cNvPr id="49" name="Text 47"/>
          <p:cNvSpPr/>
          <p:nvPr/>
        </p:nvSpPr>
        <p:spPr>
          <a:xfrm>
            <a:off x="3112851" y="5188085"/>
            <a:ext cx="852328" cy="222347"/>
          </a:xfrm>
          <a:prstGeom prst="rect">
            <a:avLst/>
          </a:prstGeom>
          <a:noFill/>
          <a:ln/>
        </p:spPr>
        <p:txBody>
          <a:bodyPr wrap="square" lIns="0" tIns="0" rIns="0" bIns="0" rtlCol="0" anchor="ctr"/>
          <a:lstStyle/>
          <a:p>
            <a:pPr>
              <a:lnSpc>
                <a:spcPct val="130000"/>
              </a:lnSpc>
            </a:pPr>
            <a:r>
              <a:rPr lang="en-US" sz="1167" b="1" dirty="0">
                <a:solidFill>
                  <a:srgbClr val="1E3A8A"/>
                </a:solidFill>
                <a:latin typeface="MiSans" pitchFamily="34" charset="0"/>
                <a:ea typeface="MiSans" pitchFamily="34" charset="-122"/>
                <a:cs typeface="MiSans" pitchFamily="34" charset="-120"/>
              </a:rPr>
              <a:t>Génération</a:t>
            </a:r>
            <a:endParaRPr lang="en-US" sz="1600" dirty="0"/>
          </a:p>
        </p:txBody>
      </p:sp>
      <p:sp>
        <p:nvSpPr>
          <p:cNvPr id="50" name="Text 48"/>
          <p:cNvSpPr/>
          <p:nvPr/>
        </p:nvSpPr>
        <p:spPr>
          <a:xfrm>
            <a:off x="2830286" y="5484547"/>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Temps réel</a:t>
            </a:r>
            <a:endParaRPr lang="en-US" sz="1600" dirty="0"/>
          </a:p>
        </p:txBody>
      </p:sp>
      <p:sp>
        <p:nvSpPr>
          <p:cNvPr id="51" name="Text 49"/>
          <p:cNvSpPr/>
          <p:nvPr/>
        </p:nvSpPr>
        <p:spPr>
          <a:xfrm>
            <a:off x="2830286" y="5706894"/>
            <a:ext cx="2019647" cy="296462"/>
          </a:xfrm>
          <a:prstGeom prst="rect">
            <a:avLst/>
          </a:prstGeom>
          <a:noFill/>
          <a:ln/>
        </p:spPr>
        <p:txBody>
          <a:bodyPr wrap="square" lIns="0" tIns="0" rIns="0" bIns="0" rtlCol="0" anchor="ctr"/>
          <a:lstStyle/>
          <a:p>
            <a:pPr>
              <a:lnSpc>
                <a:spcPct val="110000"/>
              </a:lnSpc>
            </a:pPr>
            <a:r>
              <a:rPr lang="en-US" sz="1751" b="1" dirty="0">
                <a:solidFill>
                  <a:srgbClr val="F97316"/>
                </a:solidFill>
                <a:latin typeface="Noto Sans SC" pitchFamily="34" charset="0"/>
                <a:ea typeface="Noto Sans SC" pitchFamily="34" charset="-122"/>
                <a:cs typeface="Noto Sans SC" pitchFamily="34" charset="-120"/>
              </a:rPr>
              <a:t>&lt;1 sec/image</a:t>
            </a:r>
            <a:endParaRPr lang="en-US" sz="1600" dirty="0"/>
          </a:p>
        </p:txBody>
      </p:sp>
      <p:sp>
        <p:nvSpPr>
          <p:cNvPr id="52" name="Shape 50"/>
          <p:cNvSpPr/>
          <p:nvPr/>
        </p:nvSpPr>
        <p:spPr>
          <a:xfrm>
            <a:off x="4993677" y="5039854"/>
            <a:ext cx="2204936" cy="1445252"/>
          </a:xfrm>
          <a:custGeom>
            <a:avLst/>
            <a:gdLst/>
            <a:ahLst/>
            <a:cxnLst/>
            <a:rect l="l" t="t" r="r" b="b"/>
            <a:pathLst>
              <a:path w="2204936" h="1445252">
                <a:moveTo>
                  <a:pt x="111169" y="0"/>
                </a:moveTo>
                <a:lnTo>
                  <a:pt x="2093767" y="0"/>
                </a:lnTo>
                <a:cubicBezTo>
                  <a:pt x="2155164" y="0"/>
                  <a:pt x="2204936" y="49772"/>
                  <a:pt x="2204936" y="111169"/>
                </a:cubicBezTo>
                <a:lnTo>
                  <a:pt x="2204936" y="1334083"/>
                </a:lnTo>
                <a:cubicBezTo>
                  <a:pt x="2204936" y="1395480"/>
                  <a:pt x="2155164" y="1445252"/>
                  <a:pt x="2093767" y="1445252"/>
                </a:cubicBezTo>
                <a:lnTo>
                  <a:pt x="111169" y="1445252"/>
                </a:lnTo>
                <a:cubicBezTo>
                  <a:pt x="49772" y="1445252"/>
                  <a:pt x="0" y="1395480"/>
                  <a:pt x="0" y="1334083"/>
                </a:cubicBezTo>
                <a:lnTo>
                  <a:pt x="0" y="111169"/>
                </a:lnTo>
                <a:cubicBezTo>
                  <a:pt x="0" y="49813"/>
                  <a:pt x="49813" y="0"/>
                  <a:pt x="111169" y="0"/>
                </a:cubicBezTo>
                <a:close/>
              </a:path>
            </a:pathLst>
          </a:custGeom>
          <a:solidFill>
            <a:srgbClr val="F3F4F6"/>
          </a:solidFill>
          <a:ln/>
        </p:spPr>
      </p:sp>
      <p:sp>
        <p:nvSpPr>
          <p:cNvPr id="53" name="Shape 51"/>
          <p:cNvSpPr/>
          <p:nvPr/>
        </p:nvSpPr>
        <p:spPr>
          <a:xfrm>
            <a:off x="5165069" y="5215878"/>
            <a:ext cx="166760" cy="166760"/>
          </a:xfrm>
          <a:custGeom>
            <a:avLst/>
            <a:gdLst/>
            <a:ahLst/>
            <a:cxnLst/>
            <a:rect l="l" t="t" r="r" b="b"/>
            <a:pathLst>
              <a:path w="166760" h="166760">
                <a:moveTo>
                  <a:pt x="20845" y="20845"/>
                </a:moveTo>
                <a:cubicBezTo>
                  <a:pt x="20845" y="15080"/>
                  <a:pt x="16187" y="10422"/>
                  <a:pt x="10422" y="10422"/>
                </a:cubicBezTo>
                <a:cubicBezTo>
                  <a:pt x="4658" y="10422"/>
                  <a:pt x="0" y="15080"/>
                  <a:pt x="0" y="20845"/>
                </a:cubicBezTo>
                <a:lnTo>
                  <a:pt x="0" y="130281"/>
                </a:lnTo>
                <a:cubicBezTo>
                  <a:pt x="0" y="144677"/>
                  <a:pt x="11660" y="156337"/>
                  <a:pt x="26056" y="156337"/>
                </a:cubicBezTo>
                <a:lnTo>
                  <a:pt x="156337" y="156337"/>
                </a:lnTo>
                <a:cubicBezTo>
                  <a:pt x="162102" y="156337"/>
                  <a:pt x="166760" y="151680"/>
                  <a:pt x="166760" y="145915"/>
                </a:cubicBezTo>
                <a:cubicBezTo>
                  <a:pt x="166760" y="140150"/>
                  <a:pt x="162102" y="135492"/>
                  <a:pt x="156337" y="135492"/>
                </a:cubicBezTo>
                <a:lnTo>
                  <a:pt x="26056" y="135492"/>
                </a:lnTo>
                <a:cubicBezTo>
                  <a:pt x="23190" y="135492"/>
                  <a:pt x="20845" y="133147"/>
                  <a:pt x="20845" y="130281"/>
                </a:cubicBezTo>
                <a:lnTo>
                  <a:pt x="20845" y="20845"/>
                </a:lnTo>
                <a:close/>
                <a:moveTo>
                  <a:pt x="153276" y="49051"/>
                </a:moveTo>
                <a:cubicBezTo>
                  <a:pt x="157347" y="44980"/>
                  <a:pt x="157347" y="38368"/>
                  <a:pt x="153276" y="34297"/>
                </a:cubicBezTo>
                <a:cubicBezTo>
                  <a:pt x="149204" y="30225"/>
                  <a:pt x="142593" y="30225"/>
                  <a:pt x="138521" y="34297"/>
                </a:cubicBezTo>
                <a:lnTo>
                  <a:pt x="104225" y="68626"/>
                </a:lnTo>
                <a:lnTo>
                  <a:pt x="85530" y="49963"/>
                </a:lnTo>
                <a:cubicBezTo>
                  <a:pt x="81458" y="45892"/>
                  <a:pt x="74847" y="45892"/>
                  <a:pt x="70775" y="49963"/>
                </a:cubicBezTo>
                <a:lnTo>
                  <a:pt x="39508" y="81230"/>
                </a:lnTo>
                <a:cubicBezTo>
                  <a:pt x="35436" y="85302"/>
                  <a:pt x="35436" y="91913"/>
                  <a:pt x="39508" y="95985"/>
                </a:cubicBezTo>
                <a:cubicBezTo>
                  <a:pt x="43579" y="100056"/>
                  <a:pt x="50191" y="100056"/>
                  <a:pt x="54262" y="95985"/>
                </a:cubicBezTo>
                <a:lnTo>
                  <a:pt x="78169" y="72078"/>
                </a:lnTo>
                <a:lnTo>
                  <a:pt x="96864" y="90773"/>
                </a:lnTo>
                <a:cubicBezTo>
                  <a:pt x="100935" y="94845"/>
                  <a:pt x="107547" y="94845"/>
                  <a:pt x="111618" y="90773"/>
                </a:cubicBezTo>
                <a:lnTo>
                  <a:pt x="153308" y="49083"/>
                </a:lnTo>
                <a:close/>
              </a:path>
            </a:pathLst>
          </a:custGeom>
          <a:solidFill>
            <a:srgbClr val="3B82F6"/>
          </a:solidFill>
          <a:ln/>
        </p:spPr>
      </p:sp>
      <p:sp>
        <p:nvSpPr>
          <p:cNvPr id="54" name="Text 52"/>
          <p:cNvSpPr/>
          <p:nvPr/>
        </p:nvSpPr>
        <p:spPr>
          <a:xfrm>
            <a:off x="5424473" y="5188085"/>
            <a:ext cx="824535" cy="222347"/>
          </a:xfrm>
          <a:prstGeom prst="rect">
            <a:avLst/>
          </a:prstGeom>
          <a:noFill/>
          <a:ln/>
        </p:spPr>
        <p:txBody>
          <a:bodyPr wrap="square" lIns="0" tIns="0" rIns="0" bIns="0" rtlCol="0" anchor="ctr"/>
          <a:lstStyle/>
          <a:p>
            <a:pPr>
              <a:lnSpc>
                <a:spcPct val="130000"/>
              </a:lnSpc>
            </a:pPr>
            <a:r>
              <a:rPr lang="en-US" sz="1167" b="1" dirty="0">
                <a:solidFill>
                  <a:srgbClr val="1E3A8A"/>
                </a:solidFill>
                <a:latin typeface="MiSans" pitchFamily="34" charset="0"/>
                <a:ea typeface="MiSans" pitchFamily="34" charset="-122"/>
                <a:cs typeface="MiSans" pitchFamily="34" charset="-120"/>
              </a:rPr>
              <a:t>Évaluation</a:t>
            </a:r>
            <a:endParaRPr lang="en-US" sz="1600" dirty="0"/>
          </a:p>
        </p:txBody>
      </p:sp>
      <p:sp>
        <p:nvSpPr>
          <p:cNvPr id="55" name="Text 53"/>
          <p:cNvSpPr/>
          <p:nvPr/>
        </p:nvSpPr>
        <p:spPr>
          <a:xfrm>
            <a:off x="5141908" y="5484547"/>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Recall </a:t>
            </a:r>
            <a:r>
              <a:rPr lang="en-US" sz="1021" b="1" dirty="0">
                <a:solidFill>
                  <a:srgbClr val="374151"/>
                </a:solidFill>
                <a:latin typeface="MiSans" pitchFamily="34" charset="0"/>
                <a:ea typeface="MiSans" pitchFamily="34" charset="-122"/>
                <a:cs typeface="MiSans" pitchFamily="34" charset="-120"/>
              </a:rPr>
              <a:t>≥95%</a:t>
            </a:r>
            <a:endParaRPr lang="en-US" sz="1600" dirty="0"/>
          </a:p>
        </p:txBody>
      </p:sp>
      <p:sp>
        <p:nvSpPr>
          <p:cNvPr id="56" name="Text 54"/>
          <p:cNvSpPr/>
          <p:nvPr/>
        </p:nvSpPr>
        <p:spPr>
          <a:xfrm>
            <a:off x="5141908" y="5669836"/>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Precision </a:t>
            </a:r>
            <a:r>
              <a:rPr lang="en-US" sz="1021" b="1" dirty="0">
                <a:solidFill>
                  <a:srgbClr val="374151"/>
                </a:solidFill>
                <a:latin typeface="MiSans" pitchFamily="34" charset="0"/>
                <a:ea typeface="MiSans" pitchFamily="34" charset="-122"/>
                <a:cs typeface="MiSans" pitchFamily="34" charset="-120"/>
              </a:rPr>
              <a:t>≥90%</a:t>
            </a:r>
            <a:endParaRPr lang="en-US" sz="1600" dirty="0"/>
          </a:p>
        </p:txBody>
      </p:sp>
      <p:sp>
        <p:nvSpPr>
          <p:cNvPr id="57" name="Text 55"/>
          <p:cNvSpPr/>
          <p:nvPr/>
        </p:nvSpPr>
        <p:spPr>
          <a:xfrm>
            <a:off x="5141908" y="5855125"/>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F1-score</a:t>
            </a:r>
            <a:endParaRPr lang="en-US" sz="1600" dirty="0"/>
          </a:p>
        </p:txBody>
      </p:sp>
      <p:sp>
        <p:nvSpPr>
          <p:cNvPr id="58" name="Shape 56"/>
          <p:cNvSpPr/>
          <p:nvPr/>
        </p:nvSpPr>
        <p:spPr>
          <a:xfrm>
            <a:off x="7305154" y="5039854"/>
            <a:ext cx="2204936" cy="1445252"/>
          </a:xfrm>
          <a:custGeom>
            <a:avLst/>
            <a:gdLst/>
            <a:ahLst/>
            <a:cxnLst/>
            <a:rect l="l" t="t" r="r" b="b"/>
            <a:pathLst>
              <a:path w="2204936" h="1445252">
                <a:moveTo>
                  <a:pt x="111169" y="0"/>
                </a:moveTo>
                <a:lnTo>
                  <a:pt x="2093767" y="0"/>
                </a:lnTo>
                <a:cubicBezTo>
                  <a:pt x="2155164" y="0"/>
                  <a:pt x="2204936" y="49772"/>
                  <a:pt x="2204936" y="111169"/>
                </a:cubicBezTo>
                <a:lnTo>
                  <a:pt x="2204936" y="1334083"/>
                </a:lnTo>
                <a:cubicBezTo>
                  <a:pt x="2204936" y="1395480"/>
                  <a:pt x="2155164" y="1445252"/>
                  <a:pt x="2093767" y="1445252"/>
                </a:cubicBezTo>
                <a:lnTo>
                  <a:pt x="111169" y="1445252"/>
                </a:lnTo>
                <a:cubicBezTo>
                  <a:pt x="49772" y="1445252"/>
                  <a:pt x="0" y="1395480"/>
                  <a:pt x="0" y="1334083"/>
                </a:cubicBezTo>
                <a:lnTo>
                  <a:pt x="0" y="111169"/>
                </a:lnTo>
                <a:cubicBezTo>
                  <a:pt x="0" y="49813"/>
                  <a:pt x="49813" y="0"/>
                  <a:pt x="111169" y="0"/>
                </a:cubicBezTo>
                <a:close/>
              </a:path>
            </a:pathLst>
          </a:custGeom>
          <a:solidFill>
            <a:srgbClr val="F3F4F6"/>
          </a:solidFill>
          <a:ln/>
        </p:spPr>
      </p:sp>
      <p:sp>
        <p:nvSpPr>
          <p:cNvPr id="59" name="Shape 57"/>
          <p:cNvSpPr/>
          <p:nvPr/>
        </p:nvSpPr>
        <p:spPr>
          <a:xfrm>
            <a:off x="7476546" y="5215878"/>
            <a:ext cx="166760" cy="166760"/>
          </a:xfrm>
          <a:custGeom>
            <a:avLst/>
            <a:gdLst/>
            <a:ahLst/>
            <a:cxnLst/>
            <a:rect l="l" t="t" r="r" b="b"/>
            <a:pathLst>
              <a:path w="166760" h="166760">
                <a:moveTo>
                  <a:pt x="83380" y="35143"/>
                </a:moveTo>
                <a:lnTo>
                  <a:pt x="78494" y="28369"/>
                </a:lnTo>
                <a:cubicBezTo>
                  <a:pt x="70352" y="17099"/>
                  <a:pt x="57291" y="10422"/>
                  <a:pt x="43351" y="10422"/>
                </a:cubicBezTo>
                <a:cubicBezTo>
                  <a:pt x="19412" y="10422"/>
                  <a:pt x="0" y="29834"/>
                  <a:pt x="0" y="53774"/>
                </a:cubicBezTo>
                <a:lnTo>
                  <a:pt x="0" y="54620"/>
                </a:lnTo>
                <a:cubicBezTo>
                  <a:pt x="0" y="62307"/>
                  <a:pt x="2019" y="70254"/>
                  <a:pt x="5407" y="78169"/>
                </a:cubicBezTo>
                <a:lnTo>
                  <a:pt x="39931" y="78169"/>
                </a:lnTo>
                <a:cubicBezTo>
                  <a:pt x="40973" y="78169"/>
                  <a:pt x="41918" y="77550"/>
                  <a:pt x="42341" y="76573"/>
                </a:cubicBezTo>
                <a:lnTo>
                  <a:pt x="52699" y="51722"/>
                </a:lnTo>
                <a:cubicBezTo>
                  <a:pt x="53904" y="48855"/>
                  <a:pt x="56705" y="46966"/>
                  <a:pt x="59799" y="46901"/>
                </a:cubicBezTo>
                <a:cubicBezTo>
                  <a:pt x="62893" y="46836"/>
                  <a:pt x="65759" y="48660"/>
                  <a:pt x="67030" y="51494"/>
                </a:cubicBezTo>
                <a:lnTo>
                  <a:pt x="83738" y="88591"/>
                </a:lnTo>
                <a:lnTo>
                  <a:pt x="97222" y="61623"/>
                </a:lnTo>
                <a:cubicBezTo>
                  <a:pt x="98558" y="58985"/>
                  <a:pt x="101261" y="57291"/>
                  <a:pt x="104225" y="57291"/>
                </a:cubicBezTo>
                <a:cubicBezTo>
                  <a:pt x="107189" y="57291"/>
                  <a:pt x="109892" y="58952"/>
                  <a:pt x="111228" y="61623"/>
                </a:cubicBezTo>
                <a:lnTo>
                  <a:pt x="118784" y="76703"/>
                </a:lnTo>
                <a:cubicBezTo>
                  <a:pt x="119240" y="77582"/>
                  <a:pt x="120119" y="78136"/>
                  <a:pt x="121129" y="78136"/>
                </a:cubicBezTo>
                <a:lnTo>
                  <a:pt x="161386" y="78136"/>
                </a:lnTo>
                <a:cubicBezTo>
                  <a:pt x="164806" y="70222"/>
                  <a:pt x="166792" y="62274"/>
                  <a:pt x="166792" y="54588"/>
                </a:cubicBezTo>
                <a:lnTo>
                  <a:pt x="166792" y="53741"/>
                </a:lnTo>
                <a:cubicBezTo>
                  <a:pt x="166760" y="29834"/>
                  <a:pt x="147348" y="10422"/>
                  <a:pt x="123409" y="10422"/>
                </a:cubicBezTo>
                <a:cubicBezTo>
                  <a:pt x="109501" y="10422"/>
                  <a:pt x="96408" y="17099"/>
                  <a:pt x="88265" y="28369"/>
                </a:cubicBezTo>
                <a:lnTo>
                  <a:pt x="83380" y="35111"/>
                </a:lnTo>
                <a:close/>
                <a:moveTo>
                  <a:pt x="152950" y="93802"/>
                </a:moveTo>
                <a:lnTo>
                  <a:pt x="121096" y="93802"/>
                </a:lnTo>
                <a:cubicBezTo>
                  <a:pt x="114191" y="93802"/>
                  <a:pt x="107873" y="89894"/>
                  <a:pt x="104779" y="83706"/>
                </a:cubicBezTo>
                <a:lnTo>
                  <a:pt x="104225" y="82598"/>
                </a:lnTo>
                <a:lnTo>
                  <a:pt x="90383" y="110316"/>
                </a:lnTo>
                <a:cubicBezTo>
                  <a:pt x="89047" y="113019"/>
                  <a:pt x="86246" y="114713"/>
                  <a:pt x="83217" y="114647"/>
                </a:cubicBezTo>
                <a:cubicBezTo>
                  <a:pt x="80188" y="114582"/>
                  <a:pt x="77485" y="112791"/>
                  <a:pt x="76247" y="110055"/>
                </a:cubicBezTo>
                <a:lnTo>
                  <a:pt x="60190" y="74391"/>
                </a:lnTo>
                <a:lnTo>
                  <a:pt x="56770" y="82598"/>
                </a:lnTo>
                <a:cubicBezTo>
                  <a:pt x="53936" y="89405"/>
                  <a:pt x="47292" y="93835"/>
                  <a:pt x="39931" y="93835"/>
                </a:cubicBezTo>
                <a:lnTo>
                  <a:pt x="13810" y="93835"/>
                </a:lnTo>
                <a:cubicBezTo>
                  <a:pt x="29183" y="117872"/>
                  <a:pt x="53871" y="139987"/>
                  <a:pt x="69310" y="151778"/>
                </a:cubicBezTo>
                <a:cubicBezTo>
                  <a:pt x="73348" y="154839"/>
                  <a:pt x="78299" y="156370"/>
                  <a:pt x="83347" y="156370"/>
                </a:cubicBezTo>
                <a:cubicBezTo>
                  <a:pt x="88396" y="156370"/>
                  <a:pt x="93379" y="154872"/>
                  <a:pt x="97385" y="151778"/>
                </a:cubicBezTo>
                <a:cubicBezTo>
                  <a:pt x="112889" y="139955"/>
                  <a:pt x="137577" y="117839"/>
                  <a:pt x="152950" y="93802"/>
                </a:cubicBezTo>
                <a:close/>
              </a:path>
            </a:pathLst>
          </a:custGeom>
          <a:solidFill>
            <a:srgbClr val="EF4444"/>
          </a:solidFill>
          <a:ln/>
        </p:spPr>
      </p:sp>
      <p:sp>
        <p:nvSpPr>
          <p:cNvPr id="60" name="Text 58"/>
          <p:cNvSpPr/>
          <p:nvPr/>
        </p:nvSpPr>
        <p:spPr>
          <a:xfrm>
            <a:off x="7735950" y="5188085"/>
            <a:ext cx="843064" cy="222347"/>
          </a:xfrm>
          <a:prstGeom prst="rect">
            <a:avLst/>
          </a:prstGeom>
          <a:noFill/>
          <a:ln/>
        </p:spPr>
        <p:txBody>
          <a:bodyPr wrap="square" lIns="0" tIns="0" rIns="0" bIns="0" rtlCol="0" anchor="ctr"/>
          <a:lstStyle/>
          <a:p>
            <a:pPr>
              <a:lnSpc>
                <a:spcPct val="130000"/>
              </a:lnSpc>
            </a:pPr>
            <a:r>
              <a:rPr lang="en-US" sz="1167" b="1" dirty="0">
                <a:solidFill>
                  <a:srgbClr val="1E3A8A"/>
                </a:solidFill>
                <a:latin typeface="MiSans" pitchFamily="34" charset="0"/>
                <a:ea typeface="MiSans" pitchFamily="34" charset="-122"/>
                <a:cs typeface="MiSans" pitchFamily="34" charset="-120"/>
              </a:rPr>
              <a:t>Monitoring</a:t>
            </a:r>
            <a:endParaRPr lang="en-US" sz="1600" dirty="0"/>
          </a:p>
        </p:txBody>
      </p:sp>
      <p:sp>
        <p:nvSpPr>
          <p:cNvPr id="61" name="Text 59"/>
          <p:cNvSpPr/>
          <p:nvPr/>
        </p:nvSpPr>
        <p:spPr>
          <a:xfrm>
            <a:off x="7453385" y="5484547"/>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Taux correction Sophie</a:t>
            </a:r>
            <a:endParaRPr lang="en-US" sz="1600" dirty="0"/>
          </a:p>
        </p:txBody>
      </p:sp>
      <p:sp>
        <p:nvSpPr>
          <p:cNvPr id="62" name="Text 60"/>
          <p:cNvSpPr/>
          <p:nvPr/>
        </p:nvSpPr>
        <p:spPr>
          <a:xfrm>
            <a:off x="7453385" y="5669836"/>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Drift detection</a:t>
            </a:r>
            <a:endParaRPr lang="en-US" sz="1600" dirty="0"/>
          </a:p>
        </p:txBody>
      </p:sp>
      <p:sp>
        <p:nvSpPr>
          <p:cNvPr id="63" name="Text 61"/>
          <p:cNvSpPr/>
          <p:nvPr/>
        </p:nvSpPr>
        <p:spPr>
          <a:xfrm>
            <a:off x="7453385" y="5855125"/>
            <a:ext cx="1973325" cy="185289"/>
          </a:xfrm>
          <a:prstGeom prst="rect">
            <a:avLst/>
          </a:prstGeom>
          <a:noFill/>
          <a:ln/>
        </p:spPr>
        <p:txBody>
          <a:bodyPr wrap="square" lIns="0" tIns="0" rIns="0" bIns="0" rtlCol="0" anchor="ctr"/>
          <a:lstStyle/>
          <a:p>
            <a:pPr>
              <a:lnSpc>
                <a:spcPct val="120000"/>
              </a:lnSpc>
            </a:pPr>
            <a:r>
              <a:rPr lang="en-US" sz="1021" dirty="0">
                <a:solidFill>
                  <a:srgbClr val="374151"/>
                </a:solidFill>
                <a:latin typeface="MiSans" pitchFamily="34" charset="0"/>
                <a:ea typeface="MiSans" pitchFamily="34" charset="-122"/>
                <a:cs typeface="MiSans" pitchFamily="34" charset="-120"/>
              </a:rPr>
              <a:t>• Alertes dégradation</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20420" y="192252"/>
            <a:ext cx="1890481" cy="288378"/>
          </a:xfrm>
          <a:custGeom>
            <a:avLst/>
            <a:gdLst/>
            <a:ahLst/>
            <a:cxnLst/>
            <a:rect l="l" t="t" r="r" b="b"/>
            <a:pathLst>
              <a:path w="1890481" h="288378">
                <a:moveTo>
                  <a:pt x="144189" y="0"/>
                </a:moveTo>
                <a:lnTo>
                  <a:pt x="1746292" y="0"/>
                </a:lnTo>
                <a:cubicBezTo>
                  <a:pt x="1825872" y="0"/>
                  <a:pt x="1890481" y="64609"/>
                  <a:pt x="1890481" y="144189"/>
                </a:cubicBezTo>
                <a:lnTo>
                  <a:pt x="1890481" y="144189"/>
                </a:lnTo>
                <a:cubicBezTo>
                  <a:pt x="1890481" y="223769"/>
                  <a:pt x="1825872" y="288378"/>
                  <a:pt x="1746292" y="288378"/>
                </a:cubicBezTo>
                <a:lnTo>
                  <a:pt x="144189" y="288378"/>
                </a:lnTo>
                <a:cubicBezTo>
                  <a:pt x="64556" y="288378"/>
                  <a:pt x="0" y="223823"/>
                  <a:pt x="0" y="144189"/>
                </a:cubicBezTo>
                <a:lnTo>
                  <a:pt x="0" y="144189"/>
                </a:lnTo>
                <a:cubicBezTo>
                  <a:pt x="0" y="64556"/>
                  <a:pt x="64556" y="0"/>
                  <a:pt x="144189" y="0"/>
                </a:cubicBezTo>
                <a:close/>
              </a:path>
            </a:pathLst>
          </a:custGeom>
          <a:solidFill>
            <a:srgbClr val="3B82F6"/>
          </a:solidFill>
          <a:ln/>
        </p:spPr>
      </p:sp>
      <p:sp>
        <p:nvSpPr>
          <p:cNvPr id="3" name="Text 1"/>
          <p:cNvSpPr/>
          <p:nvPr/>
        </p:nvSpPr>
        <p:spPr>
          <a:xfrm>
            <a:off x="448589" y="256336"/>
            <a:ext cx="1690218" cy="160210"/>
          </a:xfrm>
          <a:prstGeom prst="rect">
            <a:avLst/>
          </a:prstGeom>
          <a:noFill/>
          <a:ln/>
        </p:spPr>
        <p:txBody>
          <a:bodyPr wrap="square" lIns="0" tIns="0" rIns="0" bIns="0" rtlCol="0" anchor="ctr"/>
          <a:lstStyle/>
          <a:p>
            <a:pPr>
              <a:lnSpc>
                <a:spcPct val="120000"/>
              </a:lnSpc>
            </a:pPr>
            <a:r>
              <a:rPr lang="en-US" sz="883" b="1" kern="0" spc="22" dirty="0">
                <a:solidFill>
                  <a:srgbClr val="FFFFFF"/>
                </a:solidFill>
                <a:latin typeface="MiSans" pitchFamily="34" charset="0"/>
                <a:ea typeface="MiSans" pitchFamily="34" charset="-122"/>
                <a:cs typeface="MiSans" pitchFamily="34" charset="-120"/>
              </a:rPr>
              <a:t>CONCEPTION - DASHBOARD</a:t>
            </a:r>
            <a:endParaRPr lang="en-US" sz="1600" dirty="0"/>
          </a:p>
        </p:txBody>
      </p:sp>
      <p:sp>
        <p:nvSpPr>
          <p:cNvPr id="4" name="Text 2"/>
          <p:cNvSpPr/>
          <p:nvPr/>
        </p:nvSpPr>
        <p:spPr>
          <a:xfrm>
            <a:off x="320420" y="833093"/>
            <a:ext cx="11695348" cy="320420"/>
          </a:xfrm>
          <a:prstGeom prst="rect">
            <a:avLst/>
          </a:prstGeom>
          <a:noFill/>
          <a:ln/>
        </p:spPr>
        <p:txBody>
          <a:bodyPr wrap="square" lIns="0" tIns="0" rIns="0" bIns="0" rtlCol="0" anchor="ctr"/>
          <a:lstStyle/>
          <a:p>
            <a:pPr>
              <a:lnSpc>
                <a:spcPct val="90000"/>
              </a:lnSpc>
            </a:pPr>
            <a:r>
              <a:rPr lang="en-US" sz="2271" b="1" dirty="0">
                <a:solidFill>
                  <a:srgbClr val="1E3A8A"/>
                </a:solidFill>
                <a:latin typeface="Noto Sans SC" pitchFamily="34" charset="0"/>
                <a:ea typeface="Noto Sans SC" pitchFamily="34" charset="-122"/>
                <a:cs typeface="Noto Sans SC" pitchFamily="34" charset="-120"/>
              </a:rPr>
              <a:t>Dashboard Qualité — Conception</a:t>
            </a:r>
            <a:endParaRPr lang="en-US" sz="1600" dirty="0"/>
          </a:p>
        </p:txBody>
      </p:sp>
      <p:sp>
        <p:nvSpPr>
          <p:cNvPr id="5" name="Shape 3"/>
          <p:cNvSpPr/>
          <p:nvPr/>
        </p:nvSpPr>
        <p:spPr>
          <a:xfrm>
            <a:off x="320420" y="1345766"/>
            <a:ext cx="11551159" cy="3011953"/>
          </a:xfrm>
          <a:custGeom>
            <a:avLst/>
            <a:gdLst/>
            <a:ahLst/>
            <a:cxnLst/>
            <a:rect l="l" t="t" r="r" b="b"/>
            <a:pathLst>
              <a:path w="11551159" h="3011953">
                <a:moveTo>
                  <a:pt x="128159" y="0"/>
                </a:moveTo>
                <a:lnTo>
                  <a:pt x="11423000" y="0"/>
                </a:lnTo>
                <a:cubicBezTo>
                  <a:pt x="11493780" y="0"/>
                  <a:pt x="11551159" y="57379"/>
                  <a:pt x="11551159" y="128159"/>
                </a:cubicBezTo>
                <a:lnTo>
                  <a:pt x="11551159" y="2883794"/>
                </a:lnTo>
                <a:cubicBezTo>
                  <a:pt x="11551159" y="2954574"/>
                  <a:pt x="11493780" y="3011953"/>
                  <a:pt x="11423000" y="3011953"/>
                </a:cubicBezTo>
                <a:lnTo>
                  <a:pt x="128159" y="3011953"/>
                </a:lnTo>
                <a:cubicBezTo>
                  <a:pt x="57379" y="3011953"/>
                  <a:pt x="0" y="2954574"/>
                  <a:pt x="0" y="2883794"/>
                </a:cubicBezTo>
                <a:lnTo>
                  <a:pt x="0" y="128159"/>
                </a:lnTo>
                <a:cubicBezTo>
                  <a:pt x="0" y="57426"/>
                  <a:pt x="57426" y="0"/>
                  <a:pt x="128159" y="0"/>
                </a:cubicBezTo>
                <a:close/>
              </a:path>
            </a:pathLst>
          </a:custGeom>
          <a:solidFill>
            <a:srgbClr val="F3F4F6"/>
          </a:solidFill>
          <a:ln/>
        </p:spPr>
      </p:sp>
      <p:sp>
        <p:nvSpPr>
          <p:cNvPr id="6" name="Shape 4"/>
          <p:cNvSpPr/>
          <p:nvPr/>
        </p:nvSpPr>
        <p:spPr>
          <a:xfrm>
            <a:off x="480631" y="1505976"/>
            <a:ext cx="320420" cy="320420"/>
          </a:xfrm>
          <a:custGeom>
            <a:avLst/>
            <a:gdLst/>
            <a:ahLst/>
            <a:cxnLst/>
            <a:rect l="l" t="t" r="r" b="b"/>
            <a:pathLst>
              <a:path w="320420" h="320420">
                <a:moveTo>
                  <a:pt x="96126" y="0"/>
                </a:moveTo>
                <a:lnTo>
                  <a:pt x="224294" y="0"/>
                </a:lnTo>
                <a:cubicBezTo>
                  <a:pt x="277383" y="0"/>
                  <a:pt x="320420" y="43037"/>
                  <a:pt x="320420" y="96126"/>
                </a:cubicBezTo>
                <a:lnTo>
                  <a:pt x="320420" y="224294"/>
                </a:lnTo>
                <a:cubicBezTo>
                  <a:pt x="320420" y="277383"/>
                  <a:pt x="277383" y="320420"/>
                  <a:pt x="224294" y="320420"/>
                </a:cubicBezTo>
                <a:lnTo>
                  <a:pt x="96126" y="320420"/>
                </a:lnTo>
                <a:cubicBezTo>
                  <a:pt x="43037" y="320420"/>
                  <a:pt x="0" y="277383"/>
                  <a:pt x="0" y="224294"/>
                </a:cubicBezTo>
                <a:lnTo>
                  <a:pt x="0" y="96126"/>
                </a:lnTo>
                <a:cubicBezTo>
                  <a:pt x="0" y="43073"/>
                  <a:pt x="43073" y="0"/>
                  <a:pt x="96126" y="0"/>
                </a:cubicBezTo>
                <a:close/>
              </a:path>
            </a:pathLst>
          </a:custGeom>
          <a:solidFill>
            <a:srgbClr val="8B5CF6"/>
          </a:solidFill>
          <a:ln/>
        </p:spPr>
      </p:sp>
      <p:sp>
        <p:nvSpPr>
          <p:cNvPr id="7" name="Shape 5"/>
          <p:cNvSpPr/>
          <p:nvPr/>
        </p:nvSpPr>
        <p:spPr>
          <a:xfrm>
            <a:off x="584767" y="1602102"/>
            <a:ext cx="112147" cy="128168"/>
          </a:xfrm>
          <a:custGeom>
            <a:avLst/>
            <a:gdLst/>
            <a:ahLst/>
            <a:cxnLst/>
            <a:rect l="l" t="t" r="r" b="b"/>
            <a:pathLst>
              <a:path w="112147" h="128168">
                <a:moveTo>
                  <a:pt x="56074" y="62081"/>
                </a:moveTo>
                <a:cubicBezTo>
                  <a:pt x="72653" y="62081"/>
                  <a:pt x="86113" y="48621"/>
                  <a:pt x="86113" y="32042"/>
                </a:cubicBezTo>
                <a:cubicBezTo>
                  <a:pt x="86113" y="15463"/>
                  <a:pt x="72653" y="2003"/>
                  <a:pt x="56074" y="2003"/>
                </a:cubicBezTo>
                <a:cubicBezTo>
                  <a:pt x="39494" y="2003"/>
                  <a:pt x="26034" y="15463"/>
                  <a:pt x="26034" y="32042"/>
                </a:cubicBezTo>
                <a:cubicBezTo>
                  <a:pt x="26034" y="48621"/>
                  <a:pt x="39494" y="62081"/>
                  <a:pt x="56074" y="62081"/>
                </a:cubicBezTo>
                <a:close/>
                <a:moveTo>
                  <a:pt x="48639" y="76100"/>
                </a:moveTo>
                <a:cubicBezTo>
                  <a:pt x="23981" y="76100"/>
                  <a:pt x="4005" y="96076"/>
                  <a:pt x="4005" y="120733"/>
                </a:cubicBezTo>
                <a:cubicBezTo>
                  <a:pt x="4005" y="124839"/>
                  <a:pt x="7335" y="128168"/>
                  <a:pt x="11440" y="128168"/>
                </a:cubicBezTo>
                <a:lnTo>
                  <a:pt x="100707" y="128168"/>
                </a:lnTo>
                <a:cubicBezTo>
                  <a:pt x="104813" y="128168"/>
                  <a:pt x="108142" y="124839"/>
                  <a:pt x="108142" y="120733"/>
                </a:cubicBezTo>
                <a:cubicBezTo>
                  <a:pt x="108142" y="96076"/>
                  <a:pt x="88166" y="76100"/>
                  <a:pt x="63508" y="76100"/>
                </a:cubicBezTo>
                <a:lnTo>
                  <a:pt x="48639" y="76100"/>
                </a:lnTo>
                <a:close/>
              </a:path>
            </a:pathLst>
          </a:custGeom>
          <a:solidFill>
            <a:srgbClr val="FFFFFF"/>
          </a:solidFill>
          <a:ln/>
        </p:spPr>
      </p:sp>
      <p:sp>
        <p:nvSpPr>
          <p:cNvPr id="8" name="Text 6"/>
          <p:cNvSpPr/>
          <p:nvPr/>
        </p:nvSpPr>
        <p:spPr>
          <a:xfrm>
            <a:off x="897177" y="1554039"/>
            <a:ext cx="2483259" cy="224294"/>
          </a:xfrm>
          <a:prstGeom prst="rect">
            <a:avLst/>
          </a:prstGeom>
          <a:noFill/>
          <a:ln/>
        </p:spPr>
        <p:txBody>
          <a:bodyPr wrap="square" lIns="0" tIns="0" rIns="0" bIns="0" rtlCol="0" anchor="ctr"/>
          <a:lstStyle/>
          <a:p>
            <a:pPr>
              <a:lnSpc>
                <a:spcPct val="120000"/>
              </a:lnSpc>
            </a:pPr>
            <a:r>
              <a:rPr lang="en-US" sz="1262" b="1" dirty="0">
                <a:solidFill>
                  <a:srgbClr val="1E3A8A"/>
                </a:solidFill>
                <a:latin typeface="Noto Sans SC" pitchFamily="34" charset="0"/>
                <a:ea typeface="Noto Sans SC" pitchFamily="34" charset="-122"/>
                <a:cs typeface="Noto Sans SC" pitchFamily="34" charset="-120"/>
              </a:rPr>
              <a:t>Page Sophie (Poste Inspecteur)</a:t>
            </a:r>
            <a:endParaRPr lang="en-US" sz="1600" dirty="0"/>
          </a:p>
        </p:txBody>
      </p:sp>
      <p:sp>
        <p:nvSpPr>
          <p:cNvPr id="9" name="Shape 7"/>
          <p:cNvSpPr/>
          <p:nvPr/>
        </p:nvSpPr>
        <p:spPr>
          <a:xfrm>
            <a:off x="3397083" y="1554039"/>
            <a:ext cx="1081419" cy="224294"/>
          </a:xfrm>
          <a:custGeom>
            <a:avLst/>
            <a:gdLst/>
            <a:ahLst/>
            <a:cxnLst/>
            <a:rect l="l" t="t" r="r" b="b"/>
            <a:pathLst>
              <a:path w="1081419" h="224294">
                <a:moveTo>
                  <a:pt x="112147" y="0"/>
                </a:moveTo>
                <a:lnTo>
                  <a:pt x="969272" y="0"/>
                </a:lnTo>
                <a:cubicBezTo>
                  <a:pt x="1031209" y="0"/>
                  <a:pt x="1081419" y="50210"/>
                  <a:pt x="1081419" y="112147"/>
                </a:cubicBezTo>
                <a:lnTo>
                  <a:pt x="1081419" y="112147"/>
                </a:lnTo>
                <a:cubicBezTo>
                  <a:pt x="1081419" y="174084"/>
                  <a:pt x="1031209" y="224294"/>
                  <a:pt x="969272" y="224294"/>
                </a:cubicBezTo>
                <a:lnTo>
                  <a:pt x="112147" y="224294"/>
                </a:lnTo>
                <a:cubicBezTo>
                  <a:pt x="50251" y="224294"/>
                  <a:pt x="0" y="174043"/>
                  <a:pt x="0" y="112147"/>
                </a:cubicBezTo>
                <a:lnTo>
                  <a:pt x="0" y="112147"/>
                </a:lnTo>
                <a:cubicBezTo>
                  <a:pt x="0" y="50251"/>
                  <a:pt x="50251" y="0"/>
                  <a:pt x="112147" y="0"/>
                </a:cubicBezTo>
                <a:close/>
              </a:path>
            </a:pathLst>
          </a:custGeom>
          <a:solidFill>
            <a:srgbClr val="8B5CF6"/>
          </a:solidFill>
          <a:ln/>
        </p:spPr>
      </p:sp>
      <p:sp>
        <p:nvSpPr>
          <p:cNvPr id="10" name="Text 8"/>
          <p:cNvSpPr/>
          <p:nvPr/>
        </p:nvSpPr>
        <p:spPr>
          <a:xfrm>
            <a:off x="3397083" y="1554039"/>
            <a:ext cx="1137493" cy="224294"/>
          </a:xfrm>
          <a:prstGeom prst="rect">
            <a:avLst/>
          </a:prstGeom>
          <a:noFill/>
          <a:ln/>
        </p:spPr>
        <p:txBody>
          <a:bodyPr wrap="square" lIns="96126" tIns="32042" rIns="96126" bIns="32042" rtlCol="0" anchor="ctr"/>
          <a:lstStyle/>
          <a:p>
            <a:pPr>
              <a:lnSpc>
                <a:spcPct val="120000"/>
              </a:lnSpc>
            </a:pPr>
            <a:r>
              <a:rPr lang="en-US" sz="883" b="1" dirty="0">
                <a:solidFill>
                  <a:srgbClr val="FFFFFF"/>
                </a:solidFill>
                <a:latin typeface="MiSans" pitchFamily="34" charset="0"/>
                <a:ea typeface="MiSans" pitchFamily="34" charset="-122"/>
                <a:cs typeface="MiSans" pitchFamily="34" charset="-120"/>
              </a:rPr>
              <a:t>OPÉRATIONNEL</a:t>
            </a:r>
            <a:endParaRPr lang="en-US" sz="1600" dirty="0"/>
          </a:p>
        </p:txBody>
      </p:sp>
      <p:sp>
        <p:nvSpPr>
          <p:cNvPr id="11" name="Shape 9"/>
          <p:cNvSpPr/>
          <p:nvPr/>
        </p:nvSpPr>
        <p:spPr>
          <a:xfrm>
            <a:off x="488641" y="1962576"/>
            <a:ext cx="7425745" cy="1425871"/>
          </a:xfrm>
          <a:custGeom>
            <a:avLst/>
            <a:gdLst/>
            <a:ahLst/>
            <a:cxnLst/>
            <a:rect l="l" t="t" r="r" b="b"/>
            <a:pathLst>
              <a:path w="7425745" h="1425871">
                <a:moveTo>
                  <a:pt x="96132" y="0"/>
                </a:moveTo>
                <a:lnTo>
                  <a:pt x="7329613" y="0"/>
                </a:lnTo>
                <a:cubicBezTo>
                  <a:pt x="7382705" y="0"/>
                  <a:pt x="7425745" y="43040"/>
                  <a:pt x="7425745" y="96132"/>
                </a:cubicBezTo>
                <a:lnTo>
                  <a:pt x="7425745" y="1329739"/>
                </a:lnTo>
                <a:cubicBezTo>
                  <a:pt x="7425745" y="1382831"/>
                  <a:pt x="7382705" y="1425871"/>
                  <a:pt x="7329613" y="1425871"/>
                </a:cubicBezTo>
                <a:lnTo>
                  <a:pt x="96132" y="1425871"/>
                </a:lnTo>
                <a:cubicBezTo>
                  <a:pt x="43040" y="1425871"/>
                  <a:pt x="0" y="1382831"/>
                  <a:pt x="0" y="1329739"/>
                </a:cubicBezTo>
                <a:lnTo>
                  <a:pt x="0" y="96132"/>
                </a:lnTo>
                <a:cubicBezTo>
                  <a:pt x="0" y="43040"/>
                  <a:pt x="43040" y="0"/>
                  <a:pt x="96132" y="0"/>
                </a:cubicBezTo>
                <a:close/>
              </a:path>
            </a:pathLst>
          </a:custGeom>
          <a:solidFill>
            <a:srgbClr val="FFFFFF"/>
          </a:solidFill>
          <a:ln w="25400">
            <a:solidFill>
              <a:srgbClr val="D1D5DB"/>
            </a:solidFill>
            <a:prstDash val="solid"/>
          </a:ln>
        </p:spPr>
      </p:sp>
      <p:sp>
        <p:nvSpPr>
          <p:cNvPr id="12" name="Shape 10"/>
          <p:cNvSpPr/>
          <p:nvPr/>
        </p:nvSpPr>
        <p:spPr>
          <a:xfrm>
            <a:off x="4033919" y="2355091"/>
            <a:ext cx="336442" cy="384505"/>
          </a:xfrm>
          <a:custGeom>
            <a:avLst/>
            <a:gdLst/>
            <a:ahLst/>
            <a:cxnLst/>
            <a:rect l="l" t="t" r="r" b="b"/>
            <a:pathLst>
              <a:path w="336442" h="384505">
                <a:moveTo>
                  <a:pt x="48063" y="24032"/>
                </a:moveTo>
                <a:cubicBezTo>
                  <a:pt x="21553" y="24032"/>
                  <a:pt x="0" y="45585"/>
                  <a:pt x="0" y="72095"/>
                </a:cubicBezTo>
                <a:lnTo>
                  <a:pt x="0" y="312410"/>
                </a:lnTo>
                <a:cubicBezTo>
                  <a:pt x="0" y="338920"/>
                  <a:pt x="21553" y="360473"/>
                  <a:pt x="48063" y="360473"/>
                </a:cubicBezTo>
                <a:lnTo>
                  <a:pt x="288378" y="360473"/>
                </a:lnTo>
                <a:cubicBezTo>
                  <a:pt x="314888" y="360473"/>
                  <a:pt x="336442" y="338920"/>
                  <a:pt x="336442" y="312410"/>
                </a:cubicBezTo>
                <a:lnTo>
                  <a:pt x="336442" y="72095"/>
                </a:lnTo>
                <a:cubicBezTo>
                  <a:pt x="336442" y="45585"/>
                  <a:pt x="314888" y="24032"/>
                  <a:pt x="288378" y="24032"/>
                </a:cubicBezTo>
                <a:lnTo>
                  <a:pt x="48063" y="24032"/>
                </a:lnTo>
                <a:close/>
                <a:moveTo>
                  <a:pt x="96126" y="84110"/>
                </a:moveTo>
                <a:cubicBezTo>
                  <a:pt x="116021" y="84110"/>
                  <a:pt x="132173" y="100263"/>
                  <a:pt x="132173" y="120158"/>
                </a:cubicBezTo>
                <a:cubicBezTo>
                  <a:pt x="132173" y="140053"/>
                  <a:pt x="116021" y="156205"/>
                  <a:pt x="96126" y="156205"/>
                </a:cubicBezTo>
                <a:cubicBezTo>
                  <a:pt x="76231" y="156205"/>
                  <a:pt x="60079" y="140053"/>
                  <a:pt x="60079" y="120158"/>
                </a:cubicBezTo>
                <a:cubicBezTo>
                  <a:pt x="60079" y="100263"/>
                  <a:pt x="76231" y="84110"/>
                  <a:pt x="96126" y="84110"/>
                </a:cubicBezTo>
                <a:close/>
                <a:moveTo>
                  <a:pt x="204268" y="168221"/>
                </a:moveTo>
                <a:cubicBezTo>
                  <a:pt x="210576" y="168221"/>
                  <a:pt x="216359" y="171525"/>
                  <a:pt x="219663" y="176857"/>
                </a:cubicBezTo>
                <a:lnTo>
                  <a:pt x="285750" y="284999"/>
                </a:lnTo>
                <a:cubicBezTo>
                  <a:pt x="289129" y="290556"/>
                  <a:pt x="289280" y="297540"/>
                  <a:pt x="286125" y="303248"/>
                </a:cubicBezTo>
                <a:cubicBezTo>
                  <a:pt x="282971" y="308955"/>
                  <a:pt x="276888" y="312410"/>
                  <a:pt x="270355" y="312410"/>
                </a:cubicBezTo>
                <a:lnTo>
                  <a:pt x="66087" y="312410"/>
                </a:lnTo>
                <a:cubicBezTo>
                  <a:pt x="59403" y="312410"/>
                  <a:pt x="53170" y="308655"/>
                  <a:pt x="50091" y="302722"/>
                </a:cubicBezTo>
                <a:cubicBezTo>
                  <a:pt x="47012" y="296789"/>
                  <a:pt x="47462" y="289580"/>
                  <a:pt x="51292" y="284098"/>
                </a:cubicBezTo>
                <a:lnTo>
                  <a:pt x="93348" y="224019"/>
                </a:lnTo>
                <a:cubicBezTo>
                  <a:pt x="96727" y="219213"/>
                  <a:pt x="102209" y="216359"/>
                  <a:pt x="108142" y="216359"/>
                </a:cubicBezTo>
                <a:cubicBezTo>
                  <a:pt x="114075" y="216359"/>
                  <a:pt x="119557" y="219213"/>
                  <a:pt x="122936" y="224019"/>
                </a:cubicBezTo>
                <a:lnTo>
                  <a:pt x="142762" y="252406"/>
                </a:lnTo>
                <a:lnTo>
                  <a:pt x="188873" y="176932"/>
                </a:lnTo>
                <a:cubicBezTo>
                  <a:pt x="192177" y="171600"/>
                  <a:pt x="197960" y="168296"/>
                  <a:pt x="204268" y="168296"/>
                </a:cubicBezTo>
                <a:close/>
              </a:path>
            </a:pathLst>
          </a:custGeom>
          <a:solidFill>
            <a:srgbClr val="D1D5DB"/>
          </a:solidFill>
          <a:ln/>
        </p:spPr>
      </p:sp>
      <p:sp>
        <p:nvSpPr>
          <p:cNvPr id="13" name="Text 11"/>
          <p:cNvSpPr/>
          <p:nvPr/>
        </p:nvSpPr>
        <p:spPr>
          <a:xfrm>
            <a:off x="3145878" y="2803679"/>
            <a:ext cx="2114775" cy="192252"/>
          </a:xfrm>
          <a:prstGeom prst="rect">
            <a:avLst/>
          </a:prstGeom>
          <a:noFill/>
          <a:ln/>
        </p:spPr>
        <p:txBody>
          <a:bodyPr wrap="square" lIns="0" tIns="0" rIns="0" bIns="0" rtlCol="0" anchor="ctr"/>
          <a:lstStyle/>
          <a:p>
            <a:pPr algn="ctr">
              <a:lnSpc>
                <a:spcPct val="130000"/>
              </a:lnSpc>
            </a:pPr>
            <a:r>
              <a:rPr lang="en-US" sz="1009" dirty="0">
                <a:solidFill>
                  <a:srgbClr val="6B7280"/>
                </a:solidFill>
                <a:latin typeface="MiSans" pitchFamily="34" charset="0"/>
                <a:ea typeface="MiSans" pitchFamily="34" charset="-122"/>
                <a:cs typeface="MiSans" pitchFamily="34" charset="-120"/>
              </a:rPr>
              <a:t>Image pièce + heatmap superposée</a:t>
            </a:r>
            <a:endParaRPr lang="en-US" sz="1600" dirty="0"/>
          </a:p>
        </p:txBody>
      </p:sp>
      <p:sp>
        <p:nvSpPr>
          <p:cNvPr id="14" name="Shape 12"/>
          <p:cNvSpPr/>
          <p:nvPr/>
        </p:nvSpPr>
        <p:spPr>
          <a:xfrm>
            <a:off x="6664997" y="2066712"/>
            <a:ext cx="1145503" cy="256336"/>
          </a:xfrm>
          <a:custGeom>
            <a:avLst/>
            <a:gdLst/>
            <a:ahLst/>
            <a:cxnLst/>
            <a:rect l="l" t="t" r="r" b="b"/>
            <a:pathLst>
              <a:path w="1145503" h="256336">
                <a:moveTo>
                  <a:pt x="128168" y="0"/>
                </a:moveTo>
                <a:lnTo>
                  <a:pt x="1017335" y="0"/>
                </a:lnTo>
                <a:cubicBezTo>
                  <a:pt x="1088120" y="0"/>
                  <a:pt x="1145503" y="57383"/>
                  <a:pt x="1145503" y="128168"/>
                </a:cubicBezTo>
                <a:lnTo>
                  <a:pt x="1145503" y="128168"/>
                </a:lnTo>
                <a:cubicBezTo>
                  <a:pt x="1145503" y="198954"/>
                  <a:pt x="1088120" y="256336"/>
                  <a:pt x="1017335" y="256336"/>
                </a:cubicBezTo>
                <a:lnTo>
                  <a:pt x="128168" y="256336"/>
                </a:lnTo>
                <a:cubicBezTo>
                  <a:pt x="57430" y="256336"/>
                  <a:pt x="0" y="198906"/>
                  <a:pt x="0" y="128168"/>
                </a:cubicBezTo>
                <a:lnTo>
                  <a:pt x="0" y="128168"/>
                </a:lnTo>
                <a:cubicBezTo>
                  <a:pt x="0" y="57430"/>
                  <a:pt x="57430" y="0"/>
                  <a:pt x="128168" y="0"/>
                </a:cubicBezTo>
                <a:close/>
              </a:path>
            </a:pathLst>
          </a:custGeom>
          <a:solidFill>
            <a:srgbClr val="10B981"/>
          </a:solidFill>
          <a:ln/>
        </p:spPr>
      </p:sp>
      <p:sp>
        <p:nvSpPr>
          <p:cNvPr id="15" name="Text 13"/>
          <p:cNvSpPr/>
          <p:nvPr/>
        </p:nvSpPr>
        <p:spPr>
          <a:xfrm>
            <a:off x="6761123" y="2122786"/>
            <a:ext cx="1018462" cy="136179"/>
          </a:xfrm>
          <a:prstGeom prst="rect">
            <a:avLst/>
          </a:prstGeom>
          <a:noFill/>
          <a:ln/>
        </p:spPr>
        <p:txBody>
          <a:bodyPr wrap="square" lIns="0" tIns="0" rIns="0" bIns="0" rtlCol="0" anchor="ctr"/>
          <a:lstStyle/>
          <a:p>
            <a:pPr>
              <a:lnSpc>
                <a:spcPct val="130000"/>
              </a:lnSpc>
            </a:pPr>
            <a:r>
              <a:rPr lang="en-US" sz="1009" b="1" dirty="0">
                <a:solidFill>
                  <a:srgbClr val="FFFFFF"/>
                </a:solidFill>
                <a:latin typeface="MiSans" pitchFamily="34" charset="0"/>
                <a:ea typeface="MiSans" pitchFamily="34" charset="-122"/>
                <a:cs typeface="MiSans" pitchFamily="34" charset="-120"/>
              </a:rPr>
              <a:t>Confiance: 87%</a:t>
            </a:r>
            <a:endParaRPr lang="en-US" sz="1600" dirty="0"/>
          </a:p>
        </p:txBody>
      </p:sp>
      <p:sp>
        <p:nvSpPr>
          <p:cNvPr id="16" name="Shape 14"/>
          <p:cNvSpPr/>
          <p:nvPr/>
        </p:nvSpPr>
        <p:spPr>
          <a:xfrm>
            <a:off x="8051942" y="1954565"/>
            <a:ext cx="3660804" cy="672883"/>
          </a:xfrm>
          <a:custGeom>
            <a:avLst/>
            <a:gdLst/>
            <a:ahLst/>
            <a:cxnLst/>
            <a:rect l="l" t="t" r="r" b="b"/>
            <a:pathLst>
              <a:path w="3660804" h="672883">
                <a:moveTo>
                  <a:pt x="96128" y="0"/>
                </a:moveTo>
                <a:lnTo>
                  <a:pt x="3564676" y="0"/>
                </a:lnTo>
                <a:cubicBezTo>
                  <a:pt x="3617766" y="0"/>
                  <a:pt x="3660804" y="43038"/>
                  <a:pt x="3660804" y="96128"/>
                </a:cubicBezTo>
                <a:lnTo>
                  <a:pt x="3660804" y="576755"/>
                </a:lnTo>
                <a:cubicBezTo>
                  <a:pt x="3660804" y="629845"/>
                  <a:pt x="3617766" y="672883"/>
                  <a:pt x="3564676" y="672883"/>
                </a:cubicBezTo>
                <a:lnTo>
                  <a:pt x="96128" y="672883"/>
                </a:lnTo>
                <a:cubicBezTo>
                  <a:pt x="43038" y="672883"/>
                  <a:pt x="0" y="629845"/>
                  <a:pt x="0" y="576755"/>
                </a:cubicBezTo>
                <a:lnTo>
                  <a:pt x="0" y="96128"/>
                </a:lnTo>
                <a:cubicBezTo>
                  <a:pt x="0" y="43074"/>
                  <a:pt x="43074" y="0"/>
                  <a:pt x="96128" y="0"/>
                </a:cubicBezTo>
                <a:close/>
              </a:path>
            </a:pathLst>
          </a:custGeom>
          <a:solidFill>
            <a:srgbClr val="10B981"/>
          </a:solidFill>
          <a:ln/>
        </p:spPr>
      </p:sp>
      <p:sp>
        <p:nvSpPr>
          <p:cNvPr id="17" name="Shape 15"/>
          <p:cNvSpPr/>
          <p:nvPr/>
        </p:nvSpPr>
        <p:spPr>
          <a:xfrm>
            <a:off x="9796481" y="2082733"/>
            <a:ext cx="168221" cy="192252"/>
          </a:xfrm>
          <a:custGeom>
            <a:avLst/>
            <a:gdLst/>
            <a:ahLst/>
            <a:cxnLst/>
            <a:rect l="l" t="t" r="r" b="b"/>
            <a:pathLst>
              <a:path w="168221" h="192252">
                <a:moveTo>
                  <a:pt x="163264" y="26322"/>
                </a:moveTo>
                <a:cubicBezTo>
                  <a:pt x="168634" y="30227"/>
                  <a:pt x="169835" y="37737"/>
                  <a:pt x="165930" y="43107"/>
                </a:cubicBezTo>
                <a:lnTo>
                  <a:pt x="69804" y="175280"/>
                </a:lnTo>
                <a:cubicBezTo>
                  <a:pt x="67739" y="178134"/>
                  <a:pt x="64547" y="179899"/>
                  <a:pt x="61018" y="180199"/>
                </a:cubicBezTo>
                <a:cubicBezTo>
                  <a:pt x="57488" y="180499"/>
                  <a:pt x="54071" y="179185"/>
                  <a:pt x="51593" y="176707"/>
                </a:cubicBezTo>
                <a:lnTo>
                  <a:pt x="3530" y="128644"/>
                </a:lnTo>
                <a:cubicBezTo>
                  <a:pt x="-1164" y="123950"/>
                  <a:pt x="-1164" y="116328"/>
                  <a:pt x="3530" y="111634"/>
                </a:cubicBezTo>
                <a:cubicBezTo>
                  <a:pt x="8223" y="106940"/>
                  <a:pt x="15846" y="106940"/>
                  <a:pt x="20539" y="111634"/>
                </a:cubicBezTo>
                <a:lnTo>
                  <a:pt x="58652" y="149747"/>
                </a:lnTo>
                <a:lnTo>
                  <a:pt x="146517" y="28950"/>
                </a:lnTo>
                <a:cubicBezTo>
                  <a:pt x="150422" y="23581"/>
                  <a:pt x="157932" y="22379"/>
                  <a:pt x="163302" y="26284"/>
                </a:cubicBezTo>
                <a:close/>
              </a:path>
            </a:pathLst>
          </a:custGeom>
          <a:solidFill>
            <a:srgbClr val="FFFFFF"/>
          </a:solidFill>
          <a:ln/>
        </p:spPr>
      </p:sp>
      <p:sp>
        <p:nvSpPr>
          <p:cNvPr id="18" name="Text 16"/>
          <p:cNvSpPr/>
          <p:nvPr/>
        </p:nvSpPr>
        <p:spPr>
          <a:xfrm>
            <a:off x="8148068" y="2307028"/>
            <a:ext cx="3468552" cy="192252"/>
          </a:xfrm>
          <a:prstGeom prst="rect">
            <a:avLst/>
          </a:prstGeom>
          <a:noFill/>
          <a:ln/>
        </p:spPr>
        <p:txBody>
          <a:bodyPr wrap="square" lIns="0" tIns="0" rIns="0" bIns="0" rtlCol="0" anchor="ctr"/>
          <a:lstStyle/>
          <a:p>
            <a:pPr algn="ctr">
              <a:lnSpc>
                <a:spcPct val="130000"/>
              </a:lnSpc>
            </a:pPr>
            <a:r>
              <a:rPr lang="en-US" sz="1009" b="1" dirty="0">
                <a:solidFill>
                  <a:srgbClr val="FFFFFF"/>
                </a:solidFill>
                <a:latin typeface="MiSans" pitchFamily="34" charset="0"/>
                <a:ea typeface="MiSans" pitchFamily="34" charset="-122"/>
                <a:cs typeface="MiSans" pitchFamily="34" charset="-120"/>
              </a:rPr>
              <a:t>Valider</a:t>
            </a:r>
            <a:endParaRPr lang="en-US" sz="1600" dirty="0"/>
          </a:p>
        </p:txBody>
      </p:sp>
      <p:sp>
        <p:nvSpPr>
          <p:cNvPr id="19" name="Shape 17"/>
          <p:cNvSpPr/>
          <p:nvPr/>
        </p:nvSpPr>
        <p:spPr>
          <a:xfrm>
            <a:off x="8051942" y="2723574"/>
            <a:ext cx="3660804" cy="672883"/>
          </a:xfrm>
          <a:custGeom>
            <a:avLst/>
            <a:gdLst/>
            <a:ahLst/>
            <a:cxnLst/>
            <a:rect l="l" t="t" r="r" b="b"/>
            <a:pathLst>
              <a:path w="3660804" h="672883">
                <a:moveTo>
                  <a:pt x="96128" y="0"/>
                </a:moveTo>
                <a:lnTo>
                  <a:pt x="3564676" y="0"/>
                </a:lnTo>
                <a:cubicBezTo>
                  <a:pt x="3617766" y="0"/>
                  <a:pt x="3660804" y="43038"/>
                  <a:pt x="3660804" y="96128"/>
                </a:cubicBezTo>
                <a:lnTo>
                  <a:pt x="3660804" y="576755"/>
                </a:lnTo>
                <a:cubicBezTo>
                  <a:pt x="3660804" y="629845"/>
                  <a:pt x="3617766" y="672883"/>
                  <a:pt x="3564676" y="672883"/>
                </a:cubicBezTo>
                <a:lnTo>
                  <a:pt x="96128" y="672883"/>
                </a:lnTo>
                <a:cubicBezTo>
                  <a:pt x="43038" y="672883"/>
                  <a:pt x="0" y="629845"/>
                  <a:pt x="0" y="576755"/>
                </a:cubicBezTo>
                <a:lnTo>
                  <a:pt x="0" y="96128"/>
                </a:lnTo>
                <a:cubicBezTo>
                  <a:pt x="0" y="43074"/>
                  <a:pt x="43074" y="0"/>
                  <a:pt x="96128" y="0"/>
                </a:cubicBezTo>
                <a:close/>
              </a:path>
            </a:pathLst>
          </a:custGeom>
          <a:solidFill>
            <a:srgbClr val="F97316"/>
          </a:solidFill>
          <a:ln/>
        </p:spPr>
      </p:sp>
      <p:sp>
        <p:nvSpPr>
          <p:cNvPr id="20" name="Shape 18"/>
          <p:cNvSpPr/>
          <p:nvPr/>
        </p:nvSpPr>
        <p:spPr>
          <a:xfrm>
            <a:off x="9784466" y="2851742"/>
            <a:ext cx="192252" cy="192252"/>
          </a:xfrm>
          <a:custGeom>
            <a:avLst/>
            <a:gdLst/>
            <a:ahLst/>
            <a:cxnLst/>
            <a:rect l="l" t="t" r="r" b="b"/>
            <a:pathLst>
              <a:path w="192252" h="192252">
                <a:moveTo>
                  <a:pt x="177082" y="8148"/>
                </a:moveTo>
                <a:cubicBezTo>
                  <a:pt x="168859" y="-75"/>
                  <a:pt x="155567" y="-75"/>
                  <a:pt x="147343" y="8148"/>
                </a:cubicBezTo>
                <a:lnTo>
                  <a:pt x="138181" y="17310"/>
                </a:lnTo>
                <a:lnTo>
                  <a:pt x="174942" y="54071"/>
                </a:lnTo>
                <a:lnTo>
                  <a:pt x="184104" y="44909"/>
                </a:lnTo>
                <a:cubicBezTo>
                  <a:pt x="192327" y="36686"/>
                  <a:pt x="192327" y="23393"/>
                  <a:pt x="184104" y="15170"/>
                </a:cubicBezTo>
                <a:lnTo>
                  <a:pt x="177082" y="8148"/>
                </a:lnTo>
                <a:close/>
                <a:moveTo>
                  <a:pt x="64735" y="90757"/>
                </a:moveTo>
                <a:cubicBezTo>
                  <a:pt x="62444" y="93047"/>
                  <a:pt x="60680" y="95863"/>
                  <a:pt x="59666" y="98980"/>
                </a:cubicBezTo>
                <a:lnTo>
                  <a:pt x="48551" y="132324"/>
                </a:lnTo>
                <a:cubicBezTo>
                  <a:pt x="47462" y="135553"/>
                  <a:pt x="48326" y="139120"/>
                  <a:pt x="50729" y="141561"/>
                </a:cubicBezTo>
                <a:cubicBezTo>
                  <a:pt x="53132" y="144001"/>
                  <a:pt x="56699" y="144828"/>
                  <a:pt x="59966" y="143739"/>
                </a:cubicBezTo>
                <a:lnTo>
                  <a:pt x="93310" y="132624"/>
                </a:lnTo>
                <a:cubicBezTo>
                  <a:pt x="96389" y="131610"/>
                  <a:pt x="99205" y="129845"/>
                  <a:pt x="101533" y="127555"/>
                </a:cubicBezTo>
                <a:lnTo>
                  <a:pt x="162213" y="66800"/>
                </a:lnTo>
                <a:lnTo>
                  <a:pt x="125452" y="30039"/>
                </a:lnTo>
                <a:lnTo>
                  <a:pt x="64735" y="90757"/>
                </a:lnTo>
                <a:close/>
                <a:moveTo>
                  <a:pt x="36047" y="24032"/>
                </a:moveTo>
                <a:cubicBezTo>
                  <a:pt x="16146" y="24032"/>
                  <a:pt x="0" y="40178"/>
                  <a:pt x="0" y="60079"/>
                </a:cubicBezTo>
                <a:lnTo>
                  <a:pt x="0" y="156205"/>
                </a:lnTo>
                <a:cubicBezTo>
                  <a:pt x="0" y="176106"/>
                  <a:pt x="16146" y="192252"/>
                  <a:pt x="36047" y="192252"/>
                </a:cubicBezTo>
                <a:lnTo>
                  <a:pt x="132173" y="192252"/>
                </a:lnTo>
                <a:cubicBezTo>
                  <a:pt x="152075" y="192252"/>
                  <a:pt x="168221" y="176106"/>
                  <a:pt x="168221" y="156205"/>
                </a:cubicBezTo>
                <a:lnTo>
                  <a:pt x="168221" y="120158"/>
                </a:lnTo>
                <a:cubicBezTo>
                  <a:pt x="168221" y="113511"/>
                  <a:pt x="162851" y="108142"/>
                  <a:pt x="156205" y="108142"/>
                </a:cubicBezTo>
                <a:cubicBezTo>
                  <a:pt x="149559" y="108142"/>
                  <a:pt x="144189" y="113511"/>
                  <a:pt x="144189" y="120158"/>
                </a:cubicBezTo>
                <a:lnTo>
                  <a:pt x="144189" y="156205"/>
                </a:lnTo>
                <a:cubicBezTo>
                  <a:pt x="144189" y="162851"/>
                  <a:pt x="138820" y="168221"/>
                  <a:pt x="132173" y="168221"/>
                </a:cubicBezTo>
                <a:lnTo>
                  <a:pt x="36047" y="168221"/>
                </a:lnTo>
                <a:cubicBezTo>
                  <a:pt x="29401" y="168221"/>
                  <a:pt x="24032" y="162851"/>
                  <a:pt x="24032" y="156205"/>
                </a:cubicBezTo>
                <a:lnTo>
                  <a:pt x="24032" y="60079"/>
                </a:lnTo>
                <a:cubicBezTo>
                  <a:pt x="24032" y="53433"/>
                  <a:pt x="29401" y="48063"/>
                  <a:pt x="36047" y="48063"/>
                </a:cubicBezTo>
                <a:lnTo>
                  <a:pt x="72095" y="48063"/>
                </a:lnTo>
                <a:cubicBezTo>
                  <a:pt x="78741" y="48063"/>
                  <a:pt x="84110" y="42694"/>
                  <a:pt x="84110" y="36047"/>
                </a:cubicBezTo>
                <a:cubicBezTo>
                  <a:pt x="84110" y="29401"/>
                  <a:pt x="78741" y="24032"/>
                  <a:pt x="72095" y="24032"/>
                </a:cubicBezTo>
                <a:lnTo>
                  <a:pt x="36047" y="24032"/>
                </a:lnTo>
                <a:close/>
              </a:path>
            </a:pathLst>
          </a:custGeom>
          <a:solidFill>
            <a:srgbClr val="FFFFFF"/>
          </a:solidFill>
          <a:ln/>
        </p:spPr>
      </p:sp>
      <p:sp>
        <p:nvSpPr>
          <p:cNvPr id="21" name="Text 19"/>
          <p:cNvSpPr/>
          <p:nvPr/>
        </p:nvSpPr>
        <p:spPr>
          <a:xfrm>
            <a:off x="8148068" y="3076037"/>
            <a:ext cx="3468552" cy="192252"/>
          </a:xfrm>
          <a:prstGeom prst="rect">
            <a:avLst/>
          </a:prstGeom>
          <a:noFill/>
          <a:ln/>
        </p:spPr>
        <p:txBody>
          <a:bodyPr wrap="square" lIns="0" tIns="0" rIns="0" bIns="0" rtlCol="0" anchor="ctr"/>
          <a:lstStyle/>
          <a:p>
            <a:pPr algn="ctr">
              <a:lnSpc>
                <a:spcPct val="130000"/>
              </a:lnSpc>
            </a:pPr>
            <a:r>
              <a:rPr lang="en-US" sz="1009" b="1" dirty="0">
                <a:solidFill>
                  <a:srgbClr val="FFFFFF"/>
                </a:solidFill>
                <a:latin typeface="MiSans" pitchFamily="34" charset="0"/>
                <a:ea typeface="MiSans" pitchFamily="34" charset="-122"/>
                <a:cs typeface="MiSans" pitchFamily="34" charset="-120"/>
              </a:rPr>
              <a:t>Corriger</a:t>
            </a:r>
            <a:endParaRPr lang="en-US" sz="1600" dirty="0"/>
          </a:p>
        </p:txBody>
      </p:sp>
      <p:sp>
        <p:nvSpPr>
          <p:cNvPr id="22" name="Shape 20"/>
          <p:cNvSpPr/>
          <p:nvPr/>
        </p:nvSpPr>
        <p:spPr>
          <a:xfrm>
            <a:off x="8059952" y="3500594"/>
            <a:ext cx="3644783" cy="688904"/>
          </a:xfrm>
          <a:custGeom>
            <a:avLst/>
            <a:gdLst/>
            <a:ahLst/>
            <a:cxnLst/>
            <a:rect l="l" t="t" r="r" b="b"/>
            <a:pathLst>
              <a:path w="3644783" h="688904">
                <a:moveTo>
                  <a:pt x="96123" y="0"/>
                </a:moveTo>
                <a:lnTo>
                  <a:pt x="3548660" y="0"/>
                </a:lnTo>
                <a:cubicBezTo>
                  <a:pt x="3601748" y="0"/>
                  <a:pt x="3644783" y="43036"/>
                  <a:pt x="3644783" y="96123"/>
                </a:cubicBezTo>
                <a:lnTo>
                  <a:pt x="3644783" y="592781"/>
                </a:lnTo>
                <a:cubicBezTo>
                  <a:pt x="3644783" y="645868"/>
                  <a:pt x="3601748" y="688904"/>
                  <a:pt x="3548660" y="688904"/>
                </a:cubicBezTo>
                <a:lnTo>
                  <a:pt x="96123" y="688904"/>
                </a:lnTo>
                <a:cubicBezTo>
                  <a:pt x="43036" y="688904"/>
                  <a:pt x="0" y="645868"/>
                  <a:pt x="0" y="592781"/>
                </a:cubicBezTo>
                <a:lnTo>
                  <a:pt x="0" y="96123"/>
                </a:lnTo>
                <a:cubicBezTo>
                  <a:pt x="0" y="43071"/>
                  <a:pt x="43071" y="0"/>
                  <a:pt x="96123" y="0"/>
                </a:cubicBezTo>
                <a:close/>
              </a:path>
            </a:pathLst>
          </a:custGeom>
          <a:solidFill>
            <a:srgbClr val="FFFFFF"/>
          </a:solidFill>
          <a:ln w="25400">
            <a:solidFill>
              <a:srgbClr val="D1D5DB"/>
            </a:solidFill>
            <a:prstDash val="solid"/>
          </a:ln>
        </p:spPr>
      </p:sp>
      <p:sp>
        <p:nvSpPr>
          <p:cNvPr id="23" name="Text 21"/>
          <p:cNvSpPr/>
          <p:nvPr/>
        </p:nvSpPr>
        <p:spPr>
          <a:xfrm>
            <a:off x="8164089" y="3604731"/>
            <a:ext cx="3492583" cy="160210"/>
          </a:xfrm>
          <a:prstGeom prst="rect">
            <a:avLst/>
          </a:prstGeom>
          <a:noFill/>
          <a:ln/>
        </p:spPr>
        <p:txBody>
          <a:bodyPr wrap="square" lIns="0" tIns="0" rIns="0" bIns="0" rtlCol="0" anchor="ctr"/>
          <a:lstStyle/>
          <a:p>
            <a:pPr>
              <a:lnSpc>
                <a:spcPct val="120000"/>
              </a:lnSpc>
            </a:pPr>
            <a:r>
              <a:rPr lang="en-US" sz="883" dirty="0">
                <a:solidFill>
                  <a:srgbClr val="6B7280"/>
                </a:solidFill>
                <a:latin typeface="MiSans" pitchFamily="34" charset="0"/>
                <a:ea typeface="MiSans" pitchFamily="34" charset="-122"/>
                <a:cs typeface="MiSans" pitchFamily="34" charset="-120"/>
              </a:rPr>
              <a:t>Dernières pièces:</a:t>
            </a:r>
            <a:endParaRPr lang="en-US" sz="1600" dirty="0"/>
          </a:p>
        </p:txBody>
      </p:sp>
      <p:sp>
        <p:nvSpPr>
          <p:cNvPr id="24" name="Shape 22"/>
          <p:cNvSpPr/>
          <p:nvPr/>
        </p:nvSpPr>
        <p:spPr>
          <a:xfrm>
            <a:off x="8164089" y="3829025"/>
            <a:ext cx="256336" cy="256336"/>
          </a:xfrm>
          <a:custGeom>
            <a:avLst/>
            <a:gdLst/>
            <a:ahLst/>
            <a:cxnLst/>
            <a:rect l="l" t="t" r="r" b="b"/>
            <a:pathLst>
              <a:path w="256336" h="256336">
                <a:moveTo>
                  <a:pt x="64084" y="0"/>
                </a:moveTo>
                <a:lnTo>
                  <a:pt x="192252" y="0"/>
                </a:lnTo>
                <a:cubicBezTo>
                  <a:pt x="227645" y="0"/>
                  <a:pt x="256336" y="28691"/>
                  <a:pt x="256336" y="64084"/>
                </a:cubicBezTo>
                <a:lnTo>
                  <a:pt x="256336" y="192252"/>
                </a:lnTo>
                <a:cubicBezTo>
                  <a:pt x="256336" y="227645"/>
                  <a:pt x="227645" y="256336"/>
                  <a:pt x="192252" y="256336"/>
                </a:cubicBezTo>
                <a:lnTo>
                  <a:pt x="64084" y="256336"/>
                </a:lnTo>
                <a:cubicBezTo>
                  <a:pt x="28691" y="256336"/>
                  <a:pt x="0" y="227645"/>
                  <a:pt x="0" y="192252"/>
                </a:cubicBezTo>
                <a:lnTo>
                  <a:pt x="0" y="64084"/>
                </a:lnTo>
                <a:cubicBezTo>
                  <a:pt x="0" y="28715"/>
                  <a:pt x="28715" y="0"/>
                  <a:pt x="64084" y="0"/>
                </a:cubicBezTo>
                <a:close/>
              </a:path>
            </a:pathLst>
          </a:custGeom>
          <a:solidFill>
            <a:srgbClr val="10B981"/>
          </a:solidFill>
          <a:ln/>
        </p:spPr>
      </p:sp>
      <p:sp>
        <p:nvSpPr>
          <p:cNvPr id="25" name="Shape 23"/>
          <p:cNvSpPr/>
          <p:nvPr/>
        </p:nvSpPr>
        <p:spPr>
          <a:xfrm>
            <a:off x="8484510" y="3829025"/>
            <a:ext cx="256336" cy="256336"/>
          </a:xfrm>
          <a:custGeom>
            <a:avLst/>
            <a:gdLst/>
            <a:ahLst/>
            <a:cxnLst/>
            <a:rect l="l" t="t" r="r" b="b"/>
            <a:pathLst>
              <a:path w="256336" h="256336">
                <a:moveTo>
                  <a:pt x="64084" y="0"/>
                </a:moveTo>
                <a:lnTo>
                  <a:pt x="192252" y="0"/>
                </a:lnTo>
                <a:cubicBezTo>
                  <a:pt x="227645" y="0"/>
                  <a:pt x="256336" y="28691"/>
                  <a:pt x="256336" y="64084"/>
                </a:cubicBezTo>
                <a:lnTo>
                  <a:pt x="256336" y="192252"/>
                </a:lnTo>
                <a:cubicBezTo>
                  <a:pt x="256336" y="227645"/>
                  <a:pt x="227645" y="256336"/>
                  <a:pt x="192252" y="256336"/>
                </a:cubicBezTo>
                <a:lnTo>
                  <a:pt x="64084" y="256336"/>
                </a:lnTo>
                <a:cubicBezTo>
                  <a:pt x="28691" y="256336"/>
                  <a:pt x="0" y="227645"/>
                  <a:pt x="0" y="192252"/>
                </a:cubicBezTo>
                <a:lnTo>
                  <a:pt x="0" y="64084"/>
                </a:lnTo>
                <a:cubicBezTo>
                  <a:pt x="0" y="28715"/>
                  <a:pt x="28715" y="0"/>
                  <a:pt x="64084" y="0"/>
                </a:cubicBezTo>
                <a:close/>
              </a:path>
            </a:pathLst>
          </a:custGeom>
          <a:solidFill>
            <a:srgbClr val="10B981"/>
          </a:solidFill>
          <a:ln/>
        </p:spPr>
      </p:sp>
      <p:sp>
        <p:nvSpPr>
          <p:cNvPr id="26" name="Shape 24"/>
          <p:cNvSpPr/>
          <p:nvPr/>
        </p:nvSpPr>
        <p:spPr>
          <a:xfrm>
            <a:off x="8804930" y="3829025"/>
            <a:ext cx="256336" cy="256336"/>
          </a:xfrm>
          <a:custGeom>
            <a:avLst/>
            <a:gdLst/>
            <a:ahLst/>
            <a:cxnLst/>
            <a:rect l="l" t="t" r="r" b="b"/>
            <a:pathLst>
              <a:path w="256336" h="256336">
                <a:moveTo>
                  <a:pt x="64084" y="0"/>
                </a:moveTo>
                <a:lnTo>
                  <a:pt x="192252" y="0"/>
                </a:lnTo>
                <a:cubicBezTo>
                  <a:pt x="227645" y="0"/>
                  <a:pt x="256336" y="28691"/>
                  <a:pt x="256336" y="64084"/>
                </a:cubicBezTo>
                <a:lnTo>
                  <a:pt x="256336" y="192252"/>
                </a:lnTo>
                <a:cubicBezTo>
                  <a:pt x="256336" y="227645"/>
                  <a:pt x="227645" y="256336"/>
                  <a:pt x="192252" y="256336"/>
                </a:cubicBezTo>
                <a:lnTo>
                  <a:pt x="64084" y="256336"/>
                </a:lnTo>
                <a:cubicBezTo>
                  <a:pt x="28691" y="256336"/>
                  <a:pt x="0" y="227645"/>
                  <a:pt x="0" y="192252"/>
                </a:cubicBezTo>
                <a:lnTo>
                  <a:pt x="0" y="64084"/>
                </a:lnTo>
                <a:cubicBezTo>
                  <a:pt x="0" y="28715"/>
                  <a:pt x="28715" y="0"/>
                  <a:pt x="64084" y="0"/>
                </a:cubicBezTo>
                <a:close/>
              </a:path>
            </a:pathLst>
          </a:custGeom>
          <a:solidFill>
            <a:srgbClr val="F97316"/>
          </a:solidFill>
          <a:ln/>
        </p:spPr>
      </p:sp>
      <p:sp>
        <p:nvSpPr>
          <p:cNvPr id="27" name="Shape 25"/>
          <p:cNvSpPr/>
          <p:nvPr/>
        </p:nvSpPr>
        <p:spPr>
          <a:xfrm>
            <a:off x="9125351" y="3829025"/>
            <a:ext cx="256336" cy="256336"/>
          </a:xfrm>
          <a:custGeom>
            <a:avLst/>
            <a:gdLst/>
            <a:ahLst/>
            <a:cxnLst/>
            <a:rect l="l" t="t" r="r" b="b"/>
            <a:pathLst>
              <a:path w="256336" h="256336">
                <a:moveTo>
                  <a:pt x="64084" y="0"/>
                </a:moveTo>
                <a:lnTo>
                  <a:pt x="192252" y="0"/>
                </a:lnTo>
                <a:cubicBezTo>
                  <a:pt x="227645" y="0"/>
                  <a:pt x="256336" y="28691"/>
                  <a:pt x="256336" y="64084"/>
                </a:cubicBezTo>
                <a:lnTo>
                  <a:pt x="256336" y="192252"/>
                </a:lnTo>
                <a:cubicBezTo>
                  <a:pt x="256336" y="227645"/>
                  <a:pt x="227645" y="256336"/>
                  <a:pt x="192252" y="256336"/>
                </a:cubicBezTo>
                <a:lnTo>
                  <a:pt x="64084" y="256336"/>
                </a:lnTo>
                <a:cubicBezTo>
                  <a:pt x="28691" y="256336"/>
                  <a:pt x="0" y="227645"/>
                  <a:pt x="0" y="192252"/>
                </a:cubicBezTo>
                <a:lnTo>
                  <a:pt x="0" y="64084"/>
                </a:lnTo>
                <a:cubicBezTo>
                  <a:pt x="0" y="28715"/>
                  <a:pt x="28715" y="0"/>
                  <a:pt x="64084" y="0"/>
                </a:cubicBezTo>
                <a:close/>
              </a:path>
            </a:pathLst>
          </a:custGeom>
          <a:solidFill>
            <a:srgbClr val="10B981"/>
          </a:solidFill>
          <a:ln/>
        </p:spPr>
      </p:sp>
      <p:sp>
        <p:nvSpPr>
          <p:cNvPr id="28" name="Shape 26"/>
          <p:cNvSpPr/>
          <p:nvPr/>
        </p:nvSpPr>
        <p:spPr>
          <a:xfrm>
            <a:off x="9445771" y="3829025"/>
            <a:ext cx="256336" cy="256336"/>
          </a:xfrm>
          <a:custGeom>
            <a:avLst/>
            <a:gdLst/>
            <a:ahLst/>
            <a:cxnLst/>
            <a:rect l="l" t="t" r="r" b="b"/>
            <a:pathLst>
              <a:path w="256336" h="256336">
                <a:moveTo>
                  <a:pt x="64084" y="0"/>
                </a:moveTo>
                <a:lnTo>
                  <a:pt x="192252" y="0"/>
                </a:lnTo>
                <a:cubicBezTo>
                  <a:pt x="227645" y="0"/>
                  <a:pt x="256336" y="28691"/>
                  <a:pt x="256336" y="64084"/>
                </a:cubicBezTo>
                <a:lnTo>
                  <a:pt x="256336" y="192252"/>
                </a:lnTo>
                <a:cubicBezTo>
                  <a:pt x="256336" y="227645"/>
                  <a:pt x="227645" y="256336"/>
                  <a:pt x="192252" y="256336"/>
                </a:cubicBezTo>
                <a:lnTo>
                  <a:pt x="64084" y="256336"/>
                </a:lnTo>
                <a:cubicBezTo>
                  <a:pt x="28691" y="256336"/>
                  <a:pt x="0" y="227645"/>
                  <a:pt x="0" y="192252"/>
                </a:cubicBezTo>
                <a:lnTo>
                  <a:pt x="0" y="64084"/>
                </a:lnTo>
                <a:cubicBezTo>
                  <a:pt x="0" y="28715"/>
                  <a:pt x="28715" y="0"/>
                  <a:pt x="64084" y="0"/>
                </a:cubicBezTo>
                <a:close/>
              </a:path>
            </a:pathLst>
          </a:custGeom>
          <a:solidFill>
            <a:srgbClr val="10B981"/>
          </a:solidFill>
          <a:ln/>
        </p:spPr>
      </p:sp>
      <p:sp>
        <p:nvSpPr>
          <p:cNvPr id="29" name="Shape 27"/>
          <p:cNvSpPr/>
          <p:nvPr/>
        </p:nvSpPr>
        <p:spPr>
          <a:xfrm>
            <a:off x="320420" y="4517929"/>
            <a:ext cx="11551159" cy="2339070"/>
          </a:xfrm>
          <a:custGeom>
            <a:avLst/>
            <a:gdLst/>
            <a:ahLst/>
            <a:cxnLst/>
            <a:rect l="l" t="t" r="r" b="b"/>
            <a:pathLst>
              <a:path w="11551159" h="2339070">
                <a:moveTo>
                  <a:pt x="128158" y="0"/>
                </a:moveTo>
                <a:lnTo>
                  <a:pt x="11423001" y="0"/>
                </a:lnTo>
                <a:cubicBezTo>
                  <a:pt x="11493781" y="0"/>
                  <a:pt x="11551159" y="57378"/>
                  <a:pt x="11551159" y="128158"/>
                </a:cubicBezTo>
                <a:lnTo>
                  <a:pt x="11551159" y="2210912"/>
                </a:lnTo>
                <a:cubicBezTo>
                  <a:pt x="11551159" y="2281692"/>
                  <a:pt x="11493781" y="2339070"/>
                  <a:pt x="11423001" y="2339070"/>
                </a:cubicBezTo>
                <a:lnTo>
                  <a:pt x="128158" y="2339070"/>
                </a:lnTo>
                <a:cubicBezTo>
                  <a:pt x="57378" y="2339070"/>
                  <a:pt x="0" y="2281692"/>
                  <a:pt x="0" y="2210912"/>
                </a:cubicBezTo>
                <a:lnTo>
                  <a:pt x="0" y="128158"/>
                </a:lnTo>
                <a:cubicBezTo>
                  <a:pt x="0" y="57426"/>
                  <a:pt x="57426" y="0"/>
                  <a:pt x="128158" y="0"/>
                </a:cubicBezTo>
                <a:close/>
              </a:path>
            </a:pathLst>
          </a:custGeom>
          <a:solidFill>
            <a:srgbClr val="F3F4F6"/>
          </a:solidFill>
          <a:ln/>
        </p:spPr>
      </p:sp>
      <p:sp>
        <p:nvSpPr>
          <p:cNvPr id="30" name="Shape 28"/>
          <p:cNvSpPr/>
          <p:nvPr/>
        </p:nvSpPr>
        <p:spPr>
          <a:xfrm>
            <a:off x="480631" y="4678139"/>
            <a:ext cx="320420" cy="320420"/>
          </a:xfrm>
          <a:custGeom>
            <a:avLst/>
            <a:gdLst/>
            <a:ahLst/>
            <a:cxnLst/>
            <a:rect l="l" t="t" r="r" b="b"/>
            <a:pathLst>
              <a:path w="320420" h="320420">
                <a:moveTo>
                  <a:pt x="96126" y="0"/>
                </a:moveTo>
                <a:lnTo>
                  <a:pt x="224294" y="0"/>
                </a:lnTo>
                <a:cubicBezTo>
                  <a:pt x="277383" y="0"/>
                  <a:pt x="320420" y="43037"/>
                  <a:pt x="320420" y="96126"/>
                </a:cubicBezTo>
                <a:lnTo>
                  <a:pt x="320420" y="224294"/>
                </a:lnTo>
                <a:cubicBezTo>
                  <a:pt x="320420" y="277383"/>
                  <a:pt x="277383" y="320420"/>
                  <a:pt x="224294" y="320420"/>
                </a:cubicBezTo>
                <a:lnTo>
                  <a:pt x="96126" y="320420"/>
                </a:lnTo>
                <a:cubicBezTo>
                  <a:pt x="43037" y="320420"/>
                  <a:pt x="0" y="277383"/>
                  <a:pt x="0" y="224294"/>
                </a:cubicBezTo>
                <a:lnTo>
                  <a:pt x="0" y="96126"/>
                </a:lnTo>
                <a:cubicBezTo>
                  <a:pt x="0" y="43073"/>
                  <a:pt x="43073" y="0"/>
                  <a:pt x="96126" y="0"/>
                </a:cubicBezTo>
                <a:close/>
              </a:path>
            </a:pathLst>
          </a:custGeom>
          <a:solidFill>
            <a:srgbClr val="3B82F6"/>
          </a:solidFill>
          <a:ln/>
        </p:spPr>
      </p:sp>
      <p:sp>
        <p:nvSpPr>
          <p:cNvPr id="31" name="Shape 29"/>
          <p:cNvSpPr/>
          <p:nvPr/>
        </p:nvSpPr>
        <p:spPr>
          <a:xfrm>
            <a:off x="584767" y="4774265"/>
            <a:ext cx="112147" cy="128168"/>
          </a:xfrm>
          <a:custGeom>
            <a:avLst/>
            <a:gdLst/>
            <a:ahLst/>
            <a:cxnLst/>
            <a:rect l="l" t="t" r="r" b="b"/>
            <a:pathLst>
              <a:path w="112147" h="128168">
                <a:moveTo>
                  <a:pt x="56074" y="62081"/>
                </a:moveTo>
                <a:cubicBezTo>
                  <a:pt x="39494" y="62081"/>
                  <a:pt x="26034" y="48621"/>
                  <a:pt x="26034" y="32042"/>
                </a:cubicBezTo>
                <a:cubicBezTo>
                  <a:pt x="26034" y="15463"/>
                  <a:pt x="39494" y="2003"/>
                  <a:pt x="56074" y="2003"/>
                </a:cubicBezTo>
                <a:cubicBezTo>
                  <a:pt x="72653" y="2003"/>
                  <a:pt x="86113" y="15463"/>
                  <a:pt x="86113" y="32042"/>
                </a:cubicBezTo>
                <a:cubicBezTo>
                  <a:pt x="86113" y="48621"/>
                  <a:pt x="72653" y="62081"/>
                  <a:pt x="56074" y="62081"/>
                </a:cubicBezTo>
                <a:close/>
                <a:moveTo>
                  <a:pt x="48439" y="76100"/>
                </a:moveTo>
                <a:lnTo>
                  <a:pt x="63709" y="76100"/>
                </a:lnTo>
                <a:cubicBezTo>
                  <a:pt x="66137" y="76100"/>
                  <a:pt x="68089" y="78052"/>
                  <a:pt x="68089" y="80481"/>
                </a:cubicBezTo>
                <a:cubicBezTo>
                  <a:pt x="68089" y="81532"/>
                  <a:pt x="67714" y="82533"/>
                  <a:pt x="67038" y="83334"/>
                </a:cubicBezTo>
                <a:lnTo>
                  <a:pt x="60179" y="91345"/>
                </a:lnTo>
                <a:lnTo>
                  <a:pt x="67939" y="120158"/>
                </a:lnTo>
                <a:lnTo>
                  <a:pt x="68089" y="120158"/>
                </a:lnTo>
                <a:lnTo>
                  <a:pt x="76751" y="85487"/>
                </a:lnTo>
                <a:cubicBezTo>
                  <a:pt x="77301" y="83309"/>
                  <a:pt x="79529" y="81983"/>
                  <a:pt x="81632" y="82784"/>
                </a:cubicBezTo>
                <a:cubicBezTo>
                  <a:pt x="97127" y="88691"/>
                  <a:pt x="108142" y="103711"/>
                  <a:pt x="108142" y="121284"/>
                </a:cubicBezTo>
                <a:cubicBezTo>
                  <a:pt x="108142" y="125064"/>
                  <a:pt x="105063" y="128143"/>
                  <a:pt x="101283" y="128143"/>
                </a:cubicBezTo>
                <a:lnTo>
                  <a:pt x="10864" y="128168"/>
                </a:lnTo>
                <a:cubicBezTo>
                  <a:pt x="7084" y="128168"/>
                  <a:pt x="4005" y="125089"/>
                  <a:pt x="4005" y="121309"/>
                </a:cubicBezTo>
                <a:cubicBezTo>
                  <a:pt x="4005" y="103736"/>
                  <a:pt x="15020" y="88716"/>
                  <a:pt x="30515" y="82809"/>
                </a:cubicBezTo>
                <a:cubicBezTo>
                  <a:pt x="32618" y="82008"/>
                  <a:pt x="34846" y="83334"/>
                  <a:pt x="35396" y="85512"/>
                </a:cubicBezTo>
                <a:lnTo>
                  <a:pt x="44058" y="120183"/>
                </a:lnTo>
                <a:lnTo>
                  <a:pt x="44208" y="120183"/>
                </a:lnTo>
                <a:lnTo>
                  <a:pt x="51968" y="91370"/>
                </a:lnTo>
                <a:lnTo>
                  <a:pt x="45109" y="83359"/>
                </a:lnTo>
                <a:cubicBezTo>
                  <a:pt x="44433" y="82558"/>
                  <a:pt x="44058" y="81557"/>
                  <a:pt x="44058" y="80506"/>
                </a:cubicBezTo>
                <a:cubicBezTo>
                  <a:pt x="44058" y="78077"/>
                  <a:pt x="46010" y="76125"/>
                  <a:pt x="48439" y="76125"/>
                </a:cubicBezTo>
                <a:close/>
              </a:path>
            </a:pathLst>
          </a:custGeom>
          <a:solidFill>
            <a:srgbClr val="FFFFFF"/>
          </a:solidFill>
          <a:ln/>
        </p:spPr>
      </p:sp>
      <p:sp>
        <p:nvSpPr>
          <p:cNvPr id="32" name="Text 30"/>
          <p:cNvSpPr/>
          <p:nvPr/>
        </p:nvSpPr>
        <p:spPr>
          <a:xfrm>
            <a:off x="897177" y="4726202"/>
            <a:ext cx="2242943" cy="224294"/>
          </a:xfrm>
          <a:prstGeom prst="rect">
            <a:avLst/>
          </a:prstGeom>
          <a:noFill/>
          <a:ln/>
        </p:spPr>
        <p:txBody>
          <a:bodyPr wrap="square" lIns="0" tIns="0" rIns="0" bIns="0" rtlCol="0" anchor="ctr"/>
          <a:lstStyle/>
          <a:p>
            <a:pPr>
              <a:lnSpc>
                <a:spcPct val="120000"/>
              </a:lnSpc>
            </a:pPr>
            <a:r>
              <a:rPr lang="en-US" sz="1262" b="1" dirty="0">
                <a:solidFill>
                  <a:srgbClr val="1E3A8A"/>
                </a:solidFill>
                <a:latin typeface="Noto Sans SC" pitchFamily="34" charset="0"/>
                <a:ea typeface="Noto Sans SC" pitchFamily="34" charset="-122"/>
                <a:cs typeface="Noto Sans SC" pitchFamily="34" charset="-120"/>
              </a:rPr>
              <a:t>Page Marc (Pilotage Qualité)</a:t>
            </a:r>
            <a:endParaRPr lang="en-US" sz="1600" dirty="0"/>
          </a:p>
        </p:txBody>
      </p:sp>
      <p:sp>
        <p:nvSpPr>
          <p:cNvPr id="33" name="Shape 31"/>
          <p:cNvSpPr/>
          <p:nvPr/>
        </p:nvSpPr>
        <p:spPr>
          <a:xfrm>
            <a:off x="3156768" y="4726202"/>
            <a:ext cx="1009325" cy="224294"/>
          </a:xfrm>
          <a:custGeom>
            <a:avLst/>
            <a:gdLst/>
            <a:ahLst/>
            <a:cxnLst/>
            <a:rect l="l" t="t" r="r" b="b"/>
            <a:pathLst>
              <a:path w="1009325" h="224294">
                <a:moveTo>
                  <a:pt x="112147" y="0"/>
                </a:moveTo>
                <a:lnTo>
                  <a:pt x="897177" y="0"/>
                </a:lnTo>
                <a:cubicBezTo>
                  <a:pt x="959115" y="0"/>
                  <a:pt x="1009325" y="50210"/>
                  <a:pt x="1009325" y="112147"/>
                </a:cubicBezTo>
                <a:lnTo>
                  <a:pt x="1009325" y="112147"/>
                </a:lnTo>
                <a:cubicBezTo>
                  <a:pt x="1009325" y="174084"/>
                  <a:pt x="959115" y="224294"/>
                  <a:pt x="897177" y="224294"/>
                </a:cubicBezTo>
                <a:lnTo>
                  <a:pt x="112147" y="224294"/>
                </a:lnTo>
                <a:cubicBezTo>
                  <a:pt x="50251" y="224294"/>
                  <a:pt x="0" y="174043"/>
                  <a:pt x="0" y="112147"/>
                </a:cubicBezTo>
                <a:lnTo>
                  <a:pt x="0" y="112147"/>
                </a:lnTo>
                <a:cubicBezTo>
                  <a:pt x="0" y="50251"/>
                  <a:pt x="50251" y="0"/>
                  <a:pt x="112147" y="0"/>
                </a:cubicBezTo>
                <a:close/>
              </a:path>
            </a:pathLst>
          </a:custGeom>
          <a:solidFill>
            <a:srgbClr val="3B82F6"/>
          </a:solidFill>
          <a:ln/>
        </p:spPr>
      </p:sp>
      <p:sp>
        <p:nvSpPr>
          <p:cNvPr id="34" name="Text 32"/>
          <p:cNvSpPr/>
          <p:nvPr/>
        </p:nvSpPr>
        <p:spPr>
          <a:xfrm>
            <a:off x="3156768" y="4726202"/>
            <a:ext cx="1065398" cy="224294"/>
          </a:xfrm>
          <a:prstGeom prst="rect">
            <a:avLst/>
          </a:prstGeom>
          <a:noFill/>
          <a:ln/>
        </p:spPr>
        <p:txBody>
          <a:bodyPr wrap="square" lIns="96126" tIns="32042" rIns="96126" bIns="32042" rtlCol="0" anchor="ctr"/>
          <a:lstStyle/>
          <a:p>
            <a:pPr>
              <a:lnSpc>
                <a:spcPct val="120000"/>
              </a:lnSpc>
            </a:pPr>
            <a:r>
              <a:rPr lang="en-US" sz="883" b="1" dirty="0">
                <a:solidFill>
                  <a:srgbClr val="FFFFFF"/>
                </a:solidFill>
                <a:latin typeface="MiSans" pitchFamily="34" charset="0"/>
                <a:ea typeface="MiSans" pitchFamily="34" charset="-122"/>
                <a:cs typeface="MiSans" pitchFamily="34" charset="-120"/>
              </a:rPr>
              <a:t>MANAGEMENT</a:t>
            </a:r>
            <a:endParaRPr lang="en-US" sz="1600" dirty="0"/>
          </a:p>
        </p:txBody>
      </p:sp>
      <p:sp>
        <p:nvSpPr>
          <p:cNvPr id="35" name="Shape 33"/>
          <p:cNvSpPr/>
          <p:nvPr/>
        </p:nvSpPr>
        <p:spPr>
          <a:xfrm>
            <a:off x="488641" y="5134739"/>
            <a:ext cx="2715564" cy="817072"/>
          </a:xfrm>
          <a:custGeom>
            <a:avLst/>
            <a:gdLst/>
            <a:ahLst/>
            <a:cxnLst/>
            <a:rect l="l" t="t" r="r" b="b"/>
            <a:pathLst>
              <a:path w="2715564" h="817072">
                <a:moveTo>
                  <a:pt x="96129" y="0"/>
                </a:moveTo>
                <a:lnTo>
                  <a:pt x="2619435" y="0"/>
                </a:lnTo>
                <a:cubicBezTo>
                  <a:pt x="2672526" y="0"/>
                  <a:pt x="2715564" y="43038"/>
                  <a:pt x="2715564" y="96129"/>
                </a:cubicBezTo>
                <a:lnTo>
                  <a:pt x="2715564" y="720944"/>
                </a:lnTo>
                <a:cubicBezTo>
                  <a:pt x="2715564" y="774034"/>
                  <a:pt x="2672526" y="817072"/>
                  <a:pt x="2619435" y="817072"/>
                </a:cubicBezTo>
                <a:lnTo>
                  <a:pt x="96129" y="817072"/>
                </a:lnTo>
                <a:cubicBezTo>
                  <a:pt x="43038" y="817072"/>
                  <a:pt x="0" y="774034"/>
                  <a:pt x="0" y="720944"/>
                </a:cubicBezTo>
                <a:lnTo>
                  <a:pt x="0" y="96129"/>
                </a:lnTo>
                <a:cubicBezTo>
                  <a:pt x="0" y="43074"/>
                  <a:pt x="43074" y="0"/>
                  <a:pt x="96129" y="0"/>
                </a:cubicBezTo>
                <a:close/>
              </a:path>
            </a:pathLst>
          </a:custGeom>
          <a:solidFill>
            <a:srgbClr val="FFFFFF"/>
          </a:solidFill>
          <a:ln w="25400">
            <a:solidFill>
              <a:srgbClr val="D1D5DB"/>
            </a:solidFill>
            <a:prstDash val="solid"/>
          </a:ln>
        </p:spPr>
      </p:sp>
      <p:sp>
        <p:nvSpPr>
          <p:cNvPr id="36" name="Shape 34"/>
          <p:cNvSpPr/>
          <p:nvPr/>
        </p:nvSpPr>
        <p:spPr>
          <a:xfrm>
            <a:off x="1768070" y="5238875"/>
            <a:ext cx="160210" cy="160210"/>
          </a:xfrm>
          <a:custGeom>
            <a:avLst/>
            <a:gdLst/>
            <a:ahLst/>
            <a:cxnLst/>
            <a:rect l="l" t="t" r="r" b="b"/>
            <a:pathLst>
              <a:path w="160210" h="160210">
                <a:moveTo>
                  <a:pt x="130171" y="65085"/>
                </a:moveTo>
                <a:cubicBezTo>
                  <a:pt x="130171" y="79448"/>
                  <a:pt x="125508" y="92715"/>
                  <a:pt x="117654" y="103480"/>
                </a:cubicBezTo>
                <a:lnTo>
                  <a:pt x="157269" y="143125"/>
                </a:lnTo>
                <a:cubicBezTo>
                  <a:pt x="161180" y="147037"/>
                  <a:pt x="161180" y="153389"/>
                  <a:pt x="157269" y="157300"/>
                </a:cubicBezTo>
                <a:cubicBezTo>
                  <a:pt x="153358" y="161212"/>
                  <a:pt x="147005" y="161212"/>
                  <a:pt x="143094" y="157300"/>
                </a:cubicBezTo>
                <a:lnTo>
                  <a:pt x="103480" y="117654"/>
                </a:lnTo>
                <a:cubicBezTo>
                  <a:pt x="92715" y="125508"/>
                  <a:pt x="79448" y="130171"/>
                  <a:pt x="65085" y="130171"/>
                </a:cubicBezTo>
                <a:cubicBezTo>
                  <a:pt x="29132" y="130171"/>
                  <a:pt x="0" y="101039"/>
                  <a:pt x="0" y="65085"/>
                </a:cubicBezTo>
                <a:cubicBezTo>
                  <a:pt x="0" y="29132"/>
                  <a:pt x="29132" y="0"/>
                  <a:pt x="65085" y="0"/>
                </a:cubicBezTo>
                <a:cubicBezTo>
                  <a:pt x="101039" y="0"/>
                  <a:pt x="130171" y="29132"/>
                  <a:pt x="130171" y="65085"/>
                </a:cubicBezTo>
                <a:close/>
                <a:moveTo>
                  <a:pt x="65085" y="35046"/>
                </a:moveTo>
                <a:cubicBezTo>
                  <a:pt x="60924" y="35046"/>
                  <a:pt x="57576" y="38394"/>
                  <a:pt x="57576" y="42556"/>
                </a:cubicBezTo>
                <a:lnTo>
                  <a:pt x="57576" y="57576"/>
                </a:lnTo>
                <a:lnTo>
                  <a:pt x="42556" y="57576"/>
                </a:lnTo>
                <a:cubicBezTo>
                  <a:pt x="38394" y="57576"/>
                  <a:pt x="35046" y="60924"/>
                  <a:pt x="35046" y="65085"/>
                </a:cubicBezTo>
                <a:cubicBezTo>
                  <a:pt x="35046" y="69247"/>
                  <a:pt x="38394" y="72595"/>
                  <a:pt x="42556" y="72595"/>
                </a:cubicBezTo>
                <a:lnTo>
                  <a:pt x="57576" y="72595"/>
                </a:lnTo>
                <a:lnTo>
                  <a:pt x="57576" y="87615"/>
                </a:lnTo>
                <a:cubicBezTo>
                  <a:pt x="57576" y="91777"/>
                  <a:pt x="60924" y="95125"/>
                  <a:pt x="65085" y="95125"/>
                </a:cubicBezTo>
                <a:cubicBezTo>
                  <a:pt x="69247" y="95125"/>
                  <a:pt x="72595" y="91777"/>
                  <a:pt x="72595" y="87615"/>
                </a:cubicBezTo>
                <a:lnTo>
                  <a:pt x="72595" y="72595"/>
                </a:lnTo>
                <a:lnTo>
                  <a:pt x="87615" y="72595"/>
                </a:lnTo>
                <a:cubicBezTo>
                  <a:pt x="91777" y="72595"/>
                  <a:pt x="95125" y="69247"/>
                  <a:pt x="95125" y="65085"/>
                </a:cubicBezTo>
                <a:cubicBezTo>
                  <a:pt x="95125" y="60924"/>
                  <a:pt x="91777" y="57576"/>
                  <a:pt x="87615" y="57576"/>
                </a:cubicBezTo>
                <a:lnTo>
                  <a:pt x="72595" y="57576"/>
                </a:lnTo>
                <a:lnTo>
                  <a:pt x="72595" y="42556"/>
                </a:lnTo>
                <a:cubicBezTo>
                  <a:pt x="72595" y="38394"/>
                  <a:pt x="69247" y="35046"/>
                  <a:pt x="65085" y="35046"/>
                </a:cubicBezTo>
                <a:close/>
              </a:path>
            </a:pathLst>
          </a:custGeom>
          <a:solidFill>
            <a:srgbClr val="10B981"/>
          </a:solidFill>
          <a:ln/>
        </p:spPr>
      </p:sp>
      <p:sp>
        <p:nvSpPr>
          <p:cNvPr id="37" name="Text 35"/>
          <p:cNvSpPr/>
          <p:nvPr/>
        </p:nvSpPr>
        <p:spPr>
          <a:xfrm>
            <a:off x="544715" y="5431127"/>
            <a:ext cx="2603417" cy="256336"/>
          </a:xfrm>
          <a:prstGeom prst="rect">
            <a:avLst/>
          </a:prstGeom>
          <a:noFill/>
          <a:ln/>
        </p:spPr>
        <p:txBody>
          <a:bodyPr wrap="square" lIns="0" tIns="0" rIns="0" bIns="0" rtlCol="0" anchor="ctr"/>
          <a:lstStyle/>
          <a:p>
            <a:pPr algn="ctr">
              <a:lnSpc>
                <a:spcPct val="110000"/>
              </a:lnSpc>
            </a:pPr>
            <a:r>
              <a:rPr lang="en-US" sz="1514" b="1" dirty="0">
                <a:solidFill>
                  <a:srgbClr val="10B981"/>
                </a:solidFill>
                <a:latin typeface="Noto Sans SC" pitchFamily="34" charset="0"/>
                <a:ea typeface="Noto Sans SC" pitchFamily="34" charset="-122"/>
                <a:cs typeface="Noto Sans SC" pitchFamily="34" charset="-120"/>
              </a:rPr>
              <a:t>96%</a:t>
            </a:r>
            <a:endParaRPr lang="en-US" sz="1600" dirty="0"/>
          </a:p>
        </p:txBody>
      </p:sp>
      <p:sp>
        <p:nvSpPr>
          <p:cNvPr id="38" name="Text 36"/>
          <p:cNvSpPr/>
          <p:nvPr/>
        </p:nvSpPr>
        <p:spPr>
          <a:xfrm>
            <a:off x="564741" y="5687464"/>
            <a:ext cx="2563364" cy="160210"/>
          </a:xfrm>
          <a:prstGeom prst="rect">
            <a:avLst/>
          </a:prstGeom>
          <a:noFill/>
          <a:ln/>
        </p:spPr>
        <p:txBody>
          <a:bodyPr wrap="square" lIns="0" tIns="0" rIns="0" bIns="0" rtlCol="0" anchor="ctr"/>
          <a:lstStyle/>
          <a:p>
            <a:pPr algn="ctr">
              <a:lnSpc>
                <a:spcPct val="120000"/>
              </a:lnSpc>
            </a:pPr>
            <a:r>
              <a:rPr lang="en-US" sz="883" dirty="0">
                <a:solidFill>
                  <a:srgbClr val="6B7280"/>
                </a:solidFill>
                <a:latin typeface="MiSans" pitchFamily="34" charset="0"/>
                <a:ea typeface="MiSans" pitchFamily="34" charset="-122"/>
                <a:cs typeface="MiSans" pitchFamily="34" charset="-120"/>
              </a:rPr>
              <a:t>Détection</a:t>
            </a:r>
            <a:endParaRPr lang="en-US" sz="1600" dirty="0"/>
          </a:p>
        </p:txBody>
      </p:sp>
      <p:sp>
        <p:nvSpPr>
          <p:cNvPr id="39" name="Shape 37"/>
          <p:cNvSpPr/>
          <p:nvPr/>
        </p:nvSpPr>
        <p:spPr>
          <a:xfrm>
            <a:off x="3319857" y="5134739"/>
            <a:ext cx="2715564" cy="817072"/>
          </a:xfrm>
          <a:custGeom>
            <a:avLst/>
            <a:gdLst/>
            <a:ahLst/>
            <a:cxnLst/>
            <a:rect l="l" t="t" r="r" b="b"/>
            <a:pathLst>
              <a:path w="2715564" h="817072">
                <a:moveTo>
                  <a:pt x="96129" y="0"/>
                </a:moveTo>
                <a:lnTo>
                  <a:pt x="2619435" y="0"/>
                </a:lnTo>
                <a:cubicBezTo>
                  <a:pt x="2672526" y="0"/>
                  <a:pt x="2715564" y="43038"/>
                  <a:pt x="2715564" y="96129"/>
                </a:cubicBezTo>
                <a:lnTo>
                  <a:pt x="2715564" y="720944"/>
                </a:lnTo>
                <a:cubicBezTo>
                  <a:pt x="2715564" y="774034"/>
                  <a:pt x="2672526" y="817072"/>
                  <a:pt x="2619435" y="817072"/>
                </a:cubicBezTo>
                <a:lnTo>
                  <a:pt x="96129" y="817072"/>
                </a:lnTo>
                <a:cubicBezTo>
                  <a:pt x="43038" y="817072"/>
                  <a:pt x="0" y="774034"/>
                  <a:pt x="0" y="720944"/>
                </a:cubicBezTo>
                <a:lnTo>
                  <a:pt x="0" y="96129"/>
                </a:lnTo>
                <a:cubicBezTo>
                  <a:pt x="0" y="43074"/>
                  <a:pt x="43074" y="0"/>
                  <a:pt x="96129" y="0"/>
                </a:cubicBezTo>
                <a:close/>
              </a:path>
            </a:pathLst>
          </a:custGeom>
          <a:solidFill>
            <a:srgbClr val="FFFFFF"/>
          </a:solidFill>
          <a:ln w="25400">
            <a:solidFill>
              <a:srgbClr val="D1D5DB"/>
            </a:solidFill>
            <a:prstDash val="solid"/>
          </a:ln>
        </p:spPr>
      </p:sp>
      <p:sp>
        <p:nvSpPr>
          <p:cNvPr id="40" name="Shape 38"/>
          <p:cNvSpPr/>
          <p:nvPr/>
        </p:nvSpPr>
        <p:spPr>
          <a:xfrm>
            <a:off x="4599286" y="5238875"/>
            <a:ext cx="160210" cy="160210"/>
          </a:xfrm>
          <a:custGeom>
            <a:avLst/>
            <a:gdLst/>
            <a:ahLst/>
            <a:cxnLst/>
            <a:rect l="l" t="t" r="r" b="b"/>
            <a:pathLst>
              <a:path w="160210" h="160210">
                <a:moveTo>
                  <a:pt x="80105" y="160210"/>
                </a:moveTo>
                <a:cubicBezTo>
                  <a:pt x="124316" y="160210"/>
                  <a:pt x="160210" y="124316"/>
                  <a:pt x="160210" y="80105"/>
                </a:cubicBezTo>
                <a:cubicBezTo>
                  <a:pt x="160210" y="35894"/>
                  <a:pt x="124316" y="0"/>
                  <a:pt x="80105" y="0"/>
                </a:cubicBezTo>
                <a:cubicBezTo>
                  <a:pt x="35894" y="0"/>
                  <a:pt x="0" y="35894"/>
                  <a:pt x="0" y="80105"/>
                </a:cubicBezTo>
                <a:cubicBezTo>
                  <a:pt x="0" y="124316"/>
                  <a:pt x="35894" y="160210"/>
                  <a:pt x="80105" y="160210"/>
                </a:cubicBezTo>
                <a:close/>
                <a:moveTo>
                  <a:pt x="52256" y="52256"/>
                </a:moveTo>
                <a:cubicBezTo>
                  <a:pt x="55197" y="49315"/>
                  <a:pt x="59954" y="49315"/>
                  <a:pt x="62864" y="52256"/>
                </a:cubicBezTo>
                <a:lnTo>
                  <a:pt x="80074" y="69466"/>
                </a:lnTo>
                <a:lnTo>
                  <a:pt x="97284" y="52256"/>
                </a:lnTo>
                <a:cubicBezTo>
                  <a:pt x="100225" y="49315"/>
                  <a:pt x="104982" y="49315"/>
                  <a:pt x="107892" y="52256"/>
                </a:cubicBezTo>
                <a:cubicBezTo>
                  <a:pt x="110802" y="55197"/>
                  <a:pt x="110833" y="59954"/>
                  <a:pt x="107892" y="62864"/>
                </a:cubicBezTo>
                <a:lnTo>
                  <a:pt x="90682" y="80074"/>
                </a:lnTo>
                <a:lnTo>
                  <a:pt x="107892" y="97284"/>
                </a:lnTo>
                <a:cubicBezTo>
                  <a:pt x="110833" y="100225"/>
                  <a:pt x="110833" y="104982"/>
                  <a:pt x="107892" y="107892"/>
                </a:cubicBezTo>
                <a:cubicBezTo>
                  <a:pt x="104950" y="110802"/>
                  <a:pt x="100194" y="110833"/>
                  <a:pt x="97284" y="107892"/>
                </a:cubicBezTo>
                <a:lnTo>
                  <a:pt x="80074" y="90682"/>
                </a:lnTo>
                <a:lnTo>
                  <a:pt x="62864" y="107892"/>
                </a:lnTo>
                <a:cubicBezTo>
                  <a:pt x="59922" y="110833"/>
                  <a:pt x="55166" y="110833"/>
                  <a:pt x="52256" y="107892"/>
                </a:cubicBezTo>
                <a:cubicBezTo>
                  <a:pt x="49346" y="104950"/>
                  <a:pt x="49315" y="100194"/>
                  <a:pt x="52256" y="97284"/>
                </a:cubicBezTo>
                <a:lnTo>
                  <a:pt x="69466" y="80074"/>
                </a:lnTo>
                <a:lnTo>
                  <a:pt x="52256" y="62864"/>
                </a:lnTo>
                <a:cubicBezTo>
                  <a:pt x="49315" y="59922"/>
                  <a:pt x="49315" y="55166"/>
                  <a:pt x="52256" y="52256"/>
                </a:cubicBezTo>
                <a:close/>
              </a:path>
            </a:pathLst>
          </a:custGeom>
          <a:solidFill>
            <a:srgbClr val="F97316"/>
          </a:solidFill>
          <a:ln/>
        </p:spPr>
      </p:sp>
      <p:sp>
        <p:nvSpPr>
          <p:cNvPr id="41" name="Text 39"/>
          <p:cNvSpPr/>
          <p:nvPr/>
        </p:nvSpPr>
        <p:spPr>
          <a:xfrm>
            <a:off x="3375930" y="5431127"/>
            <a:ext cx="2603417" cy="256336"/>
          </a:xfrm>
          <a:prstGeom prst="rect">
            <a:avLst/>
          </a:prstGeom>
          <a:noFill/>
          <a:ln/>
        </p:spPr>
        <p:txBody>
          <a:bodyPr wrap="square" lIns="0" tIns="0" rIns="0" bIns="0" rtlCol="0" anchor="ctr"/>
          <a:lstStyle/>
          <a:p>
            <a:pPr algn="ctr">
              <a:lnSpc>
                <a:spcPct val="110000"/>
              </a:lnSpc>
            </a:pPr>
            <a:r>
              <a:rPr lang="en-US" sz="1514" b="1" dirty="0">
                <a:solidFill>
                  <a:srgbClr val="F97316"/>
                </a:solidFill>
                <a:latin typeface="Noto Sans SC" pitchFamily="34" charset="0"/>
                <a:ea typeface="Noto Sans SC" pitchFamily="34" charset="-122"/>
                <a:cs typeface="Noto Sans SC" pitchFamily="34" charset="-120"/>
              </a:rPr>
              <a:t>8%</a:t>
            </a:r>
            <a:endParaRPr lang="en-US" sz="1600" dirty="0"/>
          </a:p>
        </p:txBody>
      </p:sp>
      <p:sp>
        <p:nvSpPr>
          <p:cNvPr id="42" name="Text 40"/>
          <p:cNvSpPr/>
          <p:nvPr/>
        </p:nvSpPr>
        <p:spPr>
          <a:xfrm>
            <a:off x="3395957" y="5687464"/>
            <a:ext cx="2563364" cy="160210"/>
          </a:xfrm>
          <a:prstGeom prst="rect">
            <a:avLst/>
          </a:prstGeom>
          <a:noFill/>
          <a:ln/>
        </p:spPr>
        <p:txBody>
          <a:bodyPr wrap="square" lIns="0" tIns="0" rIns="0" bIns="0" rtlCol="0" anchor="ctr"/>
          <a:lstStyle/>
          <a:p>
            <a:pPr algn="ctr">
              <a:lnSpc>
                <a:spcPct val="120000"/>
              </a:lnSpc>
            </a:pPr>
            <a:r>
              <a:rPr lang="en-US" sz="883" dirty="0">
                <a:solidFill>
                  <a:srgbClr val="6B7280"/>
                </a:solidFill>
                <a:latin typeface="MiSans" pitchFamily="34" charset="0"/>
                <a:ea typeface="MiSans" pitchFamily="34" charset="-122"/>
                <a:cs typeface="MiSans" pitchFamily="34" charset="-120"/>
              </a:rPr>
              <a:t>Rebuts</a:t>
            </a:r>
            <a:endParaRPr lang="en-US" sz="1600" dirty="0"/>
          </a:p>
        </p:txBody>
      </p:sp>
      <p:sp>
        <p:nvSpPr>
          <p:cNvPr id="43" name="Shape 41"/>
          <p:cNvSpPr/>
          <p:nvPr/>
        </p:nvSpPr>
        <p:spPr>
          <a:xfrm>
            <a:off x="6151072" y="5134739"/>
            <a:ext cx="2715564" cy="817072"/>
          </a:xfrm>
          <a:custGeom>
            <a:avLst/>
            <a:gdLst/>
            <a:ahLst/>
            <a:cxnLst/>
            <a:rect l="l" t="t" r="r" b="b"/>
            <a:pathLst>
              <a:path w="2715564" h="817072">
                <a:moveTo>
                  <a:pt x="96129" y="0"/>
                </a:moveTo>
                <a:lnTo>
                  <a:pt x="2619435" y="0"/>
                </a:lnTo>
                <a:cubicBezTo>
                  <a:pt x="2672526" y="0"/>
                  <a:pt x="2715564" y="43038"/>
                  <a:pt x="2715564" y="96129"/>
                </a:cubicBezTo>
                <a:lnTo>
                  <a:pt x="2715564" y="720944"/>
                </a:lnTo>
                <a:cubicBezTo>
                  <a:pt x="2715564" y="774034"/>
                  <a:pt x="2672526" y="817072"/>
                  <a:pt x="2619435" y="817072"/>
                </a:cubicBezTo>
                <a:lnTo>
                  <a:pt x="96129" y="817072"/>
                </a:lnTo>
                <a:cubicBezTo>
                  <a:pt x="43038" y="817072"/>
                  <a:pt x="0" y="774034"/>
                  <a:pt x="0" y="720944"/>
                </a:cubicBezTo>
                <a:lnTo>
                  <a:pt x="0" y="96129"/>
                </a:lnTo>
                <a:cubicBezTo>
                  <a:pt x="0" y="43074"/>
                  <a:pt x="43074" y="0"/>
                  <a:pt x="96129" y="0"/>
                </a:cubicBezTo>
                <a:close/>
              </a:path>
            </a:pathLst>
          </a:custGeom>
          <a:solidFill>
            <a:srgbClr val="FFFFFF"/>
          </a:solidFill>
          <a:ln w="25400">
            <a:solidFill>
              <a:srgbClr val="D1D5DB"/>
            </a:solidFill>
            <a:prstDash val="solid"/>
          </a:ln>
        </p:spPr>
      </p:sp>
      <p:sp>
        <p:nvSpPr>
          <p:cNvPr id="44" name="Shape 42"/>
          <p:cNvSpPr/>
          <p:nvPr/>
        </p:nvSpPr>
        <p:spPr>
          <a:xfrm>
            <a:off x="7430501" y="5238875"/>
            <a:ext cx="160210" cy="160210"/>
          </a:xfrm>
          <a:custGeom>
            <a:avLst/>
            <a:gdLst/>
            <a:ahLst/>
            <a:cxnLst/>
            <a:rect l="l" t="t" r="r" b="b"/>
            <a:pathLst>
              <a:path w="160210" h="160210">
                <a:moveTo>
                  <a:pt x="80105" y="0"/>
                </a:moveTo>
                <a:cubicBezTo>
                  <a:pt x="124316" y="0"/>
                  <a:pt x="160210" y="35894"/>
                  <a:pt x="160210" y="80105"/>
                </a:cubicBezTo>
                <a:cubicBezTo>
                  <a:pt x="160210" y="124316"/>
                  <a:pt x="124316" y="160210"/>
                  <a:pt x="80105" y="160210"/>
                </a:cubicBezTo>
                <a:cubicBezTo>
                  <a:pt x="35894" y="160210"/>
                  <a:pt x="0" y="124316"/>
                  <a:pt x="0" y="80105"/>
                </a:cubicBezTo>
                <a:cubicBezTo>
                  <a:pt x="0" y="35894"/>
                  <a:pt x="35894" y="0"/>
                  <a:pt x="80105" y="0"/>
                </a:cubicBezTo>
                <a:close/>
                <a:moveTo>
                  <a:pt x="72595" y="37549"/>
                </a:moveTo>
                <a:lnTo>
                  <a:pt x="72595" y="80105"/>
                </a:lnTo>
                <a:cubicBezTo>
                  <a:pt x="72595" y="82608"/>
                  <a:pt x="73847" y="84955"/>
                  <a:pt x="75943" y="86363"/>
                </a:cubicBezTo>
                <a:lnTo>
                  <a:pt x="105983" y="106390"/>
                </a:lnTo>
                <a:cubicBezTo>
                  <a:pt x="109425" y="108705"/>
                  <a:pt x="114087" y="107766"/>
                  <a:pt x="116403" y="104293"/>
                </a:cubicBezTo>
                <a:cubicBezTo>
                  <a:pt x="118718" y="100820"/>
                  <a:pt x="117780" y="96189"/>
                  <a:pt x="114306" y="93873"/>
                </a:cubicBezTo>
                <a:lnTo>
                  <a:pt x="87615" y="76100"/>
                </a:lnTo>
                <a:lnTo>
                  <a:pt x="87615" y="37549"/>
                </a:lnTo>
                <a:cubicBezTo>
                  <a:pt x="87615" y="33388"/>
                  <a:pt x="84267" y="30039"/>
                  <a:pt x="80105" y="30039"/>
                </a:cubicBezTo>
                <a:cubicBezTo>
                  <a:pt x="75943" y="30039"/>
                  <a:pt x="72595" y="33388"/>
                  <a:pt x="72595" y="37549"/>
                </a:cubicBezTo>
                <a:close/>
              </a:path>
            </a:pathLst>
          </a:custGeom>
          <a:solidFill>
            <a:srgbClr val="3B82F6"/>
          </a:solidFill>
          <a:ln/>
        </p:spPr>
      </p:sp>
      <p:sp>
        <p:nvSpPr>
          <p:cNvPr id="45" name="Text 43"/>
          <p:cNvSpPr/>
          <p:nvPr/>
        </p:nvSpPr>
        <p:spPr>
          <a:xfrm>
            <a:off x="6207146" y="5431127"/>
            <a:ext cx="2603417" cy="256336"/>
          </a:xfrm>
          <a:prstGeom prst="rect">
            <a:avLst/>
          </a:prstGeom>
          <a:noFill/>
          <a:ln/>
        </p:spPr>
        <p:txBody>
          <a:bodyPr wrap="square" lIns="0" tIns="0" rIns="0" bIns="0" rtlCol="0" anchor="ctr"/>
          <a:lstStyle/>
          <a:p>
            <a:pPr algn="ctr">
              <a:lnSpc>
                <a:spcPct val="110000"/>
              </a:lnSpc>
            </a:pPr>
            <a:r>
              <a:rPr lang="en-US" sz="1514" b="1" dirty="0">
                <a:solidFill>
                  <a:srgbClr val="3B82F6"/>
                </a:solidFill>
                <a:latin typeface="Noto Sans SC" pitchFamily="34" charset="0"/>
                <a:ea typeface="Noto Sans SC" pitchFamily="34" charset="-122"/>
                <a:cs typeface="Noto Sans SC" pitchFamily="34" charset="-120"/>
              </a:rPr>
              <a:t>1.8min</a:t>
            </a:r>
            <a:endParaRPr lang="en-US" sz="1600" dirty="0"/>
          </a:p>
        </p:txBody>
      </p:sp>
      <p:sp>
        <p:nvSpPr>
          <p:cNvPr id="46" name="Text 44"/>
          <p:cNvSpPr/>
          <p:nvPr/>
        </p:nvSpPr>
        <p:spPr>
          <a:xfrm>
            <a:off x="6227172" y="5687464"/>
            <a:ext cx="2563364" cy="160210"/>
          </a:xfrm>
          <a:prstGeom prst="rect">
            <a:avLst/>
          </a:prstGeom>
          <a:noFill/>
          <a:ln/>
        </p:spPr>
        <p:txBody>
          <a:bodyPr wrap="square" lIns="0" tIns="0" rIns="0" bIns="0" rtlCol="0" anchor="ctr"/>
          <a:lstStyle/>
          <a:p>
            <a:pPr algn="ctr">
              <a:lnSpc>
                <a:spcPct val="120000"/>
              </a:lnSpc>
            </a:pPr>
            <a:r>
              <a:rPr lang="en-US" sz="883" dirty="0">
                <a:solidFill>
                  <a:srgbClr val="6B7280"/>
                </a:solidFill>
                <a:latin typeface="MiSans" pitchFamily="34" charset="0"/>
                <a:ea typeface="MiSans" pitchFamily="34" charset="-122"/>
                <a:cs typeface="MiSans" pitchFamily="34" charset="-120"/>
              </a:rPr>
              <a:t>Temps</a:t>
            </a:r>
            <a:endParaRPr lang="en-US" sz="1600" dirty="0"/>
          </a:p>
        </p:txBody>
      </p:sp>
      <p:sp>
        <p:nvSpPr>
          <p:cNvPr id="47" name="Shape 45"/>
          <p:cNvSpPr/>
          <p:nvPr/>
        </p:nvSpPr>
        <p:spPr>
          <a:xfrm>
            <a:off x="8982288" y="5134739"/>
            <a:ext cx="2715564" cy="817072"/>
          </a:xfrm>
          <a:custGeom>
            <a:avLst/>
            <a:gdLst/>
            <a:ahLst/>
            <a:cxnLst/>
            <a:rect l="l" t="t" r="r" b="b"/>
            <a:pathLst>
              <a:path w="2715564" h="817072">
                <a:moveTo>
                  <a:pt x="96129" y="0"/>
                </a:moveTo>
                <a:lnTo>
                  <a:pt x="2619435" y="0"/>
                </a:lnTo>
                <a:cubicBezTo>
                  <a:pt x="2672526" y="0"/>
                  <a:pt x="2715564" y="43038"/>
                  <a:pt x="2715564" y="96129"/>
                </a:cubicBezTo>
                <a:lnTo>
                  <a:pt x="2715564" y="720944"/>
                </a:lnTo>
                <a:cubicBezTo>
                  <a:pt x="2715564" y="774034"/>
                  <a:pt x="2672526" y="817072"/>
                  <a:pt x="2619435" y="817072"/>
                </a:cubicBezTo>
                <a:lnTo>
                  <a:pt x="96129" y="817072"/>
                </a:lnTo>
                <a:cubicBezTo>
                  <a:pt x="43038" y="817072"/>
                  <a:pt x="0" y="774034"/>
                  <a:pt x="0" y="720944"/>
                </a:cubicBezTo>
                <a:lnTo>
                  <a:pt x="0" y="96129"/>
                </a:lnTo>
                <a:cubicBezTo>
                  <a:pt x="0" y="43074"/>
                  <a:pt x="43074" y="0"/>
                  <a:pt x="96129" y="0"/>
                </a:cubicBezTo>
                <a:close/>
              </a:path>
            </a:pathLst>
          </a:custGeom>
          <a:solidFill>
            <a:srgbClr val="FFFFFF"/>
          </a:solidFill>
          <a:ln w="25400">
            <a:solidFill>
              <a:srgbClr val="D1D5DB"/>
            </a:solidFill>
            <a:prstDash val="solid"/>
          </a:ln>
        </p:spPr>
      </p:sp>
      <p:sp>
        <p:nvSpPr>
          <p:cNvPr id="48" name="Shape 46"/>
          <p:cNvSpPr/>
          <p:nvPr/>
        </p:nvSpPr>
        <p:spPr>
          <a:xfrm>
            <a:off x="10271730" y="5238875"/>
            <a:ext cx="140184" cy="160210"/>
          </a:xfrm>
          <a:custGeom>
            <a:avLst/>
            <a:gdLst/>
            <a:ahLst/>
            <a:cxnLst/>
            <a:rect l="l" t="t" r="r" b="b"/>
            <a:pathLst>
              <a:path w="140184" h="160210">
                <a:moveTo>
                  <a:pt x="70092" y="0"/>
                </a:moveTo>
                <a:cubicBezTo>
                  <a:pt x="64553" y="0"/>
                  <a:pt x="60079" y="4475"/>
                  <a:pt x="60079" y="10013"/>
                </a:cubicBezTo>
                <a:lnTo>
                  <a:pt x="60079" y="11014"/>
                </a:lnTo>
                <a:cubicBezTo>
                  <a:pt x="37236" y="15646"/>
                  <a:pt x="20026" y="35860"/>
                  <a:pt x="20026" y="60079"/>
                </a:cubicBezTo>
                <a:lnTo>
                  <a:pt x="20026" y="66869"/>
                </a:lnTo>
                <a:cubicBezTo>
                  <a:pt x="20026" y="81920"/>
                  <a:pt x="14895" y="96533"/>
                  <a:pt x="5507" y="108298"/>
                </a:cubicBezTo>
                <a:lnTo>
                  <a:pt x="2441" y="112116"/>
                </a:lnTo>
                <a:cubicBezTo>
                  <a:pt x="845" y="114087"/>
                  <a:pt x="0" y="116528"/>
                  <a:pt x="0" y="119063"/>
                </a:cubicBezTo>
                <a:cubicBezTo>
                  <a:pt x="0" y="125196"/>
                  <a:pt x="4975" y="130171"/>
                  <a:pt x="11108" y="130171"/>
                </a:cubicBezTo>
                <a:lnTo>
                  <a:pt x="129044" y="130171"/>
                </a:lnTo>
                <a:cubicBezTo>
                  <a:pt x="135177" y="130171"/>
                  <a:pt x="140153" y="125196"/>
                  <a:pt x="140153" y="119063"/>
                </a:cubicBezTo>
                <a:cubicBezTo>
                  <a:pt x="140153" y="116528"/>
                  <a:pt x="139308" y="114087"/>
                  <a:pt x="137712" y="112116"/>
                </a:cubicBezTo>
                <a:lnTo>
                  <a:pt x="134645" y="108298"/>
                </a:lnTo>
                <a:cubicBezTo>
                  <a:pt x="125289" y="96533"/>
                  <a:pt x="120158" y="81920"/>
                  <a:pt x="120158" y="66869"/>
                </a:cubicBezTo>
                <a:lnTo>
                  <a:pt x="120158" y="60079"/>
                </a:lnTo>
                <a:cubicBezTo>
                  <a:pt x="120158" y="35860"/>
                  <a:pt x="102948" y="15646"/>
                  <a:pt x="80105" y="11014"/>
                </a:cubicBezTo>
                <a:lnTo>
                  <a:pt x="80105" y="10013"/>
                </a:lnTo>
                <a:cubicBezTo>
                  <a:pt x="80105" y="4475"/>
                  <a:pt x="75631" y="0"/>
                  <a:pt x="70092" y="0"/>
                </a:cubicBezTo>
                <a:close/>
                <a:moveTo>
                  <a:pt x="50692" y="145191"/>
                </a:moveTo>
                <a:cubicBezTo>
                  <a:pt x="52913" y="153827"/>
                  <a:pt x="60767" y="160210"/>
                  <a:pt x="70092" y="160210"/>
                </a:cubicBezTo>
                <a:cubicBezTo>
                  <a:pt x="79417" y="160210"/>
                  <a:pt x="87271" y="153827"/>
                  <a:pt x="89492" y="145191"/>
                </a:cubicBezTo>
                <a:lnTo>
                  <a:pt x="50692" y="145191"/>
                </a:lnTo>
                <a:close/>
              </a:path>
            </a:pathLst>
          </a:custGeom>
          <a:solidFill>
            <a:srgbClr val="EF4444"/>
          </a:solidFill>
          <a:ln/>
        </p:spPr>
      </p:sp>
      <p:sp>
        <p:nvSpPr>
          <p:cNvPr id="49" name="Text 47"/>
          <p:cNvSpPr/>
          <p:nvPr/>
        </p:nvSpPr>
        <p:spPr>
          <a:xfrm>
            <a:off x="9038361" y="5431127"/>
            <a:ext cx="2603417" cy="256336"/>
          </a:xfrm>
          <a:prstGeom prst="rect">
            <a:avLst/>
          </a:prstGeom>
          <a:noFill/>
          <a:ln/>
        </p:spPr>
        <p:txBody>
          <a:bodyPr wrap="square" lIns="0" tIns="0" rIns="0" bIns="0" rtlCol="0" anchor="ctr"/>
          <a:lstStyle/>
          <a:p>
            <a:pPr algn="ctr">
              <a:lnSpc>
                <a:spcPct val="110000"/>
              </a:lnSpc>
            </a:pPr>
            <a:r>
              <a:rPr lang="en-US" sz="1514" b="1" dirty="0">
                <a:solidFill>
                  <a:srgbClr val="EF4444"/>
                </a:solidFill>
                <a:latin typeface="Noto Sans SC" pitchFamily="34" charset="0"/>
                <a:ea typeface="Noto Sans SC" pitchFamily="34" charset="-122"/>
                <a:cs typeface="Noto Sans SC" pitchFamily="34" charset="-120"/>
              </a:rPr>
              <a:t>2</a:t>
            </a:r>
            <a:endParaRPr lang="en-US" sz="1600" dirty="0"/>
          </a:p>
        </p:txBody>
      </p:sp>
      <p:sp>
        <p:nvSpPr>
          <p:cNvPr id="50" name="Text 48"/>
          <p:cNvSpPr/>
          <p:nvPr/>
        </p:nvSpPr>
        <p:spPr>
          <a:xfrm>
            <a:off x="9058388" y="5687464"/>
            <a:ext cx="2563364" cy="160210"/>
          </a:xfrm>
          <a:prstGeom prst="rect">
            <a:avLst/>
          </a:prstGeom>
          <a:noFill/>
          <a:ln/>
        </p:spPr>
        <p:txBody>
          <a:bodyPr wrap="square" lIns="0" tIns="0" rIns="0" bIns="0" rtlCol="0" anchor="ctr"/>
          <a:lstStyle/>
          <a:p>
            <a:pPr algn="ctr">
              <a:lnSpc>
                <a:spcPct val="120000"/>
              </a:lnSpc>
            </a:pPr>
            <a:r>
              <a:rPr lang="en-US" sz="883" dirty="0">
                <a:solidFill>
                  <a:srgbClr val="6B7280"/>
                </a:solidFill>
                <a:latin typeface="MiSans" pitchFamily="34" charset="0"/>
                <a:ea typeface="MiSans" pitchFamily="34" charset="-122"/>
                <a:cs typeface="MiSans" pitchFamily="34" charset="-120"/>
              </a:rPr>
              <a:t>Alertes</a:t>
            </a:r>
            <a:endParaRPr lang="en-US" sz="1600" dirty="0"/>
          </a:p>
        </p:txBody>
      </p:sp>
      <p:sp>
        <p:nvSpPr>
          <p:cNvPr id="51" name="Shape 49"/>
          <p:cNvSpPr/>
          <p:nvPr/>
        </p:nvSpPr>
        <p:spPr>
          <a:xfrm>
            <a:off x="488641" y="6063958"/>
            <a:ext cx="5551285" cy="624820"/>
          </a:xfrm>
          <a:custGeom>
            <a:avLst/>
            <a:gdLst/>
            <a:ahLst/>
            <a:cxnLst/>
            <a:rect l="l" t="t" r="r" b="b"/>
            <a:pathLst>
              <a:path w="5551285" h="624820">
                <a:moveTo>
                  <a:pt x="96129" y="0"/>
                </a:moveTo>
                <a:lnTo>
                  <a:pt x="5455157" y="0"/>
                </a:lnTo>
                <a:cubicBezTo>
                  <a:pt x="5508247" y="0"/>
                  <a:pt x="5551285" y="43038"/>
                  <a:pt x="5551285" y="96129"/>
                </a:cubicBezTo>
                <a:lnTo>
                  <a:pt x="5551285" y="528691"/>
                </a:lnTo>
                <a:cubicBezTo>
                  <a:pt x="5551285" y="581782"/>
                  <a:pt x="5508247" y="624820"/>
                  <a:pt x="5455157" y="624820"/>
                </a:cubicBezTo>
                <a:lnTo>
                  <a:pt x="96129" y="624820"/>
                </a:lnTo>
                <a:cubicBezTo>
                  <a:pt x="43038" y="624820"/>
                  <a:pt x="0" y="581782"/>
                  <a:pt x="0" y="528691"/>
                </a:cubicBezTo>
                <a:lnTo>
                  <a:pt x="0" y="96129"/>
                </a:lnTo>
                <a:cubicBezTo>
                  <a:pt x="0" y="43074"/>
                  <a:pt x="43074" y="0"/>
                  <a:pt x="96129" y="0"/>
                </a:cubicBezTo>
                <a:close/>
              </a:path>
            </a:pathLst>
          </a:custGeom>
          <a:solidFill>
            <a:srgbClr val="FFFFFF"/>
          </a:solidFill>
          <a:ln w="25400">
            <a:solidFill>
              <a:srgbClr val="D1D5DB"/>
            </a:solidFill>
            <a:prstDash val="solid"/>
          </a:ln>
        </p:spPr>
      </p:sp>
      <p:sp>
        <p:nvSpPr>
          <p:cNvPr id="52" name="Text 50"/>
          <p:cNvSpPr/>
          <p:nvPr/>
        </p:nvSpPr>
        <p:spPr>
          <a:xfrm>
            <a:off x="2768508" y="6280242"/>
            <a:ext cx="1057388" cy="192252"/>
          </a:xfrm>
          <a:prstGeom prst="rect">
            <a:avLst/>
          </a:prstGeom>
          <a:noFill/>
          <a:ln/>
        </p:spPr>
        <p:txBody>
          <a:bodyPr wrap="square" lIns="0" tIns="0" rIns="0" bIns="0" rtlCol="0" anchor="ctr"/>
          <a:lstStyle/>
          <a:p>
            <a:pPr>
              <a:lnSpc>
                <a:spcPct val="130000"/>
              </a:lnSpc>
            </a:pPr>
            <a:r>
              <a:rPr lang="en-US" sz="1009" dirty="0">
                <a:solidFill>
                  <a:srgbClr val="6B7280"/>
                </a:solidFill>
                <a:latin typeface="MiSans" pitchFamily="34" charset="0"/>
                <a:ea typeface="MiSans" pitchFamily="34" charset="-122"/>
                <a:cs typeface="MiSans" pitchFamily="34" charset="-120"/>
              </a:rPr>
              <a:t>Graphe tendance</a:t>
            </a:r>
            <a:endParaRPr lang="en-US" sz="1600" dirty="0"/>
          </a:p>
        </p:txBody>
      </p:sp>
      <p:sp>
        <p:nvSpPr>
          <p:cNvPr id="53" name="Shape 51"/>
          <p:cNvSpPr/>
          <p:nvPr/>
        </p:nvSpPr>
        <p:spPr>
          <a:xfrm>
            <a:off x="6151072" y="6063958"/>
            <a:ext cx="5551285" cy="624820"/>
          </a:xfrm>
          <a:custGeom>
            <a:avLst/>
            <a:gdLst/>
            <a:ahLst/>
            <a:cxnLst/>
            <a:rect l="l" t="t" r="r" b="b"/>
            <a:pathLst>
              <a:path w="5551285" h="624820">
                <a:moveTo>
                  <a:pt x="96129" y="0"/>
                </a:moveTo>
                <a:lnTo>
                  <a:pt x="5455157" y="0"/>
                </a:lnTo>
                <a:cubicBezTo>
                  <a:pt x="5508247" y="0"/>
                  <a:pt x="5551285" y="43038"/>
                  <a:pt x="5551285" y="96129"/>
                </a:cubicBezTo>
                <a:lnTo>
                  <a:pt x="5551285" y="528691"/>
                </a:lnTo>
                <a:cubicBezTo>
                  <a:pt x="5551285" y="581782"/>
                  <a:pt x="5508247" y="624820"/>
                  <a:pt x="5455157" y="624820"/>
                </a:cubicBezTo>
                <a:lnTo>
                  <a:pt x="96129" y="624820"/>
                </a:lnTo>
                <a:cubicBezTo>
                  <a:pt x="43038" y="624820"/>
                  <a:pt x="0" y="581782"/>
                  <a:pt x="0" y="528691"/>
                </a:cubicBezTo>
                <a:lnTo>
                  <a:pt x="0" y="96129"/>
                </a:lnTo>
                <a:cubicBezTo>
                  <a:pt x="0" y="43074"/>
                  <a:pt x="43074" y="0"/>
                  <a:pt x="96129" y="0"/>
                </a:cubicBezTo>
                <a:close/>
              </a:path>
            </a:pathLst>
          </a:custGeom>
          <a:solidFill>
            <a:srgbClr val="FFFFFF"/>
          </a:solidFill>
          <a:ln w="25400">
            <a:solidFill>
              <a:srgbClr val="D1D5DB"/>
            </a:solidFill>
            <a:prstDash val="solid"/>
          </a:ln>
        </p:spPr>
      </p:sp>
      <p:sp>
        <p:nvSpPr>
          <p:cNvPr id="54" name="Text 52"/>
          <p:cNvSpPr/>
          <p:nvPr/>
        </p:nvSpPr>
        <p:spPr>
          <a:xfrm>
            <a:off x="8463232" y="6280242"/>
            <a:ext cx="993304" cy="192252"/>
          </a:xfrm>
          <a:prstGeom prst="rect">
            <a:avLst/>
          </a:prstGeom>
          <a:noFill/>
          <a:ln/>
        </p:spPr>
        <p:txBody>
          <a:bodyPr wrap="square" lIns="0" tIns="0" rIns="0" bIns="0" rtlCol="0" anchor="ctr"/>
          <a:lstStyle/>
          <a:p>
            <a:pPr>
              <a:lnSpc>
                <a:spcPct val="130000"/>
              </a:lnSpc>
            </a:pPr>
            <a:r>
              <a:rPr lang="en-US" sz="1009" dirty="0">
                <a:solidFill>
                  <a:srgbClr val="6B7280"/>
                </a:solidFill>
                <a:latin typeface="MiSans" pitchFamily="34" charset="0"/>
                <a:ea typeface="MiSans" pitchFamily="34" charset="-122"/>
                <a:cs typeface="MiSans" pitchFamily="34" charset="-120"/>
              </a:rPr>
              <a:t>Alertes récentes</a:t>
            </a:r>
            <a:endParaRPr lang="en-US" sz="1600" dirty="0"/>
          </a:p>
        </p:txBody>
      </p:sp>
      <p:sp>
        <p:nvSpPr>
          <p:cNvPr id="55" name="Shape 53"/>
          <p:cNvSpPr/>
          <p:nvPr/>
        </p:nvSpPr>
        <p:spPr>
          <a:xfrm>
            <a:off x="5230489" y="5639401"/>
            <a:ext cx="98129" cy="112147"/>
          </a:xfrm>
          <a:custGeom>
            <a:avLst/>
            <a:gdLst/>
            <a:ahLst/>
            <a:cxnLst/>
            <a:rect l="l" t="t" r="r" b="b"/>
            <a:pathLst>
              <a:path w="98129" h="112147">
                <a:moveTo>
                  <a:pt x="98129" y="45078"/>
                </a:moveTo>
                <a:cubicBezTo>
                  <a:pt x="94887" y="47224"/>
                  <a:pt x="91163" y="48955"/>
                  <a:pt x="87286" y="50335"/>
                </a:cubicBezTo>
                <a:cubicBezTo>
                  <a:pt x="76992" y="54015"/>
                  <a:pt x="63477" y="56074"/>
                  <a:pt x="49064" y="56074"/>
                </a:cubicBezTo>
                <a:cubicBezTo>
                  <a:pt x="34652" y="56074"/>
                  <a:pt x="21115" y="53993"/>
                  <a:pt x="10842" y="50335"/>
                </a:cubicBezTo>
                <a:cubicBezTo>
                  <a:pt x="6987" y="48955"/>
                  <a:pt x="3242" y="47224"/>
                  <a:pt x="0" y="45078"/>
                </a:cubicBezTo>
                <a:lnTo>
                  <a:pt x="0" y="63083"/>
                </a:lnTo>
                <a:cubicBezTo>
                  <a:pt x="0" y="72764"/>
                  <a:pt x="21969" y="80606"/>
                  <a:pt x="49064" y="80606"/>
                </a:cubicBezTo>
                <a:cubicBezTo>
                  <a:pt x="76159" y="80606"/>
                  <a:pt x="98129" y="72764"/>
                  <a:pt x="98129" y="63083"/>
                </a:cubicBezTo>
                <a:lnTo>
                  <a:pt x="98129" y="45078"/>
                </a:lnTo>
                <a:close/>
                <a:moveTo>
                  <a:pt x="98129" y="28037"/>
                </a:moveTo>
                <a:lnTo>
                  <a:pt x="98129" y="17523"/>
                </a:lnTo>
                <a:cubicBezTo>
                  <a:pt x="98129" y="7842"/>
                  <a:pt x="76159" y="0"/>
                  <a:pt x="49064" y="0"/>
                </a:cubicBezTo>
                <a:cubicBezTo>
                  <a:pt x="21969" y="0"/>
                  <a:pt x="0" y="7842"/>
                  <a:pt x="0" y="17523"/>
                </a:cubicBezTo>
                <a:lnTo>
                  <a:pt x="0" y="28037"/>
                </a:lnTo>
                <a:cubicBezTo>
                  <a:pt x="0" y="37718"/>
                  <a:pt x="21969" y="45560"/>
                  <a:pt x="49064" y="45560"/>
                </a:cubicBezTo>
                <a:cubicBezTo>
                  <a:pt x="76159" y="45560"/>
                  <a:pt x="98129" y="37718"/>
                  <a:pt x="98129" y="28037"/>
                </a:cubicBezTo>
                <a:close/>
                <a:moveTo>
                  <a:pt x="87286" y="85381"/>
                </a:moveTo>
                <a:cubicBezTo>
                  <a:pt x="77014" y="89039"/>
                  <a:pt x="63499" y="91120"/>
                  <a:pt x="49064" y="91120"/>
                </a:cubicBezTo>
                <a:cubicBezTo>
                  <a:pt x="34630" y="91120"/>
                  <a:pt x="21115" y="89039"/>
                  <a:pt x="10842" y="85381"/>
                </a:cubicBezTo>
                <a:cubicBezTo>
                  <a:pt x="6987" y="84001"/>
                  <a:pt x="3242" y="82270"/>
                  <a:pt x="0" y="80124"/>
                </a:cubicBezTo>
                <a:lnTo>
                  <a:pt x="0" y="94624"/>
                </a:lnTo>
                <a:cubicBezTo>
                  <a:pt x="0" y="104306"/>
                  <a:pt x="21969" y="112147"/>
                  <a:pt x="49064" y="112147"/>
                </a:cubicBezTo>
                <a:cubicBezTo>
                  <a:pt x="76159" y="112147"/>
                  <a:pt x="98129" y="104306"/>
                  <a:pt x="98129" y="94624"/>
                </a:cubicBezTo>
                <a:lnTo>
                  <a:pt x="98129" y="80124"/>
                </a:lnTo>
                <a:cubicBezTo>
                  <a:pt x="94887" y="82270"/>
                  <a:pt x="91163" y="84001"/>
                  <a:pt x="87286" y="85381"/>
                </a:cubicBezTo>
                <a:close/>
              </a:path>
            </a:pathLst>
          </a:custGeom>
          <a:solidFill>
            <a:srgbClr val="3B82F6"/>
          </a:solidFill>
          <a:ln/>
        </p:spPr>
      </p:sp>
      <p:sp>
        <p:nvSpPr>
          <p:cNvPr id="56" name="Text 54"/>
          <p:cNvSpPr/>
          <p:nvPr/>
        </p:nvSpPr>
        <p:spPr>
          <a:xfrm>
            <a:off x="476994" y="5607359"/>
            <a:ext cx="11422622" cy="160210"/>
          </a:xfrm>
          <a:prstGeom prst="rect">
            <a:avLst/>
          </a:prstGeom>
          <a:noFill/>
          <a:ln/>
        </p:spPr>
        <p:txBody>
          <a:bodyPr wrap="square" lIns="0" tIns="0" rIns="0" bIns="0" rtlCol="0" anchor="ctr"/>
          <a:lstStyle/>
          <a:p>
            <a:pPr algn="ctr">
              <a:lnSpc>
                <a:spcPct val="120000"/>
              </a:lnSpc>
            </a:pPr>
            <a:r>
              <a:rPr lang="en-US" sz="883" dirty="0">
                <a:solidFill>
                  <a:srgbClr val="6B7280"/>
                </a:solidFill>
                <a:latin typeface="MiSans" pitchFamily="34" charset="0"/>
                <a:ea typeface="MiSans" pitchFamily="34" charset="-122"/>
                <a:cs typeface="MiSans" pitchFamily="34" charset="-120"/>
              </a:rPr>
              <a:t>Source : Base FQA centralisée</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228600"/>
            <a:ext cx="2219325" cy="342900"/>
          </a:xfrm>
          <a:custGeom>
            <a:avLst/>
            <a:gdLst/>
            <a:ahLst/>
            <a:cxnLst/>
            <a:rect l="l" t="t" r="r" b="b"/>
            <a:pathLst>
              <a:path w="2219325" h="342900">
                <a:moveTo>
                  <a:pt x="171450" y="0"/>
                </a:moveTo>
                <a:lnTo>
                  <a:pt x="2047875" y="0"/>
                </a:lnTo>
                <a:cubicBezTo>
                  <a:pt x="2142501" y="0"/>
                  <a:pt x="2219325" y="76824"/>
                  <a:pt x="2219325" y="171450"/>
                </a:cubicBezTo>
                <a:lnTo>
                  <a:pt x="2219325" y="171450"/>
                </a:lnTo>
                <a:cubicBezTo>
                  <a:pt x="2219325" y="266076"/>
                  <a:pt x="2142501" y="342900"/>
                  <a:pt x="2047875" y="342900"/>
                </a:cubicBezTo>
                <a:lnTo>
                  <a:pt x="171450" y="342900"/>
                </a:lnTo>
                <a:cubicBezTo>
                  <a:pt x="76824" y="342900"/>
                  <a:pt x="0" y="266076"/>
                  <a:pt x="0" y="171450"/>
                </a:cubicBezTo>
                <a:lnTo>
                  <a:pt x="0" y="171450"/>
                </a:lnTo>
                <a:cubicBezTo>
                  <a:pt x="0" y="76824"/>
                  <a:pt x="76824" y="0"/>
                  <a:pt x="171450" y="0"/>
                </a:cubicBezTo>
                <a:close/>
              </a:path>
            </a:pathLst>
          </a:custGeom>
          <a:solidFill>
            <a:srgbClr val="F97316"/>
          </a:solidFill>
          <a:ln/>
        </p:spPr>
      </p:sp>
      <p:sp>
        <p:nvSpPr>
          <p:cNvPr id="3" name="Text 1"/>
          <p:cNvSpPr/>
          <p:nvPr/>
        </p:nvSpPr>
        <p:spPr>
          <a:xfrm>
            <a:off x="533400" y="304800"/>
            <a:ext cx="1981200" cy="190500"/>
          </a:xfrm>
          <a:prstGeom prst="rect">
            <a:avLst/>
          </a:prstGeom>
          <a:noFill/>
          <a:ln/>
        </p:spPr>
        <p:txBody>
          <a:bodyPr wrap="square" lIns="0" tIns="0" rIns="0" bIns="0" rtlCol="0" anchor="ctr"/>
          <a:lstStyle/>
          <a:p>
            <a:pPr>
              <a:lnSpc>
                <a:spcPct val="120000"/>
              </a:lnSpc>
            </a:pPr>
            <a:r>
              <a:rPr lang="en-US" sz="1050" b="1" kern="0" spc="26" dirty="0">
                <a:solidFill>
                  <a:srgbClr val="FFFFFF"/>
                </a:solidFill>
                <a:latin typeface="MiSans" pitchFamily="34" charset="0"/>
                <a:ea typeface="MiSans" pitchFamily="34" charset="-122"/>
                <a:cs typeface="MiSans" pitchFamily="34" charset="-120"/>
              </a:rPr>
              <a:t>CONCEPTION - CHALLENGE</a:t>
            </a:r>
            <a:endParaRPr lang="en-US" sz="1600" dirty="0"/>
          </a:p>
        </p:txBody>
      </p:sp>
      <p:sp>
        <p:nvSpPr>
          <p:cNvPr id="4" name="Text 2"/>
          <p:cNvSpPr/>
          <p:nvPr/>
        </p:nvSpPr>
        <p:spPr>
          <a:xfrm>
            <a:off x="381000" y="990600"/>
            <a:ext cx="11601450" cy="381000"/>
          </a:xfrm>
          <a:prstGeom prst="rect">
            <a:avLst/>
          </a:prstGeom>
          <a:noFill/>
          <a:ln/>
        </p:spPr>
        <p:txBody>
          <a:bodyPr wrap="square" lIns="0" tIns="0" rIns="0" bIns="0" rtlCol="0" anchor="ctr"/>
          <a:lstStyle/>
          <a:p>
            <a:pPr>
              <a:lnSpc>
                <a:spcPct val="90000"/>
              </a:lnSpc>
            </a:pPr>
            <a:r>
              <a:rPr lang="en-US" sz="2700" b="1" dirty="0">
                <a:solidFill>
                  <a:srgbClr val="1E3A8A"/>
                </a:solidFill>
                <a:latin typeface="Noto Sans SC" pitchFamily="34" charset="0"/>
                <a:ea typeface="Noto Sans SC" pitchFamily="34" charset="-122"/>
                <a:cs typeface="Noto Sans SC" pitchFamily="34" charset="-120"/>
              </a:rPr>
              <a:t>Challenger le MVP — Validation &amp; Risques</a:t>
            </a:r>
            <a:endParaRPr lang="en-US" sz="1600" dirty="0"/>
          </a:p>
        </p:txBody>
      </p:sp>
      <p:sp>
        <p:nvSpPr>
          <p:cNvPr id="5" name="Shape 3"/>
          <p:cNvSpPr/>
          <p:nvPr/>
        </p:nvSpPr>
        <p:spPr>
          <a:xfrm>
            <a:off x="390525" y="1533525"/>
            <a:ext cx="5619750" cy="1466850"/>
          </a:xfrm>
          <a:custGeom>
            <a:avLst/>
            <a:gdLst/>
            <a:ahLst/>
            <a:cxnLst/>
            <a:rect l="l" t="t" r="r" b="b"/>
            <a:pathLst>
              <a:path w="5619750" h="1466850">
                <a:moveTo>
                  <a:pt x="114297" y="0"/>
                </a:moveTo>
                <a:lnTo>
                  <a:pt x="5505453" y="0"/>
                </a:lnTo>
                <a:cubicBezTo>
                  <a:pt x="5568578" y="0"/>
                  <a:pt x="5619750" y="51172"/>
                  <a:pt x="5619750" y="114297"/>
                </a:cubicBezTo>
                <a:lnTo>
                  <a:pt x="5619750" y="1352553"/>
                </a:lnTo>
                <a:cubicBezTo>
                  <a:pt x="5619750" y="1415678"/>
                  <a:pt x="5568578" y="1466850"/>
                  <a:pt x="5505453" y="1466850"/>
                </a:cubicBezTo>
                <a:lnTo>
                  <a:pt x="114297" y="1466850"/>
                </a:lnTo>
                <a:cubicBezTo>
                  <a:pt x="51172" y="1466850"/>
                  <a:pt x="0" y="1415678"/>
                  <a:pt x="0" y="1352553"/>
                </a:cubicBezTo>
                <a:lnTo>
                  <a:pt x="0" y="114297"/>
                </a:lnTo>
                <a:cubicBezTo>
                  <a:pt x="0" y="51172"/>
                  <a:pt x="51172" y="0"/>
                  <a:pt x="114297" y="0"/>
                </a:cubicBezTo>
                <a:close/>
              </a:path>
            </a:pathLst>
          </a:custGeom>
          <a:solidFill>
            <a:srgbClr val="10B981">
              <a:alpha val="10196"/>
            </a:srgbClr>
          </a:solidFill>
          <a:ln w="25400">
            <a:solidFill>
              <a:srgbClr val="10B981"/>
            </a:solidFill>
            <a:prstDash val="solid"/>
          </a:ln>
        </p:spPr>
      </p:sp>
      <p:sp>
        <p:nvSpPr>
          <p:cNvPr id="6" name="Shape 4"/>
          <p:cNvSpPr/>
          <p:nvPr/>
        </p:nvSpPr>
        <p:spPr>
          <a:xfrm>
            <a:off x="552450" y="1752600"/>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10B981"/>
          </a:solidFill>
          <a:ln/>
        </p:spPr>
      </p:sp>
      <p:sp>
        <p:nvSpPr>
          <p:cNvPr id="7" name="Text 5"/>
          <p:cNvSpPr/>
          <p:nvPr/>
        </p:nvSpPr>
        <p:spPr>
          <a:xfrm>
            <a:off x="866775" y="1714500"/>
            <a:ext cx="1781175" cy="266700"/>
          </a:xfrm>
          <a:prstGeom prst="rect">
            <a:avLst/>
          </a:prstGeom>
          <a:noFill/>
          <a:ln/>
        </p:spPr>
        <p:txBody>
          <a:bodyPr wrap="square" lIns="0" tIns="0" rIns="0" bIns="0" rtlCol="0" anchor="ctr"/>
          <a:lstStyle/>
          <a:p>
            <a:pPr>
              <a:lnSpc>
                <a:spcPct val="130000"/>
              </a:lnSpc>
            </a:pPr>
            <a:r>
              <a:rPr lang="en-US" sz="1350" b="1" dirty="0">
                <a:solidFill>
                  <a:srgbClr val="1E3A8A"/>
                </a:solidFill>
                <a:latin typeface="MiSans" pitchFamily="34" charset="0"/>
                <a:ea typeface="MiSans" pitchFamily="34" charset="-122"/>
                <a:cs typeface="MiSans" pitchFamily="34" charset="-120"/>
              </a:rPr>
              <a:t>Faisabilité technique</a:t>
            </a:r>
            <a:endParaRPr lang="en-US" sz="1600" dirty="0"/>
          </a:p>
        </p:txBody>
      </p:sp>
      <p:sp>
        <p:nvSpPr>
          <p:cNvPr id="8" name="Shape 6"/>
          <p:cNvSpPr/>
          <p:nvPr/>
        </p:nvSpPr>
        <p:spPr>
          <a:xfrm>
            <a:off x="5130701" y="1695450"/>
            <a:ext cx="714375" cy="304800"/>
          </a:xfrm>
          <a:custGeom>
            <a:avLst/>
            <a:gdLst/>
            <a:ahLst/>
            <a:cxnLst/>
            <a:rect l="l" t="t" r="r" b="b"/>
            <a:pathLst>
              <a:path w="714375" h="304800">
                <a:moveTo>
                  <a:pt x="152400" y="0"/>
                </a:moveTo>
                <a:lnTo>
                  <a:pt x="561975" y="0"/>
                </a:lnTo>
                <a:cubicBezTo>
                  <a:pt x="646087" y="0"/>
                  <a:pt x="714375" y="68288"/>
                  <a:pt x="714375" y="152400"/>
                </a:cubicBezTo>
                <a:lnTo>
                  <a:pt x="714375" y="152400"/>
                </a:lnTo>
                <a:cubicBezTo>
                  <a:pt x="714375" y="236512"/>
                  <a:pt x="646087" y="304800"/>
                  <a:pt x="561975" y="304800"/>
                </a:cubicBezTo>
                <a:lnTo>
                  <a:pt x="152400" y="304800"/>
                </a:lnTo>
                <a:cubicBezTo>
                  <a:pt x="68288" y="304800"/>
                  <a:pt x="0" y="236512"/>
                  <a:pt x="0" y="152400"/>
                </a:cubicBezTo>
                <a:lnTo>
                  <a:pt x="0" y="152400"/>
                </a:lnTo>
                <a:cubicBezTo>
                  <a:pt x="0" y="68288"/>
                  <a:pt x="68288" y="0"/>
                  <a:pt x="152400" y="0"/>
                </a:cubicBezTo>
                <a:close/>
              </a:path>
            </a:pathLst>
          </a:custGeom>
          <a:solidFill>
            <a:srgbClr val="10B981"/>
          </a:solidFill>
          <a:ln/>
        </p:spPr>
      </p:sp>
      <p:sp>
        <p:nvSpPr>
          <p:cNvPr id="9" name="Text 7"/>
          <p:cNvSpPr/>
          <p:nvPr/>
        </p:nvSpPr>
        <p:spPr>
          <a:xfrm>
            <a:off x="5245001" y="1771650"/>
            <a:ext cx="555724" cy="152400"/>
          </a:xfrm>
          <a:prstGeom prst="rect">
            <a:avLst/>
          </a:prstGeom>
          <a:noFill/>
          <a:ln/>
        </p:spPr>
        <p:txBody>
          <a:bodyPr wrap="square" lIns="0" tIns="0" rIns="0" bIns="0" rtlCol="0" anchor="ctr"/>
          <a:lstStyle/>
          <a:p>
            <a:pPr>
              <a:lnSpc>
                <a:spcPct val="120000"/>
              </a:lnSpc>
            </a:pPr>
            <a:r>
              <a:rPr lang="en-US" sz="1050" b="1" dirty="0">
                <a:solidFill>
                  <a:srgbClr val="FFFFFF"/>
                </a:solidFill>
                <a:latin typeface="MiSans" pitchFamily="34" charset="0"/>
                <a:ea typeface="MiSans" pitchFamily="34" charset="-122"/>
                <a:cs typeface="MiSans" pitchFamily="34" charset="-120"/>
              </a:rPr>
              <a:t>VALIDÉ</a:t>
            </a:r>
            <a:endParaRPr lang="en-US" sz="1600" dirty="0"/>
          </a:p>
        </p:txBody>
      </p:sp>
      <p:sp>
        <p:nvSpPr>
          <p:cNvPr id="10" name="Text 8"/>
          <p:cNvSpPr/>
          <p:nvPr/>
        </p:nvSpPr>
        <p:spPr>
          <a:xfrm>
            <a:off x="552450" y="21145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Autoencoders: </a:t>
            </a:r>
            <a:r>
              <a:rPr lang="en-US" sz="1050" b="1" dirty="0">
                <a:solidFill>
                  <a:srgbClr val="10B981"/>
                </a:solidFill>
                <a:latin typeface="MiSans" pitchFamily="34" charset="0"/>
                <a:ea typeface="MiSans" pitchFamily="34" charset="-122"/>
                <a:cs typeface="MiSans" pitchFamily="34" charset="-120"/>
              </a:rPr>
              <a:t>85-99%</a:t>
            </a:r>
            <a:r>
              <a:rPr lang="en-US" sz="1050" dirty="0">
                <a:solidFill>
                  <a:srgbClr val="374151"/>
                </a:solidFill>
                <a:latin typeface="MiSans" pitchFamily="34" charset="0"/>
                <a:ea typeface="MiSans" pitchFamily="34" charset="-122"/>
                <a:cs typeface="MiSans" pitchFamily="34" charset="-120"/>
              </a:rPr>
              <a:t> accuracy (survey 150+ articles, 2026)</a:t>
            </a:r>
            <a:endParaRPr lang="en-US" sz="1600" dirty="0"/>
          </a:p>
        </p:txBody>
      </p:sp>
      <p:sp>
        <p:nvSpPr>
          <p:cNvPr id="11" name="Text 9"/>
          <p:cNvSpPr/>
          <p:nvPr/>
        </p:nvSpPr>
        <p:spPr>
          <a:xfrm>
            <a:off x="552450" y="23812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Inférence </a:t>
            </a:r>
            <a:r>
              <a:rPr lang="en-US" sz="1050" b="1" dirty="0">
                <a:solidFill>
                  <a:srgbClr val="10B981"/>
                </a:solidFill>
                <a:latin typeface="MiSans" pitchFamily="34" charset="0"/>
                <a:ea typeface="MiSans" pitchFamily="34" charset="-122"/>
                <a:cs typeface="MiSans" pitchFamily="34" charset="-120"/>
              </a:rPr>
              <a:t>&lt;1 sec</a:t>
            </a:r>
            <a:r>
              <a:rPr lang="en-US" sz="1050" dirty="0">
                <a:solidFill>
                  <a:srgbClr val="374151"/>
                </a:solidFill>
                <a:latin typeface="MiSans" pitchFamily="34" charset="0"/>
                <a:ea typeface="MiSans" pitchFamily="34" charset="-122"/>
                <a:cs typeface="MiSans" pitchFamily="34" charset="-120"/>
              </a:rPr>
              <a:t> sur GPU standard</a:t>
            </a:r>
            <a:endParaRPr lang="en-US" sz="1600" dirty="0"/>
          </a:p>
        </p:txBody>
      </p:sp>
      <p:sp>
        <p:nvSpPr>
          <p:cNvPr id="12" name="Text 10"/>
          <p:cNvSpPr/>
          <p:nvPr/>
        </p:nvSpPr>
        <p:spPr>
          <a:xfrm>
            <a:off x="552450" y="26479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Risque faux négatifs → seuil conservateur + validation humaine V1</a:t>
            </a:r>
            <a:endParaRPr lang="en-US" sz="1600" dirty="0"/>
          </a:p>
        </p:txBody>
      </p:sp>
      <p:sp>
        <p:nvSpPr>
          <p:cNvPr id="13" name="Shape 11"/>
          <p:cNvSpPr/>
          <p:nvPr/>
        </p:nvSpPr>
        <p:spPr>
          <a:xfrm>
            <a:off x="6181725" y="1533525"/>
            <a:ext cx="5619750" cy="1466850"/>
          </a:xfrm>
          <a:custGeom>
            <a:avLst/>
            <a:gdLst/>
            <a:ahLst/>
            <a:cxnLst/>
            <a:rect l="l" t="t" r="r" b="b"/>
            <a:pathLst>
              <a:path w="5619750" h="1466850">
                <a:moveTo>
                  <a:pt x="114297" y="0"/>
                </a:moveTo>
                <a:lnTo>
                  <a:pt x="5505453" y="0"/>
                </a:lnTo>
                <a:cubicBezTo>
                  <a:pt x="5568578" y="0"/>
                  <a:pt x="5619750" y="51172"/>
                  <a:pt x="5619750" y="114297"/>
                </a:cubicBezTo>
                <a:lnTo>
                  <a:pt x="5619750" y="1352553"/>
                </a:lnTo>
                <a:cubicBezTo>
                  <a:pt x="5619750" y="1415678"/>
                  <a:pt x="5568578" y="1466850"/>
                  <a:pt x="5505453" y="1466850"/>
                </a:cubicBezTo>
                <a:lnTo>
                  <a:pt x="114297" y="1466850"/>
                </a:lnTo>
                <a:cubicBezTo>
                  <a:pt x="51172" y="1466850"/>
                  <a:pt x="0" y="1415678"/>
                  <a:pt x="0" y="1352553"/>
                </a:cubicBezTo>
                <a:lnTo>
                  <a:pt x="0" y="114297"/>
                </a:lnTo>
                <a:cubicBezTo>
                  <a:pt x="0" y="51172"/>
                  <a:pt x="51172" y="0"/>
                  <a:pt x="114297" y="0"/>
                </a:cubicBezTo>
                <a:close/>
              </a:path>
            </a:pathLst>
          </a:custGeom>
          <a:solidFill>
            <a:srgbClr val="F97316">
              <a:alpha val="10196"/>
            </a:srgbClr>
          </a:solidFill>
          <a:ln w="25400">
            <a:solidFill>
              <a:srgbClr val="F97316"/>
            </a:solidFill>
            <a:prstDash val="solid"/>
          </a:ln>
        </p:spPr>
      </p:sp>
      <p:sp>
        <p:nvSpPr>
          <p:cNvPr id="14" name="Shape 12"/>
          <p:cNvSpPr/>
          <p:nvPr/>
        </p:nvSpPr>
        <p:spPr>
          <a:xfrm>
            <a:off x="6379369" y="1752600"/>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F97316"/>
          </a:solidFill>
          <a:ln/>
        </p:spPr>
      </p:sp>
      <p:sp>
        <p:nvSpPr>
          <p:cNvPr id="15" name="Text 13"/>
          <p:cNvSpPr/>
          <p:nvPr/>
        </p:nvSpPr>
        <p:spPr>
          <a:xfrm>
            <a:off x="6657975" y="1714500"/>
            <a:ext cx="809625" cy="266700"/>
          </a:xfrm>
          <a:prstGeom prst="rect">
            <a:avLst/>
          </a:prstGeom>
          <a:noFill/>
          <a:ln/>
        </p:spPr>
        <p:txBody>
          <a:bodyPr wrap="square" lIns="0" tIns="0" rIns="0" bIns="0" rtlCol="0" anchor="ctr"/>
          <a:lstStyle/>
          <a:p>
            <a:pPr>
              <a:lnSpc>
                <a:spcPct val="130000"/>
              </a:lnSpc>
            </a:pPr>
            <a:r>
              <a:rPr lang="en-US" sz="1350" b="1" dirty="0">
                <a:solidFill>
                  <a:srgbClr val="1E3A8A"/>
                </a:solidFill>
                <a:latin typeface="MiSans" pitchFamily="34" charset="0"/>
                <a:ea typeface="MiSans" pitchFamily="34" charset="-122"/>
                <a:cs typeface="MiSans" pitchFamily="34" charset="-120"/>
              </a:rPr>
              <a:t>Données</a:t>
            </a:r>
            <a:endParaRPr lang="en-US" sz="1600" dirty="0"/>
          </a:p>
        </p:txBody>
      </p:sp>
      <p:sp>
        <p:nvSpPr>
          <p:cNvPr id="16" name="Shape 14"/>
          <p:cNvSpPr/>
          <p:nvPr/>
        </p:nvSpPr>
        <p:spPr>
          <a:xfrm>
            <a:off x="10647908" y="1695450"/>
            <a:ext cx="990600" cy="304800"/>
          </a:xfrm>
          <a:custGeom>
            <a:avLst/>
            <a:gdLst/>
            <a:ahLst/>
            <a:cxnLst/>
            <a:rect l="l" t="t" r="r" b="b"/>
            <a:pathLst>
              <a:path w="990600" h="304800">
                <a:moveTo>
                  <a:pt x="152400" y="0"/>
                </a:moveTo>
                <a:lnTo>
                  <a:pt x="838200" y="0"/>
                </a:lnTo>
                <a:cubicBezTo>
                  <a:pt x="922312" y="0"/>
                  <a:pt x="990600" y="68288"/>
                  <a:pt x="990600" y="152400"/>
                </a:cubicBezTo>
                <a:lnTo>
                  <a:pt x="990600" y="152400"/>
                </a:lnTo>
                <a:cubicBezTo>
                  <a:pt x="990600" y="236512"/>
                  <a:pt x="922312" y="304800"/>
                  <a:pt x="838200" y="304800"/>
                </a:cubicBezTo>
                <a:lnTo>
                  <a:pt x="152400" y="304800"/>
                </a:lnTo>
                <a:cubicBezTo>
                  <a:pt x="68288" y="304800"/>
                  <a:pt x="0" y="236512"/>
                  <a:pt x="0" y="152400"/>
                </a:cubicBezTo>
                <a:lnTo>
                  <a:pt x="0" y="152400"/>
                </a:lnTo>
                <a:cubicBezTo>
                  <a:pt x="0" y="68288"/>
                  <a:pt x="68288" y="0"/>
                  <a:pt x="152400" y="0"/>
                </a:cubicBezTo>
                <a:close/>
              </a:path>
            </a:pathLst>
          </a:custGeom>
          <a:solidFill>
            <a:srgbClr val="F97316"/>
          </a:solidFill>
          <a:ln/>
        </p:spPr>
      </p:sp>
      <p:sp>
        <p:nvSpPr>
          <p:cNvPr id="17" name="Text 15"/>
          <p:cNvSpPr/>
          <p:nvPr/>
        </p:nvSpPr>
        <p:spPr>
          <a:xfrm>
            <a:off x="10762208" y="1771650"/>
            <a:ext cx="829717" cy="152400"/>
          </a:xfrm>
          <a:prstGeom prst="rect">
            <a:avLst/>
          </a:prstGeom>
          <a:noFill/>
          <a:ln/>
        </p:spPr>
        <p:txBody>
          <a:bodyPr wrap="square" lIns="0" tIns="0" rIns="0" bIns="0" rtlCol="0" anchor="ctr"/>
          <a:lstStyle/>
          <a:p>
            <a:pPr>
              <a:lnSpc>
                <a:spcPct val="120000"/>
              </a:lnSpc>
            </a:pPr>
            <a:r>
              <a:rPr lang="en-US" sz="1050" b="1" dirty="0">
                <a:solidFill>
                  <a:srgbClr val="FFFFFF"/>
                </a:solidFill>
                <a:latin typeface="MiSans" pitchFamily="34" charset="0"/>
                <a:ea typeface="MiSans" pitchFamily="34" charset="-122"/>
                <a:cs typeface="MiSans" pitchFamily="34" charset="-120"/>
              </a:rPr>
              <a:t>ATTENTION</a:t>
            </a:r>
            <a:endParaRPr lang="en-US" sz="1600" dirty="0"/>
          </a:p>
        </p:txBody>
      </p:sp>
      <p:sp>
        <p:nvSpPr>
          <p:cNvPr id="18" name="Text 16"/>
          <p:cNvSpPr/>
          <p:nvPr/>
        </p:nvSpPr>
        <p:spPr>
          <a:xfrm>
            <a:off x="6343650" y="21145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Conformes = abondantes · Défauts = rares → anomaly detection</a:t>
            </a:r>
            <a:endParaRPr lang="en-US" sz="1600" dirty="0"/>
          </a:p>
        </p:txBody>
      </p:sp>
      <p:sp>
        <p:nvSpPr>
          <p:cNvPr id="19" name="Text 17"/>
          <p:cNvSpPr/>
          <p:nvPr/>
        </p:nvSpPr>
        <p:spPr>
          <a:xfrm>
            <a:off x="6343650" y="23812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Phase collecte </a:t>
            </a:r>
            <a:r>
              <a:rPr lang="en-US" sz="1050" b="1" dirty="0">
                <a:solidFill>
                  <a:srgbClr val="F97316"/>
                </a:solidFill>
                <a:latin typeface="MiSans" pitchFamily="34" charset="0"/>
                <a:ea typeface="MiSans" pitchFamily="34" charset="-122"/>
                <a:cs typeface="MiSans" pitchFamily="34" charset="-120"/>
              </a:rPr>
              <a:t>2-4 semaines</a:t>
            </a:r>
            <a:r>
              <a:rPr lang="en-US" sz="1050" dirty="0">
                <a:solidFill>
                  <a:srgbClr val="374151"/>
                </a:solidFill>
                <a:latin typeface="MiSans" pitchFamily="34" charset="0"/>
                <a:ea typeface="MiSans" pitchFamily="34" charset="-122"/>
                <a:cs typeface="MiSans" pitchFamily="34" charset="-120"/>
              </a:rPr>
              <a:t> avant entraînement</a:t>
            </a:r>
            <a:endParaRPr lang="en-US" sz="1600" dirty="0"/>
          </a:p>
        </p:txBody>
      </p:sp>
      <p:sp>
        <p:nvSpPr>
          <p:cNvPr id="20" name="Text 18"/>
          <p:cNvSpPr/>
          <p:nvPr/>
        </p:nvSpPr>
        <p:spPr>
          <a:xfrm>
            <a:off x="6343650" y="26479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Images = données critiques → cloud souverain</a:t>
            </a:r>
            <a:endParaRPr lang="en-US" sz="1600" dirty="0"/>
          </a:p>
        </p:txBody>
      </p:sp>
      <p:sp>
        <p:nvSpPr>
          <p:cNvPr id="21" name="Shape 19"/>
          <p:cNvSpPr/>
          <p:nvPr/>
        </p:nvSpPr>
        <p:spPr>
          <a:xfrm>
            <a:off x="390525" y="3171825"/>
            <a:ext cx="5619750" cy="1466850"/>
          </a:xfrm>
          <a:custGeom>
            <a:avLst/>
            <a:gdLst/>
            <a:ahLst/>
            <a:cxnLst/>
            <a:rect l="l" t="t" r="r" b="b"/>
            <a:pathLst>
              <a:path w="5619750" h="1466850">
                <a:moveTo>
                  <a:pt x="114297" y="0"/>
                </a:moveTo>
                <a:lnTo>
                  <a:pt x="5505453" y="0"/>
                </a:lnTo>
                <a:cubicBezTo>
                  <a:pt x="5568578" y="0"/>
                  <a:pt x="5619750" y="51172"/>
                  <a:pt x="5619750" y="114297"/>
                </a:cubicBezTo>
                <a:lnTo>
                  <a:pt x="5619750" y="1352553"/>
                </a:lnTo>
                <a:cubicBezTo>
                  <a:pt x="5619750" y="1415678"/>
                  <a:pt x="5568578" y="1466850"/>
                  <a:pt x="5505453" y="1466850"/>
                </a:cubicBezTo>
                <a:lnTo>
                  <a:pt x="114297" y="1466850"/>
                </a:lnTo>
                <a:cubicBezTo>
                  <a:pt x="51172" y="1466850"/>
                  <a:pt x="0" y="1415678"/>
                  <a:pt x="0" y="1352553"/>
                </a:cubicBezTo>
                <a:lnTo>
                  <a:pt x="0" y="114297"/>
                </a:lnTo>
                <a:cubicBezTo>
                  <a:pt x="0" y="51172"/>
                  <a:pt x="51172" y="0"/>
                  <a:pt x="114297" y="0"/>
                </a:cubicBezTo>
                <a:close/>
              </a:path>
            </a:pathLst>
          </a:custGeom>
          <a:solidFill>
            <a:srgbClr val="10B981">
              <a:alpha val="10196"/>
            </a:srgbClr>
          </a:solidFill>
          <a:ln w="25400">
            <a:solidFill>
              <a:srgbClr val="10B981"/>
            </a:solidFill>
            <a:prstDash val="solid"/>
          </a:ln>
        </p:spPr>
      </p:sp>
      <p:sp>
        <p:nvSpPr>
          <p:cNvPr id="22" name="Shape 20"/>
          <p:cNvSpPr/>
          <p:nvPr/>
        </p:nvSpPr>
        <p:spPr>
          <a:xfrm>
            <a:off x="552450" y="3390900"/>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10B981"/>
          </a:solidFill>
          <a:ln/>
        </p:spPr>
      </p:sp>
      <p:sp>
        <p:nvSpPr>
          <p:cNvPr id="23" name="Text 21"/>
          <p:cNvSpPr/>
          <p:nvPr/>
        </p:nvSpPr>
        <p:spPr>
          <a:xfrm>
            <a:off x="866775" y="3352800"/>
            <a:ext cx="1019175" cy="266700"/>
          </a:xfrm>
          <a:prstGeom prst="rect">
            <a:avLst/>
          </a:prstGeom>
          <a:noFill/>
          <a:ln/>
        </p:spPr>
        <p:txBody>
          <a:bodyPr wrap="square" lIns="0" tIns="0" rIns="0" bIns="0" rtlCol="0" anchor="ctr"/>
          <a:lstStyle/>
          <a:p>
            <a:pPr>
              <a:lnSpc>
                <a:spcPct val="130000"/>
              </a:lnSpc>
            </a:pPr>
            <a:r>
              <a:rPr lang="en-US" sz="1350" b="1" dirty="0">
                <a:solidFill>
                  <a:srgbClr val="1E3A8A"/>
                </a:solidFill>
                <a:latin typeface="MiSans" pitchFamily="34" charset="0"/>
                <a:ea typeface="MiSans" pitchFamily="34" charset="-122"/>
                <a:cs typeface="MiSans" pitchFamily="34" charset="-120"/>
              </a:rPr>
              <a:t>Utilisateurs</a:t>
            </a:r>
            <a:endParaRPr lang="en-US" sz="1600" dirty="0"/>
          </a:p>
        </p:txBody>
      </p:sp>
      <p:sp>
        <p:nvSpPr>
          <p:cNvPr id="24" name="Shape 22"/>
          <p:cNvSpPr/>
          <p:nvPr/>
        </p:nvSpPr>
        <p:spPr>
          <a:xfrm>
            <a:off x="5130701" y="3333750"/>
            <a:ext cx="714375" cy="304800"/>
          </a:xfrm>
          <a:custGeom>
            <a:avLst/>
            <a:gdLst/>
            <a:ahLst/>
            <a:cxnLst/>
            <a:rect l="l" t="t" r="r" b="b"/>
            <a:pathLst>
              <a:path w="714375" h="304800">
                <a:moveTo>
                  <a:pt x="152400" y="0"/>
                </a:moveTo>
                <a:lnTo>
                  <a:pt x="561975" y="0"/>
                </a:lnTo>
                <a:cubicBezTo>
                  <a:pt x="646087" y="0"/>
                  <a:pt x="714375" y="68288"/>
                  <a:pt x="714375" y="152400"/>
                </a:cubicBezTo>
                <a:lnTo>
                  <a:pt x="714375" y="152400"/>
                </a:lnTo>
                <a:cubicBezTo>
                  <a:pt x="714375" y="236512"/>
                  <a:pt x="646087" y="304800"/>
                  <a:pt x="561975" y="304800"/>
                </a:cubicBezTo>
                <a:lnTo>
                  <a:pt x="152400" y="304800"/>
                </a:lnTo>
                <a:cubicBezTo>
                  <a:pt x="68288" y="304800"/>
                  <a:pt x="0" y="236512"/>
                  <a:pt x="0" y="152400"/>
                </a:cubicBezTo>
                <a:lnTo>
                  <a:pt x="0" y="152400"/>
                </a:lnTo>
                <a:cubicBezTo>
                  <a:pt x="0" y="68288"/>
                  <a:pt x="68288" y="0"/>
                  <a:pt x="152400" y="0"/>
                </a:cubicBezTo>
                <a:close/>
              </a:path>
            </a:pathLst>
          </a:custGeom>
          <a:solidFill>
            <a:srgbClr val="10B981"/>
          </a:solidFill>
          <a:ln/>
        </p:spPr>
      </p:sp>
      <p:sp>
        <p:nvSpPr>
          <p:cNvPr id="25" name="Text 23"/>
          <p:cNvSpPr/>
          <p:nvPr/>
        </p:nvSpPr>
        <p:spPr>
          <a:xfrm>
            <a:off x="5245001" y="3409950"/>
            <a:ext cx="555724" cy="152400"/>
          </a:xfrm>
          <a:prstGeom prst="rect">
            <a:avLst/>
          </a:prstGeom>
          <a:noFill/>
          <a:ln/>
        </p:spPr>
        <p:txBody>
          <a:bodyPr wrap="square" lIns="0" tIns="0" rIns="0" bIns="0" rtlCol="0" anchor="ctr"/>
          <a:lstStyle/>
          <a:p>
            <a:pPr>
              <a:lnSpc>
                <a:spcPct val="120000"/>
              </a:lnSpc>
            </a:pPr>
            <a:r>
              <a:rPr lang="en-US" sz="1050" b="1" dirty="0">
                <a:solidFill>
                  <a:srgbClr val="FFFFFF"/>
                </a:solidFill>
                <a:latin typeface="MiSans" pitchFamily="34" charset="0"/>
                <a:ea typeface="MiSans" pitchFamily="34" charset="-122"/>
                <a:cs typeface="MiSans" pitchFamily="34" charset="-120"/>
              </a:rPr>
              <a:t>VALIDÉ</a:t>
            </a:r>
            <a:endParaRPr lang="en-US" sz="1600" dirty="0"/>
          </a:p>
        </p:txBody>
      </p:sp>
      <p:sp>
        <p:nvSpPr>
          <p:cNvPr id="26" name="Text 24"/>
          <p:cNvSpPr/>
          <p:nvPr/>
        </p:nvSpPr>
        <p:spPr>
          <a:xfrm>
            <a:off x="552450" y="37528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Sophie </a:t>
            </a:r>
            <a:r>
              <a:rPr lang="en-US" sz="1050" b="1" dirty="0">
                <a:solidFill>
                  <a:srgbClr val="10B981"/>
                </a:solidFill>
                <a:latin typeface="MiSans" pitchFamily="34" charset="0"/>
                <a:ea typeface="MiSans" pitchFamily="34" charset="-122"/>
                <a:cs typeface="MiSans" pitchFamily="34" charset="-120"/>
              </a:rPr>
              <a:t>motivée</a:t>
            </a:r>
            <a:r>
              <a:rPr lang="en-US" sz="1050" dirty="0">
                <a:solidFill>
                  <a:srgbClr val="374151"/>
                </a:solidFill>
                <a:latin typeface="MiSans" pitchFamily="34" charset="0"/>
                <a:ea typeface="MiSans" pitchFamily="34" charset="-122"/>
                <a:cs typeface="MiSans" pitchFamily="34" charset="-120"/>
              </a:rPr>
              <a:t> : allège subjectivité, garde le dernier mot</a:t>
            </a:r>
            <a:endParaRPr lang="en-US" sz="1600" dirty="0"/>
          </a:p>
        </p:txBody>
      </p:sp>
      <p:sp>
        <p:nvSpPr>
          <p:cNvPr id="27" name="Text 25"/>
          <p:cNvSpPr/>
          <p:nvPr/>
        </p:nvSpPr>
        <p:spPr>
          <a:xfrm>
            <a:off x="552450" y="40195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Marc </a:t>
            </a:r>
            <a:r>
              <a:rPr lang="en-US" sz="1050" b="1" dirty="0">
                <a:solidFill>
                  <a:srgbClr val="10B981"/>
                </a:solidFill>
                <a:latin typeface="MiSans" pitchFamily="34" charset="0"/>
                <a:ea typeface="MiSans" pitchFamily="34" charset="-122"/>
                <a:cs typeface="MiSans" pitchFamily="34" charset="-120"/>
              </a:rPr>
              <a:t>sponsor</a:t>
            </a:r>
            <a:r>
              <a:rPr lang="en-US" sz="1050" dirty="0">
                <a:solidFill>
                  <a:srgbClr val="374151"/>
                </a:solidFill>
                <a:latin typeface="MiSans" pitchFamily="34" charset="0"/>
                <a:ea typeface="MiSans" pitchFamily="34" charset="-122"/>
                <a:cs typeface="MiSans" pitchFamily="34" charset="-120"/>
              </a:rPr>
              <a:t> : impact OTD + NCR</a:t>
            </a:r>
            <a:endParaRPr lang="en-US" sz="1600" dirty="0"/>
          </a:p>
        </p:txBody>
      </p:sp>
      <p:sp>
        <p:nvSpPr>
          <p:cNvPr id="28" name="Text 26"/>
          <p:cNvSpPr/>
          <p:nvPr/>
        </p:nvSpPr>
        <p:spPr>
          <a:xfrm>
            <a:off x="552450" y="42862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Approche "co-pilote IA", aucun poste supprimé</a:t>
            </a:r>
            <a:endParaRPr lang="en-US" sz="1600" dirty="0"/>
          </a:p>
        </p:txBody>
      </p:sp>
      <p:sp>
        <p:nvSpPr>
          <p:cNvPr id="29" name="Shape 27"/>
          <p:cNvSpPr/>
          <p:nvPr/>
        </p:nvSpPr>
        <p:spPr>
          <a:xfrm>
            <a:off x="6181725" y="3171825"/>
            <a:ext cx="5619750" cy="1466850"/>
          </a:xfrm>
          <a:custGeom>
            <a:avLst/>
            <a:gdLst/>
            <a:ahLst/>
            <a:cxnLst/>
            <a:rect l="l" t="t" r="r" b="b"/>
            <a:pathLst>
              <a:path w="5619750" h="1466850">
                <a:moveTo>
                  <a:pt x="114297" y="0"/>
                </a:moveTo>
                <a:lnTo>
                  <a:pt x="5505453" y="0"/>
                </a:lnTo>
                <a:cubicBezTo>
                  <a:pt x="5568578" y="0"/>
                  <a:pt x="5619750" y="51172"/>
                  <a:pt x="5619750" y="114297"/>
                </a:cubicBezTo>
                <a:lnTo>
                  <a:pt x="5619750" y="1352553"/>
                </a:lnTo>
                <a:cubicBezTo>
                  <a:pt x="5619750" y="1415678"/>
                  <a:pt x="5568578" y="1466850"/>
                  <a:pt x="5505453" y="1466850"/>
                </a:cubicBezTo>
                <a:lnTo>
                  <a:pt x="114297" y="1466850"/>
                </a:lnTo>
                <a:cubicBezTo>
                  <a:pt x="51172" y="1466850"/>
                  <a:pt x="0" y="1415678"/>
                  <a:pt x="0" y="1352553"/>
                </a:cubicBezTo>
                <a:lnTo>
                  <a:pt x="0" y="114297"/>
                </a:lnTo>
                <a:cubicBezTo>
                  <a:pt x="0" y="51172"/>
                  <a:pt x="51172" y="0"/>
                  <a:pt x="114297" y="0"/>
                </a:cubicBezTo>
                <a:close/>
              </a:path>
            </a:pathLst>
          </a:custGeom>
          <a:solidFill>
            <a:srgbClr val="10B981">
              <a:alpha val="10196"/>
            </a:srgbClr>
          </a:solidFill>
          <a:ln w="25400">
            <a:solidFill>
              <a:srgbClr val="10B981"/>
            </a:solidFill>
            <a:prstDash val="solid"/>
          </a:ln>
        </p:spPr>
      </p:sp>
      <p:sp>
        <p:nvSpPr>
          <p:cNvPr id="30" name="Shape 28"/>
          <p:cNvSpPr/>
          <p:nvPr/>
        </p:nvSpPr>
        <p:spPr>
          <a:xfrm>
            <a:off x="6367463" y="3390900"/>
            <a:ext cx="190500" cy="190500"/>
          </a:xfrm>
          <a:custGeom>
            <a:avLst/>
            <a:gdLst/>
            <a:ahLst/>
            <a:cxnLst/>
            <a:rect l="l" t="t" r="r" b="b"/>
            <a:pathLst>
              <a:path w="190500" h="190500">
                <a:moveTo>
                  <a:pt x="62508" y="20836"/>
                </a:moveTo>
                <a:lnTo>
                  <a:pt x="62508" y="35719"/>
                </a:lnTo>
                <a:lnTo>
                  <a:pt x="33449" y="35719"/>
                </a:lnTo>
                <a:cubicBezTo>
                  <a:pt x="28129" y="35719"/>
                  <a:pt x="23812" y="40035"/>
                  <a:pt x="23812" y="45355"/>
                </a:cubicBezTo>
                <a:cubicBezTo>
                  <a:pt x="23812" y="46844"/>
                  <a:pt x="24147" y="48332"/>
                  <a:pt x="24817" y="49671"/>
                </a:cubicBezTo>
                <a:lnTo>
                  <a:pt x="37244" y="74526"/>
                </a:lnTo>
                <a:cubicBezTo>
                  <a:pt x="33003" y="75195"/>
                  <a:pt x="29728" y="78879"/>
                  <a:pt x="29728" y="83344"/>
                </a:cubicBezTo>
                <a:cubicBezTo>
                  <a:pt x="29728" y="88292"/>
                  <a:pt x="33710" y="92273"/>
                  <a:pt x="38658" y="92273"/>
                </a:cubicBezTo>
                <a:lnTo>
                  <a:pt x="40742" y="92273"/>
                </a:lnTo>
                <a:lnTo>
                  <a:pt x="35682" y="142875"/>
                </a:lnTo>
                <a:lnTo>
                  <a:pt x="14771" y="169032"/>
                </a:lnTo>
                <a:cubicBezTo>
                  <a:pt x="12911" y="171376"/>
                  <a:pt x="11869" y="174278"/>
                  <a:pt x="11869" y="177292"/>
                </a:cubicBezTo>
                <a:cubicBezTo>
                  <a:pt x="11869" y="184584"/>
                  <a:pt x="17785" y="190500"/>
                  <a:pt x="25078" y="190500"/>
                </a:cubicBezTo>
                <a:lnTo>
                  <a:pt x="117686" y="190500"/>
                </a:lnTo>
                <a:cubicBezTo>
                  <a:pt x="124978" y="190500"/>
                  <a:pt x="130894" y="184584"/>
                  <a:pt x="130894" y="177292"/>
                </a:cubicBezTo>
                <a:cubicBezTo>
                  <a:pt x="130894" y="174278"/>
                  <a:pt x="129890" y="171376"/>
                  <a:pt x="127992" y="169032"/>
                </a:cubicBezTo>
                <a:lnTo>
                  <a:pt x="107156" y="142875"/>
                </a:lnTo>
                <a:lnTo>
                  <a:pt x="102096" y="92273"/>
                </a:lnTo>
                <a:lnTo>
                  <a:pt x="104180" y="92273"/>
                </a:lnTo>
                <a:cubicBezTo>
                  <a:pt x="109128" y="92273"/>
                  <a:pt x="113109" y="88292"/>
                  <a:pt x="113109" y="83344"/>
                </a:cubicBezTo>
                <a:cubicBezTo>
                  <a:pt x="113109" y="78916"/>
                  <a:pt x="109872" y="75195"/>
                  <a:pt x="105594" y="74526"/>
                </a:cubicBezTo>
                <a:lnTo>
                  <a:pt x="118021" y="49671"/>
                </a:lnTo>
                <a:cubicBezTo>
                  <a:pt x="118690" y="48332"/>
                  <a:pt x="119025" y="46844"/>
                  <a:pt x="119025" y="45355"/>
                </a:cubicBezTo>
                <a:cubicBezTo>
                  <a:pt x="119025" y="40035"/>
                  <a:pt x="114709" y="35719"/>
                  <a:pt x="109389" y="35719"/>
                </a:cubicBezTo>
                <a:lnTo>
                  <a:pt x="80330" y="35719"/>
                </a:lnTo>
                <a:lnTo>
                  <a:pt x="80330" y="20836"/>
                </a:lnTo>
                <a:lnTo>
                  <a:pt x="86283" y="20836"/>
                </a:lnTo>
                <a:cubicBezTo>
                  <a:pt x="91232" y="20836"/>
                  <a:pt x="95213" y="16855"/>
                  <a:pt x="95213" y="11906"/>
                </a:cubicBezTo>
                <a:cubicBezTo>
                  <a:pt x="95213" y="6958"/>
                  <a:pt x="91269" y="2977"/>
                  <a:pt x="86320" y="2977"/>
                </a:cubicBezTo>
                <a:lnTo>
                  <a:pt x="80367" y="2977"/>
                </a:lnTo>
                <a:lnTo>
                  <a:pt x="80367" y="-2977"/>
                </a:lnTo>
                <a:cubicBezTo>
                  <a:pt x="80367" y="-7925"/>
                  <a:pt x="76386" y="-11906"/>
                  <a:pt x="71438" y="-11906"/>
                </a:cubicBezTo>
                <a:cubicBezTo>
                  <a:pt x="66489" y="-11906"/>
                  <a:pt x="62508" y="-7925"/>
                  <a:pt x="62508" y="-2977"/>
                </a:cubicBezTo>
                <a:lnTo>
                  <a:pt x="62508" y="2977"/>
                </a:lnTo>
                <a:lnTo>
                  <a:pt x="56555" y="2977"/>
                </a:lnTo>
                <a:cubicBezTo>
                  <a:pt x="51606" y="2977"/>
                  <a:pt x="47625" y="6958"/>
                  <a:pt x="47625" y="11906"/>
                </a:cubicBezTo>
                <a:cubicBezTo>
                  <a:pt x="47625" y="16855"/>
                  <a:pt x="51606" y="20836"/>
                  <a:pt x="56555" y="20836"/>
                </a:cubicBezTo>
                <a:lnTo>
                  <a:pt x="62508" y="20836"/>
                </a:lnTo>
                <a:close/>
                <a:moveTo>
                  <a:pt x="121221" y="104031"/>
                </a:moveTo>
                <a:lnTo>
                  <a:pt x="124383" y="135843"/>
                </a:lnTo>
                <a:lnTo>
                  <a:pt x="142019" y="157869"/>
                </a:lnTo>
                <a:lnTo>
                  <a:pt x="143582" y="159990"/>
                </a:lnTo>
                <a:cubicBezTo>
                  <a:pt x="147005" y="165088"/>
                  <a:pt x="148828" y="171115"/>
                  <a:pt x="148828" y="177292"/>
                </a:cubicBezTo>
                <a:cubicBezTo>
                  <a:pt x="148828" y="182017"/>
                  <a:pt x="147786" y="186519"/>
                  <a:pt x="145889" y="190500"/>
                </a:cubicBezTo>
                <a:lnTo>
                  <a:pt x="176808" y="190500"/>
                </a:lnTo>
                <a:cubicBezTo>
                  <a:pt x="184361" y="190500"/>
                  <a:pt x="190500" y="184361"/>
                  <a:pt x="190500" y="176808"/>
                </a:cubicBezTo>
                <a:cubicBezTo>
                  <a:pt x="190500" y="174092"/>
                  <a:pt x="189681" y="171450"/>
                  <a:pt x="188193" y="169218"/>
                </a:cubicBezTo>
                <a:lnTo>
                  <a:pt x="178594" y="154818"/>
                </a:lnTo>
                <a:lnTo>
                  <a:pt x="178594" y="131006"/>
                </a:lnTo>
                <a:lnTo>
                  <a:pt x="183542" y="126057"/>
                </a:lnTo>
                <a:cubicBezTo>
                  <a:pt x="188007" y="121593"/>
                  <a:pt x="190500" y="115528"/>
                  <a:pt x="190500" y="109203"/>
                </a:cubicBezTo>
                <a:lnTo>
                  <a:pt x="190500" y="71438"/>
                </a:lnTo>
                <a:cubicBezTo>
                  <a:pt x="190500" y="64852"/>
                  <a:pt x="185179" y="59531"/>
                  <a:pt x="178594" y="59531"/>
                </a:cubicBezTo>
                <a:cubicBezTo>
                  <a:pt x="172008" y="59531"/>
                  <a:pt x="166688" y="64852"/>
                  <a:pt x="166688" y="71438"/>
                </a:cubicBezTo>
                <a:lnTo>
                  <a:pt x="166688" y="77391"/>
                </a:lnTo>
                <a:lnTo>
                  <a:pt x="154781" y="77391"/>
                </a:lnTo>
                <a:lnTo>
                  <a:pt x="154781" y="71438"/>
                </a:lnTo>
                <a:cubicBezTo>
                  <a:pt x="154781" y="64852"/>
                  <a:pt x="149461" y="59531"/>
                  <a:pt x="142875" y="59531"/>
                </a:cubicBezTo>
                <a:cubicBezTo>
                  <a:pt x="136289" y="59531"/>
                  <a:pt x="130969" y="64852"/>
                  <a:pt x="130969" y="71438"/>
                </a:cubicBezTo>
                <a:lnTo>
                  <a:pt x="130969" y="83344"/>
                </a:lnTo>
                <a:cubicBezTo>
                  <a:pt x="130969" y="91678"/>
                  <a:pt x="127174" y="99120"/>
                  <a:pt x="121221" y="104031"/>
                </a:cubicBezTo>
                <a:close/>
              </a:path>
            </a:pathLst>
          </a:custGeom>
          <a:solidFill>
            <a:srgbClr val="10B981"/>
          </a:solidFill>
          <a:ln/>
        </p:spPr>
      </p:sp>
      <p:sp>
        <p:nvSpPr>
          <p:cNvPr id="31" name="Text 29"/>
          <p:cNvSpPr/>
          <p:nvPr/>
        </p:nvSpPr>
        <p:spPr>
          <a:xfrm>
            <a:off x="6657975" y="3352800"/>
            <a:ext cx="1143000" cy="266700"/>
          </a:xfrm>
          <a:prstGeom prst="rect">
            <a:avLst/>
          </a:prstGeom>
          <a:noFill/>
          <a:ln/>
        </p:spPr>
        <p:txBody>
          <a:bodyPr wrap="square" lIns="0" tIns="0" rIns="0" bIns="0" rtlCol="0" anchor="ctr"/>
          <a:lstStyle/>
          <a:p>
            <a:pPr>
              <a:lnSpc>
                <a:spcPct val="130000"/>
              </a:lnSpc>
            </a:pPr>
            <a:r>
              <a:rPr lang="en-US" sz="1350" b="1" dirty="0">
                <a:solidFill>
                  <a:srgbClr val="1E3A8A"/>
                </a:solidFill>
                <a:latin typeface="MiSans" pitchFamily="34" charset="0"/>
                <a:ea typeface="MiSans" pitchFamily="34" charset="-122"/>
                <a:cs typeface="MiSans" pitchFamily="34" charset="-120"/>
              </a:rPr>
              <a:t>Concurrence</a:t>
            </a:r>
            <a:endParaRPr lang="en-US" sz="1600" dirty="0"/>
          </a:p>
        </p:txBody>
      </p:sp>
      <p:sp>
        <p:nvSpPr>
          <p:cNvPr id="32" name="Shape 30"/>
          <p:cNvSpPr/>
          <p:nvPr/>
        </p:nvSpPr>
        <p:spPr>
          <a:xfrm>
            <a:off x="10921901" y="3333750"/>
            <a:ext cx="714375" cy="304800"/>
          </a:xfrm>
          <a:custGeom>
            <a:avLst/>
            <a:gdLst/>
            <a:ahLst/>
            <a:cxnLst/>
            <a:rect l="l" t="t" r="r" b="b"/>
            <a:pathLst>
              <a:path w="714375" h="304800">
                <a:moveTo>
                  <a:pt x="152400" y="0"/>
                </a:moveTo>
                <a:lnTo>
                  <a:pt x="561975" y="0"/>
                </a:lnTo>
                <a:cubicBezTo>
                  <a:pt x="646087" y="0"/>
                  <a:pt x="714375" y="68288"/>
                  <a:pt x="714375" y="152400"/>
                </a:cubicBezTo>
                <a:lnTo>
                  <a:pt x="714375" y="152400"/>
                </a:lnTo>
                <a:cubicBezTo>
                  <a:pt x="714375" y="236512"/>
                  <a:pt x="646087" y="304800"/>
                  <a:pt x="561975" y="304800"/>
                </a:cubicBezTo>
                <a:lnTo>
                  <a:pt x="152400" y="304800"/>
                </a:lnTo>
                <a:cubicBezTo>
                  <a:pt x="68288" y="304800"/>
                  <a:pt x="0" y="236512"/>
                  <a:pt x="0" y="152400"/>
                </a:cubicBezTo>
                <a:lnTo>
                  <a:pt x="0" y="152400"/>
                </a:lnTo>
                <a:cubicBezTo>
                  <a:pt x="0" y="68288"/>
                  <a:pt x="68288" y="0"/>
                  <a:pt x="152400" y="0"/>
                </a:cubicBezTo>
                <a:close/>
              </a:path>
            </a:pathLst>
          </a:custGeom>
          <a:solidFill>
            <a:srgbClr val="10B981"/>
          </a:solidFill>
          <a:ln/>
        </p:spPr>
      </p:sp>
      <p:sp>
        <p:nvSpPr>
          <p:cNvPr id="33" name="Text 31"/>
          <p:cNvSpPr/>
          <p:nvPr/>
        </p:nvSpPr>
        <p:spPr>
          <a:xfrm>
            <a:off x="11036201" y="3409950"/>
            <a:ext cx="555724" cy="152400"/>
          </a:xfrm>
          <a:prstGeom prst="rect">
            <a:avLst/>
          </a:prstGeom>
          <a:noFill/>
          <a:ln/>
        </p:spPr>
        <p:txBody>
          <a:bodyPr wrap="square" lIns="0" tIns="0" rIns="0" bIns="0" rtlCol="0" anchor="ctr"/>
          <a:lstStyle/>
          <a:p>
            <a:pPr>
              <a:lnSpc>
                <a:spcPct val="120000"/>
              </a:lnSpc>
            </a:pPr>
            <a:r>
              <a:rPr lang="en-US" sz="1050" b="1" dirty="0">
                <a:solidFill>
                  <a:srgbClr val="FFFFFF"/>
                </a:solidFill>
                <a:latin typeface="MiSans" pitchFamily="34" charset="0"/>
                <a:ea typeface="MiSans" pitchFamily="34" charset="-122"/>
                <a:cs typeface="MiSans" pitchFamily="34" charset="-120"/>
              </a:rPr>
              <a:t>VALIDÉ</a:t>
            </a:r>
            <a:endParaRPr lang="en-US" sz="1600" dirty="0"/>
          </a:p>
        </p:txBody>
      </p:sp>
      <p:sp>
        <p:nvSpPr>
          <p:cNvPr id="34" name="Text 32"/>
          <p:cNvSpPr/>
          <p:nvPr/>
        </p:nvSpPr>
        <p:spPr>
          <a:xfrm>
            <a:off x="6343650" y="37528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a:t>
            </a:r>
            <a:r>
              <a:rPr lang="en-US" sz="1050" b="1" dirty="0">
                <a:solidFill>
                  <a:srgbClr val="374151"/>
                </a:solidFill>
                <a:latin typeface="MiSans" pitchFamily="34" charset="0"/>
                <a:ea typeface="MiSans" pitchFamily="34" charset="-122"/>
                <a:cs typeface="MiSans" pitchFamily="34" charset="-120"/>
              </a:rPr>
              <a:t>Cognex ViDi</a:t>
            </a:r>
            <a:r>
              <a:rPr lang="en-US" sz="1050" dirty="0">
                <a:solidFill>
                  <a:srgbClr val="374151"/>
                </a:solidFill>
                <a:latin typeface="MiSans" pitchFamily="34" charset="0"/>
                <a:ea typeface="MiSans" pitchFamily="34" charset="-122"/>
                <a:cs typeface="MiSans" pitchFamily="34" charset="-120"/>
              </a:rPr>
              <a:t> : puissant mais coûteux, boîte noire</a:t>
            </a:r>
            <a:endParaRPr lang="en-US" sz="1600" dirty="0"/>
          </a:p>
        </p:txBody>
      </p:sp>
      <p:sp>
        <p:nvSpPr>
          <p:cNvPr id="35" name="Text 33"/>
          <p:cNvSpPr/>
          <p:nvPr/>
        </p:nvSpPr>
        <p:spPr>
          <a:xfrm>
            <a:off x="6343650" y="4019550"/>
            <a:ext cx="5362575" cy="190500"/>
          </a:xfrm>
          <a:prstGeom prst="rect">
            <a:avLst/>
          </a:prstGeom>
          <a:noFill/>
          <a:ln/>
        </p:spPr>
        <p:txBody>
          <a:bodyPr wrap="square" lIns="0" tIns="0" rIns="0" bIns="0" rtlCol="0" anchor="ctr"/>
          <a:lstStyle/>
          <a:p>
            <a:pPr>
              <a:lnSpc>
                <a:spcPct val="120000"/>
              </a:lnSpc>
            </a:pPr>
            <a:r>
              <a:rPr lang="en-US" sz="1050" dirty="0">
                <a:solidFill>
                  <a:srgbClr val="374151"/>
                </a:solidFill>
                <a:latin typeface="MiSans" pitchFamily="34" charset="0"/>
                <a:ea typeface="MiSans" pitchFamily="34" charset="-122"/>
                <a:cs typeface="MiSans" pitchFamily="34" charset="-120"/>
              </a:rPr>
              <a:t>• </a:t>
            </a:r>
            <a:r>
              <a:rPr lang="en-US" sz="1050" b="1" dirty="0">
                <a:solidFill>
                  <a:srgbClr val="10B981"/>
                </a:solidFill>
                <a:latin typeface="MiSans" pitchFamily="34" charset="0"/>
                <a:ea typeface="MiSans" pitchFamily="34" charset="-122"/>
                <a:cs typeface="MiSans" pitchFamily="34" charset="-120"/>
              </a:rPr>
              <a:t>FQA</a:t>
            </a:r>
            <a:r>
              <a:rPr lang="en-US" sz="1050" dirty="0">
                <a:solidFill>
                  <a:srgbClr val="374151"/>
                </a:solidFill>
                <a:latin typeface="MiSans" pitchFamily="34" charset="0"/>
                <a:ea typeface="MiSans" pitchFamily="34" charset="-122"/>
                <a:cs typeface="MiSans" pitchFamily="34" charset="-120"/>
              </a:rPr>
              <a:t> : sur-mesure, intégré, explicable (heatmap), souverain</a:t>
            </a:r>
            <a:endParaRPr lang="en-US" sz="1600" dirty="0"/>
          </a:p>
        </p:txBody>
      </p:sp>
      <p:sp>
        <p:nvSpPr>
          <p:cNvPr id="36" name="Shape 34"/>
          <p:cNvSpPr/>
          <p:nvPr/>
        </p:nvSpPr>
        <p:spPr>
          <a:xfrm>
            <a:off x="381000" y="4800600"/>
            <a:ext cx="11430000" cy="914400"/>
          </a:xfrm>
          <a:custGeom>
            <a:avLst/>
            <a:gdLst/>
            <a:ahLst/>
            <a:cxnLst/>
            <a:rect l="l" t="t" r="r" b="b"/>
            <a:pathLst>
              <a:path w="11430000" h="914400">
                <a:moveTo>
                  <a:pt x="114300" y="0"/>
                </a:moveTo>
                <a:lnTo>
                  <a:pt x="11315700" y="0"/>
                </a:lnTo>
                <a:cubicBezTo>
                  <a:pt x="11378784" y="0"/>
                  <a:pt x="11430000" y="51216"/>
                  <a:pt x="11430000" y="114300"/>
                </a:cubicBezTo>
                <a:lnTo>
                  <a:pt x="11430000" y="800100"/>
                </a:lnTo>
                <a:cubicBezTo>
                  <a:pt x="11430000" y="863184"/>
                  <a:pt x="11378784" y="914400"/>
                  <a:pt x="11315700" y="914400"/>
                </a:cubicBezTo>
                <a:lnTo>
                  <a:pt x="114300" y="914400"/>
                </a:lnTo>
                <a:cubicBezTo>
                  <a:pt x="51216" y="914400"/>
                  <a:pt x="0" y="863184"/>
                  <a:pt x="0" y="800100"/>
                </a:cubicBezTo>
                <a:lnTo>
                  <a:pt x="0" y="114300"/>
                </a:lnTo>
                <a:cubicBezTo>
                  <a:pt x="0" y="51216"/>
                  <a:pt x="51216" y="0"/>
                  <a:pt x="114300" y="0"/>
                </a:cubicBezTo>
                <a:close/>
              </a:path>
            </a:pathLst>
          </a:custGeom>
          <a:solidFill>
            <a:srgbClr val="F3F4F6"/>
          </a:solidFill>
          <a:ln/>
        </p:spPr>
      </p:sp>
      <p:sp>
        <p:nvSpPr>
          <p:cNvPr id="37" name="Shape 35"/>
          <p:cNvSpPr/>
          <p:nvPr/>
        </p:nvSpPr>
        <p:spPr>
          <a:xfrm>
            <a:off x="576263" y="5143500"/>
            <a:ext cx="200025" cy="228600"/>
          </a:xfrm>
          <a:custGeom>
            <a:avLst/>
            <a:gdLst/>
            <a:ahLst/>
            <a:cxnLst/>
            <a:rect l="l" t="t" r="r" b="b"/>
            <a:pathLst>
              <a:path w="200025" h="228600">
                <a:moveTo>
                  <a:pt x="32727" y="85725"/>
                </a:moveTo>
                <a:cubicBezTo>
                  <a:pt x="45006" y="44425"/>
                  <a:pt x="83269" y="14288"/>
                  <a:pt x="128588" y="14288"/>
                </a:cubicBezTo>
                <a:lnTo>
                  <a:pt x="157163" y="14288"/>
                </a:lnTo>
                <a:cubicBezTo>
                  <a:pt x="165065" y="14288"/>
                  <a:pt x="171450" y="20672"/>
                  <a:pt x="171450" y="28575"/>
                </a:cubicBezTo>
                <a:cubicBezTo>
                  <a:pt x="171450" y="36478"/>
                  <a:pt x="165065" y="42863"/>
                  <a:pt x="157163" y="42863"/>
                </a:cubicBezTo>
                <a:lnTo>
                  <a:pt x="128588" y="42863"/>
                </a:lnTo>
                <a:cubicBezTo>
                  <a:pt x="99298" y="42863"/>
                  <a:pt x="74116" y="60499"/>
                  <a:pt x="63088" y="85725"/>
                </a:cubicBezTo>
                <a:lnTo>
                  <a:pt x="121444" y="85725"/>
                </a:lnTo>
                <a:cubicBezTo>
                  <a:pt x="127382" y="85725"/>
                  <a:pt x="132159" y="90502"/>
                  <a:pt x="132159" y="96441"/>
                </a:cubicBezTo>
                <a:cubicBezTo>
                  <a:pt x="132159" y="102379"/>
                  <a:pt x="127382" y="107156"/>
                  <a:pt x="121444" y="107156"/>
                </a:cubicBezTo>
                <a:lnTo>
                  <a:pt x="57507" y="107156"/>
                </a:lnTo>
                <a:cubicBezTo>
                  <a:pt x="57284" y="109523"/>
                  <a:pt x="57150" y="111889"/>
                  <a:pt x="57150" y="114300"/>
                </a:cubicBezTo>
                <a:cubicBezTo>
                  <a:pt x="57150" y="116711"/>
                  <a:pt x="57284" y="119077"/>
                  <a:pt x="57507" y="121444"/>
                </a:cubicBezTo>
                <a:lnTo>
                  <a:pt x="121444" y="121444"/>
                </a:lnTo>
                <a:cubicBezTo>
                  <a:pt x="127382" y="121444"/>
                  <a:pt x="132159" y="126221"/>
                  <a:pt x="132159" y="132159"/>
                </a:cubicBezTo>
                <a:cubicBezTo>
                  <a:pt x="132159" y="138098"/>
                  <a:pt x="127382" y="142875"/>
                  <a:pt x="121444" y="142875"/>
                </a:cubicBezTo>
                <a:lnTo>
                  <a:pt x="63088" y="142875"/>
                </a:lnTo>
                <a:cubicBezTo>
                  <a:pt x="74116" y="168101"/>
                  <a:pt x="99298" y="185738"/>
                  <a:pt x="128588" y="185738"/>
                </a:cubicBezTo>
                <a:lnTo>
                  <a:pt x="157163" y="185738"/>
                </a:lnTo>
                <a:cubicBezTo>
                  <a:pt x="165065" y="185738"/>
                  <a:pt x="171450" y="192122"/>
                  <a:pt x="171450" y="200025"/>
                </a:cubicBezTo>
                <a:cubicBezTo>
                  <a:pt x="171450" y="207928"/>
                  <a:pt x="165065" y="214313"/>
                  <a:pt x="157163" y="214313"/>
                </a:cubicBezTo>
                <a:lnTo>
                  <a:pt x="128588" y="214313"/>
                </a:lnTo>
                <a:cubicBezTo>
                  <a:pt x="83269" y="214313"/>
                  <a:pt x="45006" y="184175"/>
                  <a:pt x="32727" y="142875"/>
                </a:cubicBezTo>
                <a:lnTo>
                  <a:pt x="17859" y="142875"/>
                </a:lnTo>
                <a:cubicBezTo>
                  <a:pt x="11921" y="142875"/>
                  <a:pt x="7144" y="138098"/>
                  <a:pt x="7144" y="132159"/>
                </a:cubicBezTo>
                <a:cubicBezTo>
                  <a:pt x="7144" y="126221"/>
                  <a:pt x="11921" y="121444"/>
                  <a:pt x="17859" y="121444"/>
                </a:cubicBezTo>
                <a:lnTo>
                  <a:pt x="28843" y="121444"/>
                </a:lnTo>
                <a:cubicBezTo>
                  <a:pt x="28530" y="116756"/>
                  <a:pt x="28530" y="111844"/>
                  <a:pt x="28843" y="107156"/>
                </a:cubicBezTo>
                <a:lnTo>
                  <a:pt x="17859" y="107156"/>
                </a:lnTo>
                <a:cubicBezTo>
                  <a:pt x="11921" y="107156"/>
                  <a:pt x="7144" y="102379"/>
                  <a:pt x="7144" y="96441"/>
                </a:cubicBezTo>
                <a:cubicBezTo>
                  <a:pt x="7144" y="90502"/>
                  <a:pt x="11921" y="85725"/>
                  <a:pt x="17859" y="85725"/>
                </a:cubicBezTo>
                <a:lnTo>
                  <a:pt x="32727" y="85725"/>
                </a:lnTo>
                <a:close/>
              </a:path>
            </a:pathLst>
          </a:custGeom>
          <a:solidFill>
            <a:srgbClr val="1E3A8A"/>
          </a:solidFill>
          <a:ln/>
        </p:spPr>
      </p:sp>
      <p:sp>
        <p:nvSpPr>
          <p:cNvPr id="38" name="Text 36"/>
          <p:cNvSpPr/>
          <p:nvPr/>
        </p:nvSpPr>
        <p:spPr>
          <a:xfrm>
            <a:off x="933450" y="4953000"/>
            <a:ext cx="308610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MiSans" pitchFamily="34" charset="0"/>
                <a:ea typeface="MiSans" pitchFamily="34" charset="-122"/>
                <a:cs typeface="MiSans" pitchFamily="34" charset="-120"/>
              </a:rPr>
              <a:t>Coûts MVP</a:t>
            </a:r>
            <a:endParaRPr lang="en-US" sz="1600" dirty="0"/>
          </a:p>
        </p:txBody>
      </p:sp>
      <p:sp>
        <p:nvSpPr>
          <p:cNvPr id="39" name="Text 37"/>
          <p:cNvSpPr/>
          <p:nvPr/>
        </p:nvSpPr>
        <p:spPr>
          <a:xfrm>
            <a:off x="933450" y="5143500"/>
            <a:ext cx="3114675" cy="266700"/>
          </a:xfrm>
          <a:prstGeom prst="rect">
            <a:avLst/>
          </a:prstGeom>
          <a:noFill/>
          <a:ln/>
        </p:spPr>
        <p:txBody>
          <a:bodyPr wrap="square" lIns="0" tIns="0" rIns="0" bIns="0" rtlCol="0" anchor="ctr"/>
          <a:lstStyle/>
          <a:p>
            <a:pPr>
              <a:lnSpc>
                <a:spcPct val="120000"/>
              </a:lnSpc>
            </a:pPr>
            <a:r>
              <a:rPr lang="en-US" sz="1500" b="1" dirty="0">
                <a:solidFill>
                  <a:srgbClr val="1E3A8A"/>
                </a:solidFill>
                <a:latin typeface="Noto Sans SC" pitchFamily="34" charset="0"/>
                <a:ea typeface="Noto Sans SC" pitchFamily="34" charset="-122"/>
                <a:cs typeface="Noto Sans SC" pitchFamily="34" charset="-120"/>
              </a:rPr>
              <a:t>~70-100K€</a:t>
            </a:r>
            <a:endParaRPr lang="en-US" sz="1600" dirty="0"/>
          </a:p>
        </p:txBody>
      </p:sp>
      <p:sp>
        <p:nvSpPr>
          <p:cNvPr id="40" name="Text 38"/>
          <p:cNvSpPr/>
          <p:nvPr/>
        </p:nvSpPr>
        <p:spPr>
          <a:xfrm>
            <a:off x="933450" y="5410200"/>
            <a:ext cx="3076575" cy="152400"/>
          </a:xfrm>
          <a:prstGeom prst="rect">
            <a:avLst/>
          </a:prstGeom>
          <a:noFill/>
          <a:ln/>
        </p:spPr>
        <p:txBody>
          <a:bodyPr wrap="square" lIns="0" tIns="0" rIns="0" bIns="0" rtlCol="0" anchor="ctr"/>
          <a:lstStyle/>
          <a:p>
            <a:pPr>
              <a:lnSpc>
                <a:spcPct val="110000"/>
              </a:lnSpc>
            </a:pPr>
            <a:r>
              <a:rPr lang="en-US" sz="900" dirty="0">
                <a:solidFill>
                  <a:srgbClr val="6B7280"/>
                </a:solidFill>
                <a:latin typeface="MiSans" pitchFamily="34" charset="0"/>
                <a:ea typeface="MiSans" pitchFamily="34" charset="-122"/>
                <a:cs typeface="MiSans" pitchFamily="34" charset="-120"/>
              </a:rPr>
              <a:t>Infra 5-10K€ · Cloud 2-4K€ · Équipe 60-80K€ · Outils 2-5K€</a:t>
            </a:r>
            <a:endParaRPr lang="en-US" sz="1600" dirty="0"/>
          </a:p>
        </p:txBody>
      </p:sp>
      <p:sp>
        <p:nvSpPr>
          <p:cNvPr id="41" name="Shape 39"/>
          <p:cNvSpPr/>
          <p:nvPr/>
        </p:nvSpPr>
        <p:spPr>
          <a:xfrm>
            <a:off x="4321076" y="5143500"/>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10B981"/>
          </a:solidFill>
          <a:ln/>
        </p:spPr>
      </p:sp>
      <p:sp>
        <p:nvSpPr>
          <p:cNvPr id="42" name="Text 40"/>
          <p:cNvSpPr/>
          <p:nvPr/>
        </p:nvSpPr>
        <p:spPr>
          <a:xfrm>
            <a:off x="4692551" y="4953000"/>
            <a:ext cx="184785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MiSans" pitchFamily="34" charset="0"/>
                <a:ea typeface="MiSans" pitchFamily="34" charset="-122"/>
                <a:cs typeface="MiSans" pitchFamily="34" charset="-120"/>
              </a:rPr>
              <a:t>ROI</a:t>
            </a:r>
            <a:endParaRPr lang="en-US" sz="1600" dirty="0"/>
          </a:p>
        </p:txBody>
      </p:sp>
      <p:sp>
        <p:nvSpPr>
          <p:cNvPr id="43" name="Text 41"/>
          <p:cNvSpPr/>
          <p:nvPr/>
        </p:nvSpPr>
        <p:spPr>
          <a:xfrm>
            <a:off x="4692551" y="5143500"/>
            <a:ext cx="18764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Noto Sans SC" pitchFamily="34" charset="0"/>
                <a:ea typeface="Noto Sans SC" pitchFamily="34" charset="-122"/>
                <a:cs typeface="Noto Sans SC" pitchFamily="34" charset="-120"/>
              </a:rPr>
              <a:t>&lt; 12 mois</a:t>
            </a:r>
            <a:endParaRPr lang="en-US" sz="1600" dirty="0"/>
          </a:p>
        </p:txBody>
      </p:sp>
      <p:sp>
        <p:nvSpPr>
          <p:cNvPr id="44" name="Text 42"/>
          <p:cNvSpPr/>
          <p:nvPr/>
        </p:nvSpPr>
        <p:spPr>
          <a:xfrm>
            <a:off x="4692551" y="5410200"/>
            <a:ext cx="1838325" cy="152400"/>
          </a:xfrm>
          <a:prstGeom prst="rect">
            <a:avLst/>
          </a:prstGeom>
          <a:noFill/>
          <a:ln/>
        </p:spPr>
        <p:txBody>
          <a:bodyPr wrap="square" lIns="0" tIns="0" rIns="0" bIns="0" rtlCol="0" anchor="ctr"/>
          <a:lstStyle/>
          <a:p>
            <a:pPr>
              <a:lnSpc>
                <a:spcPct val="110000"/>
              </a:lnSpc>
            </a:pPr>
            <a:r>
              <a:rPr lang="en-US" sz="900" dirty="0">
                <a:solidFill>
                  <a:srgbClr val="6B7280"/>
                </a:solidFill>
                <a:latin typeface="MiSans" pitchFamily="34" charset="0"/>
                <a:ea typeface="MiSans" pitchFamily="34" charset="-122"/>
                <a:cs typeface="MiSans" pitchFamily="34" charset="-120"/>
              </a:rPr>
              <a:t>vs gain COPQ visé ~100-330K€/an</a:t>
            </a:r>
            <a:endParaRPr lang="en-US" sz="1600" dirty="0"/>
          </a:p>
        </p:txBody>
      </p:sp>
      <p:sp>
        <p:nvSpPr>
          <p:cNvPr id="45" name="Shape 43"/>
          <p:cNvSpPr/>
          <p:nvPr/>
        </p:nvSpPr>
        <p:spPr>
          <a:xfrm>
            <a:off x="8080325" y="5143500"/>
            <a:ext cx="228600" cy="228600"/>
          </a:xfrm>
          <a:custGeom>
            <a:avLst/>
            <a:gdLst/>
            <a:ahLst/>
            <a:cxnLst/>
            <a:rect l="l" t="t" r="r" b="b"/>
            <a:pathLst>
              <a:path w="228600" h="228600">
                <a:moveTo>
                  <a:pt x="114300" y="0"/>
                </a:moveTo>
                <a:cubicBezTo>
                  <a:pt x="116354" y="0"/>
                  <a:pt x="118408" y="446"/>
                  <a:pt x="120283" y="1295"/>
                </a:cubicBezTo>
                <a:lnTo>
                  <a:pt x="204401" y="36969"/>
                </a:lnTo>
                <a:cubicBezTo>
                  <a:pt x="214223" y="41121"/>
                  <a:pt x="221546" y="50810"/>
                  <a:pt x="221501" y="62508"/>
                </a:cubicBezTo>
                <a:cubicBezTo>
                  <a:pt x="221278" y="106799"/>
                  <a:pt x="203061" y="187836"/>
                  <a:pt x="126132" y="224671"/>
                </a:cubicBezTo>
                <a:cubicBezTo>
                  <a:pt x="118676" y="228243"/>
                  <a:pt x="110014" y="228243"/>
                  <a:pt x="102557" y="224671"/>
                </a:cubicBezTo>
                <a:cubicBezTo>
                  <a:pt x="25584" y="187836"/>
                  <a:pt x="7412" y="106799"/>
                  <a:pt x="7188" y="62508"/>
                </a:cubicBezTo>
                <a:cubicBezTo>
                  <a:pt x="7144" y="50810"/>
                  <a:pt x="14466" y="41121"/>
                  <a:pt x="24289" y="36969"/>
                </a:cubicBezTo>
                <a:lnTo>
                  <a:pt x="108362" y="1295"/>
                </a:lnTo>
                <a:cubicBezTo>
                  <a:pt x="110237" y="446"/>
                  <a:pt x="112246" y="0"/>
                  <a:pt x="114300" y="0"/>
                </a:cubicBezTo>
                <a:close/>
                <a:moveTo>
                  <a:pt x="114300" y="29825"/>
                </a:moveTo>
                <a:lnTo>
                  <a:pt x="114300" y="198641"/>
                </a:lnTo>
                <a:cubicBezTo>
                  <a:pt x="175915" y="168816"/>
                  <a:pt x="192479" y="102736"/>
                  <a:pt x="192881" y="63178"/>
                </a:cubicBezTo>
                <a:lnTo>
                  <a:pt x="114300" y="29870"/>
                </a:lnTo>
                <a:lnTo>
                  <a:pt x="114300" y="29870"/>
                </a:lnTo>
                <a:close/>
              </a:path>
            </a:pathLst>
          </a:custGeom>
          <a:solidFill>
            <a:srgbClr val="8B5CF6"/>
          </a:solidFill>
          <a:ln/>
        </p:spPr>
      </p:sp>
      <p:sp>
        <p:nvSpPr>
          <p:cNvPr id="46" name="Text 44"/>
          <p:cNvSpPr/>
          <p:nvPr/>
        </p:nvSpPr>
        <p:spPr>
          <a:xfrm>
            <a:off x="8451800" y="4972050"/>
            <a:ext cx="224790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MiSans" pitchFamily="34" charset="0"/>
                <a:ea typeface="MiSans" pitchFamily="34" charset="-122"/>
                <a:cs typeface="MiSans" pitchFamily="34" charset="-120"/>
              </a:rPr>
              <a:t>Conformité</a:t>
            </a:r>
            <a:endParaRPr lang="en-US" sz="1600" dirty="0"/>
          </a:p>
        </p:txBody>
      </p:sp>
      <p:sp>
        <p:nvSpPr>
          <p:cNvPr id="47" name="Text 45"/>
          <p:cNvSpPr/>
          <p:nvPr/>
        </p:nvSpPr>
        <p:spPr>
          <a:xfrm>
            <a:off x="8451800" y="5162550"/>
            <a:ext cx="2257425" cy="228600"/>
          </a:xfrm>
          <a:prstGeom prst="rect">
            <a:avLst/>
          </a:prstGeom>
          <a:noFill/>
          <a:ln/>
        </p:spPr>
        <p:txBody>
          <a:bodyPr wrap="square" lIns="0" tIns="0" rIns="0" bIns="0" rtlCol="0" anchor="ctr"/>
          <a:lstStyle/>
          <a:p>
            <a:pPr>
              <a:lnSpc>
                <a:spcPct val="130000"/>
              </a:lnSpc>
            </a:pPr>
            <a:r>
              <a:rPr lang="en-US" sz="1200" b="1" dirty="0">
                <a:solidFill>
                  <a:srgbClr val="374151"/>
                </a:solidFill>
                <a:latin typeface="MiSans" pitchFamily="34" charset="0"/>
                <a:ea typeface="MiSans" pitchFamily="34" charset="-122"/>
                <a:cs typeface="MiSans" pitchFamily="34" charset="-120"/>
              </a:rPr>
              <a:t>RGPD · Cyber (NIS2) · Éthique</a:t>
            </a:r>
            <a:endParaRPr lang="en-US" sz="1600" dirty="0"/>
          </a:p>
        </p:txBody>
      </p:sp>
      <p:sp>
        <p:nvSpPr>
          <p:cNvPr id="48" name="Text 46"/>
          <p:cNvSpPr/>
          <p:nvPr/>
        </p:nvSpPr>
        <p:spPr>
          <a:xfrm>
            <a:off x="8451800" y="5391150"/>
            <a:ext cx="2238375" cy="152400"/>
          </a:xfrm>
          <a:prstGeom prst="rect">
            <a:avLst/>
          </a:prstGeom>
          <a:noFill/>
          <a:ln/>
        </p:spPr>
        <p:txBody>
          <a:bodyPr wrap="square" lIns="0" tIns="0" rIns="0" bIns="0" rtlCol="0" anchor="ctr"/>
          <a:lstStyle/>
          <a:p>
            <a:pPr>
              <a:lnSpc>
                <a:spcPct val="110000"/>
              </a:lnSpc>
            </a:pPr>
            <a:r>
              <a:rPr lang="en-US" sz="900" dirty="0">
                <a:solidFill>
                  <a:srgbClr val="6B7280"/>
                </a:solidFill>
                <a:latin typeface="MiSans" pitchFamily="34" charset="0"/>
                <a:ea typeface="MiSans" pitchFamily="34" charset="-122"/>
                <a:cs typeface="MiSans" pitchFamily="34" charset="-120"/>
              </a:rPr>
              <a:t>heatmap, humain dans la boucle</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7500" y="190500"/>
            <a:ext cx="1381125" cy="285750"/>
          </a:xfrm>
          <a:custGeom>
            <a:avLst/>
            <a:gdLst/>
            <a:ahLst/>
            <a:cxnLst/>
            <a:rect l="l" t="t" r="r" b="b"/>
            <a:pathLst>
              <a:path w="1381125" h="285750">
                <a:moveTo>
                  <a:pt x="142875" y="0"/>
                </a:moveTo>
                <a:lnTo>
                  <a:pt x="1238250" y="0"/>
                </a:lnTo>
                <a:cubicBezTo>
                  <a:pt x="1317105" y="0"/>
                  <a:pt x="1381125" y="64020"/>
                  <a:pt x="1381125" y="142875"/>
                </a:cubicBezTo>
                <a:lnTo>
                  <a:pt x="1381125" y="142875"/>
                </a:lnTo>
                <a:cubicBezTo>
                  <a:pt x="1381125" y="221730"/>
                  <a:pt x="1317105" y="285750"/>
                  <a:pt x="1238250" y="285750"/>
                </a:cubicBezTo>
                <a:lnTo>
                  <a:pt x="142875" y="285750"/>
                </a:lnTo>
                <a:cubicBezTo>
                  <a:pt x="64020" y="285750"/>
                  <a:pt x="0" y="221730"/>
                  <a:pt x="0" y="142875"/>
                </a:cubicBezTo>
                <a:lnTo>
                  <a:pt x="0" y="142875"/>
                </a:lnTo>
                <a:cubicBezTo>
                  <a:pt x="0" y="64020"/>
                  <a:pt x="64020" y="0"/>
                  <a:pt x="142875" y="0"/>
                </a:cubicBezTo>
                <a:close/>
              </a:path>
            </a:pathLst>
          </a:custGeom>
          <a:solidFill>
            <a:srgbClr val="1E3A8A"/>
          </a:solidFill>
          <a:ln/>
        </p:spPr>
      </p:sp>
      <p:sp>
        <p:nvSpPr>
          <p:cNvPr id="3" name="Text 1"/>
          <p:cNvSpPr/>
          <p:nvPr/>
        </p:nvSpPr>
        <p:spPr>
          <a:xfrm>
            <a:off x="444500" y="254000"/>
            <a:ext cx="1182688" cy="158750"/>
          </a:xfrm>
          <a:prstGeom prst="rect">
            <a:avLst/>
          </a:prstGeom>
          <a:noFill/>
          <a:ln/>
        </p:spPr>
        <p:txBody>
          <a:bodyPr wrap="square" lIns="0" tIns="0" rIns="0" bIns="0" rtlCol="0" anchor="ctr"/>
          <a:lstStyle/>
          <a:p>
            <a:pPr>
              <a:lnSpc>
                <a:spcPct val="120000"/>
              </a:lnSpc>
            </a:pPr>
            <a:r>
              <a:rPr lang="en-US" sz="875" b="1" kern="0" spc="22" dirty="0">
                <a:solidFill>
                  <a:srgbClr val="FFFFFF"/>
                </a:solidFill>
                <a:latin typeface="MiSans" pitchFamily="34" charset="0"/>
                <a:ea typeface="MiSans" pitchFamily="34" charset="-122"/>
                <a:cs typeface="MiSans" pitchFamily="34" charset="-120"/>
              </a:rPr>
              <a:t>CONCEPTION - MVP</a:t>
            </a:r>
            <a:endParaRPr lang="en-US" sz="1600" dirty="0"/>
          </a:p>
        </p:txBody>
      </p:sp>
      <p:sp>
        <p:nvSpPr>
          <p:cNvPr id="4" name="Text 2"/>
          <p:cNvSpPr/>
          <p:nvPr/>
        </p:nvSpPr>
        <p:spPr>
          <a:xfrm>
            <a:off x="317500" y="825500"/>
            <a:ext cx="11699875" cy="317500"/>
          </a:xfrm>
          <a:prstGeom prst="rect">
            <a:avLst/>
          </a:prstGeom>
          <a:noFill/>
          <a:ln/>
        </p:spPr>
        <p:txBody>
          <a:bodyPr wrap="square" lIns="0" tIns="0" rIns="0" bIns="0" rtlCol="0" anchor="ctr"/>
          <a:lstStyle/>
          <a:p>
            <a:pPr>
              <a:lnSpc>
                <a:spcPct val="90000"/>
              </a:lnSpc>
            </a:pPr>
            <a:r>
              <a:rPr lang="en-US" sz="2250" b="1" dirty="0">
                <a:solidFill>
                  <a:srgbClr val="1E3A8A"/>
                </a:solidFill>
                <a:latin typeface="Noto Sans SC" pitchFamily="34" charset="0"/>
                <a:ea typeface="Noto Sans SC" pitchFamily="34" charset="-122"/>
                <a:cs typeface="Noto Sans SC" pitchFamily="34" charset="-120"/>
              </a:rPr>
              <a:t>Définition du MVP — FQA v1</a:t>
            </a:r>
            <a:endParaRPr lang="en-US" sz="1600" dirty="0"/>
          </a:p>
        </p:txBody>
      </p:sp>
      <p:sp>
        <p:nvSpPr>
          <p:cNvPr id="5" name="Shape 3"/>
          <p:cNvSpPr/>
          <p:nvPr/>
        </p:nvSpPr>
        <p:spPr>
          <a:xfrm>
            <a:off x="317500" y="1270000"/>
            <a:ext cx="5683250" cy="476250"/>
          </a:xfrm>
          <a:custGeom>
            <a:avLst/>
            <a:gdLst/>
            <a:ahLst/>
            <a:cxnLst/>
            <a:rect l="l" t="t" r="r" b="b"/>
            <a:pathLst>
              <a:path w="5683250" h="476250">
                <a:moveTo>
                  <a:pt x="127002" y="0"/>
                </a:moveTo>
                <a:lnTo>
                  <a:pt x="5556248" y="0"/>
                </a:lnTo>
                <a:cubicBezTo>
                  <a:pt x="5626389" y="0"/>
                  <a:pt x="5683250" y="56861"/>
                  <a:pt x="5683250" y="127002"/>
                </a:cubicBezTo>
                <a:lnTo>
                  <a:pt x="5683250" y="349248"/>
                </a:lnTo>
                <a:cubicBezTo>
                  <a:pt x="5683250" y="419389"/>
                  <a:pt x="5626389" y="476250"/>
                  <a:pt x="5556248" y="476250"/>
                </a:cubicBezTo>
                <a:lnTo>
                  <a:pt x="127002" y="476250"/>
                </a:lnTo>
                <a:cubicBezTo>
                  <a:pt x="56908" y="476250"/>
                  <a:pt x="0" y="419342"/>
                  <a:pt x="0" y="349248"/>
                </a:cubicBezTo>
                <a:lnTo>
                  <a:pt x="0" y="127002"/>
                </a:lnTo>
                <a:cubicBezTo>
                  <a:pt x="0" y="56908"/>
                  <a:pt x="56908" y="0"/>
                  <a:pt x="127002" y="0"/>
                </a:cubicBezTo>
                <a:close/>
              </a:path>
            </a:pathLst>
          </a:custGeom>
          <a:solidFill>
            <a:srgbClr val="10B981"/>
          </a:solidFill>
          <a:ln/>
        </p:spPr>
      </p:sp>
      <p:sp>
        <p:nvSpPr>
          <p:cNvPr id="6" name="Shape 4"/>
          <p:cNvSpPr/>
          <p:nvPr/>
        </p:nvSpPr>
        <p:spPr>
          <a:xfrm>
            <a:off x="464344" y="142875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FFFFFF"/>
          </a:solidFill>
          <a:ln/>
        </p:spPr>
      </p:sp>
      <p:sp>
        <p:nvSpPr>
          <p:cNvPr id="7" name="Text 5"/>
          <p:cNvSpPr/>
          <p:nvPr/>
        </p:nvSpPr>
        <p:spPr>
          <a:xfrm>
            <a:off x="738188" y="1397000"/>
            <a:ext cx="1452563"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Noto Sans SC" pitchFamily="34" charset="0"/>
                <a:ea typeface="Noto Sans SC" pitchFamily="34" charset="-122"/>
                <a:cs typeface="Noto Sans SC" pitchFamily="34" charset="-120"/>
              </a:rPr>
              <a:t>Fonctionnalités IN</a:t>
            </a:r>
            <a:endParaRPr lang="en-US" sz="1600" dirty="0"/>
          </a:p>
        </p:txBody>
      </p:sp>
      <p:sp>
        <p:nvSpPr>
          <p:cNvPr id="8" name="Shape 6"/>
          <p:cNvSpPr/>
          <p:nvPr/>
        </p:nvSpPr>
        <p:spPr>
          <a:xfrm>
            <a:off x="317500" y="1841500"/>
            <a:ext cx="5683250" cy="3238500"/>
          </a:xfrm>
          <a:custGeom>
            <a:avLst/>
            <a:gdLst/>
            <a:ahLst/>
            <a:cxnLst/>
            <a:rect l="l" t="t" r="r" b="b"/>
            <a:pathLst>
              <a:path w="5683250" h="3238500">
                <a:moveTo>
                  <a:pt x="127014" y="0"/>
                </a:moveTo>
                <a:lnTo>
                  <a:pt x="5556236" y="0"/>
                </a:lnTo>
                <a:cubicBezTo>
                  <a:pt x="5626384" y="0"/>
                  <a:pt x="5683250" y="56866"/>
                  <a:pt x="5683250" y="127014"/>
                </a:cubicBezTo>
                <a:lnTo>
                  <a:pt x="5683250" y="3111486"/>
                </a:lnTo>
                <a:cubicBezTo>
                  <a:pt x="5683250" y="3181634"/>
                  <a:pt x="5626384" y="3238500"/>
                  <a:pt x="5556236" y="3238500"/>
                </a:cubicBezTo>
                <a:lnTo>
                  <a:pt x="127014" y="3238500"/>
                </a:lnTo>
                <a:cubicBezTo>
                  <a:pt x="56866" y="3238500"/>
                  <a:pt x="0" y="3181634"/>
                  <a:pt x="0" y="3111486"/>
                </a:cubicBezTo>
                <a:lnTo>
                  <a:pt x="0" y="127014"/>
                </a:lnTo>
                <a:cubicBezTo>
                  <a:pt x="0" y="56913"/>
                  <a:pt x="56913" y="0"/>
                  <a:pt x="127014" y="0"/>
                </a:cubicBezTo>
                <a:close/>
              </a:path>
            </a:pathLst>
          </a:custGeom>
          <a:solidFill>
            <a:srgbClr val="F3F4F6"/>
          </a:solidFill>
          <a:ln/>
        </p:spPr>
      </p:sp>
      <p:sp>
        <p:nvSpPr>
          <p:cNvPr id="9" name="Shape 7"/>
          <p:cNvSpPr/>
          <p:nvPr/>
        </p:nvSpPr>
        <p:spPr>
          <a:xfrm>
            <a:off x="444500" y="1968500"/>
            <a:ext cx="317500" cy="317500"/>
          </a:xfrm>
          <a:custGeom>
            <a:avLst/>
            <a:gdLst/>
            <a:ahLst/>
            <a:cxnLst/>
            <a:rect l="l" t="t" r="r" b="b"/>
            <a:pathLst>
              <a:path w="317500" h="317500">
                <a:moveTo>
                  <a:pt x="95250" y="0"/>
                </a:moveTo>
                <a:lnTo>
                  <a:pt x="222250" y="0"/>
                </a:lnTo>
                <a:cubicBezTo>
                  <a:pt x="274820" y="0"/>
                  <a:pt x="317500" y="42680"/>
                  <a:pt x="317500" y="95250"/>
                </a:cubicBezTo>
                <a:lnTo>
                  <a:pt x="317500" y="222250"/>
                </a:lnTo>
                <a:cubicBezTo>
                  <a:pt x="317500" y="274820"/>
                  <a:pt x="274820" y="317500"/>
                  <a:pt x="222250" y="317500"/>
                </a:cubicBezTo>
                <a:lnTo>
                  <a:pt x="95250" y="317500"/>
                </a:lnTo>
                <a:cubicBezTo>
                  <a:pt x="42680" y="317500"/>
                  <a:pt x="0" y="274820"/>
                  <a:pt x="0" y="222250"/>
                </a:cubicBezTo>
                <a:lnTo>
                  <a:pt x="0" y="95250"/>
                </a:lnTo>
                <a:cubicBezTo>
                  <a:pt x="0" y="42680"/>
                  <a:pt x="42680" y="0"/>
                  <a:pt x="95250" y="0"/>
                </a:cubicBezTo>
                <a:close/>
              </a:path>
            </a:pathLst>
          </a:custGeom>
          <a:solidFill>
            <a:srgbClr val="10B981"/>
          </a:solidFill>
          <a:ln/>
        </p:spPr>
      </p:sp>
      <p:sp>
        <p:nvSpPr>
          <p:cNvPr id="10" name="Shape 8"/>
          <p:cNvSpPr/>
          <p:nvPr/>
        </p:nvSpPr>
        <p:spPr>
          <a:xfrm>
            <a:off x="539750" y="2063750"/>
            <a:ext cx="127000" cy="127000"/>
          </a:xfrm>
          <a:custGeom>
            <a:avLst/>
            <a:gdLst/>
            <a:ahLst/>
            <a:cxnLst/>
            <a:rect l="l" t="t" r="r" b="b"/>
            <a:pathLst>
              <a:path w="127000" h="127000">
                <a:moveTo>
                  <a:pt x="36984" y="16073"/>
                </a:moveTo>
                <a:lnTo>
                  <a:pt x="34404" y="23812"/>
                </a:lnTo>
                <a:lnTo>
                  <a:pt x="15875" y="23812"/>
                </a:lnTo>
                <a:cubicBezTo>
                  <a:pt x="7119" y="23812"/>
                  <a:pt x="0" y="30931"/>
                  <a:pt x="0" y="39688"/>
                </a:cubicBezTo>
                <a:lnTo>
                  <a:pt x="0" y="103188"/>
                </a:lnTo>
                <a:cubicBezTo>
                  <a:pt x="0" y="111944"/>
                  <a:pt x="7119" y="119063"/>
                  <a:pt x="15875" y="119063"/>
                </a:cubicBezTo>
                <a:lnTo>
                  <a:pt x="111125" y="119063"/>
                </a:lnTo>
                <a:cubicBezTo>
                  <a:pt x="119881" y="119063"/>
                  <a:pt x="127000" y="111944"/>
                  <a:pt x="127000" y="103188"/>
                </a:cubicBezTo>
                <a:lnTo>
                  <a:pt x="127000" y="39688"/>
                </a:lnTo>
                <a:cubicBezTo>
                  <a:pt x="127000" y="30931"/>
                  <a:pt x="119881" y="23812"/>
                  <a:pt x="111125" y="23812"/>
                </a:cubicBezTo>
                <a:lnTo>
                  <a:pt x="92596" y="23812"/>
                </a:lnTo>
                <a:lnTo>
                  <a:pt x="90016" y="16073"/>
                </a:lnTo>
                <a:cubicBezTo>
                  <a:pt x="88404" y="11212"/>
                  <a:pt x="83865" y="7938"/>
                  <a:pt x="78730" y="7938"/>
                </a:cubicBezTo>
                <a:lnTo>
                  <a:pt x="48270" y="7938"/>
                </a:lnTo>
                <a:cubicBezTo>
                  <a:pt x="43135" y="7938"/>
                  <a:pt x="38596" y="11212"/>
                  <a:pt x="36984" y="16073"/>
                </a:cubicBezTo>
                <a:close/>
                <a:moveTo>
                  <a:pt x="63500" y="47625"/>
                </a:moveTo>
                <a:cubicBezTo>
                  <a:pt x="76642" y="47625"/>
                  <a:pt x="87313" y="58295"/>
                  <a:pt x="87313" y="71438"/>
                </a:cubicBezTo>
                <a:cubicBezTo>
                  <a:pt x="87313" y="84580"/>
                  <a:pt x="76642" y="95250"/>
                  <a:pt x="63500" y="95250"/>
                </a:cubicBezTo>
                <a:cubicBezTo>
                  <a:pt x="50358" y="95250"/>
                  <a:pt x="39688" y="84580"/>
                  <a:pt x="39688" y="71438"/>
                </a:cubicBezTo>
                <a:cubicBezTo>
                  <a:pt x="39688" y="58295"/>
                  <a:pt x="50358" y="47625"/>
                  <a:pt x="63500" y="47625"/>
                </a:cubicBezTo>
                <a:close/>
              </a:path>
            </a:pathLst>
          </a:custGeom>
          <a:solidFill>
            <a:srgbClr val="FFFFFF"/>
          </a:solidFill>
          <a:ln/>
        </p:spPr>
      </p:sp>
      <p:sp>
        <p:nvSpPr>
          <p:cNvPr id="11" name="Text 9"/>
          <p:cNvSpPr/>
          <p:nvPr/>
        </p:nvSpPr>
        <p:spPr>
          <a:xfrm>
            <a:off x="857250" y="1968500"/>
            <a:ext cx="1833563" cy="190500"/>
          </a:xfrm>
          <a:prstGeom prst="rect">
            <a:avLst/>
          </a:prstGeom>
          <a:noFill/>
          <a:ln/>
        </p:spPr>
        <p:txBody>
          <a:bodyPr wrap="square" lIns="0" tIns="0" rIns="0" bIns="0" rtlCol="0" anchor="ctr"/>
          <a:lstStyle/>
          <a:p>
            <a:pPr>
              <a:lnSpc>
                <a:spcPct val="130000"/>
              </a:lnSpc>
            </a:pPr>
            <a:r>
              <a:rPr lang="en-US" sz="1000" b="1" dirty="0">
                <a:solidFill>
                  <a:srgbClr val="374151"/>
                </a:solidFill>
                <a:latin typeface="MiSans" pitchFamily="34" charset="0"/>
                <a:ea typeface="MiSans" pitchFamily="34" charset="-122"/>
                <a:cs typeface="MiSans" pitchFamily="34" charset="-120"/>
              </a:rPr>
              <a:t>Module Capture</a:t>
            </a:r>
            <a:endParaRPr lang="en-US" sz="1600" dirty="0"/>
          </a:p>
        </p:txBody>
      </p:sp>
      <p:sp>
        <p:nvSpPr>
          <p:cNvPr id="12" name="Text 10"/>
          <p:cNvSpPr/>
          <p:nvPr/>
        </p:nvSpPr>
        <p:spPr>
          <a:xfrm>
            <a:off x="857250" y="2159000"/>
            <a:ext cx="1825625"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MiSans" pitchFamily="34" charset="0"/>
                <a:ea typeface="MiSans" pitchFamily="34" charset="-122"/>
                <a:cs typeface="MiSans" pitchFamily="34" charset="-120"/>
              </a:rPr>
              <a:t>Caméra HD + éclairage standardisé</a:t>
            </a:r>
            <a:endParaRPr lang="en-US" sz="1600" dirty="0"/>
          </a:p>
        </p:txBody>
      </p:sp>
      <p:sp>
        <p:nvSpPr>
          <p:cNvPr id="13" name="Shape 11"/>
          <p:cNvSpPr/>
          <p:nvPr/>
        </p:nvSpPr>
        <p:spPr>
          <a:xfrm>
            <a:off x="444500" y="2846958"/>
            <a:ext cx="317500" cy="317500"/>
          </a:xfrm>
          <a:custGeom>
            <a:avLst/>
            <a:gdLst/>
            <a:ahLst/>
            <a:cxnLst/>
            <a:rect l="l" t="t" r="r" b="b"/>
            <a:pathLst>
              <a:path w="317500" h="317500">
                <a:moveTo>
                  <a:pt x="95250" y="0"/>
                </a:moveTo>
                <a:lnTo>
                  <a:pt x="222250" y="0"/>
                </a:lnTo>
                <a:cubicBezTo>
                  <a:pt x="274820" y="0"/>
                  <a:pt x="317500" y="42680"/>
                  <a:pt x="317500" y="95250"/>
                </a:cubicBezTo>
                <a:lnTo>
                  <a:pt x="317500" y="222250"/>
                </a:lnTo>
                <a:cubicBezTo>
                  <a:pt x="317500" y="274820"/>
                  <a:pt x="274820" y="317500"/>
                  <a:pt x="222250" y="317500"/>
                </a:cubicBezTo>
                <a:lnTo>
                  <a:pt x="95250" y="317500"/>
                </a:lnTo>
                <a:cubicBezTo>
                  <a:pt x="42680" y="317500"/>
                  <a:pt x="0" y="274820"/>
                  <a:pt x="0" y="222250"/>
                </a:cubicBezTo>
                <a:lnTo>
                  <a:pt x="0" y="95250"/>
                </a:lnTo>
                <a:cubicBezTo>
                  <a:pt x="0" y="42680"/>
                  <a:pt x="42680" y="0"/>
                  <a:pt x="95250" y="0"/>
                </a:cubicBezTo>
                <a:close/>
              </a:path>
            </a:pathLst>
          </a:custGeom>
          <a:solidFill>
            <a:srgbClr val="10B981"/>
          </a:solidFill>
          <a:ln/>
        </p:spPr>
      </p:sp>
      <p:sp>
        <p:nvSpPr>
          <p:cNvPr id="14" name="Shape 12"/>
          <p:cNvSpPr/>
          <p:nvPr/>
        </p:nvSpPr>
        <p:spPr>
          <a:xfrm>
            <a:off x="539750" y="2942208"/>
            <a:ext cx="127000" cy="127000"/>
          </a:xfrm>
          <a:custGeom>
            <a:avLst/>
            <a:gdLst/>
            <a:ahLst/>
            <a:cxn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FFFFFF"/>
          </a:solidFill>
          <a:ln/>
        </p:spPr>
      </p:sp>
      <p:sp>
        <p:nvSpPr>
          <p:cNvPr id="15" name="Text 13"/>
          <p:cNvSpPr/>
          <p:nvPr/>
        </p:nvSpPr>
        <p:spPr>
          <a:xfrm>
            <a:off x="857250" y="2846958"/>
            <a:ext cx="2238375" cy="190500"/>
          </a:xfrm>
          <a:prstGeom prst="rect">
            <a:avLst/>
          </a:prstGeom>
          <a:noFill/>
          <a:ln/>
        </p:spPr>
        <p:txBody>
          <a:bodyPr wrap="square" lIns="0" tIns="0" rIns="0" bIns="0" rtlCol="0" anchor="ctr"/>
          <a:lstStyle/>
          <a:p>
            <a:pPr>
              <a:lnSpc>
                <a:spcPct val="130000"/>
              </a:lnSpc>
            </a:pPr>
            <a:r>
              <a:rPr lang="en-US" sz="1000" b="1" dirty="0">
                <a:solidFill>
                  <a:srgbClr val="374151"/>
                </a:solidFill>
                <a:latin typeface="MiSans" pitchFamily="34" charset="0"/>
                <a:ea typeface="MiSans" pitchFamily="34" charset="-122"/>
                <a:cs typeface="MiSans" pitchFamily="34" charset="-120"/>
              </a:rPr>
              <a:t>Module IA</a:t>
            </a:r>
            <a:endParaRPr lang="en-US" sz="1600" dirty="0"/>
          </a:p>
        </p:txBody>
      </p:sp>
      <p:sp>
        <p:nvSpPr>
          <p:cNvPr id="16" name="Text 14"/>
          <p:cNvSpPr/>
          <p:nvPr/>
        </p:nvSpPr>
        <p:spPr>
          <a:xfrm>
            <a:off x="857250" y="3037458"/>
            <a:ext cx="2230438"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MiSans" pitchFamily="34" charset="0"/>
                <a:ea typeface="MiSans" pitchFamily="34" charset="-122"/>
                <a:cs typeface="MiSans" pitchFamily="34" charset="-120"/>
              </a:rPr>
              <a:t>Détection anomalies + heatmap explicabilité</a:t>
            </a:r>
            <a:endParaRPr lang="en-US" sz="1600" dirty="0"/>
          </a:p>
        </p:txBody>
      </p:sp>
      <p:sp>
        <p:nvSpPr>
          <p:cNvPr id="17" name="Shape 15"/>
          <p:cNvSpPr/>
          <p:nvPr/>
        </p:nvSpPr>
        <p:spPr>
          <a:xfrm>
            <a:off x="444500" y="3725292"/>
            <a:ext cx="317500" cy="317500"/>
          </a:xfrm>
          <a:custGeom>
            <a:avLst/>
            <a:gdLst/>
            <a:ahLst/>
            <a:cxnLst/>
            <a:rect l="l" t="t" r="r" b="b"/>
            <a:pathLst>
              <a:path w="317500" h="317500">
                <a:moveTo>
                  <a:pt x="95250" y="0"/>
                </a:moveTo>
                <a:lnTo>
                  <a:pt x="222250" y="0"/>
                </a:lnTo>
                <a:cubicBezTo>
                  <a:pt x="274820" y="0"/>
                  <a:pt x="317500" y="42680"/>
                  <a:pt x="317500" y="95250"/>
                </a:cubicBezTo>
                <a:lnTo>
                  <a:pt x="317500" y="222250"/>
                </a:lnTo>
                <a:cubicBezTo>
                  <a:pt x="317500" y="274820"/>
                  <a:pt x="274820" y="317500"/>
                  <a:pt x="222250" y="317500"/>
                </a:cubicBezTo>
                <a:lnTo>
                  <a:pt x="95250" y="317500"/>
                </a:lnTo>
                <a:cubicBezTo>
                  <a:pt x="42680" y="317500"/>
                  <a:pt x="0" y="274820"/>
                  <a:pt x="0" y="222250"/>
                </a:cubicBezTo>
                <a:lnTo>
                  <a:pt x="0" y="95250"/>
                </a:lnTo>
                <a:cubicBezTo>
                  <a:pt x="0" y="42680"/>
                  <a:pt x="42680" y="0"/>
                  <a:pt x="95250" y="0"/>
                </a:cubicBezTo>
                <a:close/>
              </a:path>
            </a:pathLst>
          </a:custGeom>
          <a:solidFill>
            <a:srgbClr val="10B981"/>
          </a:solidFill>
          <a:ln/>
        </p:spPr>
      </p:sp>
      <p:sp>
        <p:nvSpPr>
          <p:cNvPr id="18" name="Shape 16"/>
          <p:cNvSpPr/>
          <p:nvPr/>
        </p:nvSpPr>
        <p:spPr>
          <a:xfrm>
            <a:off x="539750" y="3820542"/>
            <a:ext cx="127000" cy="127000"/>
          </a:xfrm>
          <a:custGeom>
            <a:avLst/>
            <a:gdLst/>
            <a:ahLst/>
            <a:cxnLst/>
            <a:rect l="l" t="t" r="r" b="b"/>
            <a:pathLst>
              <a:path w="127000" h="127000">
                <a:moveTo>
                  <a:pt x="15875" y="7938"/>
                </a:moveTo>
                <a:cubicBezTo>
                  <a:pt x="7119" y="7938"/>
                  <a:pt x="0" y="15056"/>
                  <a:pt x="0" y="23812"/>
                </a:cubicBezTo>
                <a:lnTo>
                  <a:pt x="0" y="87313"/>
                </a:lnTo>
                <a:cubicBezTo>
                  <a:pt x="0" y="96069"/>
                  <a:pt x="7119" y="103188"/>
                  <a:pt x="15875" y="103188"/>
                </a:cubicBezTo>
                <a:lnTo>
                  <a:pt x="51594" y="103188"/>
                </a:lnTo>
                <a:lnTo>
                  <a:pt x="47625" y="115094"/>
                </a:lnTo>
                <a:lnTo>
                  <a:pt x="29766" y="115094"/>
                </a:lnTo>
                <a:cubicBezTo>
                  <a:pt x="26467" y="115094"/>
                  <a:pt x="23812" y="117748"/>
                  <a:pt x="23812" y="121047"/>
                </a:cubicBezTo>
                <a:cubicBezTo>
                  <a:pt x="23812" y="124346"/>
                  <a:pt x="26467" y="127000"/>
                  <a:pt x="29766" y="127000"/>
                </a:cubicBezTo>
                <a:lnTo>
                  <a:pt x="97234" y="127000"/>
                </a:lnTo>
                <a:cubicBezTo>
                  <a:pt x="100533" y="127000"/>
                  <a:pt x="103188" y="124346"/>
                  <a:pt x="103188" y="121047"/>
                </a:cubicBezTo>
                <a:cubicBezTo>
                  <a:pt x="103188" y="117748"/>
                  <a:pt x="100533" y="115094"/>
                  <a:pt x="97234" y="115094"/>
                </a:cubicBezTo>
                <a:lnTo>
                  <a:pt x="79375" y="115094"/>
                </a:lnTo>
                <a:lnTo>
                  <a:pt x="75406" y="103188"/>
                </a:lnTo>
                <a:lnTo>
                  <a:pt x="111125" y="103188"/>
                </a:lnTo>
                <a:cubicBezTo>
                  <a:pt x="119881" y="103188"/>
                  <a:pt x="127000" y="96069"/>
                  <a:pt x="127000" y="87313"/>
                </a:cubicBezTo>
                <a:lnTo>
                  <a:pt x="127000" y="23812"/>
                </a:lnTo>
                <a:cubicBezTo>
                  <a:pt x="127000" y="15056"/>
                  <a:pt x="119881" y="7938"/>
                  <a:pt x="111125" y="7938"/>
                </a:cubicBezTo>
                <a:lnTo>
                  <a:pt x="15875" y="7938"/>
                </a:lnTo>
                <a:close/>
                <a:moveTo>
                  <a:pt x="23812" y="23812"/>
                </a:moveTo>
                <a:lnTo>
                  <a:pt x="103188" y="23812"/>
                </a:lnTo>
                <a:cubicBezTo>
                  <a:pt x="107578" y="23812"/>
                  <a:pt x="111125" y="27360"/>
                  <a:pt x="111125" y="31750"/>
                </a:cubicBezTo>
                <a:lnTo>
                  <a:pt x="111125" y="71438"/>
                </a:lnTo>
                <a:cubicBezTo>
                  <a:pt x="111125" y="75828"/>
                  <a:pt x="107578" y="79375"/>
                  <a:pt x="103188" y="79375"/>
                </a:cubicBezTo>
                <a:lnTo>
                  <a:pt x="23812" y="79375"/>
                </a:lnTo>
                <a:cubicBezTo>
                  <a:pt x="19422" y="79375"/>
                  <a:pt x="15875" y="75828"/>
                  <a:pt x="15875" y="71438"/>
                </a:cubicBezTo>
                <a:lnTo>
                  <a:pt x="15875" y="31750"/>
                </a:lnTo>
                <a:cubicBezTo>
                  <a:pt x="15875" y="27360"/>
                  <a:pt x="19422" y="23812"/>
                  <a:pt x="23812" y="23812"/>
                </a:cubicBezTo>
                <a:close/>
              </a:path>
            </a:pathLst>
          </a:custGeom>
          <a:solidFill>
            <a:srgbClr val="FFFFFF"/>
          </a:solidFill>
          <a:ln/>
        </p:spPr>
      </p:sp>
      <p:sp>
        <p:nvSpPr>
          <p:cNvPr id="19" name="Text 17"/>
          <p:cNvSpPr/>
          <p:nvPr/>
        </p:nvSpPr>
        <p:spPr>
          <a:xfrm>
            <a:off x="857250" y="3725292"/>
            <a:ext cx="2270125" cy="190500"/>
          </a:xfrm>
          <a:prstGeom prst="rect">
            <a:avLst/>
          </a:prstGeom>
          <a:noFill/>
          <a:ln/>
        </p:spPr>
        <p:txBody>
          <a:bodyPr wrap="square" lIns="0" tIns="0" rIns="0" bIns="0" rtlCol="0" anchor="ctr"/>
          <a:lstStyle/>
          <a:p>
            <a:pPr>
              <a:lnSpc>
                <a:spcPct val="130000"/>
              </a:lnSpc>
            </a:pPr>
            <a:r>
              <a:rPr lang="en-US" sz="1000" b="1" dirty="0">
                <a:solidFill>
                  <a:srgbClr val="374151"/>
                </a:solidFill>
                <a:latin typeface="MiSans" pitchFamily="34" charset="0"/>
                <a:ea typeface="MiSans" pitchFamily="34" charset="-122"/>
                <a:cs typeface="MiSans" pitchFamily="34" charset="-120"/>
              </a:rPr>
              <a:t>Interface Inspecteur</a:t>
            </a:r>
            <a:endParaRPr lang="en-US" sz="1600" dirty="0"/>
          </a:p>
        </p:txBody>
      </p:sp>
      <p:sp>
        <p:nvSpPr>
          <p:cNvPr id="20" name="Text 18"/>
          <p:cNvSpPr/>
          <p:nvPr/>
        </p:nvSpPr>
        <p:spPr>
          <a:xfrm>
            <a:off x="857250" y="3915792"/>
            <a:ext cx="2262188"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MiSans" pitchFamily="34" charset="0"/>
                <a:ea typeface="MiSans" pitchFamily="34" charset="-122"/>
                <a:cs typeface="MiSans" pitchFamily="34" charset="-120"/>
              </a:rPr>
              <a:t>Validation OK/NOK + annotation + historique</a:t>
            </a:r>
            <a:endParaRPr lang="en-US" sz="1600" dirty="0"/>
          </a:p>
        </p:txBody>
      </p:sp>
      <p:sp>
        <p:nvSpPr>
          <p:cNvPr id="21" name="Shape 19"/>
          <p:cNvSpPr/>
          <p:nvPr/>
        </p:nvSpPr>
        <p:spPr>
          <a:xfrm>
            <a:off x="444500" y="4603750"/>
            <a:ext cx="317500" cy="317500"/>
          </a:xfrm>
          <a:custGeom>
            <a:avLst/>
            <a:gdLst/>
            <a:ahLst/>
            <a:cxnLst/>
            <a:rect l="l" t="t" r="r" b="b"/>
            <a:pathLst>
              <a:path w="317500" h="317500">
                <a:moveTo>
                  <a:pt x="95250" y="0"/>
                </a:moveTo>
                <a:lnTo>
                  <a:pt x="222250" y="0"/>
                </a:lnTo>
                <a:cubicBezTo>
                  <a:pt x="274820" y="0"/>
                  <a:pt x="317500" y="42680"/>
                  <a:pt x="317500" y="95250"/>
                </a:cubicBezTo>
                <a:lnTo>
                  <a:pt x="317500" y="222250"/>
                </a:lnTo>
                <a:cubicBezTo>
                  <a:pt x="317500" y="274820"/>
                  <a:pt x="274820" y="317500"/>
                  <a:pt x="222250" y="317500"/>
                </a:cubicBezTo>
                <a:lnTo>
                  <a:pt x="95250" y="317500"/>
                </a:lnTo>
                <a:cubicBezTo>
                  <a:pt x="42680" y="317500"/>
                  <a:pt x="0" y="274820"/>
                  <a:pt x="0" y="222250"/>
                </a:cubicBezTo>
                <a:lnTo>
                  <a:pt x="0" y="95250"/>
                </a:lnTo>
                <a:cubicBezTo>
                  <a:pt x="0" y="42680"/>
                  <a:pt x="42680" y="0"/>
                  <a:pt x="95250" y="0"/>
                </a:cubicBezTo>
                <a:close/>
              </a:path>
            </a:pathLst>
          </a:custGeom>
          <a:solidFill>
            <a:srgbClr val="10B981"/>
          </a:solidFill>
          <a:ln/>
        </p:spPr>
      </p:sp>
      <p:sp>
        <p:nvSpPr>
          <p:cNvPr id="22" name="Shape 20"/>
          <p:cNvSpPr/>
          <p:nvPr/>
        </p:nvSpPr>
        <p:spPr>
          <a:xfrm>
            <a:off x="547688" y="4699000"/>
            <a:ext cx="111125" cy="127000"/>
          </a:xfrm>
          <a:custGeom>
            <a:avLst/>
            <a:gdLst/>
            <a:ahLst/>
            <a:cxnLst/>
            <a:rect l="l" t="t" r="r" b="b"/>
            <a:pathLst>
              <a:path w="111125" h="127000">
                <a:moveTo>
                  <a:pt x="111125" y="51048"/>
                </a:moveTo>
                <a:cubicBezTo>
                  <a:pt x="107454" y="53479"/>
                  <a:pt x="103237" y="55438"/>
                  <a:pt x="98847" y="57001"/>
                </a:cubicBezTo>
                <a:cubicBezTo>
                  <a:pt x="87188" y="61168"/>
                  <a:pt x="71884" y="63500"/>
                  <a:pt x="55563" y="63500"/>
                </a:cubicBezTo>
                <a:cubicBezTo>
                  <a:pt x="39241" y="63500"/>
                  <a:pt x="23912" y="61144"/>
                  <a:pt x="12278" y="57001"/>
                </a:cubicBezTo>
                <a:cubicBezTo>
                  <a:pt x="7913" y="55438"/>
                  <a:pt x="3671" y="53479"/>
                  <a:pt x="0" y="51048"/>
                </a:cubicBezTo>
                <a:lnTo>
                  <a:pt x="0" y="71438"/>
                </a:lnTo>
                <a:cubicBezTo>
                  <a:pt x="0" y="82401"/>
                  <a:pt x="24879" y="91281"/>
                  <a:pt x="55563" y="91281"/>
                </a:cubicBezTo>
                <a:cubicBezTo>
                  <a:pt x="86246" y="91281"/>
                  <a:pt x="111125" y="82401"/>
                  <a:pt x="111125" y="71438"/>
                </a:cubicBezTo>
                <a:lnTo>
                  <a:pt x="111125" y="51048"/>
                </a:lnTo>
                <a:close/>
                <a:moveTo>
                  <a:pt x="111125" y="31750"/>
                </a:moveTo>
                <a:lnTo>
                  <a:pt x="111125" y="19844"/>
                </a:lnTo>
                <a:cubicBezTo>
                  <a:pt x="111125" y="8880"/>
                  <a:pt x="86246" y="0"/>
                  <a:pt x="55563" y="0"/>
                </a:cubicBezTo>
                <a:cubicBezTo>
                  <a:pt x="24879" y="0"/>
                  <a:pt x="0" y="8880"/>
                  <a:pt x="0" y="19844"/>
                </a:cubicBezTo>
                <a:lnTo>
                  <a:pt x="0" y="31750"/>
                </a:lnTo>
                <a:cubicBezTo>
                  <a:pt x="0" y="42714"/>
                  <a:pt x="24879" y="51594"/>
                  <a:pt x="55563" y="51594"/>
                </a:cubicBezTo>
                <a:cubicBezTo>
                  <a:pt x="86246" y="51594"/>
                  <a:pt x="111125" y="42714"/>
                  <a:pt x="111125" y="31750"/>
                </a:cubicBezTo>
                <a:close/>
                <a:moveTo>
                  <a:pt x="98847" y="96689"/>
                </a:moveTo>
                <a:cubicBezTo>
                  <a:pt x="87213" y="100831"/>
                  <a:pt x="71909" y="103188"/>
                  <a:pt x="55563" y="103188"/>
                </a:cubicBezTo>
                <a:cubicBezTo>
                  <a:pt x="39216" y="103188"/>
                  <a:pt x="23912" y="100831"/>
                  <a:pt x="12278" y="96689"/>
                </a:cubicBezTo>
                <a:cubicBezTo>
                  <a:pt x="7913" y="95126"/>
                  <a:pt x="3671" y="93166"/>
                  <a:pt x="0" y="90736"/>
                </a:cubicBezTo>
                <a:lnTo>
                  <a:pt x="0" y="107156"/>
                </a:lnTo>
                <a:cubicBezTo>
                  <a:pt x="0" y="118120"/>
                  <a:pt x="24879" y="127000"/>
                  <a:pt x="55563" y="127000"/>
                </a:cubicBezTo>
                <a:cubicBezTo>
                  <a:pt x="86246" y="127000"/>
                  <a:pt x="111125" y="118120"/>
                  <a:pt x="111125" y="107156"/>
                </a:cubicBezTo>
                <a:lnTo>
                  <a:pt x="111125" y="90736"/>
                </a:lnTo>
                <a:cubicBezTo>
                  <a:pt x="107454" y="93166"/>
                  <a:pt x="103237" y="95126"/>
                  <a:pt x="98847" y="96689"/>
                </a:cubicBezTo>
                <a:close/>
              </a:path>
            </a:pathLst>
          </a:custGeom>
          <a:solidFill>
            <a:srgbClr val="FFFFFF"/>
          </a:solidFill>
          <a:ln/>
        </p:spPr>
      </p:sp>
      <p:sp>
        <p:nvSpPr>
          <p:cNvPr id="23" name="Text 21"/>
          <p:cNvSpPr/>
          <p:nvPr/>
        </p:nvSpPr>
        <p:spPr>
          <a:xfrm>
            <a:off x="857250" y="4603750"/>
            <a:ext cx="2000250" cy="190500"/>
          </a:xfrm>
          <a:prstGeom prst="rect">
            <a:avLst/>
          </a:prstGeom>
          <a:noFill/>
          <a:ln/>
        </p:spPr>
        <p:txBody>
          <a:bodyPr wrap="square" lIns="0" tIns="0" rIns="0" bIns="0" rtlCol="0" anchor="ctr"/>
          <a:lstStyle/>
          <a:p>
            <a:pPr>
              <a:lnSpc>
                <a:spcPct val="130000"/>
              </a:lnSpc>
            </a:pPr>
            <a:r>
              <a:rPr lang="en-US" sz="1000" b="1" dirty="0">
                <a:solidFill>
                  <a:srgbClr val="374151"/>
                </a:solidFill>
                <a:latin typeface="MiSans" pitchFamily="34" charset="0"/>
                <a:ea typeface="MiSans" pitchFamily="34" charset="-122"/>
                <a:cs typeface="MiSans" pitchFamily="34" charset="-120"/>
              </a:rPr>
              <a:t>Stockage</a:t>
            </a:r>
            <a:endParaRPr lang="en-US" sz="1600" dirty="0"/>
          </a:p>
        </p:txBody>
      </p:sp>
      <p:sp>
        <p:nvSpPr>
          <p:cNvPr id="24" name="Text 22"/>
          <p:cNvSpPr/>
          <p:nvPr/>
        </p:nvSpPr>
        <p:spPr>
          <a:xfrm>
            <a:off x="857250" y="4794250"/>
            <a:ext cx="1992313"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MiSans" pitchFamily="34" charset="0"/>
                <a:ea typeface="MiSans" pitchFamily="34" charset="-122"/>
                <a:cs typeface="MiSans" pitchFamily="34" charset="-120"/>
              </a:rPr>
              <a:t>Base centralisée (remplace Excel/PDF)</a:t>
            </a:r>
            <a:endParaRPr lang="en-US" sz="1600" dirty="0"/>
          </a:p>
        </p:txBody>
      </p:sp>
      <p:sp>
        <p:nvSpPr>
          <p:cNvPr id="25" name="Shape 23"/>
          <p:cNvSpPr/>
          <p:nvPr/>
        </p:nvSpPr>
        <p:spPr>
          <a:xfrm>
            <a:off x="6191250" y="1270000"/>
            <a:ext cx="5683250" cy="476250"/>
          </a:xfrm>
          <a:custGeom>
            <a:avLst/>
            <a:gdLst/>
            <a:ahLst/>
            <a:cxnLst/>
            <a:rect l="l" t="t" r="r" b="b"/>
            <a:pathLst>
              <a:path w="5683250" h="476250">
                <a:moveTo>
                  <a:pt x="127002" y="0"/>
                </a:moveTo>
                <a:lnTo>
                  <a:pt x="5556248" y="0"/>
                </a:lnTo>
                <a:cubicBezTo>
                  <a:pt x="5626389" y="0"/>
                  <a:pt x="5683250" y="56861"/>
                  <a:pt x="5683250" y="127002"/>
                </a:cubicBezTo>
                <a:lnTo>
                  <a:pt x="5683250" y="349248"/>
                </a:lnTo>
                <a:cubicBezTo>
                  <a:pt x="5683250" y="419389"/>
                  <a:pt x="5626389" y="476250"/>
                  <a:pt x="5556248" y="476250"/>
                </a:cubicBezTo>
                <a:lnTo>
                  <a:pt x="127002" y="476250"/>
                </a:lnTo>
                <a:cubicBezTo>
                  <a:pt x="56908" y="476250"/>
                  <a:pt x="0" y="419342"/>
                  <a:pt x="0" y="349248"/>
                </a:cubicBezTo>
                <a:lnTo>
                  <a:pt x="0" y="127002"/>
                </a:lnTo>
                <a:cubicBezTo>
                  <a:pt x="0" y="56908"/>
                  <a:pt x="56908" y="0"/>
                  <a:pt x="127002" y="0"/>
                </a:cubicBezTo>
                <a:close/>
              </a:path>
            </a:pathLst>
          </a:custGeom>
          <a:solidFill>
            <a:srgbClr val="6B7280"/>
          </a:solidFill>
          <a:ln/>
        </p:spPr>
      </p:sp>
      <p:sp>
        <p:nvSpPr>
          <p:cNvPr id="26" name="Shape 24"/>
          <p:cNvSpPr/>
          <p:nvPr/>
        </p:nvSpPr>
        <p:spPr>
          <a:xfrm>
            <a:off x="6357938" y="1428750"/>
            <a:ext cx="119063" cy="158750"/>
          </a:xfrm>
          <a:custGeom>
            <a:avLst/>
            <a:gdLst/>
            <a:ahLst/>
            <a:cxnLst/>
            <a:rect l="l" t="t" r="r" b="b"/>
            <a:pathLst>
              <a:path w="119063" h="158750">
                <a:moveTo>
                  <a:pt x="39688" y="29766"/>
                </a:moveTo>
                <a:lnTo>
                  <a:pt x="39688" y="49609"/>
                </a:lnTo>
                <a:lnTo>
                  <a:pt x="79375" y="49609"/>
                </a:lnTo>
                <a:lnTo>
                  <a:pt x="79375" y="29766"/>
                </a:lnTo>
                <a:cubicBezTo>
                  <a:pt x="79375" y="18821"/>
                  <a:pt x="70476" y="9922"/>
                  <a:pt x="59531" y="9922"/>
                </a:cubicBezTo>
                <a:cubicBezTo>
                  <a:pt x="48586" y="9922"/>
                  <a:pt x="39688" y="18821"/>
                  <a:pt x="39688" y="29766"/>
                </a:cubicBezTo>
                <a:close/>
                <a:moveTo>
                  <a:pt x="19844" y="49609"/>
                </a:moveTo>
                <a:lnTo>
                  <a:pt x="19844" y="29766"/>
                </a:lnTo>
                <a:cubicBezTo>
                  <a:pt x="19844" y="7844"/>
                  <a:pt x="37610" y="-9922"/>
                  <a:pt x="59531" y="-9922"/>
                </a:cubicBezTo>
                <a:cubicBezTo>
                  <a:pt x="81452" y="-9922"/>
                  <a:pt x="99219" y="7844"/>
                  <a:pt x="99219" y="29766"/>
                </a:cubicBezTo>
                <a:lnTo>
                  <a:pt x="99219" y="49609"/>
                </a:lnTo>
                <a:cubicBezTo>
                  <a:pt x="110164" y="49609"/>
                  <a:pt x="119062" y="58508"/>
                  <a:pt x="119062" y="69453"/>
                </a:cubicBezTo>
                <a:lnTo>
                  <a:pt x="119062" y="138906"/>
                </a:lnTo>
                <a:cubicBezTo>
                  <a:pt x="119062" y="149851"/>
                  <a:pt x="110164" y="158750"/>
                  <a:pt x="99219" y="158750"/>
                </a:cubicBezTo>
                <a:lnTo>
                  <a:pt x="19844" y="158750"/>
                </a:lnTo>
                <a:cubicBezTo>
                  <a:pt x="8899" y="158750"/>
                  <a:pt x="0" y="149851"/>
                  <a:pt x="0" y="138906"/>
                </a:cubicBezTo>
                <a:lnTo>
                  <a:pt x="0" y="69453"/>
                </a:lnTo>
                <a:cubicBezTo>
                  <a:pt x="0" y="58508"/>
                  <a:pt x="8899" y="49609"/>
                  <a:pt x="19844" y="49609"/>
                </a:cubicBezTo>
                <a:close/>
              </a:path>
            </a:pathLst>
          </a:custGeom>
          <a:solidFill>
            <a:srgbClr val="FFFFFF"/>
          </a:solidFill>
          <a:ln/>
        </p:spPr>
      </p:sp>
      <p:sp>
        <p:nvSpPr>
          <p:cNvPr id="27" name="Text 25"/>
          <p:cNvSpPr/>
          <p:nvPr/>
        </p:nvSpPr>
        <p:spPr>
          <a:xfrm>
            <a:off x="6611938" y="1397000"/>
            <a:ext cx="163512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Noto Sans SC" pitchFamily="34" charset="0"/>
                <a:ea typeface="Noto Sans SC" pitchFamily="34" charset="-122"/>
                <a:cs typeface="Noto Sans SC" pitchFamily="34" charset="-120"/>
              </a:rPr>
              <a:t>Fonctionnalités OUT</a:t>
            </a:r>
            <a:endParaRPr lang="en-US" sz="1600" dirty="0"/>
          </a:p>
        </p:txBody>
      </p:sp>
      <p:sp>
        <p:nvSpPr>
          <p:cNvPr id="28" name="Shape 26"/>
          <p:cNvSpPr/>
          <p:nvPr/>
        </p:nvSpPr>
        <p:spPr>
          <a:xfrm>
            <a:off x="6191250" y="1841500"/>
            <a:ext cx="5683250" cy="3238500"/>
          </a:xfrm>
          <a:custGeom>
            <a:avLst/>
            <a:gdLst/>
            <a:ahLst/>
            <a:cxnLst/>
            <a:rect l="l" t="t" r="r" b="b"/>
            <a:pathLst>
              <a:path w="5683250" h="3238500">
                <a:moveTo>
                  <a:pt x="127014" y="0"/>
                </a:moveTo>
                <a:lnTo>
                  <a:pt x="5556236" y="0"/>
                </a:lnTo>
                <a:cubicBezTo>
                  <a:pt x="5626384" y="0"/>
                  <a:pt x="5683250" y="56866"/>
                  <a:pt x="5683250" y="127014"/>
                </a:cubicBezTo>
                <a:lnTo>
                  <a:pt x="5683250" y="3111486"/>
                </a:lnTo>
                <a:cubicBezTo>
                  <a:pt x="5683250" y="3181634"/>
                  <a:pt x="5626384" y="3238500"/>
                  <a:pt x="5556236" y="3238500"/>
                </a:cubicBezTo>
                <a:lnTo>
                  <a:pt x="127014" y="3238500"/>
                </a:lnTo>
                <a:cubicBezTo>
                  <a:pt x="56866" y="3238500"/>
                  <a:pt x="0" y="3181634"/>
                  <a:pt x="0" y="3111486"/>
                </a:cubicBezTo>
                <a:lnTo>
                  <a:pt x="0" y="127014"/>
                </a:lnTo>
                <a:cubicBezTo>
                  <a:pt x="0" y="56913"/>
                  <a:pt x="56913" y="0"/>
                  <a:pt x="127014" y="0"/>
                </a:cubicBezTo>
                <a:close/>
              </a:path>
            </a:pathLst>
          </a:custGeom>
          <a:solidFill>
            <a:srgbClr val="F3F4F6"/>
          </a:solidFill>
          <a:ln/>
        </p:spPr>
      </p:sp>
      <p:sp>
        <p:nvSpPr>
          <p:cNvPr id="29" name="Shape 27"/>
          <p:cNvSpPr/>
          <p:nvPr/>
        </p:nvSpPr>
        <p:spPr>
          <a:xfrm>
            <a:off x="6318250" y="1968500"/>
            <a:ext cx="317500" cy="317500"/>
          </a:xfrm>
          <a:custGeom>
            <a:avLst/>
            <a:gdLst/>
            <a:ahLst/>
            <a:cxnLst/>
            <a:rect l="l" t="t" r="r" b="b"/>
            <a:pathLst>
              <a:path w="317500" h="317500">
                <a:moveTo>
                  <a:pt x="95250" y="0"/>
                </a:moveTo>
                <a:lnTo>
                  <a:pt x="222250" y="0"/>
                </a:lnTo>
                <a:cubicBezTo>
                  <a:pt x="274820" y="0"/>
                  <a:pt x="317500" y="42680"/>
                  <a:pt x="317500" y="95250"/>
                </a:cubicBezTo>
                <a:lnTo>
                  <a:pt x="317500" y="222250"/>
                </a:lnTo>
                <a:cubicBezTo>
                  <a:pt x="317500" y="274820"/>
                  <a:pt x="274820" y="317500"/>
                  <a:pt x="222250" y="317500"/>
                </a:cubicBezTo>
                <a:lnTo>
                  <a:pt x="95250" y="317500"/>
                </a:lnTo>
                <a:cubicBezTo>
                  <a:pt x="42680" y="317500"/>
                  <a:pt x="0" y="274820"/>
                  <a:pt x="0" y="222250"/>
                </a:cubicBezTo>
                <a:lnTo>
                  <a:pt x="0" y="95250"/>
                </a:lnTo>
                <a:cubicBezTo>
                  <a:pt x="0" y="42680"/>
                  <a:pt x="42680" y="0"/>
                  <a:pt x="95250" y="0"/>
                </a:cubicBezTo>
                <a:close/>
              </a:path>
            </a:pathLst>
          </a:custGeom>
          <a:solidFill>
            <a:srgbClr val="6B7280"/>
          </a:solidFill>
          <a:ln/>
        </p:spPr>
      </p:sp>
      <p:sp>
        <p:nvSpPr>
          <p:cNvPr id="30" name="Shape 28"/>
          <p:cNvSpPr/>
          <p:nvPr/>
        </p:nvSpPr>
        <p:spPr>
          <a:xfrm>
            <a:off x="6413500" y="2063750"/>
            <a:ext cx="127000" cy="127000"/>
          </a:xfrm>
          <a:custGeom>
            <a:avLst/>
            <a:gdLst/>
            <a:ahLst/>
            <a:cxnLst/>
            <a:rect l="l" t="t" r="r" b="b"/>
            <a:pathLst>
              <a:path w="127000" h="127000">
                <a:moveTo>
                  <a:pt x="7938" y="7938"/>
                </a:moveTo>
                <a:cubicBezTo>
                  <a:pt x="12328" y="7938"/>
                  <a:pt x="15875" y="11485"/>
                  <a:pt x="15875" y="15875"/>
                </a:cubicBezTo>
                <a:lnTo>
                  <a:pt x="15875" y="99219"/>
                </a:lnTo>
                <a:cubicBezTo>
                  <a:pt x="15875" y="101402"/>
                  <a:pt x="17661" y="103188"/>
                  <a:pt x="19844" y="103188"/>
                </a:cubicBezTo>
                <a:lnTo>
                  <a:pt x="119063" y="103188"/>
                </a:lnTo>
                <a:cubicBezTo>
                  <a:pt x="123453" y="103188"/>
                  <a:pt x="127000" y="106735"/>
                  <a:pt x="127000" y="111125"/>
                </a:cubicBezTo>
                <a:cubicBezTo>
                  <a:pt x="127000" y="115515"/>
                  <a:pt x="123453" y="119063"/>
                  <a:pt x="119063" y="119063"/>
                </a:cubicBezTo>
                <a:lnTo>
                  <a:pt x="19844" y="119063"/>
                </a:lnTo>
                <a:cubicBezTo>
                  <a:pt x="8880" y="119063"/>
                  <a:pt x="0" y="110182"/>
                  <a:pt x="0" y="99219"/>
                </a:cubicBezTo>
                <a:lnTo>
                  <a:pt x="0" y="15875"/>
                </a:lnTo>
                <a:cubicBezTo>
                  <a:pt x="0" y="11485"/>
                  <a:pt x="3547" y="7938"/>
                  <a:pt x="7938" y="7938"/>
                </a:cubicBezTo>
                <a:close/>
                <a:moveTo>
                  <a:pt x="31750" y="23812"/>
                </a:moveTo>
                <a:cubicBezTo>
                  <a:pt x="31750" y="19422"/>
                  <a:pt x="35297" y="15875"/>
                  <a:pt x="39688" y="15875"/>
                </a:cubicBezTo>
                <a:lnTo>
                  <a:pt x="87313" y="15875"/>
                </a:lnTo>
                <a:cubicBezTo>
                  <a:pt x="91703" y="15875"/>
                  <a:pt x="95250" y="19422"/>
                  <a:pt x="95250" y="23812"/>
                </a:cubicBezTo>
                <a:cubicBezTo>
                  <a:pt x="95250" y="28203"/>
                  <a:pt x="91703" y="31750"/>
                  <a:pt x="87313" y="31750"/>
                </a:cubicBezTo>
                <a:lnTo>
                  <a:pt x="39688" y="31750"/>
                </a:lnTo>
                <a:cubicBezTo>
                  <a:pt x="35297" y="31750"/>
                  <a:pt x="31750" y="28203"/>
                  <a:pt x="31750" y="23812"/>
                </a:cubicBezTo>
                <a:close/>
                <a:moveTo>
                  <a:pt x="39688" y="43656"/>
                </a:moveTo>
                <a:lnTo>
                  <a:pt x="71438" y="43656"/>
                </a:lnTo>
                <a:cubicBezTo>
                  <a:pt x="75828" y="43656"/>
                  <a:pt x="79375" y="47203"/>
                  <a:pt x="79375" y="51594"/>
                </a:cubicBezTo>
                <a:cubicBezTo>
                  <a:pt x="79375" y="55984"/>
                  <a:pt x="75828" y="59531"/>
                  <a:pt x="71438" y="59531"/>
                </a:cubicBezTo>
                <a:lnTo>
                  <a:pt x="39688" y="59531"/>
                </a:lnTo>
                <a:cubicBezTo>
                  <a:pt x="35297" y="59531"/>
                  <a:pt x="31750" y="55984"/>
                  <a:pt x="31750" y="51594"/>
                </a:cubicBezTo>
                <a:cubicBezTo>
                  <a:pt x="31750" y="47203"/>
                  <a:pt x="35297" y="43656"/>
                  <a:pt x="39688" y="43656"/>
                </a:cubicBezTo>
                <a:close/>
                <a:moveTo>
                  <a:pt x="39688" y="71438"/>
                </a:moveTo>
                <a:lnTo>
                  <a:pt x="103188" y="71438"/>
                </a:lnTo>
                <a:cubicBezTo>
                  <a:pt x="107578" y="71438"/>
                  <a:pt x="111125" y="74985"/>
                  <a:pt x="111125" y="79375"/>
                </a:cubicBezTo>
                <a:cubicBezTo>
                  <a:pt x="111125" y="83765"/>
                  <a:pt x="107578" y="87313"/>
                  <a:pt x="103188" y="87313"/>
                </a:cubicBezTo>
                <a:lnTo>
                  <a:pt x="39688" y="87313"/>
                </a:lnTo>
                <a:cubicBezTo>
                  <a:pt x="35297" y="87313"/>
                  <a:pt x="31750" y="83765"/>
                  <a:pt x="31750" y="79375"/>
                </a:cubicBezTo>
                <a:cubicBezTo>
                  <a:pt x="31750" y="74985"/>
                  <a:pt x="35297" y="71438"/>
                  <a:pt x="39688" y="71438"/>
                </a:cubicBezTo>
                <a:close/>
              </a:path>
            </a:pathLst>
          </a:custGeom>
          <a:solidFill>
            <a:srgbClr val="FFFFFF"/>
          </a:solidFill>
          <a:ln/>
        </p:spPr>
      </p:sp>
      <p:sp>
        <p:nvSpPr>
          <p:cNvPr id="31" name="Text 29"/>
          <p:cNvSpPr/>
          <p:nvPr/>
        </p:nvSpPr>
        <p:spPr>
          <a:xfrm>
            <a:off x="6731000" y="1968500"/>
            <a:ext cx="1190625" cy="190500"/>
          </a:xfrm>
          <a:prstGeom prst="rect">
            <a:avLst/>
          </a:prstGeom>
          <a:noFill/>
          <a:ln/>
        </p:spPr>
        <p:txBody>
          <a:bodyPr wrap="square" lIns="0" tIns="0" rIns="0" bIns="0" rtlCol="0" anchor="ctr"/>
          <a:lstStyle/>
          <a:p>
            <a:pPr>
              <a:lnSpc>
                <a:spcPct val="130000"/>
              </a:lnSpc>
            </a:pPr>
            <a:r>
              <a:rPr lang="en-US" sz="1000" b="1" dirty="0">
                <a:solidFill>
                  <a:srgbClr val="374151"/>
                </a:solidFill>
                <a:latin typeface="MiSans" pitchFamily="34" charset="0"/>
                <a:ea typeface="MiSans" pitchFamily="34" charset="-122"/>
                <a:cs typeface="MiSans" pitchFamily="34" charset="-120"/>
              </a:rPr>
              <a:t>Dashboard avancé</a:t>
            </a:r>
            <a:endParaRPr lang="en-US" sz="1600" dirty="0"/>
          </a:p>
        </p:txBody>
      </p:sp>
      <p:sp>
        <p:nvSpPr>
          <p:cNvPr id="32" name="Text 30"/>
          <p:cNvSpPr/>
          <p:nvPr/>
        </p:nvSpPr>
        <p:spPr>
          <a:xfrm>
            <a:off x="6731000" y="2159000"/>
            <a:ext cx="1182688"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MiSans" pitchFamily="34" charset="0"/>
                <a:ea typeface="MiSans" pitchFamily="34" charset="-122"/>
                <a:cs typeface="MiSans" pitchFamily="34" charset="-120"/>
              </a:rPr>
              <a:t>v2</a:t>
            </a:r>
            <a:endParaRPr lang="en-US" sz="1600" dirty="0"/>
          </a:p>
        </p:txBody>
      </p:sp>
      <p:sp>
        <p:nvSpPr>
          <p:cNvPr id="33" name="Shape 31"/>
          <p:cNvSpPr/>
          <p:nvPr/>
        </p:nvSpPr>
        <p:spPr>
          <a:xfrm>
            <a:off x="6318250" y="3286125"/>
            <a:ext cx="317500" cy="317500"/>
          </a:xfrm>
          <a:custGeom>
            <a:avLst/>
            <a:gdLst/>
            <a:ahLst/>
            <a:cxnLst/>
            <a:rect l="l" t="t" r="r" b="b"/>
            <a:pathLst>
              <a:path w="317500" h="317500">
                <a:moveTo>
                  <a:pt x="95250" y="0"/>
                </a:moveTo>
                <a:lnTo>
                  <a:pt x="222250" y="0"/>
                </a:lnTo>
                <a:cubicBezTo>
                  <a:pt x="274820" y="0"/>
                  <a:pt x="317500" y="42680"/>
                  <a:pt x="317500" y="95250"/>
                </a:cubicBezTo>
                <a:lnTo>
                  <a:pt x="317500" y="222250"/>
                </a:lnTo>
                <a:cubicBezTo>
                  <a:pt x="317500" y="274820"/>
                  <a:pt x="274820" y="317500"/>
                  <a:pt x="222250" y="317500"/>
                </a:cubicBezTo>
                <a:lnTo>
                  <a:pt x="95250" y="317500"/>
                </a:lnTo>
                <a:cubicBezTo>
                  <a:pt x="42680" y="317500"/>
                  <a:pt x="0" y="274820"/>
                  <a:pt x="0" y="222250"/>
                </a:cubicBezTo>
                <a:lnTo>
                  <a:pt x="0" y="95250"/>
                </a:lnTo>
                <a:cubicBezTo>
                  <a:pt x="0" y="42680"/>
                  <a:pt x="42680" y="0"/>
                  <a:pt x="95250" y="0"/>
                </a:cubicBezTo>
                <a:close/>
              </a:path>
            </a:pathLst>
          </a:custGeom>
          <a:solidFill>
            <a:srgbClr val="6B7280"/>
          </a:solidFill>
          <a:ln/>
        </p:spPr>
      </p:sp>
      <p:sp>
        <p:nvSpPr>
          <p:cNvPr id="34" name="Shape 32"/>
          <p:cNvSpPr/>
          <p:nvPr/>
        </p:nvSpPr>
        <p:spPr>
          <a:xfrm>
            <a:off x="6405563" y="3381375"/>
            <a:ext cx="142875" cy="127000"/>
          </a:xfrm>
          <a:custGeom>
            <a:avLst/>
            <a:gdLst/>
            <a:ahLst/>
            <a:cxnLst/>
            <a:rect l="l" t="t" r="r" b="b"/>
            <a:pathLst>
              <a:path w="142875" h="127000">
                <a:moveTo>
                  <a:pt x="104056" y="23812"/>
                </a:moveTo>
                <a:cubicBezTo>
                  <a:pt x="99938" y="23812"/>
                  <a:pt x="95945" y="24929"/>
                  <a:pt x="92447" y="26963"/>
                </a:cubicBezTo>
                <a:cubicBezTo>
                  <a:pt x="88528" y="22994"/>
                  <a:pt x="83964" y="19670"/>
                  <a:pt x="78929" y="17165"/>
                </a:cubicBezTo>
                <a:cubicBezTo>
                  <a:pt x="85923" y="11212"/>
                  <a:pt x="94828" y="7938"/>
                  <a:pt x="104056" y="7938"/>
                </a:cubicBezTo>
                <a:cubicBezTo>
                  <a:pt x="125487" y="7938"/>
                  <a:pt x="142875" y="25301"/>
                  <a:pt x="142875" y="46757"/>
                </a:cubicBezTo>
                <a:cubicBezTo>
                  <a:pt x="142875" y="57051"/>
                  <a:pt x="138782" y="66923"/>
                  <a:pt x="131514" y="74191"/>
                </a:cubicBezTo>
                <a:lnTo>
                  <a:pt x="113878" y="91827"/>
                </a:lnTo>
                <a:cubicBezTo>
                  <a:pt x="106611" y="99095"/>
                  <a:pt x="96738" y="103188"/>
                  <a:pt x="86444" y="103188"/>
                </a:cubicBezTo>
                <a:cubicBezTo>
                  <a:pt x="65013" y="103188"/>
                  <a:pt x="47625" y="85824"/>
                  <a:pt x="47625" y="64368"/>
                </a:cubicBezTo>
                <a:cubicBezTo>
                  <a:pt x="47625" y="63996"/>
                  <a:pt x="47625" y="63624"/>
                  <a:pt x="47650" y="63252"/>
                </a:cubicBezTo>
                <a:cubicBezTo>
                  <a:pt x="47774" y="58862"/>
                  <a:pt x="51420" y="55414"/>
                  <a:pt x="55811" y="55538"/>
                </a:cubicBezTo>
                <a:cubicBezTo>
                  <a:pt x="60201" y="55662"/>
                  <a:pt x="63649" y="59308"/>
                  <a:pt x="63525" y="63698"/>
                </a:cubicBezTo>
                <a:cubicBezTo>
                  <a:pt x="63525" y="63922"/>
                  <a:pt x="63525" y="64145"/>
                  <a:pt x="63525" y="64343"/>
                </a:cubicBezTo>
                <a:cubicBezTo>
                  <a:pt x="63525" y="77019"/>
                  <a:pt x="73794" y="87288"/>
                  <a:pt x="86469" y="87288"/>
                </a:cubicBezTo>
                <a:cubicBezTo>
                  <a:pt x="92546" y="87288"/>
                  <a:pt x="98375" y="84882"/>
                  <a:pt x="102691" y="80566"/>
                </a:cubicBezTo>
                <a:lnTo>
                  <a:pt x="120328" y="62929"/>
                </a:lnTo>
                <a:cubicBezTo>
                  <a:pt x="124619" y="58638"/>
                  <a:pt x="127050" y="52784"/>
                  <a:pt x="127050" y="46707"/>
                </a:cubicBezTo>
                <a:cubicBezTo>
                  <a:pt x="127050" y="34032"/>
                  <a:pt x="116780" y="23763"/>
                  <a:pt x="104105" y="23763"/>
                </a:cubicBezTo>
                <a:close/>
                <a:moveTo>
                  <a:pt x="68263" y="42987"/>
                </a:moveTo>
                <a:cubicBezTo>
                  <a:pt x="67791" y="42788"/>
                  <a:pt x="67320" y="42515"/>
                  <a:pt x="66898" y="42218"/>
                </a:cubicBezTo>
                <a:cubicBezTo>
                  <a:pt x="63773" y="40605"/>
                  <a:pt x="60201" y="39688"/>
                  <a:pt x="56455" y="39688"/>
                </a:cubicBezTo>
                <a:cubicBezTo>
                  <a:pt x="50378" y="39688"/>
                  <a:pt x="44549" y="42094"/>
                  <a:pt x="40233" y="46410"/>
                </a:cubicBezTo>
                <a:lnTo>
                  <a:pt x="22597" y="64046"/>
                </a:lnTo>
                <a:cubicBezTo>
                  <a:pt x="18306" y="68337"/>
                  <a:pt x="15875" y="74191"/>
                  <a:pt x="15875" y="80268"/>
                </a:cubicBezTo>
                <a:cubicBezTo>
                  <a:pt x="15875" y="92943"/>
                  <a:pt x="26144" y="103212"/>
                  <a:pt x="38819" y="103212"/>
                </a:cubicBezTo>
                <a:cubicBezTo>
                  <a:pt x="42912" y="103212"/>
                  <a:pt x="46906" y="102121"/>
                  <a:pt x="50403" y="100087"/>
                </a:cubicBezTo>
                <a:cubicBezTo>
                  <a:pt x="54322" y="104056"/>
                  <a:pt x="58886" y="107379"/>
                  <a:pt x="63946" y="109885"/>
                </a:cubicBezTo>
                <a:cubicBezTo>
                  <a:pt x="56952" y="115813"/>
                  <a:pt x="48071" y="119112"/>
                  <a:pt x="38819" y="119112"/>
                </a:cubicBezTo>
                <a:cubicBezTo>
                  <a:pt x="17388" y="119112"/>
                  <a:pt x="0" y="101749"/>
                  <a:pt x="0" y="80293"/>
                </a:cubicBezTo>
                <a:cubicBezTo>
                  <a:pt x="0" y="69999"/>
                  <a:pt x="4093" y="60127"/>
                  <a:pt x="11361" y="52859"/>
                </a:cubicBezTo>
                <a:lnTo>
                  <a:pt x="28997" y="35223"/>
                </a:lnTo>
                <a:cubicBezTo>
                  <a:pt x="36264" y="27955"/>
                  <a:pt x="46137" y="23862"/>
                  <a:pt x="56431" y="23862"/>
                </a:cubicBezTo>
                <a:cubicBezTo>
                  <a:pt x="77912" y="23862"/>
                  <a:pt x="95250" y="41374"/>
                  <a:pt x="95250" y="62781"/>
                </a:cubicBezTo>
                <a:cubicBezTo>
                  <a:pt x="95250" y="63103"/>
                  <a:pt x="95250" y="63426"/>
                  <a:pt x="95250" y="63748"/>
                </a:cubicBezTo>
                <a:cubicBezTo>
                  <a:pt x="95151" y="68138"/>
                  <a:pt x="91504" y="71586"/>
                  <a:pt x="87114" y="71487"/>
                </a:cubicBezTo>
                <a:cubicBezTo>
                  <a:pt x="82724" y="71388"/>
                  <a:pt x="79276" y="67742"/>
                  <a:pt x="79375" y="63351"/>
                </a:cubicBezTo>
                <a:cubicBezTo>
                  <a:pt x="79375" y="63153"/>
                  <a:pt x="79375" y="62979"/>
                  <a:pt x="79375" y="62781"/>
                </a:cubicBezTo>
                <a:cubicBezTo>
                  <a:pt x="79375" y="54421"/>
                  <a:pt x="74910" y="47079"/>
                  <a:pt x="68263" y="43036"/>
                </a:cubicBezTo>
                <a:close/>
              </a:path>
            </a:pathLst>
          </a:custGeom>
          <a:solidFill>
            <a:srgbClr val="FFFFFF"/>
          </a:solidFill>
          <a:ln/>
        </p:spPr>
      </p:sp>
      <p:sp>
        <p:nvSpPr>
          <p:cNvPr id="35" name="Text 33"/>
          <p:cNvSpPr/>
          <p:nvPr/>
        </p:nvSpPr>
        <p:spPr>
          <a:xfrm>
            <a:off x="6731000" y="3286125"/>
            <a:ext cx="1754188" cy="190500"/>
          </a:xfrm>
          <a:prstGeom prst="rect">
            <a:avLst/>
          </a:prstGeom>
          <a:noFill/>
          <a:ln/>
        </p:spPr>
        <p:txBody>
          <a:bodyPr wrap="square" lIns="0" tIns="0" rIns="0" bIns="0" rtlCol="0" anchor="ctr"/>
          <a:lstStyle/>
          <a:p>
            <a:pPr>
              <a:lnSpc>
                <a:spcPct val="130000"/>
              </a:lnSpc>
            </a:pPr>
            <a:r>
              <a:rPr lang="en-US" sz="1000" b="1" dirty="0">
                <a:solidFill>
                  <a:srgbClr val="374151"/>
                </a:solidFill>
                <a:latin typeface="MiSans" pitchFamily="34" charset="0"/>
                <a:ea typeface="MiSans" pitchFamily="34" charset="-122"/>
                <a:cs typeface="MiSans" pitchFamily="34" charset="-120"/>
              </a:rPr>
              <a:t>Corrélation défauts/process</a:t>
            </a:r>
            <a:endParaRPr lang="en-US" sz="1600" dirty="0"/>
          </a:p>
        </p:txBody>
      </p:sp>
      <p:sp>
        <p:nvSpPr>
          <p:cNvPr id="36" name="Text 34"/>
          <p:cNvSpPr/>
          <p:nvPr/>
        </p:nvSpPr>
        <p:spPr>
          <a:xfrm>
            <a:off x="6731000" y="3476625"/>
            <a:ext cx="174625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MiSans" pitchFamily="34" charset="0"/>
                <a:ea typeface="MiSans" pitchFamily="34" charset="-122"/>
                <a:cs typeface="MiSans" pitchFamily="34" charset="-120"/>
              </a:rPr>
              <a:t>v3</a:t>
            </a:r>
            <a:endParaRPr lang="en-US" sz="1600" dirty="0"/>
          </a:p>
        </p:txBody>
      </p:sp>
      <p:sp>
        <p:nvSpPr>
          <p:cNvPr id="37" name="Shape 35"/>
          <p:cNvSpPr/>
          <p:nvPr/>
        </p:nvSpPr>
        <p:spPr>
          <a:xfrm>
            <a:off x="6318250" y="4603750"/>
            <a:ext cx="317500" cy="317500"/>
          </a:xfrm>
          <a:custGeom>
            <a:avLst/>
            <a:gdLst/>
            <a:ahLst/>
            <a:cxnLst/>
            <a:rect l="l" t="t" r="r" b="b"/>
            <a:pathLst>
              <a:path w="317500" h="317500">
                <a:moveTo>
                  <a:pt x="95250" y="0"/>
                </a:moveTo>
                <a:lnTo>
                  <a:pt x="222250" y="0"/>
                </a:lnTo>
                <a:cubicBezTo>
                  <a:pt x="274820" y="0"/>
                  <a:pt x="317500" y="42680"/>
                  <a:pt x="317500" y="95250"/>
                </a:cubicBezTo>
                <a:lnTo>
                  <a:pt x="317500" y="222250"/>
                </a:lnTo>
                <a:cubicBezTo>
                  <a:pt x="317500" y="274820"/>
                  <a:pt x="274820" y="317500"/>
                  <a:pt x="222250" y="317500"/>
                </a:cubicBezTo>
                <a:lnTo>
                  <a:pt x="95250" y="317500"/>
                </a:lnTo>
                <a:cubicBezTo>
                  <a:pt x="42680" y="317500"/>
                  <a:pt x="0" y="274820"/>
                  <a:pt x="0" y="222250"/>
                </a:cubicBezTo>
                <a:lnTo>
                  <a:pt x="0" y="95250"/>
                </a:lnTo>
                <a:cubicBezTo>
                  <a:pt x="0" y="42680"/>
                  <a:pt x="42680" y="0"/>
                  <a:pt x="95250" y="0"/>
                </a:cubicBezTo>
                <a:close/>
              </a:path>
            </a:pathLst>
          </a:custGeom>
          <a:solidFill>
            <a:srgbClr val="6B7280"/>
          </a:solidFill>
          <a:ln/>
        </p:spPr>
      </p:sp>
      <p:sp>
        <p:nvSpPr>
          <p:cNvPr id="38" name="Shape 36"/>
          <p:cNvSpPr/>
          <p:nvPr/>
        </p:nvSpPr>
        <p:spPr>
          <a:xfrm>
            <a:off x="6405563" y="4699000"/>
            <a:ext cx="142875" cy="127000"/>
          </a:xfrm>
          <a:custGeom>
            <a:avLst/>
            <a:gdLst/>
            <a:ahLst/>
            <a:cxnLst/>
            <a:rect l="l" t="t" r="r" b="b"/>
            <a:pathLst>
              <a:path w="142875" h="127000">
                <a:moveTo>
                  <a:pt x="71438" y="23812"/>
                </a:moveTo>
                <a:cubicBezTo>
                  <a:pt x="48890" y="23812"/>
                  <a:pt x="28476" y="32742"/>
                  <a:pt x="13469" y="47278"/>
                </a:cubicBezTo>
                <a:cubicBezTo>
                  <a:pt x="10319" y="50329"/>
                  <a:pt x="5283" y="50254"/>
                  <a:pt x="2257" y="47104"/>
                </a:cubicBezTo>
                <a:cubicBezTo>
                  <a:pt x="-769" y="43954"/>
                  <a:pt x="-719" y="38919"/>
                  <a:pt x="2431" y="35892"/>
                </a:cubicBezTo>
                <a:cubicBezTo>
                  <a:pt x="20265" y="18579"/>
                  <a:pt x="44624" y="7938"/>
                  <a:pt x="71438" y="7938"/>
                </a:cubicBezTo>
                <a:cubicBezTo>
                  <a:pt x="98251" y="7938"/>
                  <a:pt x="122610" y="18579"/>
                  <a:pt x="140469" y="35892"/>
                </a:cubicBezTo>
                <a:cubicBezTo>
                  <a:pt x="143619" y="38943"/>
                  <a:pt x="143694" y="43979"/>
                  <a:pt x="140643" y="47104"/>
                </a:cubicBezTo>
                <a:cubicBezTo>
                  <a:pt x="137592" y="50229"/>
                  <a:pt x="132556" y="50329"/>
                  <a:pt x="129431" y="47278"/>
                </a:cubicBezTo>
                <a:cubicBezTo>
                  <a:pt x="114399" y="32742"/>
                  <a:pt x="93985" y="23812"/>
                  <a:pt x="71438" y="23812"/>
                </a:cubicBezTo>
                <a:close/>
                <a:moveTo>
                  <a:pt x="59531" y="107156"/>
                </a:moveTo>
                <a:cubicBezTo>
                  <a:pt x="59531" y="100585"/>
                  <a:pt x="64866" y="95250"/>
                  <a:pt x="71438" y="95250"/>
                </a:cubicBezTo>
                <a:cubicBezTo>
                  <a:pt x="78009" y="95250"/>
                  <a:pt x="83344" y="100585"/>
                  <a:pt x="83344" y="107156"/>
                </a:cubicBezTo>
                <a:cubicBezTo>
                  <a:pt x="83344" y="113727"/>
                  <a:pt x="78009" y="119063"/>
                  <a:pt x="71438" y="119063"/>
                </a:cubicBezTo>
                <a:cubicBezTo>
                  <a:pt x="64866" y="119063"/>
                  <a:pt x="59531" y="113727"/>
                  <a:pt x="59531" y="107156"/>
                </a:cubicBezTo>
                <a:close/>
                <a:moveTo>
                  <a:pt x="41672" y="80913"/>
                </a:moveTo>
                <a:cubicBezTo>
                  <a:pt x="38770" y="84212"/>
                  <a:pt x="33759" y="84510"/>
                  <a:pt x="30460" y="81607"/>
                </a:cubicBezTo>
                <a:cubicBezTo>
                  <a:pt x="27161" y="78705"/>
                  <a:pt x="26863" y="73695"/>
                  <a:pt x="29766" y="70396"/>
                </a:cubicBezTo>
                <a:cubicBezTo>
                  <a:pt x="39936" y="58886"/>
                  <a:pt x="54843" y="51594"/>
                  <a:pt x="71438" y="51594"/>
                </a:cubicBezTo>
                <a:cubicBezTo>
                  <a:pt x="88032" y="51594"/>
                  <a:pt x="102939" y="58886"/>
                  <a:pt x="113109" y="70396"/>
                </a:cubicBezTo>
                <a:cubicBezTo>
                  <a:pt x="116012" y="73695"/>
                  <a:pt x="115689" y="78705"/>
                  <a:pt x="112415" y="81607"/>
                </a:cubicBezTo>
                <a:cubicBezTo>
                  <a:pt x="109141" y="84510"/>
                  <a:pt x="104105" y="84187"/>
                  <a:pt x="101203" y="80913"/>
                </a:cubicBezTo>
                <a:cubicBezTo>
                  <a:pt x="93911" y="72653"/>
                  <a:pt x="83294" y="67469"/>
                  <a:pt x="71438" y="67469"/>
                </a:cubicBezTo>
                <a:cubicBezTo>
                  <a:pt x="59581" y="67469"/>
                  <a:pt x="48964" y="72653"/>
                  <a:pt x="41672" y="80913"/>
                </a:cubicBezTo>
                <a:close/>
              </a:path>
            </a:pathLst>
          </a:custGeom>
          <a:solidFill>
            <a:srgbClr val="FFFFFF"/>
          </a:solidFill>
          <a:ln/>
        </p:spPr>
      </p:sp>
      <p:sp>
        <p:nvSpPr>
          <p:cNvPr id="39" name="Text 37"/>
          <p:cNvSpPr/>
          <p:nvPr/>
        </p:nvSpPr>
        <p:spPr>
          <a:xfrm>
            <a:off x="6731000" y="4603750"/>
            <a:ext cx="944563" cy="190500"/>
          </a:xfrm>
          <a:prstGeom prst="rect">
            <a:avLst/>
          </a:prstGeom>
          <a:noFill/>
          <a:ln/>
        </p:spPr>
        <p:txBody>
          <a:bodyPr wrap="square" lIns="0" tIns="0" rIns="0" bIns="0" rtlCol="0" anchor="ctr"/>
          <a:lstStyle/>
          <a:p>
            <a:pPr>
              <a:lnSpc>
                <a:spcPct val="130000"/>
              </a:lnSpc>
            </a:pPr>
            <a:r>
              <a:rPr lang="en-US" sz="1000" b="1" dirty="0">
                <a:solidFill>
                  <a:srgbClr val="374151"/>
                </a:solidFill>
                <a:latin typeface="MiSans" pitchFamily="34" charset="0"/>
                <a:ea typeface="MiSans" pitchFamily="34" charset="-122"/>
                <a:cs typeface="MiSans" pitchFamily="34" charset="-120"/>
              </a:rPr>
              <a:t>Monitoring IoT</a:t>
            </a:r>
            <a:endParaRPr lang="en-US" sz="1600" dirty="0"/>
          </a:p>
        </p:txBody>
      </p:sp>
      <p:sp>
        <p:nvSpPr>
          <p:cNvPr id="40" name="Text 38"/>
          <p:cNvSpPr/>
          <p:nvPr/>
        </p:nvSpPr>
        <p:spPr>
          <a:xfrm>
            <a:off x="6731000" y="4794250"/>
            <a:ext cx="936625"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MiSans" pitchFamily="34" charset="0"/>
                <a:ea typeface="MiSans" pitchFamily="34" charset="-122"/>
                <a:cs typeface="MiSans" pitchFamily="34" charset="-120"/>
              </a:rPr>
              <a:t>v4</a:t>
            </a:r>
            <a:endParaRPr lang="en-US" sz="1600" dirty="0"/>
          </a:p>
        </p:txBody>
      </p:sp>
      <p:sp>
        <p:nvSpPr>
          <p:cNvPr id="41" name="Shape 39"/>
          <p:cNvSpPr/>
          <p:nvPr/>
        </p:nvSpPr>
        <p:spPr>
          <a:xfrm>
            <a:off x="317500" y="5207000"/>
            <a:ext cx="11557000" cy="1333500"/>
          </a:xfrm>
          <a:custGeom>
            <a:avLst/>
            <a:gdLst/>
            <a:ahLst/>
            <a:cxnLst/>
            <a:rect l="l" t="t" r="r" b="b"/>
            <a:pathLst>
              <a:path w="11557000" h="1333500">
                <a:moveTo>
                  <a:pt x="127003" y="0"/>
                </a:moveTo>
                <a:lnTo>
                  <a:pt x="11429997" y="0"/>
                </a:lnTo>
                <a:cubicBezTo>
                  <a:pt x="11500139" y="0"/>
                  <a:pt x="11557000" y="56861"/>
                  <a:pt x="11557000" y="127003"/>
                </a:cubicBezTo>
                <a:lnTo>
                  <a:pt x="11557000" y="1206497"/>
                </a:lnTo>
                <a:cubicBezTo>
                  <a:pt x="11557000" y="1276639"/>
                  <a:pt x="11500139" y="1333500"/>
                  <a:pt x="11429997" y="1333500"/>
                </a:cubicBezTo>
                <a:lnTo>
                  <a:pt x="127003" y="1333500"/>
                </a:lnTo>
                <a:cubicBezTo>
                  <a:pt x="56861" y="1333500"/>
                  <a:pt x="0" y="1276639"/>
                  <a:pt x="0" y="1206497"/>
                </a:cubicBezTo>
                <a:lnTo>
                  <a:pt x="0" y="127003"/>
                </a:lnTo>
                <a:cubicBezTo>
                  <a:pt x="0" y="56908"/>
                  <a:pt x="56908" y="0"/>
                  <a:pt x="127003" y="0"/>
                </a:cubicBezTo>
                <a:close/>
              </a:path>
            </a:pathLst>
          </a:custGeom>
          <a:solidFill>
            <a:srgbClr val="F3F4F6"/>
          </a:solidFill>
          <a:ln/>
        </p:spPr>
      </p:sp>
      <p:sp>
        <p:nvSpPr>
          <p:cNvPr id="42" name="Shape 40"/>
          <p:cNvSpPr/>
          <p:nvPr/>
        </p:nvSpPr>
        <p:spPr>
          <a:xfrm>
            <a:off x="464344" y="5365750"/>
            <a:ext cx="158750" cy="158750"/>
          </a:xfrm>
          <a:custGeom>
            <a:avLst/>
            <a:gdLst/>
            <a:ahLst/>
            <a:cxnLst/>
            <a:rect l="l" t="t" r="r" b="b"/>
            <a:pathLst>
              <a:path w="158750" h="158750">
                <a:moveTo>
                  <a:pt x="39688" y="99219"/>
                </a:moveTo>
                <a:lnTo>
                  <a:pt x="7596" y="99219"/>
                </a:lnTo>
                <a:cubicBezTo>
                  <a:pt x="-124" y="99219"/>
                  <a:pt x="-4868" y="90816"/>
                  <a:pt x="-899" y="84181"/>
                </a:cubicBezTo>
                <a:lnTo>
                  <a:pt x="15503" y="56834"/>
                </a:lnTo>
                <a:cubicBezTo>
                  <a:pt x="18200" y="52338"/>
                  <a:pt x="23037" y="49609"/>
                  <a:pt x="28277" y="49609"/>
                </a:cubicBezTo>
                <a:lnTo>
                  <a:pt x="57733" y="49609"/>
                </a:lnTo>
                <a:cubicBezTo>
                  <a:pt x="81328" y="9643"/>
                  <a:pt x="116520" y="7627"/>
                  <a:pt x="140053" y="11069"/>
                </a:cubicBezTo>
                <a:cubicBezTo>
                  <a:pt x="144022" y="11658"/>
                  <a:pt x="147123" y="14759"/>
                  <a:pt x="147681" y="18697"/>
                </a:cubicBezTo>
                <a:cubicBezTo>
                  <a:pt x="151123" y="42230"/>
                  <a:pt x="149107" y="77422"/>
                  <a:pt x="109141" y="101017"/>
                </a:cubicBezTo>
                <a:lnTo>
                  <a:pt x="109141" y="130473"/>
                </a:lnTo>
                <a:cubicBezTo>
                  <a:pt x="109141" y="135713"/>
                  <a:pt x="106412" y="140550"/>
                  <a:pt x="101916" y="143247"/>
                </a:cubicBezTo>
                <a:lnTo>
                  <a:pt x="74569" y="159649"/>
                </a:lnTo>
                <a:cubicBezTo>
                  <a:pt x="67965" y="163618"/>
                  <a:pt x="59531" y="158843"/>
                  <a:pt x="59531" y="151154"/>
                </a:cubicBezTo>
                <a:lnTo>
                  <a:pt x="59531" y="119062"/>
                </a:lnTo>
                <a:cubicBezTo>
                  <a:pt x="59531" y="108117"/>
                  <a:pt x="50633" y="99219"/>
                  <a:pt x="39688" y="99219"/>
                </a:cubicBezTo>
                <a:lnTo>
                  <a:pt x="39656" y="99219"/>
                </a:lnTo>
                <a:close/>
                <a:moveTo>
                  <a:pt x="124023" y="49609"/>
                </a:moveTo>
                <a:cubicBezTo>
                  <a:pt x="124023" y="41395"/>
                  <a:pt x="117355" y="34727"/>
                  <a:pt x="109141" y="34727"/>
                </a:cubicBezTo>
                <a:cubicBezTo>
                  <a:pt x="100927" y="34727"/>
                  <a:pt x="94258" y="41395"/>
                  <a:pt x="94258" y="49609"/>
                </a:cubicBezTo>
                <a:cubicBezTo>
                  <a:pt x="94258" y="57823"/>
                  <a:pt x="100927" y="64492"/>
                  <a:pt x="109141" y="64492"/>
                </a:cubicBezTo>
                <a:cubicBezTo>
                  <a:pt x="117355" y="64492"/>
                  <a:pt x="124023" y="57823"/>
                  <a:pt x="124023" y="49609"/>
                </a:cubicBezTo>
                <a:close/>
              </a:path>
            </a:pathLst>
          </a:custGeom>
          <a:solidFill>
            <a:srgbClr val="1E3A8A"/>
          </a:solidFill>
          <a:ln/>
        </p:spPr>
      </p:sp>
      <p:sp>
        <p:nvSpPr>
          <p:cNvPr id="43" name="Text 41"/>
          <p:cNvSpPr/>
          <p:nvPr/>
        </p:nvSpPr>
        <p:spPr>
          <a:xfrm>
            <a:off x="738188" y="5334000"/>
            <a:ext cx="1674813" cy="222250"/>
          </a:xfrm>
          <a:prstGeom prst="rect">
            <a:avLst/>
          </a:prstGeom>
          <a:noFill/>
          <a:ln/>
        </p:spPr>
        <p:txBody>
          <a:bodyPr wrap="square" lIns="0" tIns="0" rIns="0" bIns="0" rtlCol="0" anchor="ctr"/>
          <a:lstStyle/>
          <a:p>
            <a:pPr>
              <a:lnSpc>
                <a:spcPct val="130000"/>
              </a:lnSpc>
            </a:pPr>
            <a:r>
              <a:rPr lang="en-US" sz="1125" b="1" dirty="0">
                <a:solidFill>
                  <a:srgbClr val="1E3A8A"/>
                </a:solidFill>
                <a:latin typeface="MiSans" pitchFamily="34" charset="0"/>
                <a:ea typeface="MiSans" pitchFamily="34" charset="-122"/>
                <a:cs typeface="MiSans" pitchFamily="34" charset="-120"/>
              </a:rPr>
              <a:t>Déploiement Progressif</a:t>
            </a:r>
            <a:endParaRPr lang="en-US" sz="1600" dirty="0"/>
          </a:p>
        </p:txBody>
      </p:sp>
      <p:sp>
        <p:nvSpPr>
          <p:cNvPr id="44" name="Shape 42"/>
          <p:cNvSpPr/>
          <p:nvPr/>
        </p:nvSpPr>
        <p:spPr>
          <a:xfrm>
            <a:off x="452438" y="5659438"/>
            <a:ext cx="3452813" cy="746125"/>
          </a:xfrm>
          <a:custGeom>
            <a:avLst/>
            <a:gdLst/>
            <a:ahLst/>
            <a:cxnLst/>
            <a:rect l="l" t="t" r="r" b="b"/>
            <a:pathLst>
              <a:path w="3452813" h="746125">
                <a:moveTo>
                  <a:pt x="95250" y="0"/>
                </a:moveTo>
                <a:lnTo>
                  <a:pt x="3357562" y="0"/>
                </a:lnTo>
                <a:cubicBezTo>
                  <a:pt x="3410167" y="0"/>
                  <a:pt x="3452812" y="42645"/>
                  <a:pt x="3452812" y="95250"/>
                </a:cubicBezTo>
                <a:lnTo>
                  <a:pt x="3452813" y="650875"/>
                </a:lnTo>
                <a:cubicBezTo>
                  <a:pt x="3452812" y="703480"/>
                  <a:pt x="3410167" y="746125"/>
                  <a:pt x="3357562" y="746125"/>
                </a:cubicBezTo>
                <a:lnTo>
                  <a:pt x="95250" y="746125"/>
                </a:lnTo>
                <a:cubicBezTo>
                  <a:pt x="42645" y="746125"/>
                  <a:pt x="0" y="703480"/>
                  <a:pt x="0" y="650875"/>
                </a:cubicBezTo>
                <a:lnTo>
                  <a:pt x="0" y="95250"/>
                </a:lnTo>
                <a:cubicBezTo>
                  <a:pt x="0" y="42645"/>
                  <a:pt x="42645" y="0"/>
                  <a:pt x="95250" y="0"/>
                </a:cubicBezTo>
                <a:close/>
              </a:path>
            </a:pathLst>
          </a:custGeom>
          <a:solidFill>
            <a:srgbClr val="FFFFFF"/>
          </a:solidFill>
          <a:ln w="25400">
            <a:solidFill>
              <a:srgbClr val="10B981"/>
            </a:solidFill>
            <a:prstDash val="solid"/>
          </a:ln>
        </p:spPr>
      </p:sp>
      <p:sp>
        <p:nvSpPr>
          <p:cNvPr id="45" name="Text 43"/>
          <p:cNvSpPr/>
          <p:nvPr/>
        </p:nvSpPr>
        <p:spPr>
          <a:xfrm>
            <a:off x="527844" y="5762625"/>
            <a:ext cx="3302000"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MiSans" pitchFamily="34" charset="0"/>
                <a:ea typeface="MiSans" pitchFamily="34" charset="-122"/>
                <a:cs typeface="MiSans" pitchFamily="34" charset="-120"/>
              </a:rPr>
              <a:t>Phase 1</a:t>
            </a:r>
            <a:endParaRPr lang="en-US" sz="1600" dirty="0"/>
          </a:p>
        </p:txBody>
      </p:sp>
      <p:sp>
        <p:nvSpPr>
          <p:cNvPr id="46" name="Text 44"/>
          <p:cNvSpPr/>
          <p:nvPr/>
        </p:nvSpPr>
        <p:spPr>
          <a:xfrm>
            <a:off x="515938" y="5921375"/>
            <a:ext cx="3325813" cy="222250"/>
          </a:xfrm>
          <a:prstGeom prst="rect">
            <a:avLst/>
          </a:prstGeom>
          <a:noFill/>
          <a:ln/>
        </p:spPr>
        <p:txBody>
          <a:bodyPr wrap="square" lIns="0" tIns="0" rIns="0" bIns="0" rtlCol="0" anchor="ctr"/>
          <a:lstStyle/>
          <a:p>
            <a:pPr algn="ctr">
              <a:lnSpc>
                <a:spcPct val="120000"/>
              </a:lnSpc>
            </a:pPr>
            <a:r>
              <a:rPr lang="en-US" sz="1250" b="1" dirty="0">
                <a:solidFill>
                  <a:srgbClr val="10B981"/>
                </a:solidFill>
                <a:latin typeface="Noto Sans SC" pitchFamily="34" charset="0"/>
                <a:ea typeface="Noto Sans SC" pitchFamily="34" charset="-122"/>
                <a:cs typeface="Noto Sans SC" pitchFamily="34" charset="-120"/>
              </a:rPr>
              <a:t>1 poste</a:t>
            </a:r>
            <a:endParaRPr lang="en-US" sz="1600" dirty="0"/>
          </a:p>
        </p:txBody>
      </p:sp>
      <p:sp>
        <p:nvSpPr>
          <p:cNvPr id="47" name="Text 45"/>
          <p:cNvSpPr/>
          <p:nvPr/>
        </p:nvSpPr>
        <p:spPr>
          <a:xfrm>
            <a:off x="527844" y="6143625"/>
            <a:ext cx="3302000" cy="158750"/>
          </a:xfrm>
          <a:prstGeom prst="rect">
            <a:avLst/>
          </a:prstGeom>
          <a:noFill/>
          <a:ln/>
        </p:spPr>
        <p:txBody>
          <a:bodyPr wrap="square" lIns="0" tIns="0" rIns="0" bIns="0" rtlCol="0" anchor="ctr"/>
          <a:lstStyle/>
          <a:p>
            <a:pPr algn="ctr">
              <a:lnSpc>
                <a:spcPct val="120000"/>
              </a:lnSpc>
            </a:pPr>
            <a:r>
              <a:rPr lang="en-US" sz="875" dirty="0">
                <a:solidFill>
                  <a:srgbClr val="374151"/>
                </a:solidFill>
                <a:latin typeface="MiSans" pitchFamily="34" charset="0"/>
                <a:ea typeface="MiSans" pitchFamily="34" charset="-122"/>
                <a:cs typeface="MiSans" pitchFamily="34" charset="-120"/>
              </a:rPr>
              <a:t>Pilote Sophie — 1 mois</a:t>
            </a:r>
            <a:endParaRPr lang="en-US" sz="1600" dirty="0"/>
          </a:p>
        </p:txBody>
      </p:sp>
      <p:sp>
        <p:nvSpPr>
          <p:cNvPr id="48" name="Shape 46"/>
          <p:cNvSpPr/>
          <p:nvPr/>
        </p:nvSpPr>
        <p:spPr>
          <a:xfrm>
            <a:off x="4057303" y="5953125"/>
            <a:ext cx="158750" cy="158750"/>
          </a:xfrm>
          <a:custGeom>
            <a:avLst/>
            <a:gdLst/>
            <a:ahLst/>
            <a:cxnLst/>
            <a:rect l="l" t="t" r="r" b="b"/>
            <a:pathLst>
              <a:path w="158750" h="158750">
                <a:moveTo>
                  <a:pt x="155835" y="86382"/>
                </a:moveTo>
                <a:cubicBezTo>
                  <a:pt x="159711" y="82507"/>
                  <a:pt x="159711" y="76212"/>
                  <a:pt x="155835" y="72337"/>
                </a:cubicBezTo>
                <a:lnTo>
                  <a:pt x="106226" y="22727"/>
                </a:lnTo>
                <a:cubicBezTo>
                  <a:pt x="102350" y="18852"/>
                  <a:pt x="96056" y="18852"/>
                  <a:pt x="92180" y="22727"/>
                </a:cubicBezTo>
                <a:cubicBezTo>
                  <a:pt x="88305" y="26603"/>
                  <a:pt x="88305" y="32897"/>
                  <a:pt x="92180" y="36773"/>
                </a:cubicBezTo>
                <a:lnTo>
                  <a:pt x="124861" y="69453"/>
                </a:lnTo>
                <a:lnTo>
                  <a:pt x="9922" y="69453"/>
                </a:lnTo>
                <a:cubicBezTo>
                  <a:pt x="4434" y="69453"/>
                  <a:pt x="0" y="73887"/>
                  <a:pt x="0" y="79375"/>
                </a:cubicBezTo>
                <a:cubicBezTo>
                  <a:pt x="0" y="84863"/>
                  <a:pt x="4434" y="89297"/>
                  <a:pt x="9922" y="89297"/>
                </a:cubicBezTo>
                <a:lnTo>
                  <a:pt x="124861" y="89297"/>
                </a:lnTo>
                <a:lnTo>
                  <a:pt x="92180" y="121977"/>
                </a:lnTo>
                <a:cubicBezTo>
                  <a:pt x="88305" y="125853"/>
                  <a:pt x="88305" y="132147"/>
                  <a:pt x="92180" y="136023"/>
                </a:cubicBezTo>
                <a:cubicBezTo>
                  <a:pt x="96056" y="139898"/>
                  <a:pt x="102350" y="139898"/>
                  <a:pt x="106226" y="136023"/>
                </a:cubicBezTo>
                <a:lnTo>
                  <a:pt x="155835" y="86413"/>
                </a:lnTo>
                <a:close/>
              </a:path>
            </a:pathLst>
          </a:custGeom>
          <a:solidFill>
            <a:srgbClr val="6B7280"/>
          </a:solidFill>
          <a:ln/>
        </p:spPr>
      </p:sp>
      <p:sp>
        <p:nvSpPr>
          <p:cNvPr id="49" name="Shape 47"/>
          <p:cNvSpPr/>
          <p:nvPr/>
        </p:nvSpPr>
        <p:spPr>
          <a:xfrm>
            <a:off x="4370834" y="5659438"/>
            <a:ext cx="3452813" cy="746125"/>
          </a:xfrm>
          <a:custGeom>
            <a:avLst/>
            <a:gdLst/>
            <a:ahLst/>
            <a:cxnLst/>
            <a:rect l="l" t="t" r="r" b="b"/>
            <a:pathLst>
              <a:path w="3452813" h="746125">
                <a:moveTo>
                  <a:pt x="95250" y="0"/>
                </a:moveTo>
                <a:lnTo>
                  <a:pt x="3357562" y="0"/>
                </a:lnTo>
                <a:cubicBezTo>
                  <a:pt x="3410167" y="0"/>
                  <a:pt x="3452812" y="42645"/>
                  <a:pt x="3452812" y="95250"/>
                </a:cubicBezTo>
                <a:lnTo>
                  <a:pt x="3452813" y="650875"/>
                </a:lnTo>
                <a:cubicBezTo>
                  <a:pt x="3452812" y="703480"/>
                  <a:pt x="3410167" y="746125"/>
                  <a:pt x="3357562" y="746125"/>
                </a:cubicBezTo>
                <a:lnTo>
                  <a:pt x="95250" y="746125"/>
                </a:lnTo>
                <a:cubicBezTo>
                  <a:pt x="42645" y="746125"/>
                  <a:pt x="0" y="703480"/>
                  <a:pt x="0" y="650875"/>
                </a:cubicBezTo>
                <a:lnTo>
                  <a:pt x="0" y="95250"/>
                </a:lnTo>
                <a:cubicBezTo>
                  <a:pt x="0" y="42645"/>
                  <a:pt x="42645" y="0"/>
                  <a:pt x="95250" y="0"/>
                </a:cubicBezTo>
                <a:close/>
              </a:path>
            </a:pathLst>
          </a:custGeom>
          <a:solidFill>
            <a:srgbClr val="FFFFFF"/>
          </a:solidFill>
          <a:ln w="25400">
            <a:solidFill>
              <a:srgbClr val="3B82F6"/>
            </a:solidFill>
            <a:prstDash val="solid"/>
          </a:ln>
        </p:spPr>
      </p:sp>
      <p:sp>
        <p:nvSpPr>
          <p:cNvPr id="50" name="Text 48"/>
          <p:cNvSpPr/>
          <p:nvPr/>
        </p:nvSpPr>
        <p:spPr>
          <a:xfrm>
            <a:off x="4446240" y="5762625"/>
            <a:ext cx="3302000"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MiSans" pitchFamily="34" charset="0"/>
                <a:ea typeface="MiSans" pitchFamily="34" charset="-122"/>
                <a:cs typeface="MiSans" pitchFamily="34" charset="-120"/>
              </a:rPr>
              <a:t>Phase 2</a:t>
            </a:r>
            <a:endParaRPr lang="en-US" sz="1600" dirty="0"/>
          </a:p>
        </p:txBody>
      </p:sp>
      <p:sp>
        <p:nvSpPr>
          <p:cNvPr id="51" name="Text 49"/>
          <p:cNvSpPr/>
          <p:nvPr/>
        </p:nvSpPr>
        <p:spPr>
          <a:xfrm>
            <a:off x="4434334" y="5921375"/>
            <a:ext cx="3325813" cy="222250"/>
          </a:xfrm>
          <a:prstGeom prst="rect">
            <a:avLst/>
          </a:prstGeom>
          <a:noFill/>
          <a:ln/>
        </p:spPr>
        <p:txBody>
          <a:bodyPr wrap="square" lIns="0" tIns="0" rIns="0" bIns="0" rtlCol="0" anchor="ctr"/>
          <a:lstStyle/>
          <a:p>
            <a:pPr algn="ctr">
              <a:lnSpc>
                <a:spcPct val="120000"/>
              </a:lnSpc>
            </a:pPr>
            <a:r>
              <a:rPr lang="en-US" sz="1250" b="1" dirty="0">
                <a:solidFill>
                  <a:srgbClr val="3B82F6"/>
                </a:solidFill>
                <a:latin typeface="Noto Sans SC" pitchFamily="34" charset="0"/>
                <a:ea typeface="Noto Sans SC" pitchFamily="34" charset="-122"/>
                <a:cs typeface="Noto Sans SC" pitchFamily="34" charset="-120"/>
              </a:rPr>
              <a:t>3 postes</a:t>
            </a:r>
            <a:endParaRPr lang="en-US" sz="1600" dirty="0"/>
          </a:p>
        </p:txBody>
      </p:sp>
      <p:sp>
        <p:nvSpPr>
          <p:cNvPr id="52" name="Text 50"/>
          <p:cNvSpPr/>
          <p:nvPr/>
        </p:nvSpPr>
        <p:spPr>
          <a:xfrm>
            <a:off x="4446240" y="6143625"/>
            <a:ext cx="3302000" cy="158750"/>
          </a:xfrm>
          <a:prstGeom prst="rect">
            <a:avLst/>
          </a:prstGeom>
          <a:noFill/>
          <a:ln/>
        </p:spPr>
        <p:txBody>
          <a:bodyPr wrap="square" lIns="0" tIns="0" rIns="0" bIns="0" rtlCol="0" anchor="ctr"/>
          <a:lstStyle/>
          <a:p>
            <a:pPr algn="ctr">
              <a:lnSpc>
                <a:spcPct val="120000"/>
              </a:lnSpc>
            </a:pPr>
            <a:r>
              <a:rPr lang="en-US" sz="875" dirty="0">
                <a:solidFill>
                  <a:srgbClr val="374151"/>
                </a:solidFill>
                <a:latin typeface="MiSans" pitchFamily="34" charset="0"/>
                <a:ea typeface="MiSans" pitchFamily="34" charset="-122"/>
                <a:cs typeface="MiSans" pitchFamily="34" charset="-120"/>
              </a:rPr>
              <a:t>2 mois</a:t>
            </a:r>
            <a:endParaRPr lang="en-US" sz="1600" dirty="0"/>
          </a:p>
        </p:txBody>
      </p:sp>
      <p:sp>
        <p:nvSpPr>
          <p:cNvPr id="53" name="Shape 51"/>
          <p:cNvSpPr/>
          <p:nvPr/>
        </p:nvSpPr>
        <p:spPr>
          <a:xfrm>
            <a:off x="7975823" y="5953125"/>
            <a:ext cx="158750" cy="158750"/>
          </a:xfrm>
          <a:custGeom>
            <a:avLst/>
            <a:gdLst/>
            <a:ahLst/>
            <a:cxnLst/>
            <a:rect l="l" t="t" r="r" b="b"/>
            <a:pathLst>
              <a:path w="158750" h="158750">
                <a:moveTo>
                  <a:pt x="155835" y="86382"/>
                </a:moveTo>
                <a:cubicBezTo>
                  <a:pt x="159711" y="82507"/>
                  <a:pt x="159711" y="76212"/>
                  <a:pt x="155835" y="72337"/>
                </a:cubicBezTo>
                <a:lnTo>
                  <a:pt x="106226" y="22727"/>
                </a:lnTo>
                <a:cubicBezTo>
                  <a:pt x="102350" y="18852"/>
                  <a:pt x="96056" y="18852"/>
                  <a:pt x="92180" y="22727"/>
                </a:cubicBezTo>
                <a:cubicBezTo>
                  <a:pt x="88305" y="26603"/>
                  <a:pt x="88305" y="32897"/>
                  <a:pt x="92180" y="36773"/>
                </a:cubicBezTo>
                <a:lnTo>
                  <a:pt x="124861" y="69453"/>
                </a:lnTo>
                <a:lnTo>
                  <a:pt x="9922" y="69453"/>
                </a:lnTo>
                <a:cubicBezTo>
                  <a:pt x="4434" y="69453"/>
                  <a:pt x="0" y="73887"/>
                  <a:pt x="0" y="79375"/>
                </a:cubicBezTo>
                <a:cubicBezTo>
                  <a:pt x="0" y="84863"/>
                  <a:pt x="4434" y="89297"/>
                  <a:pt x="9922" y="89297"/>
                </a:cubicBezTo>
                <a:lnTo>
                  <a:pt x="124861" y="89297"/>
                </a:lnTo>
                <a:lnTo>
                  <a:pt x="92180" y="121977"/>
                </a:lnTo>
                <a:cubicBezTo>
                  <a:pt x="88305" y="125853"/>
                  <a:pt x="88305" y="132147"/>
                  <a:pt x="92180" y="136023"/>
                </a:cubicBezTo>
                <a:cubicBezTo>
                  <a:pt x="96056" y="139898"/>
                  <a:pt x="102350" y="139898"/>
                  <a:pt x="106226" y="136023"/>
                </a:cubicBezTo>
                <a:lnTo>
                  <a:pt x="155835" y="86413"/>
                </a:lnTo>
                <a:close/>
              </a:path>
            </a:pathLst>
          </a:custGeom>
          <a:solidFill>
            <a:srgbClr val="6B7280"/>
          </a:solidFill>
          <a:ln/>
        </p:spPr>
      </p:sp>
      <p:sp>
        <p:nvSpPr>
          <p:cNvPr id="54" name="Shape 52"/>
          <p:cNvSpPr/>
          <p:nvPr/>
        </p:nvSpPr>
        <p:spPr>
          <a:xfrm>
            <a:off x="8289354" y="5659438"/>
            <a:ext cx="3452813" cy="746125"/>
          </a:xfrm>
          <a:custGeom>
            <a:avLst/>
            <a:gdLst/>
            <a:ahLst/>
            <a:cxnLst/>
            <a:rect l="l" t="t" r="r" b="b"/>
            <a:pathLst>
              <a:path w="3452813" h="746125">
                <a:moveTo>
                  <a:pt x="95250" y="0"/>
                </a:moveTo>
                <a:lnTo>
                  <a:pt x="3357562" y="0"/>
                </a:lnTo>
                <a:cubicBezTo>
                  <a:pt x="3410167" y="0"/>
                  <a:pt x="3452812" y="42645"/>
                  <a:pt x="3452812" y="95250"/>
                </a:cubicBezTo>
                <a:lnTo>
                  <a:pt x="3452813" y="650875"/>
                </a:lnTo>
                <a:cubicBezTo>
                  <a:pt x="3452812" y="703480"/>
                  <a:pt x="3410167" y="746125"/>
                  <a:pt x="3357562" y="746125"/>
                </a:cubicBezTo>
                <a:lnTo>
                  <a:pt x="95250" y="746125"/>
                </a:lnTo>
                <a:cubicBezTo>
                  <a:pt x="42645" y="746125"/>
                  <a:pt x="0" y="703480"/>
                  <a:pt x="0" y="650875"/>
                </a:cubicBezTo>
                <a:lnTo>
                  <a:pt x="0" y="95250"/>
                </a:lnTo>
                <a:cubicBezTo>
                  <a:pt x="0" y="42645"/>
                  <a:pt x="42645" y="0"/>
                  <a:pt x="95250" y="0"/>
                </a:cubicBezTo>
                <a:close/>
              </a:path>
            </a:pathLst>
          </a:custGeom>
          <a:solidFill>
            <a:srgbClr val="FFFFFF"/>
          </a:solidFill>
          <a:ln w="25400">
            <a:solidFill>
              <a:srgbClr val="8B5CF6"/>
            </a:solidFill>
            <a:prstDash val="solid"/>
          </a:ln>
        </p:spPr>
      </p:sp>
      <p:sp>
        <p:nvSpPr>
          <p:cNvPr id="55" name="Text 53"/>
          <p:cNvSpPr/>
          <p:nvPr/>
        </p:nvSpPr>
        <p:spPr>
          <a:xfrm>
            <a:off x="8364761" y="5762625"/>
            <a:ext cx="3302000"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MiSans" pitchFamily="34" charset="0"/>
                <a:ea typeface="MiSans" pitchFamily="34" charset="-122"/>
                <a:cs typeface="MiSans" pitchFamily="34" charset="-120"/>
              </a:rPr>
              <a:t>Phase 3</a:t>
            </a:r>
            <a:endParaRPr lang="en-US" sz="1600" dirty="0"/>
          </a:p>
        </p:txBody>
      </p:sp>
      <p:sp>
        <p:nvSpPr>
          <p:cNvPr id="56" name="Text 54"/>
          <p:cNvSpPr/>
          <p:nvPr/>
        </p:nvSpPr>
        <p:spPr>
          <a:xfrm>
            <a:off x="8352854" y="5921375"/>
            <a:ext cx="3325813" cy="222250"/>
          </a:xfrm>
          <a:prstGeom prst="rect">
            <a:avLst/>
          </a:prstGeom>
          <a:noFill/>
          <a:ln/>
        </p:spPr>
        <p:txBody>
          <a:bodyPr wrap="square" lIns="0" tIns="0" rIns="0" bIns="0" rtlCol="0" anchor="ctr"/>
          <a:lstStyle/>
          <a:p>
            <a:pPr algn="ctr">
              <a:lnSpc>
                <a:spcPct val="120000"/>
              </a:lnSpc>
            </a:pPr>
            <a:r>
              <a:rPr lang="en-US" sz="1250" b="1" dirty="0">
                <a:solidFill>
                  <a:srgbClr val="8B5CF6"/>
                </a:solidFill>
                <a:latin typeface="Noto Sans SC" pitchFamily="34" charset="0"/>
                <a:ea typeface="Noto Sans SC" pitchFamily="34" charset="-122"/>
                <a:cs typeface="Noto Sans SC" pitchFamily="34" charset="-120"/>
              </a:rPr>
              <a:t>9 inspecteurs</a:t>
            </a:r>
            <a:endParaRPr lang="en-US" sz="1600" dirty="0"/>
          </a:p>
        </p:txBody>
      </p:sp>
      <p:sp>
        <p:nvSpPr>
          <p:cNvPr id="57" name="Text 55"/>
          <p:cNvSpPr/>
          <p:nvPr/>
        </p:nvSpPr>
        <p:spPr>
          <a:xfrm>
            <a:off x="8364761" y="6143625"/>
            <a:ext cx="3302000" cy="158750"/>
          </a:xfrm>
          <a:prstGeom prst="rect">
            <a:avLst/>
          </a:prstGeom>
          <a:noFill/>
          <a:ln/>
        </p:spPr>
        <p:txBody>
          <a:bodyPr wrap="square" lIns="0" tIns="0" rIns="0" bIns="0" rtlCol="0" anchor="ctr"/>
          <a:lstStyle/>
          <a:p>
            <a:pPr algn="ctr">
              <a:lnSpc>
                <a:spcPct val="120000"/>
              </a:lnSpc>
            </a:pPr>
            <a:r>
              <a:rPr lang="en-US" sz="875" dirty="0">
                <a:solidFill>
                  <a:srgbClr val="374151"/>
                </a:solidFill>
                <a:latin typeface="MiSans" pitchFamily="34" charset="0"/>
                <a:ea typeface="MiSans" pitchFamily="34" charset="-122"/>
                <a:cs typeface="MiSans" pitchFamily="34" charset="-120"/>
              </a:rPr>
              <a:t>Généralisation</a:t>
            </a:r>
            <a:endParaRPr lang="en-US" sz="1600" dirty="0"/>
          </a:p>
        </p:txBody>
      </p:sp>
      <p:sp>
        <p:nvSpPr>
          <p:cNvPr id="58" name="Shape 56"/>
          <p:cNvSpPr/>
          <p:nvPr/>
        </p:nvSpPr>
        <p:spPr>
          <a:xfrm>
            <a:off x="317500" y="6635750"/>
            <a:ext cx="11557000" cy="381000"/>
          </a:xfrm>
          <a:custGeom>
            <a:avLst/>
            <a:gdLst/>
            <a:ahLst/>
            <a:cxnLst/>
            <a:rect l="l" t="t" r="r" b="b"/>
            <a:pathLst>
              <a:path w="11557000" h="381000">
                <a:moveTo>
                  <a:pt x="95250" y="0"/>
                </a:moveTo>
                <a:lnTo>
                  <a:pt x="11461750" y="0"/>
                </a:lnTo>
                <a:cubicBezTo>
                  <a:pt x="11514320" y="0"/>
                  <a:pt x="11557000" y="42680"/>
                  <a:pt x="11557000" y="95250"/>
                </a:cubicBezTo>
                <a:lnTo>
                  <a:pt x="11557000" y="285750"/>
                </a:lnTo>
                <a:cubicBezTo>
                  <a:pt x="11557000" y="338320"/>
                  <a:pt x="11514320" y="381000"/>
                  <a:pt x="11461750" y="381000"/>
                </a:cubicBezTo>
                <a:lnTo>
                  <a:pt x="95250" y="381000"/>
                </a:lnTo>
                <a:cubicBezTo>
                  <a:pt x="42680" y="381000"/>
                  <a:pt x="0" y="338320"/>
                  <a:pt x="0" y="285750"/>
                </a:cubicBezTo>
                <a:lnTo>
                  <a:pt x="0" y="95250"/>
                </a:lnTo>
                <a:cubicBezTo>
                  <a:pt x="0" y="42680"/>
                  <a:pt x="42680" y="0"/>
                  <a:pt x="95250" y="0"/>
                </a:cubicBezTo>
                <a:close/>
              </a:path>
            </a:pathLst>
          </a:custGeom>
          <a:solidFill>
            <a:srgbClr val="1E3A8A"/>
          </a:solidFill>
          <a:ln/>
        </p:spPr>
      </p:sp>
      <p:sp>
        <p:nvSpPr>
          <p:cNvPr id="59" name="Shape 57"/>
          <p:cNvSpPr/>
          <p:nvPr/>
        </p:nvSpPr>
        <p:spPr>
          <a:xfrm>
            <a:off x="3626941" y="6754813"/>
            <a:ext cx="142875" cy="142875"/>
          </a:xfrm>
          <a:custGeom>
            <a:avLst/>
            <a:gdLst/>
            <a:ahLst/>
            <a:cxnLst/>
            <a:rect l="l" t="t" r="r" b="b"/>
            <a:pathLst>
              <a:path w="142875" h="142875">
                <a:moveTo>
                  <a:pt x="0" y="22324"/>
                </a:moveTo>
                <a:cubicBezTo>
                  <a:pt x="0" y="14929"/>
                  <a:pt x="6000" y="8930"/>
                  <a:pt x="13395" y="8930"/>
                </a:cubicBezTo>
                <a:lnTo>
                  <a:pt x="40184" y="8930"/>
                </a:lnTo>
                <a:cubicBezTo>
                  <a:pt x="47578" y="8930"/>
                  <a:pt x="53578" y="14929"/>
                  <a:pt x="53578" y="22324"/>
                </a:cubicBezTo>
                <a:lnTo>
                  <a:pt x="53578" y="26789"/>
                </a:lnTo>
                <a:lnTo>
                  <a:pt x="89297" y="26789"/>
                </a:lnTo>
                <a:lnTo>
                  <a:pt x="89297" y="22324"/>
                </a:lnTo>
                <a:cubicBezTo>
                  <a:pt x="89297" y="14929"/>
                  <a:pt x="95297" y="8930"/>
                  <a:pt x="102691" y="8930"/>
                </a:cubicBezTo>
                <a:lnTo>
                  <a:pt x="129480" y="8930"/>
                </a:lnTo>
                <a:cubicBezTo>
                  <a:pt x="136875" y="8930"/>
                  <a:pt x="142875" y="14929"/>
                  <a:pt x="142875" y="22324"/>
                </a:cubicBezTo>
                <a:lnTo>
                  <a:pt x="142875" y="49113"/>
                </a:lnTo>
                <a:cubicBezTo>
                  <a:pt x="142875" y="56508"/>
                  <a:pt x="136875" y="62508"/>
                  <a:pt x="129480" y="62508"/>
                </a:cubicBezTo>
                <a:lnTo>
                  <a:pt x="102691" y="62508"/>
                </a:lnTo>
                <a:cubicBezTo>
                  <a:pt x="95297" y="62508"/>
                  <a:pt x="89297" y="56508"/>
                  <a:pt x="89297" y="49113"/>
                </a:cubicBezTo>
                <a:lnTo>
                  <a:pt x="89297" y="44648"/>
                </a:lnTo>
                <a:lnTo>
                  <a:pt x="53578" y="44648"/>
                </a:lnTo>
                <a:lnTo>
                  <a:pt x="53578" y="49113"/>
                </a:lnTo>
                <a:cubicBezTo>
                  <a:pt x="53578" y="51150"/>
                  <a:pt x="53104" y="53104"/>
                  <a:pt x="52294" y="54834"/>
                </a:cubicBezTo>
                <a:lnTo>
                  <a:pt x="71438" y="80367"/>
                </a:lnTo>
                <a:lnTo>
                  <a:pt x="93762" y="80367"/>
                </a:lnTo>
                <a:cubicBezTo>
                  <a:pt x="101157" y="80367"/>
                  <a:pt x="107156" y="86367"/>
                  <a:pt x="107156" y="93762"/>
                </a:cubicBezTo>
                <a:lnTo>
                  <a:pt x="107156" y="120551"/>
                </a:lnTo>
                <a:cubicBezTo>
                  <a:pt x="107156" y="127946"/>
                  <a:pt x="101157" y="133945"/>
                  <a:pt x="93762" y="133945"/>
                </a:cubicBezTo>
                <a:lnTo>
                  <a:pt x="66973" y="133945"/>
                </a:lnTo>
                <a:cubicBezTo>
                  <a:pt x="59578" y="133945"/>
                  <a:pt x="53578" y="127946"/>
                  <a:pt x="53578" y="120551"/>
                </a:cubicBezTo>
                <a:lnTo>
                  <a:pt x="53578" y="93762"/>
                </a:lnTo>
                <a:cubicBezTo>
                  <a:pt x="53578" y="91725"/>
                  <a:pt x="54053" y="89771"/>
                  <a:pt x="54862" y="88041"/>
                </a:cubicBezTo>
                <a:lnTo>
                  <a:pt x="35719" y="62508"/>
                </a:lnTo>
                <a:lnTo>
                  <a:pt x="13395" y="62508"/>
                </a:lnTo>
                <a:cubicBezTo>
                  <a:pt x="6000" y="62508"/>
                  <a:pt x="0" y="56508"/>
                  <a:pt x="0" y="49113"/>
                </a:cubicBezTo>
                <a:lnTo>
                  <a:pt x="0" y="22324"/>
                </a:lnTo>
                <a:close/>
              </a:path>
            </a:pathLst>
          </a:custGeom>
          <a:solidFill>
            <a:srgbClr val="FFFFFF"/>
          </a:solidFill>
          <a:ln/>
        </p:spPr>
      </p:sp>
      <p:sp>
        <p:nvSpPr>
          <p:cNvPr id="60" name="Text 58"/>
          <p:cNvSpPr/>
          <p:nvPr/>
        </p:nvSpPr>
        <p:spPr>
          <a:xfrm>
            <a:off x="3880941" y="6731000"/>
            <a:ext cx="477043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MiSans" pitchFamily="34" charset="0"/>
                <a:ea typeface="MiSans" pitchFamily="34" charset="-122"/>
                <a:cs typeface="MiSans" pitchFamily="34" charset="-120"/>
              </a:rPr>
              <a:t>Workflow : Pièce → Caméra → IA (&lt;1s) → Heatmap → Sophie valide → Stocké</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228600"/>
            <a:ext cx="2095500" cy="342900"/>
          </a:xfrm>
          <a:custGeom>
            <a:avLst/>
            <a:gdLst/>
            <a:ahLst/>
            <a:cxnLst/>
            <a:rect l="l" t="t" r="r" b="b"/>
            <a:pathLst>
              <a:path w="2095500" h="342900">
                <a:moveTo>
                  <a:pt x="171450" y="0"/>
                </a:moveTo>
                <a:lnTo>
                  <a:pt x="1924050" y="0"/>
                </a:lnTo>
                <a:cubicBezTo>
                  <a:pt x="2018676" y="0"/>
                  <a:pt x="2095500" y="76824"/>
                  <a:pt x="2095500" y="171450"/>
                </a:cubicBezTo>
                <a:lnTo>
                  <a:pt x="2095500" y="171450"/>
                </a:lnTo>
                <a:cubicBezTo>
                  <a:pt x="2095500" y="266076"/>
                  <a:pt x="2018676" y="342900"/>
                  <a:pt x="1924050" y="342900"/>
                </a:cubicBezTo>
                <a:lnTo>
                  <a:pt x="171450" y="342900"/>
                </a:lnTo>
                <a:cubicBezTo>
                  <a:pt x="76824" y="342900"/>
                  <a:pt x="0" y="266076"/>
                  <a:pt x="0" y="171450"/>
                </a:cubicBezTo>
                <a:lnTo>
                  <a:pt x="0" y="171450"/>
                </a:lnTo>
                <a:cubicBezTo>
                  <a:pt x="0" y="76824"/>
                  <a:pt x="76824" y="0"/>
                  <a:pt x="171450" y="0"/>
                </a:cubicBezTo>
                <a:close/>
              </a:path>
            </a:pathLst>
          </a:custGeom>
          <a:solidFill>
            <a:srgbClr val="10B981"/>
          </a:solidFill>
          <a:ln/>
        </p:spPr>
      </p:sp>
      <p:sp>
        <p:nvSpPr>
          <p:cNvPr id="3" name="Text 1"/>
          <p:cNvSpPr/>
          <p:nvPr/>
        </p:nvSpPr>
        <p:spPr>
          <a:xfrm>
            <a:off x="533400" y="304800"/>
            <a:ext cx="1857375" cy="190500"/>
          </a:xfrm>
          <a:prstGeom prst="rect">
            <a:avLst/>
          </a:prstGeom>
          <a:noFill/>
          <a:ln/>
        </p:spPr>
        <p:txBody>
          <a:bodyPr wrap="square" lIns="0" tIns="0" rIns="0" bIns="0" rtlCol="0" anchor="ctr"/>
          <a:lstStyle/>
          <a:p>
            <a:pPr>
              <a:lnSpc>
                <a:spcPct val="120000"/>
              </a:lnSpc>
            </a:pPr>
            <a:r>
              <a:rPr lang="en-US" sz="1050" b="1" kern="0" spc="26" dirty="0">
                <a:solidFill>
                  <a:srgbClr val="FFFFFF"/>
                </a:solidFill>
                <a:latin typeface="MiSans" pitchFamily="34" charset="0"/>
                <a:ea typeface="MiSans" pitchFamily="34" charset="-122"/>
                <a:cs typeface="MiSans" pitchFamily="34" charset="-120"/>
              </a:rPr>
              <a:t>LANCEMENT - STRATÉGIE</a:t>
            </a:r>
            <a:endParaRPr lang="en-US" sz="1600" dirty="0"/>
          </a:p>
        </p:txBody>
      </p:sp>
      <p:sp>
        <p:nvSpPr>
          <p:cNvPr id="4" name="Text 2"/>
          <p:cNvSpPr/>
          <p:nvPr/>
        </p:nvSpPr>
        <p:spPr>
          <a:xfrm>
            <a:off x="381000" y="990600"/>
            <a:ext cx="11601450" cy="381000"/>
          </a:xfrm>
          <a:prstGeom prst="rect">
            <a:avLst/>
          </a:prstGeom>
          <a:noFill/>
          <a:ln/>
        </p:spPr>
        <p:txBody>
          <a:bodyPr wrap="square" lIns="0" tIns="0" rIns="0" bIns="0" rtlCol="0" anchor="ctr"/>
          <a:lstStyle/>
          <a:p>
            <a:pPr>
              <a:lnSpc>
                <a:spcPct val="90000"/>
              </a:lnSpc>
            </a:pPr>
            <a:r>
              <a:rPr lang="en-US" sz="2700" b="1" dirty="0">
                <a:solidFill>
                  <a:srgbClr val="1E3A8A"/>
                </a:solidFill>
                <a:latin typeface="Noto Sans SC" pitchFamily="34" charset="0"/>
                <a:ea typeface="Noto Sans SC" pitchFamily="34" charset="-122"/>
                <a:cs typeface="Noto Sans SC" pitchFamily="34" charset="-120"/>
              </a:rPr>
              <a:t>Stratégie de Lancement — FQA v1</a:t>
            </a:r>
            <a:endParaRPr lang="en-US" sz="1600" dirty="0"/>
          </a:p>
        </p:txBody>
      </p:sp>
      <p:sp>
        <p:nvSpPr>
          <p:cNvPr id="5" name="Shape 3"/>
          <p:cNvSpPr/>
          <p:nvPr/>
        </p:nvSpPr>
        <p:spPr>
          <a:xfrm>
            <a:off x="3474244" y="15240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1E3A8A"/>
          </a:solidFill>
          <a:ln/>
        </p:spPr>
      </p:sp>
      <p:sp>
        <p:nvSpPr>
          <p:cNvPr id="6" name="Text 4"/>
          <p:cNvSpPr/>
          <p:nvPr/>
        </p:nvSpPr>
        <p:spPr>
          <a:xfrm>
            <a:off x="3567261" y="1695450"/>
            <a:ext cx="419100" cy="2667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Noto Sans SC" pitchFamily="34" charset="0"/>
                <a:ea typeface="Noto Sans SC" pitchFamily="34" charset="-122"/>
                <a:cs typeface="Noto Sans SC" pitchFamily="34" charset="-120"/>
              </a:rPr>
              <a:t>M-1</a:t>
            </a:r>
            <a:endParaRPr lang="en-US" sz="1600" dirty="0"/>
          </a:p>
        </p:txBody>
      </p:sp>
      <p:sp>
        <p:nvSpPr>
          <p:cNvPr id="7" name="Text 5"/>
          <p:cNvSpPr/>
          <p:nvPr/>
        </p:nvSpPr>
        <p:spPr>
          <a:xfrm>
            <a:off x="3317528" y="2209800"/>
            <a:ext cx="923925" cy="228600"/>
          </a:xfrm>
          <a:prstGeom prst="rect">
            <a:avLst/>
          </a:prstGeom>
          <a:noFill/>
          <a:ln/>
        </p:spPr>
        <p:txBody>
          <a:bodyPr wrap="square" lIns="0" tIns="0" rIns="0" bIns="0" rtlCol="0" anchor="ctr"/>
          <a:lstStyle/>
          <a:p>
            <a:pPr algn="ctr">
              <a:lnSpc>
                <a:spcPct val="130000"/>
              </a:lnSpc>
            </a:pPr>
            <a:r>
              <a:rPr lang="en-US" sz="1200" b="1" dirty="0">
                <a:solidFill>
                  <a:srgbClr val="374151"/>
                </a:solidFill>
                <a:latin typeface="MiSans" pitchFamily="34" charset="0"/>
                <a:ea typeface="MiSans" pitchFamily="34" charset="-122"/>
                <a:cs typeface="MiSans" pitchFamily="34" charset="-120"/>
              </a:rPr>
              <a:t>Préparation</a:t>
            </a:r>
            <a:endParaRPr lang="en-US" sz="1600" dirty="0"/>
          </a:p>
        </p:txBody>
      </p:sp>
      <p:sp>
        <p:nvSpPr>
          <p:cNvPr id="8" name="Shape 6"/>
          <p:cNvSpPr/>
          <p:nvPr/>
        </p:nvSpPr>
        <p:spPr>
          <a:xfrm>
            <a:off x="4535984" y="1866900"/>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6B7280"/>
          </a:solidFill>
          <a:ln/>
        </p:spPr>
      </p:sp>
      <p:sp>
        <p:nvSpPr>
          <p:cNvPr id="9" name="Shape 7"/>
          <p:cNvSpPr/>
          <p:nvPr/>
        </p:nvSpPr>
        <p:spPr>
          <a:xfrm>
            <a:off x="5097959" y="15240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F97316"/>
          </a:solidFill>
          <a:ln/>
        </p:spPr>
      </p:sp>
      <p:sp>
        <p:nvSpPr>
          <p:cNvPr id="10" name="Text 8"/>
          <p:cNvSpPr/>
          <p:nvPr/>
        </p:nvSpPr>
        <p:spPr>
          <a:xfrm>
            <a:off x="5238601" y="1695450"/>
            <a:ext cx="323850" cy="2667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Noto Sans SC" pitchFamily="34" charset="0"/>
                <a:ea typeface="Noto Sans SC" pitchFamily="34" charset="-122"/>
                <a:cs typeface="Noto Sans SC" pitchFamily="34" charset="-120"/>
              </a:rPr>
              <a:t>S0</a:t>
            </a:r>
            <a:endParaRPr lang="en-US" sz="1600" dirty="0"/>
          </a:p>
        </p:txBody>
      </p:sp>
      <p:sp>
        <p:nvSpPr>
          <p:cNvPr id="11" name="Text 9"/>
          <p:cNvSpPr/>
          <p:nvPr/>
        </p:nvSpPr>
        <p:spPr>
          <a:xfrm>
            <a:off x="5059859" y="2209800"/>
            <a:ext cx="685800" cy="228600"/>
          </a:xfrm>
          <a:prstGeom prst="rect">
            <a:avLst/>
          </a:prstGeom>
          <a:noFill/>
          <a:ln/>
        </p:spPr>
        <p:txBody>
          <a:bodyPr wrap="square" lIns="0" tIns="0" rIns="0" bIns="0" rtlCol="0" anchor="ctr"/>
          <a:lstStyle/>
          <a:p>
            <a:pPr algn="ctr">
              <a:lnSpc>
                <a:spcPct val="130000"/>
              </a:lnSpc>
            </a:pPr>
            <a:r>
              <a:rPr lang="en-US" sz="1200" b="1" dirty="0">
                <a:solidFill>
                  <a:srgbClr val="374151"/>
                </a:solidFill>
                <a:latin typeface="MiSans" pitchFamily="34" charset="0"/>
                <a:ea typeface="MiSans" pitchFamily="34" charset="-122"/>
                <a:cs typeface="MiSans" pitchFamily="34" charset="-120"/>
              </a:rPr>
              <a:t>Pilote</a:t>
            </a:r>
            <a:endParaRPr lang="en-US" sz="1600" dirty="0"/>
          </a:p>
        </p:txBody>
      </p:sp>
      <p:sp>
        <p:nvSpPr>
          <p:cNvPr id="12" name="Shape 10"/>
          <p:cNvSpPr/>
          <p:nvPr/>
        </p:nvSpPr>
        <p:spPr>
          <a:xfrm>
            <a:off x="6040934" y="1866900"/>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6B7280"/>
          </a:solidFill>
          <a:ln/>
        </p:spPr>
      </p:sp>
      <p:sp>
        <p:nvSpPr>
          <p:cNvPr id="13" name="Shape 11"/>
          <p:cNvSpPr/>
          <p:nvPr/>
        </p:nvSpPr>
        <p:spPr>
          <a:xfrm>
            <a:off x="6602909" y="15240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10B981"/>
          </a:solidFill>
          <a:ln/>
        </p:spPr>
      </p:sp>
      <p:sp>
        <p:nvSpPr>
          <p:cNvPr id="14" name="Text 12"/>
          <p:cNvSpPr/>
          <p:nvPr/>
        </p:nvSpPr>
        <p:spPr>
          <a:xfrm>
            <a:off x="6672114" y="1695450"/>
            <a:ext cx="466725" cy="2667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Noto Sans SC" pitchFamily="34" charset="0"/>
                <a:ea typeface="Noto Sans SC" pitchFamily="34" charset="-122"/>
                <a:cs typeface="Noto Sans SC" pitchFamily="34" charset="-120"/>
              </a:rPr>
              <a:t>M+1</a:t>
            </a:r>
            <a:endParaRPr lang="en-US" sz="1600" dirty="0"/>
          </a:p>
        </p:txBody>
      </p:sp>
      <p:sp>
        <p:nvSpPr>
          <p:cNvPr id="15" name="Text 13"/>
          <p:cNvSpPr/>
          <p:nvPr/>
        </p:nvSpPr>
        <p:spPr>
          <a:xfrm>
            <a:off x="6564809" y="2209800"/>
            <a:ext cx="685800" cy="228600"/>
          </a:xfrm>
          <a:prstGeom prst="rect">
            <a:avLst/>
          </a:prstGeom>
          <a:noFill/>
          <a:ln/>
        </p:spPr>
        <p:txBody>
          <a:bodyPr wrap="square" lIns="0" tIns="0" rIns="0" bIns="0" rtlCol="0" anchor="ctr"/>
          <a:lstStyle/>
          <a:p>
            <a:pPr algn="ctr">
              <a:lnSpc>
                <a:spcPct val="130000"/>
              </a:lnSpc>
            </a:pPr>
            <a:r>
              <a:rPr lang="en-US" sz="1200" b="1" dirty="0">
                <a:solidFill>
                  <a:srgbClr val="374151"/>
                </a:solidFill>
                <a:latin typeface="MiSans" pitchFamily="34" charset="0"/>
                <a:ea typeface="MiSans" pitchFamily="34" charset="-122"/>
                <a:cs typeface="MiSans" pitchFamily="34" charset="-120"/>
              </a:rPr>
              <a:t>Analyse</a:t>
            </a:r>
            <a:endParaRPr lang="en-US" sz="1600" dirty="0"/>
          </a:p>
        </p:txBody>
      </p:sp>
      <p:sp>
        <p:nvSpPr>
          <p:cNvPr id="16" name="Shape 14"/>
          <p:cNvSpPr/>
          <p:nvPr/>
        </p:nvSpPr>
        <p:spPr>
          <a:xfrm>
            <a:off x="7545884" y="1866900"/>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6B7280"/>
          </a:solidFill>
          <a:ln/>
        </p:spPr>
      </p:sp>
      <p:sp>
        <p:nvSpPr>
          <p:cNvPr id="17" name="Shape 15"/>
          <p:cNvSpPr/>
          <p:nvPr/>
        </p:nvSpPr>
        <p:spPr>
          <a:xfrm>
            <a:off x="8167241" y="15240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059669"/>
          </a:solidFill>
          <a:ln/>
        </p:spPr>
      </p:sp>
      <p:sp>
        <p:nvSpPr>
          <p:cNvPr id="18" name="Text 16"/>
          <p:cNvSpPr/>
          <p:nvPr/>
        </p:nvSpPr>
        <p:spPr>
          <a:xfrm>
            <a:off x="8236446" y="1695450"/>
            <a:ext cx="466725" cy="2667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Noto Sans SC" pitchFamily="34" charset="0"/>
                <a:ea typeface="Noto Sans SC" pitchFamily="34" charset="-122"/>
                <a:cs typeface="Noto Sans SC" pitchFamily="34" charset="-120"/>
              </a:rPr>
              <a:t>M+3</a:t>
            </a:r>
            <a:endParaRPr lang="en-US" sz="1600" dirty="0"/>
          </a:p>
        </p:txBody>
      </p:sp>
      <p:sp>
        <p:nvSpPr>
          <p:cNvPr id="19" name="Text 17"/>
          <p:cNvSpPr/>
          <p:nvPr/>
        </p:nvSpPr>
        <p:spPr>
          <a:xfrm>
            <a:off x="8069759" y="2209800"/>
            <a:ext cx="800100" cy="228600"/>
          </a:xfrm>
          <a:prstGeom prst="rect">
            <a:avLst/>
          </a:prstGeom>
          <a:noFill/>
          <a:ln/>
        </p:spPr>
        <p:txBody>
          <a:bodyPr wrap="square" lIns="0" tIns="0" rIns="0" bIns="0" rtlCol="0" anchor="ctr"/>
          <a:lstStyle/>
          <a:p>
            <a:pPr algn="ctr">
              <a:lnSpc>
                <a:spcPct val="130000"/>
              </a:lnSpc>
            </a:pPr>
            <a:r>
              <a:rPr lang="en-US" sz="1200" b="1" dirty="0">
                <a:solidFill>
                  <a:srgbClr val="374151"/>
                </a:solidFill>
                <a:latin typeface="MiSans" pitchFamily="34" charset="0"/>
                <a:ea typeface="MiSans" pitchFamily="34" charset="-122"/>
                <a:cs typeface="MiSans" pitchFamily="34" charset="-120"/>
              </a:rPr>
              <a:t>Extension</a:t>
            </a:r>
            <a:endParaRPr lang="en-US" sz="1600" dirty="0"/>
          </a:p>
        </p:txBody>
      </p:sp>
      <p:sp>
        <p:nvSpPr>
          <p:cNvPr id="20" name="Shape 18"/>
          <p:cNvSpPr/>
          <p:nvPr/>
        </p:nvSpPr>
        <p:spPr>
          <a:xfrm>
            <a:off x="375047" y="2809875"/>
            <a:ext cx="192881" cy="171450"/>
          </a:xfrm>
          <a:custGeom>
            <a:avLst/>
            <a:gdLst/>
            <a:ahLst/>
            <a:cxnLst/>
            <a:rect l="l" t="t" r="r" b="b"/>
            <a:pathLst>
              <a:path w="192881" h="171450">
                <a:moveTo>
                  <a:pt x="170579" y="33018"/>
                </a:moveTo>
                <a:cubicBezTo>
                  <a:pt x="173124" y="30473"/>
                  <a:pt x="177377" y="31109"/>
                  <a:pt x="178650" y="34457"/>
                </a:cubicBezTo>
                <a:cubicBezTo>
                  <a:pt x="180927" y="40385"/>
                  <a:pt x="182166" y="46847"/>
                  <a:pt x="182166" y="53578"/>
                </a:cubicBezTo>
                <a:cubicBezTo>
                  <a:pt x="182166" y="83180"/>
                  <a:pt x="158189" y="107156"/>
                  <a:pt x="128588" y="107156"/>
                </a:cubicBezTo>
                <a:cubicBezTo>
                  <a:pt x="122727" y="107156"/>
                  <a:pt x="117068" y="106219"/>
                  <a:pt x="111777" y="104477"/>
                </a:cubicBezTo>
                <a:lnTo>
                  <a:pt x="49191" y="167063"/>
                </a:lnTo>
                <a:cubicBezTo>
                  <a:pt x="39782" y="176473"/>
                  <a:pt x="24512" y="176473"/>
                  <a:pt x="15102" y="167063"/>
                </a:cubicBezTo>
                <a:cubicBezTo>
                  <a:pt x="5693" y="157654"/>
                  <a:pt x="5693" y="142384"/>
                  <a:pt x="15102" y="132974"/>
                </a:cubicBezTo>
                <a:lnTo>
                  <a:pt x="77688" y="70388"/>
                </a:lnTo>
                <a:cubicBezTo>
                  <a:pt x="75947" y="65097"/>
                  <a:pt x="75009" y="59472"/>
                  <a:pt x="75009" y="53578"/>
                </a:cubicBezTo>
                <a:cubicBezTo>
                  <a:pt x="75009" y="23976"/>
                  <a:pt x="98986" y="0"/>
                  <a:pt x="128588" y="0"/>
                </a:cubicBezTo>
                <a:cubicBezTo>
                  <a:pt x="135318" y="0"/>
                  <a:pt x="141781" y="1239"/>
                  <a:pt x="147708" y="3516"/>
                </a:cubicBezTo>
                <a:cubicBezTo>
                  <a:pt x="151057" y="4789"/>
                  <a:pt x="151660" y="9041"/>
                  <a:pt x="149148" y="11586"/>
                </a:cubicBezTo>
                <a:lnTo>
                  <a:pt x="119446" y="41289"/>
                </a:lnTo>
                <a:cubicBezTo>
                  <a:pt x="118441" y="42293"/>
                  <a:pt x="117872" y="43666"/>
                  <a:pt x="117872" y="45073"/>
                </a:cubicBezTo>
                <a:lnTo>
                  <a:pt x="117872" y="58936"/>
                </a:lnTo>
                <a:cubicBezTo>
                  <a:pt x="117872" y="61883"/>
                  <a:pt x="120283" y="64294"/>
                  <a:pt x="123230" y="64294"/>
                </a:cubicBezTo>
                <a:lnTo>
                  <a:pt x="137093" y="64294"/>
                </a:lnTo>
                <a:cubicBezTo>
                  <a:pt x="138499" y="64294"/>
                  <a:pt x="139872" y="63724"/>
                  <a:pt x="140877" y="62720"/>
                </a:cubicBezTo>
                <a:lnTo>
                  <a:pt x="170579" y="33018"/>
                </a:lnTo>
                <a:close/>
              </a:path>
            </a:pathLst>
          </a:custGeom>
          <a:solidFill>
            <a:srgbClr val="3B82F6"/>
          </a:solidFill>
          <a:ln/>
        </p:spPr>
      </p:sp>
      <p:sp>
        <p:nvSpPr>
          <p:cNvPr id="21" name="Text 19"/>
          <p:cNvSpPr/>
          <p:nvPr/>
        </p:nvSpPr>
        <p:spPr>
          <a:xfrm>
            <a:off x="639514" y="2667000"/>
            <a:ext cx="1647825" cy="457200"/>
          </a:xfrm>
          <a:prstGeom prst="rect">
            <a:avLst/>
          </a:prstGeom>
          <a:noFill/>
          <a:ln/>
        </p:spPr>
        <p:txBody>
          <a:bodyPr wrap="square" lIns="0" tIns="0" rIns="0" bIns="0" rtlCol="0" anchor="ctr"/>
          <a:lstStyle/>
          <a:p>
            <a:pPr>
              <a:lnSpc>
                <a:spcPct val="130000"/>
              </a:lnSpc>
            </a:pPr>
            <a:r>
              <a:rPr lang="en-US" sz="1200" b="1" dirty="0">
                <a:solidFill>
                  <a:srgbClr val="374151"/>
                </a:solidFill>
                <a:latin typeface="MiSans" pitchFamily="34" charset="0"/>
                <a:ea typeface="MiSans" pitchFamily="34" charset="-122"/>
                <a:cs typeface="MiSans" pitchFamily="34" charset="-120"/>
              </a:rPr>
              <a:t>Préparation &amp; Installation</a:t>
            </a:r>
            <a:endParaRPr lang="en-US" sz="1600" dirty="0"/>
          </a:p>
        </p:txBody>
      </p:sp>
      <p:sp>
        <p:nvSpPr>
          <p:cNvPr id="22" name="Shape 20"/>
          <p:cNvSpPr/>
          <p:nvPr/>
        </p:nvSpPr>
        <p:spPr>
          <a:xfrm>
            <a:off x="2362200" y="2705100"/>
            <a:ext cx="9448800" cy="381000"/>
          </a:xfrm>
          <a:custGeom>
            <a:avLst/>
            <a:gdLst/>
            <a:ahLst/>
            <a:cxnLst/>
            <a:rect l="l" t="t" r="r" b="b"/>
            <a:pathLst>
              <a:path w="9448800" h="381000">
                <a:moveTo>
                  <a:pt x="190500" y="0"/>
                </a:moveTo>
                <a:lnTo>
                  <a:pt x="9258300" y="0"/>
                </a:lnTo>
                <a:cubicBezTo>
                  <a:pt x="9363440" y="0"/>
                  <a:pt x="9448800" y="85360"/>
                  <a:pt x="9448800" y="190500"/>
                </a:cubicBezTo>
                <a:lnTo>
                  <a:pt x="9448800" y="190500"/>
                </a:lnTo>
                <a:cubicBezTo>
                  <a:pt x="9448800" y="295640"/>
                  <a:pt x="9363440" y="381000"/>
                  <a:pt x="9258300" y="381000"/>
                </a:cubicBezTo>
                <a:lnTo>
                  <a:pt x="190500" y="381000"/>
                </a:lnTo>
                <a:cubicBezTo>
                  <a:pt x="85360" y="381000"/>
                  <a:pt x="0" y="295640"/>
                  <a:pt x="0" y="190500"/>
                </a:cubicBezTo>
                <a:lnTo>
                  <a:pt x="0" y="190500"/>
                </a:lnTo>
                <a:cubicBezTo>
                  <a:pt x="0" y="85360"/>
                  <a:pt x="85360" y="0"/>
                  <a:pt x="190500" y="0"/>
                </a:cubicBezTo>
                <a:close/>
              </a:path>
            </a:pathLst>
          </a:custGeom>
          <a:solidFill>
            <a:srgbClr val="F3F4F6"/>
          </a:solidFill>
          <a:ln/>
        </p:spPr>
      </p:sp>
      <p:sp>
        <p:nvSpPr>
          <p:cNvPr id="23" name="Shape 21"/>
          <p:cNvSpPr/>
          <p:nvPr/>
        </p:nvSpPr>
        <p:spPr>
          <a:xfrm>
            <a:off x="2362200" y="2705100"/>
            <a:ext cx="2362200" cy="381000"/>
          </a:xfrm>
          <a:custGeom>
            <a:avLst/>
            <a:gdLst/>
            <a:ahLst/>
            <a:cxnLst/>
            <a:rect l="l" t="t" r="r" b="b"/>
            <a:pathLst>
              <a:path w="2362200" h="381000">
                <a:moveTo>
                  <a:pt x="190500" y="0"/>
                </a:moveTo>
                <a:lnTo>
                  <a:pt x="2171700" y="0"/>
                </a:lnTo>
                <a:cubicBezTo>
                  <a:pt x="2276840" y="0"/>
                  <a:pt x="2362200" y="85360"/>
                  <a:pt x="2362200" y="190500"/>
                </a:cubicBezTo>
                <a:lnTo>
                  <a:pt x="2362200" y="190500"/>
                </a:lnTo>
                <a:cubicBezTo>
                  <a:pt x="2362200" y="295640"/>
                  <a:pt x="2276840" y="381000"/>
                  <a:pt x="2171700" y="381000"/>
                </a:cubicBezTo>
                <a:lnTo>
                  <a:pt x="190500" y="381000"/>
                </a:lnTo>
                <a:cubicBezTo>
                  <a:pt x="85360" y="381000"/>
                  <a:pt x="0" y="295640"/>
                  <a:pt x="0" y="190500"/>
                </a:cubicBezTo>
                <a:lnTo>
                  <a:pt x="0" y="190500"/>
                </a:lnTo>
                <a:cubicBezTo>
                  <a:pt x="0" y="85360"/>
                  <a:pt x="85360" y="0"/>
                  <a:pt x="190500" y="0"/>
                </a:cubicBezTo>
                <a:close/>
              </a:path>
            </a:pathLst>
          </a:custGeom>
          <a:solidFill>
            <a:srgbClr val="3B82F6"/>
          </a:solidFill>
          <a:ln/>
        </p:spPr>
      </p:sp>
      <p:sp>
        <p:nvSpPr>
          <p:cNvPr id="24" name="Shape 22"/>
          <p:cNvSpPr/>
          <p:nvPr/>
        </p:nvSpPr>
        <p:spPr>
          <a:xfrm>
            <a:off x="394097" y="3343275"/>
            <a:ext cx="192881" cy="171450"/>
          </a:xfrm>
          <a:custGeom>
            <a:avLst/>
            <a:gdLst/>
            <a:ahLst/>
            <a:cxnLst/>
            <a:rect l="l" t="t" r="r" b="b"/>
            <a:pathLst>
              <a:path w="192881" h="171450">
                <a:moveTo>
                  <a:pt x="16073" y="65566"/>
                </a:moveTo>
                <a:lnTo>
                  <a:pt x="86127" y="94398"/>
                </a:lnTo>
                <a:cubicBezTo>
                  <a:pt x="89408" y="95737"/>
                  <a:pt x="92891" y="96441"/>
                  <a:pt x="96441" y="96441"/>
                </a:cubicBezTo>
                <a:cubicBezTo>
                  <a:pt x="99990" y="96441"/>
                  <a:pt x="103473" y="95737"/>
                  <a:pt x="106754" y="94398"/>
                </a:cubicBezTo>
                <a:lnTo>
                  <a:pt x="187925" y="60979"/>
                </a:lnTo>
                <a:cubicBezTo>
                  <a:pt x="190939" y="59740"/>
                  <a:pt x="192881" y="56826"/>
                  <a:pt x="192881" y="53578"/>
                </a:cubicBezTo>
                <a:cubicBezTo>
                  <a:pt x="192881" y="50330"/>
                  <a:pt x="190939" y="47417"/>
                  <a:pt x="187925" y="46178"/>
                </a:cubicBezTo>
                <a:lnTo>
                  <a:pt x="106754" y="12758"/>
                </a:lnTo>
                <a:cubicBezTo>
                  <a:pt x="103473" y="11419"/>
                  <a:pt x="99990" y="10716"/>
                  <a:pt x="96441" y="10716"/>
                </a:cubicBezTo>
                <a:cubicBezTo>
                  <a:pt x="92891" y="10716"/>
                  <a:pt x="89408" y="11419"/>
                  <a:pt x="86127" y="12758"/>
                </a:cubicBezTo>
                <a:lnTo>
                  <a:pt x="4956" y="46178"/>
                </a:lnTo>
                <a:cubicBezTo>
                  <a:pt x="1942" y="47417"/>
                  <a:pt x="0" y="50330"/>
                  <a:pt x="0" y="53578"/>
                </a:cubicBezTo>
                <a:lnTo>
                  <a:pt x="0" y="152698"/>
                </a:lnTo>
                <a:cubicBezTo>
                  <a:pt x="0" y="157151"/>
                  <a:pt x="3583" y="160734"/>
                  <a:pt x="8037" y="160734"/>
                </a:cubicBezTo>
                <a:cubicBezTo>
                  <a:pt x="12490" y="160734"/>
                  <a:pt x="16073" y="157151"/>
                  <a:pt x="16073" y="152698"/>
                </a:cubicBezTo>
                <a:lnTo>
                  <a:pt x="16073" y="65566"/>
                </a:lnTo>
                <a:close/>
                <a:moveTo>
                  <a:pt x="32147" y="89576"/>
                </a:moveTo>
                <a:lnTo>
                  <a:pt x="32147" y="128588"/>
                </a:lnTo>
                <a:cubicBezTo>
                  <a:pt x="32147" y="146335"/>
                  <a:pt x="60945" y="160734"/>
                  <a:pt x="96441" y="160734"/>
                </a:cubicBezTo>
                <a:cubicBezTo>
                  <a:pt x="131936" y="160734"/>
                  <a:pt x="160734" y="146335"/>
                  <a:pt x="160734" y="128588"/>
                </a:cubicBezTo>
                <a:lnTo>
                  <a:pt x="160734" y="89542"/>
                </a:lnTo>
                <a:lnTo>
                  <a:pt x="112882" y="109266"/>
                </a:lnTo>
                <a:cubicBezTo>
                  <a:pt x="107659" y="111409"/>
                  <a:pt x="102100" y="112514"/>
                  <a:pt x="96441" y="112514"/>
                </a:cubicBezTo>
                <a:cubicBezTo>
                  <a:pt x="90781" y="112514"/>
                  <a:pt x="85223" y="111409"/>
                  <a:pt x="79999" y="109266"/>
                </a:cubicBezTo>
                <a:lnTo>
                  <a:pt x="32147" y="89542"/>
                </a:lnTo>
                <a:close/>
              </a:path>
            </a:pathLst>
          </a:custGeom>
          <a:solidFill>
            <a:srgbClr val="8B5CF6"/>
          </a:solidFill>
          <a:ln/>
        </p:spPr>
      </p:sp>
      <p:sp>
        <p:nvSpPr>
          <p:cNvPr id="25" name="Text 23"/>
          <p:cNvSpPr/>
          <p:nvPr/>
        </p:nvSpPr>
        <p:spPr>
          <a:xfrm>
            <a:off x="671513" y="3314700"/>
            <a:ext cx="1352550" cy="228600"/>
          </a:xfrm>
          <a:prstGeom prst="rect">
            <a:avLst/>
          </a:prstGeom>
          <a:noFill/>
          <a:ln/>
        </p:spPr>
        <p:txBody>
          <a:bodyPr wrap="square" lIns="0" tIns="0" rIns="0" bIns="0" rtlCol="0" anchor="ctr"/>
          <a:lstStyle/>
          <a:p>
            <a:pPr>
              <a:lnSpc>
                <a:spcPct val="130000"/>
              </a:lnSpc>
            </a:pPr>
            <a:r>
              <a:rPr lang="en-US" sz="1200" b="1" dirty="0">
                <a:solidFill>
                  <a:srgbClr val="374151"/>
                </a:solidFill>
                <a:latin typeface="MiSans" pitchFamily="34" charset="0"/>
                <a:ea typeface="MiSans" pitchFamily="34" charset="-122"/>
                <a:cs typeface="MiSans" pitchFamily="34" charset="-120"/>
              </a:rPr>
              <a:t>Formation équipe</a:t>
            </a:r>
            <a:endParaRPr lang="en-US" sz="1600" dirty="0"/>
          </a:p>
        </p:txBody>
      </p:sp>
      <p:sp>
        <p:nvSpPr>
          <p:cNvPr id="26" name="Shape 24"/>
          <p:cNvSpPr/>
          <p:nvPr/>
        </p:nvSpPr>
        <p:spPr>
          <a:xfrm>
            <a:off x="2362200" y="3238500"/>
            <a:ext cx="9448800" cy="381000"/>
          </a:xfrm>
          <a:custGeom>
            <a:avLst/>
            <a:gdLst/>
            <a:ahLst/>
            <a:cxnLst/>
            <a:rect l="l" t="t" r="r" b="b"/>
            <a:pathLst>
              <a:path w="9448800" h="381000">
                <a:moveTo>
                  <a:pt x="190500" y="0"/>
                </a:moveTo>
                <a:lnTo>
                  <a:pt x="9258300" y="0"/>
                </a:lnTo>
                <a:cubicBezTo>
                  <a:pt x="9363440" y="0"/>
                  <a:pt x="9448800" y="85360"/>
                  <a:pt x="9448800" y="190500"/>
                </a:cubicBezTo>
                <a:lnTo>
                  <a:pt x="9448800" y="190500"/>
                </a:lnTo>
                <a:cubicBezTo>
                  <a:pt x="9448800" y="295640"/>
                  <a:pt x="9363440" y="381000"/>
                  <a:pt x="9258300" y="381000"/>
                </a:cubicBezTo>
                <a:lnTo>
                  <a:pt x="190500" y="381000"/>
                </a:lnTo>
                <a:cubicBezTo>
                  <a:pt x="85360" y="381000"/>
                  <a:pt x="0" y="295640"/>
                  <a:pt x="0" y="190500"/>
                </a:cubicBezTo>
                <a:lnTo>
                  <a:pt x="0" y="190500"/>
                </a:lnTo>
                <a:cubicBezTo>
                  <a:pt x="0" y="85360"/>
                  <a:pt x="85360" y="0"/>
                  <a:pt x="190500" y="0"/>
                </a:cubicBezTo>
                <a:close/>
              </a:path>
            </a:pathLst>
          </a:custGeom>
          <a:solidFill>
            <a:srgbClr val="F3F4F6"/>
          </a:solidFill>
          <a:ln/>
        </p:spPr>
      </p:sp>
      <p:sp>
        <p:nvSpPr>
          <p:cNvPr id="27" name="Shape 25"/>
          <p:cNvSpPr/>
          <p:nvPr/>
        </p:nvSpPr>
        <p:spPr>
          <a:xfrm>
            <a:off x="2362200" y="3238500"/>
            <a:ext cx="1885950" cy="381000"/>
          </a:xfrm>
          <a:custGeom>
            <a:avLst/>
            <a:gdLst/>
            <a:ahLst/>
            <a:cxnLst/>
            <a:rect l="l" t="t" r="r" b="b"/>
            <a:pathLst>
              <a:path w="1885950" h="381000">
                <a:moveTo>
                  <a:pt x="190500" y="0"/>
                </a:moveTo>
                <a:lnTo>
                  <a:pt x="1695450" y="0"/>
                </a:lnTo>
                <a:cubicBezTo>
                  <a:pt x="1800590" y="0"/>
                  <a:pt x="1885950" y="85360"/>
                  <a:pt x="1885950" y="190500"/>
                </a:cubicBezTo>
                <a:lnTo>
                  <a:pt x="1885950" y="190500"/>
                </a:lnTo>
                <a:cubicBezTo>
                  <a:pt x="1885950" y="295640"/>
                  <a:pt x="1800590" y="381000"/>
                  <a:pt x="1695450" y="381000"/>
                </a:cubicBezTo>
                <a:lnTo>
                  <a:pt x="190500" y="381000"/>
                </a:lnTo>
                <a:cubicBezTo>
                  <a:pt x="85360" y="381000"/>
                  <a:pt x="0" y="295640"/>
                  <a:pt x="0" y="190500"/>
                </a:cubicBezTo>
                <a:lnTo>
                  <a:pt x="0" y="190500"/>
                </a:lnTo>
                <a:cubicBezTo>
                  <a:pt x="0" y="85360"/>
                  <a:pt x="85360" y="0"/>
                  <a:pt x="190500" y="0"/>
                </a:cubicBezTo>
                <a:close/>
              </a:path>
            </a:pathLst>
          </a:custGeom>
          <a:solidFill>
            <a:srgbClr val="8B5CF6"/>
          </a:solidFill>
          <a:ln/>
        </p:spPr>
      </p:sp>
      <p:sp>
        <p:nvSpPr>
          <p:cNvPr id="28" name="Shape 26"/>
          <p:cNvSpPr/>
          <p:nvPr/>
        </p:nvSpPr>
        <p:spPr>
          <a:xfrm>
            <a:off x="371475" y="3876675"/>
            <a:ext cx="171450" cy="171450"/>
          </a:xfrm>
          <a:custGeom>
            <a:avLst/>
            <a:gdLst/>
            <a:ahLst/>
            <a:cxnLst/>
            <a:rect l="l" t="t" r="r" b="b"/>
            <a:pathLst>
              <a:path w="171450" h="171450">
                <a:moveTo>
                  <a:pt x="139303" y="69652"/>
                </a:moveTo>
                <a:cubicBezTo>
                  <a:pt x="139303" y="85022"/>
                  <a:pt x="134314" y="99220"/>
                  <a:pt x="125909" y="110739"/>
                </a:cubicBezTo>
                <a:lnTo>
                  <a:pt x="168302" y="153166"/>
                </a:lnTo>
                <a:cubicBezTo>
                  <a:pt x="172488" y="157352"/>
                  <a:pt x="172488" y="164150"/>
                  <a:pt x="168302" y="168336"/>
                </a:cubicBezTo>
                <a:cubicBezTo>
                  <a:pt x="164116" y="172522"/>
                  <a:pt x="157319" y="172522"/>
                  <a:pt x="153133" y="168336"/>
                </a:cubicBezTo>
                <a:lnTo>
                  <a:pt x="110739" y="125909"/>
                </a:lnTo>
                <a:cubicBezTo>
                  <a:pt x="99220" y="134314"/>
                  <a:pt x="85022" y="139303"/>
                  <a:pt x="69652" y="139303"/>
                </a:cubicBezTo>
                <a:cubicBezTo>
                  <a:pt x="31176" y="139303"/>
                  <a:pt x="0" y="108127"/>
                  <a:pt x="0" y="69652"/>
                </a:cubicBezTo>
                <a:cubicBezTo>
                  <a:pt x="0" y="31176"/>
                  <a:pt x="31176" y="0"/>
                  <a:pt x="69652" y="0"/>
                </a:cubicBezTo>
                <a:cubicBezTo>
                  <a:pt x="108127" y="0"/>
                  <a:pt x="139303" y="31176"/>
                  <a:pt x="139303" y="69652"/>
                </a:cubicBezTo>
                <a:close/>
                <a:moveTo>
                  <a:pt x="69652" y="117872"/>
                </a:moveTo>
                <a:cubicBezTo>
                  <a:pt x="96265" y="117872"/>
                  <a:pt x="117872" y="96265"/>
                  <a:pt x="117872" y="69652"/>
                </a:cubicBezTo>
                <a:cubicBezTo>
                  <a:pt x="117872" y="43038"/>
                  <a:pt x="96265" y="21431"/>
                  <a:pt x="69652" y="21431"/>
                </a:cubicBezTo>
                <a:cubicBezTo>
                  <a:pt x="43038" y="21431"/>
                  <a:pt x="21431" y="43038"/>
                  <a:pt x="21431" y="69652"/>
                </a:cubicBezTo>
                <a:cubicBezTo>
                  <a:pt x="21431" y="96265"/>
                  <a:pt x="43038" y="117872"/>
                  <a:pt x="69652" y="117872"/>
                </a:cubicBezTo>
                <a:close/>
              </a:path>
            </a:pathLst>
          </a:custGeom>
          <a:solidFill>
            <a:srgbClr val="F97316"/>
          </a:solidFill>
          <a:ln/>
        </p:spPr>
      </p:sp>
      <p:sp>
        <p:nvSpPr>
          <p:cNvPr id="29" name="Text 27"/>
          <p:cNvSpPr/>
          <p:nvPr/>
        </p:nvSpPr>
        <p:spPr>
          <a:xfrm>
            <a:off x="609451" y="3733800"/>
            <a:ext cx="1676400" cy="457200"/>
          </a:xfrm>
          <a:prstGeom prst="rect">
            <a:avLst/>
          </a:prstGeom>
          <a:noFill/>
          <a:ln/>
        </p:spPr>
        <p:txBody>
          <a:bodyPr wrap="square" lIns="0" tIns="0" rIns="0" bIns="0" rtlCol="0" anchor="ctr"/>
          <a:lstStyle/>
          <a:p>
            <a:pPr>
              <a:lnSpc>
                <a:spcPct val="130000"/>
              </a:lnSpc>
            </a:pPr>
            <a:r>
              <a:rPr lang="en-US" sz="1200" b="1" dirty="0">
                <a:solidFill>
                  <a:srgbClr val="374151"/>
                </a:solidFill>
                <a:latin typeface="MiSans" pitchFamily="34" charset="0"/>
                <a:ea typeface="MiSans" pitchFamily="34" charset="-122"/>
                <a:cs typeface="MiSans" pitchFamily="34" charset="-120"/>
              </a:rPr>
              <a:t>Pilote Sophie (double contrôle)</a:t>
            </a:r>
            <a:endParaRPr lang="en-US" sz="1600" dirty="0"/>
          </a:p>
        </p:txBody>
      </p:sp>
      <p:sp>
        <p:nvSpPr>
          <p:cNvPr id="30" name="Shape 28"/>
          <p:cNvSpPr/>
          <p:nvPr/>
        </p:nvSpPr>
        <p:spPr>
          <a:xfrm>
            <a:off x="2362200" y="3771900"/>
            <a:ext cx="9448800" cy="381000"/>
          </a:xfrm>
          <a:custGeom>
            <a:avLst/>
            <a:gdLst/>
            <a:ahLst/>
            <a:cxnLst/>
            <a:rect l="l" t="t" r="r" b="b"/>
            <a:pathLst>
              <a:path w="9448800" h="381000">
                <a:moveTo>
                  <a:pt x="190500" y="0"/>
                </a:moveTo>
                <a:lnTo>
                  <a:pt x="9258300" y="0"/>
                </a:lnTo>
                <a:cubicBezTo>
                  <a:pt x="9363440" y="0"/>
                  <a:pt x="9448800" y="85360"/>
                  <a:pt x="9448800" y="190500"/>
                </a:cubicBezTo>
                <a:lnTo>
                  <a:pt x="9448800" y="190500"/>
                </a:lnTo>
                <a:cubicBezTo>
                  <a:pt x="9448800" y="295640"/>
                  <a:pt x="9363440" y="381000"/>
                  <a:pt x="9258300" y="381000"/>
                </a:cubicBezTo>
                <a:lnTo>
                  <a:pt x="190500" y="381000"/>
                </a:lnTo>
                <a:cubicBezTo>
                  <a:pt x="85360" y="381000"/>
                  <a:pt x="0" y="295640"/>
                  <a:pt x="0" y="190500"/>
                </a:cubicBezTo>
                <a:lnTo>
                  <a:pt x="0" y="190500"/>
                </a:lnTo>
                <a:cubicBezTo>
                  <a:pt x="0" y="85360"/>
                  <a:pt x="85360" y="0"/>
                  <a:pt x="190500" y="0"/>
                </a:cubicBezTo>
                <a:close/>
              </a:path>
            </a:pathLst>
          </a:custGeom>
          <a:solidFill>
            <a:srgbClr val="F3F4F6"/>
          </a:solidFill>
          <a:ln/>
        </p:spPr>
      </p:sp>
      <p:sp>
        <p:nvSpPr>
          <p:cNvPr id="31" name="Shape 29"/>
          <p:cNvSpPr/>
          <p:nvPr/>
        </p:nvSpPr>
        <p:spPr>
          <a:xfrm>
            <a:off x="4251871" y="3771900"/>
            <a:ext cx="476250" cy="381000"/>
          </a:xfrm>
          <a:custGeom>
            <a:avLst/>
            <a:gdLst/>
            <a:ahLst/>
            <a:cxnLst/>
            <a:rect l="l" t="t" r="r" b="b"/>
            <a:pathLst>
              <a:path w="476250" h="381000">
                <a:moveTo>
                  <a:pt x="190500" y="0"/>
                </a:moveTo>
                <a:lnTo>
                  <a:pt x="285750" y="0"/>
                </a:lnTo>
                <a:cubicBezTo>
                  <a:pt x="390890" y="0"/>
                  <a:pt x="476250" y="85360"/>
                  <a:pt x="476250" y="190500"/>
                </a:cubicBezTo>
                <a:lnTo>
                  <a:pt x="476250" y="190500"/>
                </a:lnTo>
                <a:cubicBezTo>
                  <a:pt x="476250" y="295640"/>
                  <a:pt x="390890" y="381000"/>
                  <a:pt x="285750" y="381000"/>
                </a:cubicBezTo>
                <a:lnTo>
                  <a:pt x="190500" y="381000"/>
                </a:lnTo>
                <a:cubicBezTo>
                  <a:pt x="85360" y="381000"/>
                  <a:pt x="0" y="295640"/>
                  <a:pt x="0" y="190500"/>
                </a:cubicBezTo>
                <a:lnTo>
                  <a:pt x="0" y="190500"/>
                </a:lnTo>
                <a:cubicBezTo>
                  <a:pt x="0" y="85360"/>
                  <a:pt x="85360" y="0"/>
                  <a:pt x="190500" y="0"/>
                </a:cubicBezTo>
                <a:close/>
              </a:path>
            </a:pathLst>
          </a:custGeom>
          <a:solidFill>
            <a:srgbClr val="F97316"/>
          </a:solidFill>
          <a:ln/>
        </p:spPr>
      </p:sp>
      <p:sp>
        <p:nvSpPr>
          <p:cNvPr id="32" name="Shape 30"/>
          <p:cNvSpPr/>
          <p:nvPr/>
        </p:nvSpPr>
        <p:spPr>
          <a:xfrm>
            <a:off x="385763" y="4448175"/>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EC4899"/>
          </a:solidFill>
          <a:ln/>
        </p:spPr>
      </p:sp>
      <p:sp>
        <p:nvSpPr>
          <p:cNvPr id="33" name="Text 31"/>
          <p:cNvSpPr/>
          <p:nvPr/>
        </p:nvSpPr>
        <p:spPr>
          <a:xfrm>
            <a:off x="638770" y="4305300"/>
            <a:ext cx="1647825" cy="457200"/>
          </a:xfrm>
          <a:prstGeom prst="rect">
            <a:avLst/>
          </a:prstGeom>
          <a:noFill/>
          <a:ln/>
        </p:spPr>
        <p:txBody>
          <a:bodyPr wrap="square" lIns="0" tIns="0" rIns="0" bIns="0" rtlCol="0" anchor="ctr"/>
          <a:lstStyle/>
          <a:p>
            <a:pPr>
              <a:lnSpc>
                <a:spcPct val="130000"/>
              </a:lnSpc>
            </a:pPr>
            <a:r>
              <a:rPr lang="en-US" sz="1200" b="1" dirty="0">
                <a:solidFill>
                  <a:srgbClr val="374151"/>
                </a:solidFill>
                <a:latin typeface="MiSans" pitchFamily="34" charset="0"/>
                <a:ea typeface="MiSans" pitchFamily="34" charset="-122"/>
                <a:cs typeface="MiSans" pitchFamily="34" charset="-120"/>
              </a:rPr>
              <a:t>Analyse résultats vs KPIs</a:t>
            </a:r>
            <a:endParaRPr lang="en-US" sz="1600" dirty="0"/>
          </a:p>
        </p:txBody>
      </p:sp>
      <p:sp>
        <p:nvSpPr>
          <p:cNvPr id="34" name="Shape 32"/>
          <p:cNvSpPr/>
          <p:nvPr/>
        </p:nvSpPr>
        <p:spPr>
          <a:xfrm>
            <a:off x="2362200" y="4343400"/>
            <a:ext cx="9448800" cy="381000"/>
          </a:xfrm>
          <a:custGeom>
            <a:avLst/>
            <a:gdLst/>
            <a:ahLst/>
            <a:cxnLst/>
            <a:rect l="l" t="t" r="r" b="b"/>
            <a:pathLst>
              <a:path w="9448800" h="381000">
                <a:moveTo>
                  <a:pt x="190500" y="0"/>
                </a:moveTo>
                <a:lnTo>
                  <a:pt x="9258300" y="0"/>
                </a:lnTo>
                <a:cubicBezTo>
                  <a:pt x="9363440" y="0"/>
                  <a:pt x="9448800" y="85360"/>
                  <a:pt x="9448800" y="190500"/>
                </a:cubicBezTo>
                <a:lnTo>
                  <a:pt x="9448800" y="190500"/>
                </a:lnTo>
                <a:cubicBezTo>
                  <a:pt x="9448800" y="295640"/>
                  <a:pt x="9363440" y="381000"/>
                  <a:pt x="9258300" y="381000"/>
                </a:cubicBezTo>
                <a:lnTo>
                  <a:pt x="190500" y="381000"/>
                </a:lnTo>
                <a:cubicBezTo>
                  <a:pt x="85360" y="381000"/>
                  <a:pt x="0" y="295640"/>
                  <a:pt x="0" y="190500"/>
                </a:cubicBezTo>
                <a:lnTo>
                  <a:pt x="0" y="190500"/>
                </a:lnTo>
                <a:cubicBezTo>
                  <a:pt x="0" y="85360"/>
                  <a:pt x="85360" y="0"/>
                  <a:pt x="190500" y="0"/>
                </a:cubicBezTo>
                <a:close/>
              </a:path>
            </a:pathLst>
          </a:custGeom>
          <a:solidFill>
            <a:srgbClr val="F3F4F6"/>
          </a:solidFill>
          <a:ln/>
        </p:spPr>
      </p:sp>
      <p:sp>
        <p:nvSpPr>
          <p:cNvPr id="35" name="Shape 33"/>
          <p:cNvSpPr/>
          <p:nvPr/>
        </p:nvSpPr>
        <p:spPr>
          <a:xfrm>
            <a:off x="4724400" y="4343400"/>
            <a:ext cx="2362200" cy="381000"/>
          </a:xfrm>
          <a:custGeom>
            <a:avLst/>
            <a:gdLst/>
            <a:ahLst/>
            <a:cxnLst/>
            <a:rect l="l" t="t" r="r" b="b"/>
            <a:pathLst>
              <a:path w="2362200" h="381000">
                <a:moveTo>
                  <a:pt x="190500" y="0"/>
                </a:moveTo>
                <a:lnTo>
                  <a:pt x="2171700" y="0"/>
                </a:lnTo>
                <a:cubicBezTo>
                  <a:pt x="2276840" y="0"/>
                  <a:pt x="2362200" y="85360"/>
                  <a:pt x="2362200" y="190500"/>
                </a:cubicBezTo>
                <a:lnTo>
                  <a:pt x="2362200" y="190500"/>
                </a:lnTo>
                <a:cubicBezTo>
                  <a:pt x="2362200" y="295640"/>
                  <a:pt x="2276840" y="381000"/>
                  <a:pt x="2171700" y="381000"/>
                </a:cubicBezTo>
                <a:lnTo>
                  <a:pt x="190500" y="381000"/>
                </a:lnTo>
                <a:cubicBezTo>
                  <a:pt x="85360" y="381000"/>
                  <a:pt x="0" y="295640"/>
                  <a:pt x="0" y="190500"/>
                </a:cubicBezTo>
                <a:lnTo>
                  <a:pt x="0" y="190500"/>
                </a:lnTo>
                <a:cubicBezTo>
                  <a:pt x="0" y="85360"/>
                  <a:pt x="85360" y="0"/>
                  <a:pt x="190500" y="0"/>
                </a:cubicBezTo>
                <a:close/>
              </a:path>
            </a:pathLst>
          </a:custGeom>
          <a:solidFill>
            <a:srgbClr val="EC4899"/>
          </a:solidFill>
          <a:ln/>
        </p:spPr>
      </p:sp>
      <p:sp>
        <p:nvSpPr>
          <p:cNvPr id="36" name="Shape 34"/>
          <p:cNvSpPr/>
          <p:nvPr/>
        </p:nvSpPr>
        <p:spPr>
          <a:xfrm>
            <a:off x="395288" y="5019675"/>
            <a:ext cx="171450" cy="171450"/>
          </a:xfrm>
          <a:custGeom>
            <a:avLst/>
            <a:gdLst/>
            <a:ahLst/>
            <a:cxnLst/>
            <a:rect l="l" t="t" r="r" b="b"/>
            <a:pathLst>
              <a:path w="171450" h="171450">
                <a:moveTo>
                  <a:pt x="42863" y="107156"/>
                </a:moveTo>
                <a:lnTo>
                  <a:pt x="8204" y="107156"/>
                </a:lnTo>
                <a:cubicBezTo>
                  <a:pt x="-134" y="107156"/>
                  <a:pt x="-5257" y="98081"/>
                  <a:pt x="-971" y="90915"/>
                </a:cubicBezTo>
                <a:lnTo>
                  <a:pt x="16743" y="61380"/>
                </a:lnTo>
                <a:cubicBezTo>
                  <a:pt x="19656" y="56525"/>
                  <a:pt x="24880" y="53578"/>
                  <a:pt x="30540" y="53578"/>
                </a:cubicBezTo>
                <a:lnTo>
                  <a:pt x="62352" y="53578"/>
                </a:lnTo>
                <a:cubicBezTo>
                  <a:pt x="87835" y="10414"/>
                  <a:pt x="125842" y="8238"/>
                  <a:pt x="151258" y="11955"/>
                </a:cubicBezTo>
                <a:cubicBezTo>
                  <a:pt x="155544" y="12591"/>
                  <a:pt x="158893" y="15939"/>
                  <a:pt x="159495" y="20192"/>
                </a:cubicBezTo>
                <a:cubicBezTo>
                  <a:pt x="163212" y="45608"/>
                  <a:pt x="161036" y="83615"/>
                  <a:pt x="117872" y="109098"/>
                </a:cubicBezTo>
                <a:lnTo>
                  <a:pt x="117872" y="140910"/>
                </a:lnTo>
                <a:cubicBezTo>
                  <a:pt x="117872" y="146570"/>
                  <a:pt x="114925" y="151794"/>
                  <a:pt x="110070" y="154707"/>
                </a:cubicBezTo>
                <a:lnTo>
                  <a:pt x="80535" y="172421"/>
                </a:lnTo>
                <a:cubicBezTo>
                  <a:pt x="73402" y="176707"/>
                  <a:pt x="64294" y="171550"/>
                  <a:pt x="64294" y="163246"/>
                </a:cubicBezTo>
                <a:lnTo>
                  <a:pt x="64294" y="128588"/>
                </a:lnTo>
                <a:cubicBezTo>
                  <a:pt x="64294" y="116767"/>
                  <a:pt x="54683" y="107156"/>
                  <a:pt x="42863" y="107156"/>
                </a:cubicBezTo>
                <a:lnTo>
                  <a:pt x="42829" y="107156"/>
                </a:lnTo>
                <a:close/>
                <a:moveTo>
                  <a:pt x="133945" y="53578"/>
                </a:moveTo>
                <a:cubicBezTo>
                  <a:pt x="133945" y="44707"/>
                  <a:pt x="126743" y="37505"/>
                  <a:pt x="117872" y="37505"/>
                </a:cubicBezTo>
                <a:cubicBezTo>
                  <a:pt x="109001" y="37505"/>
                  <a:pt x="101798" y="44707"/>
                  <a:pt x="101798" y="53578"/>
                </a:cubicBezTo>
                <a:cubicBezTo>
                  <a:pt x="101798" y="62449"/>
                  <a:pt x="109001" y="69652"/>
                  <a:pt x="117872" y="69652"/>
                </a:cubicBezTo>
                <a:cubicBezTo>
                  <a:pt x="126743" y="69652"/>
                  <a:pt x="133945" y="62449"/>
                  <a:pt x="133945" y="53578"/>
                </a:cubicBezTo>
                <a:close/>
              </a:path>
            </a:pathLst>
          </a:custGeom>
          <a:solidFill>
            <a:srgbClr val="10B981"/>
          </a:solidFill>
          <a:ln/>
        </p:spPr>
      </p:sp>
      <p:sp>
        <p:nvSpPr>
          <p:cNvPr id="37" name="Text 35"/>
          <p:cNvSpPr/>
          <p:nvPr/>
        </p:nvSpPr>
        <p:spPr>
          <a:xfrm>
            <a:off x="660350" y="4876800"/>
            <a:ext cx="1628775" cy="457200"/>
          </a:xfrm>
          <a:prstGeom prst="rect">
            <a:avLst/>
          </a:prstGeom>
          <a:noFill/>
          <a:ln/>
        </p:spPr>
        <p:txBody>
          <a:bodyPr wrap="square" lIns="0" tIns="0" rIns="0" bIns="0" rtlCol="0" anchor="ctr"/>
          <a:lstStyle/>
          <a:p>
            <a:pPr>
              <a:lnSpc>
                <a:spcPct val="130000"/>
              </a:lnSpc>
            </a:pPr>
            <a:r>
              <a:rPr lang="en-US" sz="1200" b="1" dirty="0">
                <a:solidFill>
                  <a:srgbClr val="374151"/>
                </a:solidFill>
                <a:latin typeface="MiSans" pitchFamily="34" charset="0"/>
                <a:ea typeface="MiSans" pitchFamily="34" charset="-122"/>
                <a:cs typeface="MiSans" pitchFamily="34" charset="-120"/>
              </a:rPr>
              <a:t>Extension progressive</a:t>
            </a:r>
            <a:endParaRPr lang="en-US" sz="1600" dirty="0"/>
          </a:p>
        </p:txBody>
      </p:sp>
      <p:sp>
        <p:nvSpPr>
          <p:cNvPr id="38" name="Shape 36"/>
          <p:cNvSpPr/>
          <p:nvPr/>
        </p:nvSpPr>
        <p:spPr>
          <a:xfrm>
            <a:off x="2362200" y="4914900"/>
            <a:ext cx="9448800" cy="381000"/>
          </a:xfrm>
          <a:custGeom>
            <a:avLst/>
            <a:gdLst/>
            <a:ahLst/>
            <a:cxnLst/>
            <a:rect l="l" t="t" r="r" b="b"/>
            <a:pathLst>
              <a:path w="9448800" h="381000">
                <a:moveTo>
                  <a:pt x="190500" y="0"/>
                </a:moveTo>
                <a:lnTo>
                  <a:pt x="9258300" y="0"/>
                </a:lnTo>
                <a:cubicBezTo>
                  <a:pt x="9363440" y="0"/>
                  <a:pt x="9448800" y="85360"/>
                  <a:pt x="9448800" y="190500"/>
                </a:cubicBezTo>
                <a:lnTo>
                  <a:pt x="9448800" y="190500"/>
                </a:lnTo>
                <a:cubicBezTo>
                  <a:pt x="9448800" y="295640"/>
                  <a:pt x="9363440" y="381000"/>
                  <a:pt x="9258300" y="381000"/>
                </a:cubicBezTo>
                <a:lnTo>
                  <a:pt x="190500" y="381000"/>
                </a:lnTo>
                <a:cubicBezTo>
                  <a:pt x="85360" y="381000"/>
                  <a:pt x="0" y="295640"/>
                  <a:pt x="0" y="190500"/>
                </a:cubicBezTo>
                <a:lnTo>
                  <a:pt x="0" y="190500"/>
                </a:lnTo>
                <a:cubicBezTo>
                  <a:pt x="0" y="85360"/>
                  <a:pt x="85360" y="0"/>
                  <a:pt x="190500" y="0"/>
                </a:cubicBezTo>
                <a:close/>
              </a:path>
            </a:pathLst>
          </a:custGeom>
          <a:solidFill>
            <a:srgbClr val="F3F4F6"/>
          </a:solidFill>
          <a:ln/>
        </p:spPr>
      </p:sp>
      <p:sp>
        <p:nvSpPr>
          <p:cNvPr id="39" name="Shape 37"/>
          <p:cNvSpPr/>
          <p:nvPr/>
        </p:nvSpPr>
        <p:spPr>
          <a:xfrm>
            <a:off x="7086600" y="4914900"/>
            <a:ext cx="4724400" cy="381000"/>
          </a:xfrm>
          <a:custGeom>
            <a:avLst/>
            <a:gdLst/>
            <a:ahLst/>
            <a:cxnLst/>
            <a:rect l="l" t="t" r="r" b="b"/>
            <a:pathLst>
              <a:path w="4724400" h="381000">
                <a:moveTo>
                  <a:pt x="190500" y="0"/>
                </a:moveTo>
                <a:lnTo>
                  <a:pt x="4533900" y="0"/>
                </a:lnTo>
                <a:cubicBezTo>
                  <a:pt x="4639040" y="0"/>
                  <a:pt x="4724400" y="85360"/>
                  <a:pt x="4724400" y="190500"/>
                </a:cubicBezTo>
                <a:lnTo>
                  <a:pt x="4724400" y="190500"/>
                </a:lnTo>
                <a:cubicBezTo>
                  <a:pt x="4724400" y="295640"/>
                  <a:pt x="4639040" y="381000"/>
                  <a:pt x="4533900" y="381000"/>
                </a:cubicBezTo>
                <a:lnTo>
                  <a:pt x="190500" y="381000"/>
                </a:lnTo>
                <a:cubicBezTo>
                  <a:pt x="85360" y="381000"/>
                  <a:pt x="0" y="295640"/>
                  <a:pt x="0" y="190500"/>
                </a:cubicBezTo>
                <a:lnTo>
                  <a:pt x="0" y="190500"/>
                </a:lnTo>
                <a:cubicBezTo>
                  <a:pt x="0" y="85360"/>
                  <a:pt x="85360" y="0"/>
                  <a:pt x="190500" y="0"/>
                </a:cubicBezTo>
                <a:close/>
              </a:path>
            </a:pathLst>
          </a:custGeom>
          <a:solidFill>
            <a:srgbClr val="10B981"/>
          </a:solidFill>
          <a:ln/>
        </p:spPr>
      </p:sp>
      <p:sp>
        <p:nvSpPr>
          <p:cNvPr id="40" name="Shape 38"/>
          <p:cNvSpPr/>
          <p:nvPr/>
        </p:nvSpPr>
        <p:spPr>
          <a:xfrm>
            <a:off x="3725466" y="5505450"/>
            <a:ext cx="152400" cy="152400"/>
          </a:xfrm>
          <a:custGeom>
            <a:avLst/>
            <a:gdLst/>
            <a:ahLst/>
            <a:cxnLst/>
            <a:rect l="l" t="t" r="r" b="b"/>
            <a:pathLst>
              <a:path w="152400" h="152400">
                <a:moveTo>
                  <a:pt x="76200" y="0"/>
                </a:moveTo>
                <a:lnTo>
                  <a:pt x="76200" y="0"/>
                </a:lnTo>
                <a:cubicBezTo>
                  <a:pt x="118256" y="0"/>
                  <a:pt x="152400" y="34144"/>
                  <a:pt x="152400" y="76200"/>
                </a:cubicBezTo>
                <a:lnTo>
                  <a:pt x="152400" y="76200"/>
                </a:lnTo>
                <a:cubicBezTo>
                  <a:pt x="152400" y="118256"/>
                  <a:pt x="118256" y="152400"/>
                  <a:pt x="76200" y="152400"/>
                </a:cubicBezTo>
                <a:lnTo>
                  <a:pt x="76200" y="152400"/>
                </a:lnTo>
                <a:cubicBezTo>
                  <a:pt x="34144" y="152400"/>
                  <a:pt x="0" y="118256"/>
                  <a:pt x="0" y="76200"/>
                </a:cubicBezTo>
                <a:lnTo>
                  <a:pt x="0" y="76200"/>
                </a:lnTo>
                <a:cubicBezTo>
                  <a:pt x="0" y="34144"/>
                  <a:pt x="34144" y="0"/>
                  <a:pt x="76200" y="0"/>
                </a:cubicBezTo>
                <a:close/>
              </a:path>
            </a:pathLst>
          </a:custGeom>
          <a:solidFill>
            <a:srgbClr val="3B82F6"/>
          </a:solidFill>
          <a:ln/>
        </p:spPr>
      </p:sp>
      <p:sp>
        <p:nvSpPr>
          <p:cNvPr id="41" name="Text 39"/>
          <p:cNvSpPr/>
          <p:nvPr/>
        </p:nvSpPr>
        <p:spPr>
          <a:xfrm>
            <a:off x="3954066" y="5486400"/>
            <a:ext cx="75247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MiSans" pitchFamily="34" charset="0"/>
                <a:ea typeface="MiSans" pitchFamily="34" charset="-122"/>
                <a:cs typeface="MiSans" pitchFamily="34" charset="-120"/>
              </a:rPr>
              <a:t>Préparation</a:t>
            </a:r>
            <a:endParaRPr lang="en-US" sz="1600" dirty="0"/>
          </a:p>
        </p:txBody>
      </p:sp>
      <p:sp>
        <p:nvSpPr>
          <p:cNvPr id="42" name="Shape 40"/>
          <p:cNvSpPr/>
          <p:nvPr/>
        </p:nvSpPr>
        <p:spPr>
          <a:xfrm>
            <a:off x="4872186" y="5505450"/>
            <a:ext cx="152400" cy="152400"/>
          </a:xfrm>
          <a:custGeom>
            <a:avLst/>
            <a:gdLst/>
            <a:ahLst/>
            <a:cxnLst/>
            <a:rect l="l" t="t" r="r" b="b"/>
            <a:pathLst>
              <a:path w="152400" h="152400">
                <a:moveTo>
                  <a:pt x="76200" y="0"/>
                </a:moveTo>
                <a:lnTo>
                  <a:pt x="76200" y="0"/>
                </a:lnTo>
                <a:cubicBezTo>
                  <a:pt x="118256" y="0"/>
                  <a:pt x="152400" y="34144"/>
                  <a:pt x="152400" y="76200"/>
                </a:cubicBezTo>
                <a:lnTo>
                  <a:pt x="152400" y="76200"/>
                </a:lnTo>
                <a:cubicBezTo>
                  <a:pt x="152400" y="118256"/>
                  <a:pt x="118256" y="152400"/>
                  <a:pt x="76200" y="152400"/>
                </a:cubicBezTo>
                <a:lnTo>
                  <a:pt x="76200" y="152400"/>
                </a:lnTo>
                <a:cubicBezTo>
                  <a:pt x="34144" y="152400"/>
                  <a:pt x="0" y="118256"/>
                  <a:pt x="0" y="76200"/>
                </a:cubicBezTo>
                <a:lnTo>
                  <a:pt x="0" y="76200"/>
                </a:lnTo>
                <a:cubicBezTo>
                  <a:pt x="0" y="34144"/>
                  <a:pt x="34144" y="0"/>
                  <a:pt x="76200" y="0"/>
                </a:cubicBezTo>
                <a:close/>
              </a:path>
            </a:pathLst>
          </a:custGeom>
          <a:solidFill>
            <a:srgbClr val="8B5CF6"/>
          </a:solidFill>
          <a:ln/>
        </p:spPr>
      </p:sp>
      <p:sp>
        <p:nvSpPr>
          <p:cNvPr id="43" name="Text 41"/>
          <p:cNvSpPr/>
          <p:nvPr/>
        </p:nvSpPr>
        <p:spPr>
          <a:xfrm>
            <a:off x="5100786" y="5486400"/>
            <a:ext cx="66675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MiSans" pitchFamily="34" charset="0"/>
                <a:ea typeface="MiSans" pitchFamily="34" charset="-122"/>
                <a:cs typeface="MiSans" pitchFamily="34" charset="-120"/>
              </a:rPr>
              <a:t>Formation</a:t>
            </a:r>
            <a:endParaRPr lang="en-US" sz="1600" dirty="0"/>
          </a:p>
        </p:txBody>
      </p:sp>
      <p:sp>
        <p:nvSpPr>
          <p:cNvPr id="44" name="Shape 42"/>
          <p:cNvSpPr/>
          <p:nvPr/>
        </p:nvSpPr>
        <p:spPr>
          <a:xfrm>
            <a:off x="5929759" y="5505450"/>
            <a:ext cx="152400" cy="152400"/>
          </a:xfrm>
          <a:custGeom>
            <a:avLst/>
            <a:gdLst/>
            <a:ahLst/>
            <a:cxnLst/>
            <a:rect l="l" t="t" r="r" b="b"/>
            <a:pathLst>
              <a:path w="152400" h="152400">
                <a:moveTo>
                  <a:pt x="76200" y="0"/>
                </a:moveTo>
                <a:lnTo>
                  <a:pt x="76200" y="0"/>
                </a:lnTo>
                <a:cubicBezTo>
                  <a:pt x="118256" y="0"/>
                  <a:pt x="152400" y="34144"/>
                  <a:pt x="152400" y="76200"/>
                </a:cubicBezTo>
                <a:lnTo>
                  <a:pt x="152400" y="76200"/>
                </a:lnTo>
                <a:cubicBezTo>
                  <a:pt x="152400" y="118256"/>
                  <a:pt x="118256" y="152400"/>
                  <a:pt x="76200" y="152400"/>
                </a:cubicBezTo>
                <a:lnTo>
                  <a:pt x="76200" y="152400"/>
                </a:lnTo>
                <a:cubicBezTo>
                  <a:pt x="34144" y="152400"/>
                  <a:pt x="0" y="118256"/>
                  <a:pt x="0" y="76200"/>
                </a:cubicBezTo>
                <a:lnTo>
                  <a:pt x="0" y="76200"/>
                </a:lnTo>
                <a:cubicBezTo>
                  <a:pt x="0" y="34144"/>
                  <a:pt x="34144" y="0"/>
                  <a:pt x="76200" y="0"/>
                </a:cubicBezTo>
                <a:close/>
              </a:path>
            </a:pathLst>
          </a:custGeom>
          <a:solidFill>
            <a:srgbClr val="F97316"/>
          </a:solidFill>
          <a:ln/>
        </p:spPr>
      </p:sp>
      <p:sp>
        <p:nvSpPr>
          <p:cNvPr id="45" name="Text 43"/>
          <p:cNvSpPr/>
          <p:nvPr/>
        </p:nvSpPr>
        <p:spPr>
          <a:xfrm>
            <a:off x="6158359" y="5486400"/>
            <a:ext cx="40005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MiSans" pitchFamily="34" charset="0"/>
                <a:ea typeface="MiSans" pitchFamily="34" charset="-122"/>
                <a:cs typeface="MiSans" pitchFamily="34" charset="-120"/>
              </a:rPr>
              <a:t>Pilote</a:t>
            </a:r>
            <a:endParaRPr lang="en-US" sz="1600" dirty="0"/>
          </a:p>
        </p:txBody>
      </p:sp>
      <p:sp>
        <p:nvSpPr>
          <p:cNvPr id="46" name="Shape 44"/>
          <p:cNvSpPr/>
          <p:nvPr/>
        </p:nvSpPr>
        <p:spPr>
          <a:xfrm>
            <a:off x="6720632" y="5505450"/>
            <a:ext cx="152400" cy="152400"/>
          </a:xfrm>
          <a:custGeom>
            <a:avLst/>
            <a:gdLst/>
            <a:ahLst/>
            <a:cxnLst/>
            <a:rect l="l" t="t" r="r" b="b"/>
            <a:pathLst>
              <a:path w="152400" h="152400">
                <a:moveTo>
                  <a:pt x="76200" y="0"/>
                </a:moveTo>
                <a:lnTo>
                  <a:pt x="76200" y="0"/>
                </a:lnTo>
                <a:cubicBezTo>
                  <a:pt x="118256" y="0"/>
                  <a:pt x="152400" y="34144"/>
                  <a:pt x="152400" y="76200"/>
                </a:cubicBezTo>
                <a:lnTo>
                  <a:pt x="152400" y="76200"/>
                </a:lnTo>
                <a:cubicBezTo>
                  <a:pt x="152400" y="118256"/>
                  <a:pt x="118256" y="152400"/>
                  <a:pt x="76200" y="152400"/>
                </a:cubicBezTo>
                <a:lnTo>
                  <a:pt x="76200" y="152400"/>
                </a:lnTo>
                <a:cubicBezTo>
                  <a:pt x="34144" y="152400"/>
                  <a:pt x="0" y="118256"/>
                  <a:pt x="0" y="76200"/>
                </a:cubicBezTo>
                <a:lnTo>
                  <a:pt x="0" y="76200"/>
                </a:lnTo>
                <a:cubicBezTo>
                  <a:pt x="0" y="34144"/>
                  <a:pt x="34144" y="0"/>
                  <a:pt x="76200" y="0"/>
                </a:cubicBezTo>
                <a:close/>
              </a:path>
            </a:pathLst>
          </a:custGeom>
          <a:solidFill>
            <a:srgbClr val="EC4899"/>
          </a:solidFill>
          <a:ln/>
        </p:spPr>
      </p:sp>
      <p:sp>
        <p:nvSpPr>
          <p:cNvPr id="47" name="Text 45"/>
          <p:cNvSpPr/>
          <p:nvPr/>
        </p:nvSpPr>
        <p:spPr>
          <a:xfrm>
            <a:off x="6949232" y="5486400"/>
            <a:ext cx="54292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MiSans" pitchFamily="34" charset="0"/>
                <a:ea typeface="MiSans" pitchFamily="34" charset="-122"/>
                <a:cs typeface="MiSans" pitchFamily="34" charset="-120"/>
              </a:rPr>
              <a:t>Analyse</a:t>
            </a:r>
            <a:endParaRPr lang="en-US" sz="1600" dirty="0"/>
          </a:p>
        </p:txBody>
      </p:sp>
      <p:sp>
        <p:nvSpPr>
          <p:cNvPr id="48" name="Shape 46"/>
          <p:cNvSpPr/>
          <p:nvPr/>
        </p:nvSpPr>
        <p:spPr>
          <a:xfrm>
            <a:off x="7652296" y="5505450"/>
            <a:ext cx="152400" cy="152400"/>
          </a:xfrm>
          <a:custGeom>
            <a:avLst/>
            <a:gdLst/>
            <a:ahLst/>
            <a:cxnLst/>
            <a:rect l="l" t="t" r="r" b="b"/>
            <a:pathLst>
              <a:path w="152400" h="152400">
                <a:moveTo>
                  <a:pt x="76200" y="0"/>
                </a:moveTo>
                <a:lnTo>
                  <a:pt x="76200" y="0"/>
                </a:lnTo>
                <a:cubicBezTo>
                  <a:pt x="118256" y="0"/>
                  <a:pt x="152400" y="34144"/>
                  <a:pt x="152400" y="76200"/>
                </a:cubicBezTo>
                <a:lnTo>
                  <a:pt x="152400" y="76200"/>
                </a:lnTo>
                <a:cubicBezTo>
                  <a:pt x="152400" y="118256"/>
                  <a:pt x="118256" y="152400"/>
                  <a:pt x="76200" y="152400"/>
                </a:cubicBezTo>
                <a:lnTo>
                  <a:pt x="76200" y="152400"/>
                </a:lnTo>
                <a:cubicBezTo>
                  <a:pt x="34144" y="152400"/>
                  <a:pt x="0" y="118256"/>
                  <a:pt x="0" y="76200"/>
                </a:cubicBezTo>
                <a:lnTo>
                  <a:pt x="0" y="76200"/>
                </a:lnTo>
                <a:cubicBezTo>
                  <a:pt x="0" y="34144"/>
                  <a:pt x="34144" y="0"/>
                  <a:pt x="76200" y="0"/>
                </a:cubicBezTo>
                <a:close/>
              </a:path>
            </a:pathLst>
          </a:custGeom>
          <a:solidFill>
            <a:srgbClr val="10B981"/>
          </a:solidFill>
          <a:ln/>
        </p:spPr>
      </p:sp>
      <p:sp>
        <p:nvSpPr>
          <p:cNvPr id="49" name="Text 47"/>
          <p:cNvSpPr/>
          <p:nvPr/>
        </p:nvSpPr>
        <p:spPr>
          <a:xfrm>
            <a:off x="7880896" y="5486400"/>
            <a:ext cx="64770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MiSans" pitchFamily="34" charset="0"/>
                <a:ea typeface="MiSans" pitchFamily="34" charset="-122"/>
                <a:cs typeface="MiSans" pitchFamily="34" charset="-120"/>
              </a:rPr>
              <a:t>Extension</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6878" y="226127"/>
            <a:ext cx="2044563" cy="339190"/>
          </a:xfrm>
          <a:custGeom>
            <a:avLst/>
            <a:gdLst/>
            <a:ahLst/>
            <a:cxnLst/>
            <a:rect l="l" t="t" r="r" b="b"/>
            <a:pathLst>
              <a:path w="2044563" h="339190">
                <a:moveTo>
                  <a:pt x="169595" y="0"/>
                </a:moveTo>
                <a:lnTo>
                  <a:pt x="1874968" y="0"/>
                </a:lnTo>
                <a:cubicBezTo>
                  <a:pt x="1968632" y="0"/>
                  <a:pt x="2044563" y="75930"/>
                  <a:pt x="2044563" y="169595"/>
                </a:cubicBezTo>
                <a:lnTo>
                  <a:pt x="2044563" y="169595"/>
                </a:lnTo>
                <a:cubicBezTo>
                  <a:pt x="2044563" y="263260"/>
                  <a:pt x="1968632" y="339190"/>
                  <a:pt x="1874968" y="339190"/>
                </a:cubicBezTo>
                <a:lnTo>
                  <a:pt x="169595" y="339190"/>
                </a:lnTo>
                <a:cubicBezTo>
                  <a:pt x="75993" y="339190"/>
                  <a:pt x="0" y="263197"/>
                  <a:pt x="0" y="169595"/>
                </a:cubicBezTo>
                <a:lnTo>
                  <a:pt x="0" y="169595"/>
                </a:lnTo>
                <a:cubicBezTo>
                  <a:pt x="0" y="75993"/>
                  <a:pt x="75993" y="0"/>
                  <a:pt x="169595" y="0"/>
                </a:cubicBezTo>
                <a:close/>
              </a:path>
            </a:pathLst>
          </a:custGeom>
          <a:solidFill>
            <a:srgbClr val="10B981"/>
          </a:solidFill>
          <a:ln/>
        </p:spPr>
      </p:sp>
      <p:sp>
        <p:nvSpPr>
          <p:cNvPr id="3" name="Text 1"/>
          <p:cNvSpPr/>
          <p:nvPr/>
        </p:nvSpPr>
        <p:spPr>
          <a:xfrm>
            <a:off x="527629" y="301502"/>
            <a:ext cx="1809014" cy="188439"/>
          </a:xfrm>
          <a:prstGeom prst="rect">
            <a:avLst/>
          </a:prstGeom>
          <a:noFill/>
          <a:ln/>
        </p:spPr>
        <p:txBody>
          <a:bodyPr wrap="square" lIns="0" tIns="0" rIns="0" bIns="0" rtlCol="0" anchor="ctr"/>
          <a:lstStyle/>
          <a:p>
            <a:pPr>
              <a:lnSpc>
                <a:spcPct val="120000"/>
              </a:lnSpc>
            </a:pPr>
            <a:r>
              <a:rPr lang="en-US" sz="1039" b="1" kern="0" spc="26" dirty="0">
                <a:solidFill>
                  <a:srgbClr val="FFFFFF"/>
                </a:solidFill>
                <a:latin typeface="MiSans" pitchFamily="34" charset="0"/>
                <a:ea typeface="MiSans" pitchFamily="34" charset="-122"/>
                <a:cs typeface="MiSans" pitchFamily="34" charset="-120"/>
              </a:rPr>
              <a:t>LANCEMENT - FEEDBACK</a:t>
            </a:r>
            <a:endParaRPr lang="en-US" sz="1600" dirty="0"/>
          </a:p>
        </p:txBody>
      </p:sp>
      <p:sp>
        <p:nvSpPr>
          <p:cNvPr id="4" name="Text 2"/>
          <p:cNvSpPr/>
          <p:nvPr/>
        </p:nvSpPr>
        <p:spPr>
          <a:xfrm>
            <a:off x="376878" y="979883"/>
            <a:ext cx="11607839" cy="376878"/>
          </a:xfrm>
          <a:prstGeom prst="rect">
            <a:avLst/>
          </a:prstGeom>
          <a:noFill/>
          <a:ln/>
        </p:spPr>
        <p:txBody>
          <a:bodyPr wrap="square" lIns="0" tIns="0" rIns="0" bIns="0" rtlCol="0" anchor="ctr"/>
          <a:lstStyle/>
          <a:p>
            <a:pPr>
              <a:lnSpc>
                <a:spcPct val="90000"/>
              </a:lnSpc>
            </a:pPr>
            <a:r>
              <a:rPr lang="en-US" sz="2671" b="1" dirty="0">
                <a:solidFill>
                  <a:srgbClr val="1E3A8A"/>
                </a:solidFill>
                <a:latin typeface="Noto Sans SC" pitchFamily="34" charset="0"/>
                <a:ea typeface="Noto Sans SC" pitchFamily="34" charset="-122"/>
                <a:cs typeface="Noto Sans SC" pitchFamily="34" charset="-120"/>
              </a:rPr>
              <a:t>Collecte de Feedback &amp; Boucle d'Amélioration</a:t>
            </a:r>
            <a:endParaRPr lang="en-US" sz="1600" dirty="0"/>
          </a:p>
        </p:txBody>
      </p:sp>
      <p:sp>
        <p:nvSpPr>
          <p:cNvPr id="5" name="Shape 3"/>
          <p:cNvSpPr/>
          <p:nvPr/>
        </p:nvSpPr>
        <p:spPr>
          <a:xfrm>
            <a:off x="376878" y="1582887"/>
            <a:ext cx="5568371" cy="678380"/>
          </a:xfrm>
          <a:custGeom>
            <a:avLst/>
            <a:gdLst/>
            <a:ahLst/>
            <a:cxnLst/>
            <a:rect l="l" t="t" r="r" b="b"/>
            <a:pathLst>
              <a:path w="5568371" h="678380">
                <a:moveTo>
                  <a:pt x="150750" y="0"/>
                </a:moveTo>
                <a:lnTo>
                  <a:pt x="5417621" y="0"/>
                </a:lnTo>
                <a:cubicBezTo>
                  <a:pt x="5500878" y="0"/>
                  <a:pt x="5568371" y="67493"/>
                  <a:pt x="5568371" y="150750"/>
                </a:cubicBezTo>
                <a:lnTo>
                  <a:pt x="5568371" y="527631"/>
                </a:lnTo>
                <a:cubicBezTo>
                  <a:pt x="5568371" y="610887"/>
                  <a:pt x="5500878" y="678380"/>
                  <a:pt x="5417621" y="678380"/>
                </a:cubicBezTo>
                <a:lnTo>
                  <a:pt x="150750" y="678380"/>
                </a:lnTo>
                <a:cubicBezTo>
                  <a:pt x="67549" y="678380"/>
                  <a:pt x="0" y="610832"/>
                  <a:pt x="0" y="527631"/>
                </a:cubicBezTo>
                <a:lnTo>
                  <a:pt x="0" y="150750"/>
                </a:lnTo>
                <a:cubicBezTo>
                  <a:pt x="0" y="67549"/>
                  <a:pt x="67549" y="0"/>
                  <a:pt x="150750" y="0"/>
                </a:cubicBezTo>
                <a:close/>
              </a:path>
            </a:pathLst>
          </a:custGeom>
          <a:solidFill>
            <a:srgbClr val="10B981"/>
          </a:solidFill>
          <a:ln/>
        </p:spPr>
      </p:sp>
      <p:sp>
        <p:nvSpPr>
          <p:cNvPr id="6" name="Shape 4"/>
          <p:cNvSpPr/>
          <p:nvPr/>
        </p:nvSpPr>
        <p:spPr>
          <a:xfrm>
            <a:off x="593583" y="1809014"/>
            <a:ext cx="226127" cy="226127"/>
          </a:xfrm>
          <a:custGeom>
            <a:avLst/>
            <a:gdLst/>
            <a:ahLst/>
            <a:cxnLst/>
            <a:rect l="l" t="t" r="r" b="b"/>
            <a:pathLst>
              <a:path w="226127" h="226127">
                <a:moveTo>
                  <a:pt x="212038" y="84798"/>
                </a:moveTo>
                <a:lnTo>
                  <a:pt x="215527" y="84798"/>
                </a:lnTo>
                <a:cubicBezTo>
                  <a:pt x="221401" y="84798"/>
                  <a:pt x="226127" y="80072"/>
                  <a:pt x="226127" y="74198"/>
                </a:cubicBezTo>
                <a:lnTo>
                  <a:pt x="226127" y="10600"/>
                </a:lnTo>
                <a:cubicBezTo>
                  <a:pt x="226127" y="6316"/>
                  <a:pt x="223565" y="2429"/>
                  <a:pt x="219590" y="795"/>
                </a:cubicBezTo>
                <a:cubicBezTo>
                  <a:pt x="215615" y="-839"/>
                  <a:pt x="211066" y="88"/>
                  <a:pt x="208019" y="3092"/>
                </a:cubicBezTo>
                <a:lnTo>
                  <a:pt x="185185" y="25969"/>
                </a:lnTo>
                <a:cubicBezTo>
                  <a:pt x="165620" y="9761"/>
                  <a:pt x="140446" y="0"/>
                  <a:pt x="113063" y="0"/>
                </a:cubicBezTo>
                <a:cubicBezTo>
                  <a:pt x="56090" y="0"/>
                  <a:pt x="8966" y="42134"/>
                  <a:pt x="1148" y="96943"/>
                </a:cubicBezTo>
                <a:cubicBezTo>
                  <a:pt x="44" y="104672"/>
                  <a:pt x="5388" y="111827"/>
                  <a:pt x="13117" y="112931"/>
                </a:cubicBezTo>
                <a:cubicBezTo>
                  <a:pt x="20846" y="114035"/>
                  <a:pt x="28001" y="108647"/>
                  <a:pt x="29105" y="100962"/>
                </a:cubicBezTo>
                <a:cubicBezTo>
                  <a:pt x="34979" y="59844"/>
                  <a:pt x="70355" y="28266"/>
                  <a:pt x="113063" y="28266"/>
                </a:cubicBezTo>
                <a:cubicBezTo>
                  <a:pt x="132673" y="28266"/>
                  <a:pt x="150692" y="34891"/>
                  <a:pt x="165046" y="46064"/>
                </a:cubicBezTo>
                <a:lnTo>
                  <a:pt x="144421" y="66690"/>
                </a:lnTo>
                <a:cubicBezTo>
                  <a:pt x="141373" y="69737"/>
                  <a:pt x="140490" y="74286"/>
                  <a:pt x="142124" y="78261"/>
                </a:cubicBezTo>
                <a:cubicBezTo>
                  <a:pt x="143758" y="82236"/>
                  <a:pt x="147645" y="84798"/>
                  <a:pt x="151929" y="84798"/>
                </a:cubicBezTo>
                <a:lnTo>
                  <a:pt x="212038" y="84798"/>
                </a:lnTo>
                <a:close/>
                <a:moveTo>
                  <a:pt x="225023" y="129184"/>
                </a:moveTo>
                <a:cubicBezTo>
                  <a:pt x="226127" y="121455"/>
                  <a:pt x="220739" y="114300"/>
                  <a:pt x="213054" y="113196"/>
                </a:cubicBezTo>
                <a:cubicBezTo>
                  <a:pt x="205369" y="112092"/>
                  <a:pt x="198170" y="117480"/>
                  <a:pt x="197066" y="125165"/>
                </a:cubicBezTo>
                <a:cubicBezTo>
                  <a:pt x="191192" y="166238"/>
                  <a:pt x="155815" y="197817"/>
                  <a:pt x="113108" y="197817"/>
                </a:cubicBezTo>
                <a:cubicBezTo>
                  <a:pt x="93498" y="197817"/>
                  <a:pt x="75479" y="191192"/>
                  <a:pt x="61125" y="180018"/>
                </a:cubicBezTo>
                <a:lnTo>
                  <a:pt x="81706" y="159437"/>
                </a:lnTo>
                <a:cubicBezTo>
                  <a:pt x="84753" y="156390"/>
                  <a:pt x="85637" y="151841"/>
                  <a:pt x="84003" y="147866"/>
                </a:cubicBezTo>
                <a:cubicBezTo>
                  <a:pt x="82368" y="143891"/>
                  <a:pt x="78482" y="141329"/>
                  <a:pt x="74198" y="141329"/>
                </a:cubicBezTo>
                <a:lnTo>
                  <a:pt x="10600" y="141329"/>
                </a:lnTo>
                <a:cubicBezTo>
                  <a:pt x="4726" y="141329"/>
                  <a:pt x="0" y="146055"/>
                  <a:pt x="0" y="151929"/>
                </a:cubicBezTo>
                <a:lnTo>
                  <a:pt x="0" y="215527"/>
                </a:lnTo>
                <a:cubicBezTo>
                  <a:pt x="0" y="219811"/>
                  <a:pt x="2562" y="223698"/>
                  <a:pt x="6536" y="225332"/>
                </a:cubicBezTo>
                <a:cubicBezTo>
                  <a:pt x="10511" y="226966"/>
                  <a:pt x="15060" y="226038"/>
                  <a:pt x="18108" y="223035"/>
                </a:cubicBezTo>
                <a:lnTo>
                  <a:pt x="40985" y="200157"/>
                </a:lnTo>
                <a:cubicBezTo>
                  <a:pt x="60507" y="216366"/>
                  <a:pt x="85681" y="226127"/>
                  <a:pt x="113063" y="226127"/>
                </a:cubicBezTo>
                <a:cubicBezTo>
                  <a:pt x="170037" y="226127"/>
                  <a:pt x="217161" y="183993"/>
                  <a:pt x="224978" y="129184"/>
                </a:cubicBezTo>
                <a:close/>
              </a:path>
            </a:pathLst>
          </a:custGeom>
          <a:solidFill>
            <a:srgbClr val="FFFFFF"/>
          </a:solidFill>
          <a:ln/>
        </p:spPr>
      </p:sp>
      <p:sp>
        <p:nvSpPr>
          <p:cNvPr id="7" name="Text 5"/>
          <p:cNvSpPr/>
          <p:nvPr/>
        </p:nvSpPr>
        <p:spPr>
          <a:xfrm>
            <a:off x="961039" y="1771326"/>
            <a:ext cx="2515660" cy="301502"/>
          </a:xfrm>
          <a:prstGeom prst="rect">
            <a:avLst/>
          </a:prstGeom>
          <a:noFill/>
          <a:ln/>
        </p:spPr>
        <p:txBody>
          <a:bodyPr wrap="square" lIns="0" tIns="0" rIns="0" bIns="0" rtlCol="0" anchor="ctr"/>
          <a:lstStyle/>
          <a:p>
            <a:pPr>
              <a:lnSpc>
                <a:spcPct val="110000"/>
              </a:lnSpc>
            </a:pPr>
            <a:r>
              <a:rPr lang="en-US" sz="1781" b="1" dirty="0">
                <a:solidFill>
                  <a:srgbClr val="FFFFFF"/>
                </a:solidFill>
                <a:latin typeface="Noto Sans SC" pitchFamily="34" charset="0"/>
                <a:ea typeface="Noto Sans SC" pitchFamily="34" charset="-122"/>
                <a:cs typeface="Noto Sans SC" pitchFamily="34" charset="-120"/>
              </a:rPr>
              <a:t>Boucle de Rétroaction</a:t>
            </a:r>
            <a:endParaRPr lang="en-US" sz="1600" dirty="0"/>
          </a:p>
        </p:txBody>
      </p:sp>
      <p:sp>
        <p:nvSpPr>
          <p:cNvPr id="8" name="Shape 6"/>
          <p:cNvSpPr/>
          <p:nvPr/>
        </p:nvSpPr>
        <p:spPr>
          <a:xfrm>
            <a:off x="376878" y="2412019"/>
            <a:ext cx="5568371" cy="3542652"/>
          </a:xfrm>
          <a:custGeom>
            <a:avLst/>
            <a:gdLst/>
            <a:ahLst/>
            <a:cxnLst/>
            <a:rect l="l" t="t" r="r" b="b"/>
            <a:pathLst>
              <a:path w="5568371" h="3542652">
                <a:moveTo>
                  <a:pt x="150740" y="0"/>
                </a:moveTo>
                <a:lnTo>
                  <a:pt x="5417631" y="0"/>
                </a:lnTo>
                <a:cubicBezTo>
                  <a:pt x="5500882" y="0"/>
                  <a:pt x="5568371" y="67489"/>
                  <a:pt x="5568371" y="150740"/>
                </a:cubicBezTo>
                <a:lnTo>
                  <a:pt x="5568371" y="3391912"/>
                </a:lnTo>
                <a:cubicBezTo>
                  <a:pt x="5568371" y="3475164"/>
                  <a:pt x="5500882" y="3542652"/>
                  <a:pt x="5417631" y="3542652"/>
                </a:cubicBezTo>
                <a:lnTo>
                  <a:pt x="150740" y="3542652"/>
                </a:lnTo>
                <a:cubicBezTo>
                  <a:pt x="67489" y="3542652"/>
                  <a:pt x="0" y="3475164"/>
                  <a:pt x="0" y="3391912"/>
                </a:cubicBezTo>
                <a:lnTo>
                  <a:pt x="0" y="150740"/>
                </a:lnTo>
                <a:cubicBezTo>
                  <a:pt x="0" y="67544"/>
                  <a:pt x="67544" y="0"/>
                  <a:pt x="150740" y="0"/>
                </a:cubicBezTo>
                <a:close/>
              </a:path>
            </a:pathLst>
          </a:custGeom>
          <a:solidFill>
            <a:srgbClr val="F3F4F6"/>
          </a:solidFill>
          <a:ln/>
        </p:spPr>
      </p:sp>
      <p:sp>
        <p:nvSpPr>
          <p:cNvPr id="9" name="Shape 7"/>
          <p:cNvSpPr/>
          <p:nvPr/>
        </p:nvSpPr>
        <p:spPr>
          <a:xfrm>
            <a:off x="2492547" y="2647567"/>
            <a:ext cx="1337917" cy="621849"/>
          </a:xfrm>
          <a:custGeom>
            <a:avLst/>
            <a:gdLst/>
            <a:ahLst/>
            <a:cxnLst/>
            <a:rect l="l" t="t" r="r" b="b"/>
            <a:pathLst>
              <a:path w="1337917" h="621849">
                <a:moveTo>
                  <a:pt x="113065" y="0"/>
                </a:moveTo>
                <a:lnTo>
                  <a:pt x="1224852" y="0"/>
                </a:lnTo>
                <a:cubicBezTo>
                  <a:pt x="1287254" y="0"/>
                  <a:pt x="1337917" y="50663"/>
                  <a:pt x="1337917" y="113065"/>
                </a:cubicBezTo>
                <a:lnTo>
                  <a:pt x="1337917" y="508784"/>
                </a:lnTo>
                <a:cubicBezTo>
                  <a:pt x="1337917" y="571186"/>
                  <a:pt x="1287254" y="621849"/>
                  <a:pt x="1224852" y="621849"/>
                </a:cubicBezTo>
                <a:lnTo>
                  <a:pt x="113065" y="621849"/>
                </a:lnTo>
                <a:cubicBezTo>
                  <a:pt x="50663" y="621849"/>
                  <a:pt x="0" y="571186"/>
                  <a:pt x="0" y="508784"/>
                </a:cubicBezTo>
                <a:lnTo>
                  <a:pt x="0" y="113065"/>
                </a:lnTo>
                <a:cubicBezTo>
                  <a:pt x="0" y="50663"/>
                  <a:pt x="50663" y="0"/>
                  <a:pt x="113065" y="0"/>
                </a:cubicBezTo>
                <a:close/>
              </a:path>
            </a:pathLst>
          </a:custGeom>
          <a:solidFill>
            <a:srgbClr val="FFFFFF"/>
          </a:solidFill>
          <a:ln w="25400">
            <a:solidFill>
              <a:srgbClr val="8B5CF6"/>
            </a:solidFill>
            <a:prstDash val="solid"/>
          </a:ln>
          <a:effectLst>
            <a:outerShdw blurRad="141329" dist="94219" dir="5400000" algn="bl" rotWithShape="0">
              <a:srgbClr val="000000">
                <a:alpha val="10196"/>
              </a:srgbClr>
            </a:outerShdw>
          </a:effectLst>
        </p:spPr>
      </p:sp>
      <p:sp>
        <p:nvSpPr>
          <p:cNvPr id="10" name="Shape 8"/>
          <p:cNvSpPr/>
          <p:nvPr/>
        </p:nvSpPr>
        <p:spPr>
          <a:xfrm>
            <a:off x="3079063" y="2770053"/>
            <a:ext cx="164884" cy="188439"/>
          </a:xfrm>
          <a:custGeom>
            <a:avLst/>
            <a:gdLst/>
            <a:ahLst/>
            <a:cxnLst/>
            <a:rect l="l" t="t" r="r" b="b"/>
            <a:pathLst>
              <a:path w="164884" h="188439">
                <a:moveTo>
                  <a:pt x="82442" y="91275"/>
                </a:moveTo>
                <a:cubicBezTo>
                  <a:pt x="106818" y="91275"/>
                  <a:pt x="126607" y="71485"/>
                  <a:pt x="126607" y="47110"/>
                </a:cubicBezTo>
                <a:cubicBezTo>
                  <a:pt x="126607" y="22734"/>
                  <a:pt x="106818" y="2944"/>
                  <a:pt x="82442" y="2944"/>
                </a:cubicBezTo>
                <a:cubicBezTo>
                  <a:pt x="58067" y="2944"/>
                  <a:pt x="38277" y="22734"/>
                  <a:pt x="38277" y="47110"/>
                </a:cubicBezTo>
                <a:cubicBezTo>
                  <a:pt x="38277" y="71485"/>
                  <a:pt x="58067" y="91275"/>
                  <a:pt x="82442" y="91275"/>
                </a:cubicBezTo>
                <a:close/>
                <a:moveTo>
                  <a:pt x="71511" y="111886"/>
                </a:moveTo>
                <a:cubicBezTo>
                  <a:pt x="35259" y="111886"/>
                  <a:pt x="5889" y="141256"/>
                  <a:pt x="5889" y="177508"/>
                </a:cubicBezTo>
                <a:cubicBezTo>
                  <a:pt x="5889" y="183544"/>
                  <a:pt x="10784" y="188439"/>
                  <a:pt x="16820" y="188439"/>
                </a:cubicBezTo>
                <a:lnTo>
                  <a:pt x="148064" y="188439"/>
                </a:lnTo>
                <a:cubicBezTo>
                  <a:pt x="154100" y="188439"/>
                  <a:pt x="158995" y="183544"/>
                  <a:pt x="158995" y="177508"/>
                </a:cubicBezTo>
                <a:cubicBezTo>
                  <a:pt x="158995" y="141256"/>
                  <a:pt x="129625" y="111886"/>
                  <a:pt x="93373" y="111886"/>
                </a:cubicBezTo>
                <a:lnTo>
                  <a:pt x="71511" y="111886"/>
                </a:lnTo>
                <a:close/>
              </a:path>
            </a:pathLst>
          </a:custGeom>
          <a:solidFill>
            <a:srgbClr val="8B5CF6"/>
          </a:solidFill>
          <a:ln/>
        </p:spPr>
      </p:sp>
      <p:sp>
        <p:nvSpPr>
          <p:cNvPr id="11" name="Text 9"/>
          <p:cNvSpPr/>
          <p:nvPr/>
        </p:nvSpPr>
        <p:spPr>
          <a:xfrm>
            <a:off x="2586766" y="2996179"/>
            <a:ext cx="1149478" cy="150751"/>
          </a:xfrm>
          <a:prstGeom prst="rect">
            <a:avLst/>
          </a:prstGeom>
          <a:noFill/>
          <a:ln/>
        </p:spPr>
        <p:txBody>
          <a:bodyPr wrap="square" lIns="0" tIns="0" rIns="0" bIns="0" rtlCol="0" anchor="ctr"/>
          <a:lstStyle/>
          <a:p>
            <a:pPr algn="ctr">
              <a:lnSpc>
                <a:spcPct val="110000"/>
              </a:lnSpc>
            </a:pPr>
            <a:r>
              <a:rPr lang="en-US" sz="890" b="1" dirty="0">
                <a:solidFill>
                  <a:srgbClr val="374151"/>
                </a:solidFill>
                <a:latin typeface="MiSans" pitchFamily="34" charset="0"/>
                <a:ea typeface="MiSans" pitchFamily="34" charset="-122"/>
                <a:cs typeface="MiSans" pitchFamily="34" charset="-120"/>
              </a:rPr>
              <a:t>Sophie utilise FQA</a:t>
            </a:r>
            <a:endParaRPr lang="en-US" sz="1600" dirty="0"/>
          </a:p>
        </p:txBody>
      </p:sp>
      <p:sp>
        <p:nvSpPr>
          <p:cNvPr id="12" name="Shape 10"/>
          <p:cNvSpPr/>
          <p:nvPr/>
        </p:nvSpPr>
        <p:spPr>
          <a:xfrm>
            <a:off x="4372814" y="3420167"/>
            <a:ext cx="1337917" cy="772600"/>
          </a:xfrm>
          <a:custGeom>
            <a:avLst/>
            <a:gdLst/>
            <a:ahLst/>
            <a:cxnLst/>
            <a:rect l="l" t="t" r="r" b="b"/>
            <a:pathLst>
              <a:path w="1337917" h="772600">
                <a:moveTo>
                  <a:pt x="113062" y="0"/>
                </a:moveTo>
                <a:lnTo>
                  <a:pt x="1224854" y="0"/>
                </a:lnTo>
                <a:cubicBezTo>
                  <a:pt x="1287297" y="0"/>
                  <a:pt x="1337917" y="50620"/>
                  <a:pt x="1337917" y="113062"/>
                </a:cubicBezTo>
                <a:lnTo>
                  <a:pt x="1337917" y="659537"/>
                </a:lnTo>
                <a:cubicBezTo>
                  <a:pt x="1337917" y="721980"/>
                  <a:pt x="1287297" y="772600"/>
                  <a:pt x="1224854" y="772600"/>
                </a:cubicBezTo>
                <a:lnTo>
                  <a:pt x="113062" y="772600"/>
                </a:lnTo>
                <a:cubicBezTo>
                  <a:pt x="50620" y="772600"/>
                  <a:pt x="0" y="721980"/>
                  <a:pt x="0" y="659537"/>
                </a:cubicBezTo>
                <a:lnTo>
                  <a:pt x="0" y="113062"/>
                </a:lnTo>
                <a:cubicBezTo>
                  <a:pt x="0" y="50661"/>
                  <a:pt x="50661" y="0"/>
                  <a:pt x="113062" y="0"/>
                </a:cubicBezTo>
                <a:close/>
              </a:path>
            </a:pathLst>
          </a:custGeom>
          <a:solidFill>
            <a:srgbClr val="FFFFFF"/>
          </a:solidFill>
          <a:ln w="25400">
            <a:solidFill>
              <a:srgbClr val="10B981"/>
            </a:solidFill>
            <a:prstDash val="solid"/>
          </a:ln>
          <a:effectLst>
            <a:outerShdw blurRad="141329" dist="94219" dir="5400000" algn="bl" rotWithShape="0">
              <a:srgbClr val="000000">
                <a:alpha val="10196"/>
              </a:srgbClr>
            </a:outerShdw>
          </a:effectLst>
        </p:spPr>
      </p:sp>
      <p:sp>
        <p:nvSpPr>
          <p:cNvPr id="13" name="Shape 11"/>
          <p:cNvSpPr/>
          <p:nvPr/>
        </p:nvSpPr>
        <p:spPr>
          <a:xfrm>
            <a:off x="4947553" y="3542652"/>
            <a:ext cx="188439" cy="188439"/>
          </a:xfrm>
          <a:custGeom>
            <a:avLst/>
            <a:gdLst/>
            <a:ahLst/>
            <a:cxnLst/>
            <a:rect l="l" t="t" r="r" b="b"/>
            <a:pathLst>
              <a:path w="188439" h="188439">
                <a:moveTo>
                  <a:pt x="44165" y="20611"/>
                </a:moveTo>
                <a:cubicBezTo>
                  <a:pt x="44165" y="9238"/>
                  <a:pt x="53403" y="0"/>
                  <a:pt x="64776" y="0"/>
                </a:cubicBezTo>
                <a:lnTo>
                  <a:pt x="73609" y="0"/>
                </a:lnTo>
                <a:cubicBezTo>
                  <a:pt x="80123" y="0"/>
                  <a:pt x="85386" y="5263"/>
                  <a:pt x="85386" y="11777"/>
                </a:cubicBezTo>
                <a:lnTo>
                  <a:pt x="85386" y="176662"/>
                </a:lnTo>
                <a:cubicBezTo>
                  <a:pt x="85386" y="183176"/>
                  <a:pt x="80123" y="188439"/>
                  <a:pt x="73609" y="188439"/>
                </a:cubicBezTo>
                <a:lnTo>
                  <a:pt x="61832" y="188439"/>
                </a:lnTo>
                <a:cubicBezTo>
                  <a:pt x="50864" y="188439"/>
                  <a:pt x="41626" y="180931"/>
                  <a:pt x="39013" y="170773"/>
                </a:cubicBezTo>
                <a:cubicBezTo>
                  <a:pt x="38755" y="170773"/>
                  <a:pt x="38534" y="170773"/>
                  <a:pt x="38277" y="170773"/>
                </a:cubicBezTo>
                <a:cubicBezTo>
                  <a:pt x="22009" y="170773"/>
                  <a:pt x="8833" y="157597"/>
                  <a:pt x="8833" y="141329"/>
                </a:cubicBezTo>
                <a:cubicBezTo>
                  <a:pt x="8833" y="134704"/>
                  <a:pt x="11041" y="128595"/>
                  <a:pt x="14722" y="123663"/>
                </a:cubicBezTo>
                <a:cubicBezTo>
                  <a:pt x="7582" y="118290"/>
                  <a:pt x="2944" y="109751"/>
                  <a:pt x="2944" y="100108"/>
                </a:cubicBezTo>
                <a:cubicBezTo>
                  <a:pt x="2944" y="88736"/>
                  <a:pt x="9422" y="78835"/>
                  <a:pt x="18844" y="73940"/>
                </a:cubicBezTo>
                <a:cubicBezTo>
                  <a:pt x="16231" y="69524"/>
                  <a:pt x="14722" y="64371"/>
                  <a:pt x="14722" y="58887"/>
                </a:cubicBezTo>
                <a:cubicBezTo>
                  <a:pt x="14722" y="42620"/>
                  <a:pt x="27898" y="29444"/>
                  <a:pt x="44165" y="29444"/>
                </a:cubicBezTo>
                <a:lnTo>
                  <a:pt x="44165" y="20611"/>
                </a:lnTo>
                <a:close/>
                <a:moveTo>
                  <a:pt x="144274" y="20611"/>
                </a:moveTo>
                <a:lnTo>
                  <a:pt x="144274" y="29444"/>
                </a:lnTo>
                <a:cubicBezTo>
                  <a:pt x="160541" y="29444"/>
                  <a:pt x="173717" y="42620"/>
                  <a:pt x="173717" y="58887"/>
                </a:cubicBezTo>
                <a:cubicBezTo>
                  <a:pt x="173717" y="64408"/>
                  <a:pt x="172208" y="69560"/>
                  <a:pt x="169595" y="73940"/>
                </a:cubicBezTo>
                <a:cubicBezTo>
                  <a:pt x="179054" y="78835"/>
                  <a:pt x="185495" y="88699"/>
                  <a:pt x="185495" y="100108"/>
                </a:cubicBezTo>
                <a:cubicBezTo>
                  <a:pt x="185495" y="109751"/>
                  <a:pt x="180857" y="118290"/>
                  <a:pt x="173717" y="123663"/>
                </a:cubicBezTo>
                <a:cubicBezTo>
                  <a:pt x="177398" y="128595"/>
                  <a:pt x="179606" y="134704"/>
                  <a:pt x="179606" y="141329"/>
                </a:cubicBezTo>
                <a:cubicBezTo>
                  <a:pt x="179606" y="157597"/>
                  <a:pt x="166430" y="170773"/>
                  <a:pt x="150162" y="170773"/>
                </a:cubicBezTo>
                <a:cubicBezTo>
                  <a:pt x="149905" y="170773"/>
                  <a:pt x="149684" y="170773"/>
                  <a:pt x="149426" y="170773"/>
                </a:cubicBezTo>
                <a:cubicBezTo>
                  <a:pt x="146813" y="180931"/>
                  <a:pt x="137575" y="188439"/>
                  <a:pt x="126607" y="188439"/>
                </a:cubicBezTo>
                <a:lnTo>
                  <a:pt x="114830" y="188439"/>
                </a:lnTo>
                <a:cubicBezTo>
                  <a:pt x="108316" y="188439"/>
                  <a:pt x="103053" y="183176"/>
                  <a:pt x="103053" y="176662"/>
                </a:cubicBezTo>
                <a:lnTo>
                  <a:pt x="103053" y="11777"/>
                </a:lnTo>
                <a:cubicBezTo>
                  <a:pt x="103053" y="5263"/>
                  <a:pt x="108316" y="0"/>
                  <a:pt x="114830" y="0"/>
                </a:cubicBezTo>
                <a:lnTo>
                  <a:pt x="123663" y="0"/>
                </a:lnTo>
                <a:cubicBezTo>
                  <a:pt x="135036" y="0"/>
                  <a:pt x="144274" y="9238"/>
                  <a:pt x="144274" y="20611"/>
                </a:cubicBezTo>
                <a:close/>
              </a:path>
            </a:pathLst>
          </a:custGeom>
          <a:solidFill>
            <a:srgbClr val="10B981"/>
          </a:solidFill>
          <a:ln/>
        </p:spPr>
      </p:sp>
      <p:sp>
        <p:nvSpPr>
          <p:cNvPr id="14" name="Text 12"/>
          <p:cNvSpPr/>
          <p:nvPr/>
        </p:nvSpPr>
        <p:spPr>
          <a:xfrm>
            <a:off x="4467034" y="3768779"/>
            <a:ext cx="1149478" cy="301502"/>
          </a:xfrm>
          <a:prstGeom prst="rect">
            <a:avLst/>
          </a:prstGeom>
          <a:noFill/>
          <a:ln/>
        </p:spPr>
        <p:txBody>
          <a:bodyPr wrap="square" lIns="0" tIns="0" rIns="0" bIns="0" rtlCol="0" anchor="ctr"/>
          <a:lstStyle/>
          <a:p>
            <a:pPr algn="ctr">
              <a:lnSpc>
                <a:spcPct val="110000"/>
              </a:lnSpc>
            </a:pPr>
            <a:r>
              <a:rPr lang="en-US" sz="890" b="1" dirty="0">
                <a:solidFill>
                  <a:srgbClr val="374151"/>
                </a:solidFill>
                <a:latin typeface="MiSans" pitchFamily="34" charset="0"/>
                <a:ea typeface="MiSans" pitchFamily="34" charset="-122"/>
                <a:cs typeface="MiSans" pitchFamily="34" charset="-120"/>
              </a:rPr>
              <a:t>IA prédit OK/NOK + heatmap</a:t>
            </a:r>
            <a:endParaRPr lang="en-US" sz="1600" dirty="0"/>
          </a:p>
        </p:txBody>
      </p:sp>
      <p:sp>
        <p:nvSpPr>
          <p:cNvPr id="15" name="Shape 13"/>
          <p:cNvSpPr/>
          <p:nvPr/>
        </p:nvSpPr>
        <p:spPr>
          <a:xfrm>
            <a:off x="4372814" y="4173923"/>
            <a:ext cx="1337917" cy="772600"/>
          </a:xfrm>
          <a:custGeom>
            <a:avLst/>
            <a:gdLst/>
            <a:ahLst/>
            <a:cxnLst/>
            <a:rect l="l" t="t" r="r" b="b"/>
            <a:pathLst>
              <a:path w="1337917" h="772600">
                <a:moveTo>
                  <a:pt x="113062" y="0"/>
                </a:moveTo>
                <a:lnTo>
                  <a:pt x="1224854" y="0"/>
                </a:lnTo>
                <a:cubicBezTo>
                  <a:pt x="1287297" y="0"/>
                  <a:pt x="1337917" y="50620"/>
                  <a:pt x="1337917" y="113062"/>
                </a:cubicBezTo>
                <a:lnTo>
                  <a:pt x="1337917" y="659537"/>
                </a:lnTo>
                <a:cubicBezTo>
                  <a:pt x="1337917" y="721980"/>
                  <a:pt x="1287297" y="772600"/>
                  <a:pt x="1224854" y="772600"/>
                </a:cubicBezTo>
                <a:lnTo>
                  <a:pt x="113062" y="772600"/>
                </a:lnTo>
                <a:cubicBezTo>
                  <a:pt x="50620" y="772600"/>
                  <a:pt x="0" y="721980"/>
                  <a:pt x="0" y="659537"/>
                </a:cubicBezTo>
                <a:lnTo>
                  <a:pt x="0" y="113062"/>
                </a:lnTo>
                <a:cubicBezTo>
                  <a:pt x="0" y="50661"/>
                  <a:pt x="50661" y="0"/>
                  <a:pt x="113062" y="0"/>
                </a:cubicBezTo>
                <a:close/>
              </a:path>
            </a:pathLst>
          </a:custGeom>
          <a:solidFill>
            <a:srgbClr val="FFFFFF"/>
          </a:solidFill>
          <a:ln w="25400">
            <a:solidFill>
              <a:srgbClr val="3B82F6"/>
            </a:solidFill>
            <a:prstDash val="solid"/>
          </a:ln>
          <a:effectLst>
            <a:outerShdw blurRad="141329" dist="94219" dir="5400000" algn="bl" rotWithShape="0">
              <a:srgbClr val="000000">
                <a:alpha val="10196"/>
              </a:srgbClr>
            </a:outerShdw>
          </a:effectLst>
        </p:spPr>
      </p:sp>
      <p:sp>
        <p:nvSpPr>
          <p:cNvPr id="16" name="Shape 14"/>
          <p:cNvSpPr/>
          <p:nvPr/>
        </p:nvSpPr>
        <p:spPr>
          <a:xfrm>
            <a:off x="4947553" y="4296408"/>
            <a:ext cx="188439" cy="188439"/>
          </a:xfrm>
          <a:custGeom>
            <a:avLst/>
            <a:gdLst/>
            <a:ahLst/>
            <a:cxnLst/>
            <a:rect l="l" t="t" r="r" b="b"/>
            <a:pathLst>
              <a:path w="188439" h="188439">
                <a:moveTo>
                  <a:pt x="94219" y="188439"/>
                </a:moveTo>
                <a:cubicBezTo>
                  <a:pt x="146221" y="188439"/>
                  <a:pt x="188439" y="146221"/>
                  <a:pt x="188439" y="94219"/>
                </a:cubicBezTo>
                <a:cubicBezTo>
                  <a:pt x="188439" y="42218"/>
                  <a:pt x="146221" y="0"/>
                  <a:pt x="94219" y="0"/>
                </a:cubicBezTo>
                <a:cubicBezTo>
                  <a:pt x="42218" y="0"/>
                  <a:pt x="0" y="42218"/>
                  <a:pt x="0" y="94219"/>
                </a:cubicBezTo>
                <a:cubicBezTo>
                  <a:pt x="0" y="146221"/>
                  <a:pt x="42218" y="188439"/>
                  <a:pt x="94219" y="188439"/>
                </a:cubicBezTo>
                <a:close/>
                <a:moveTo>
                  <a:pt x="125282" y="78283"/>
                </a:moveTo>
                <a:lnTo>
                  <a:pt x="95839" y="125393"/>
                </a:lnTo>
                <a:cubicBezTo>
                  <a:pt x="94293" y="127859"/>
                  <a:pt x="91643" y="129405"/>
                  <a:pt x="88736" y="129552"/>
                </a:cubicBezTo>
                <a:cubicBezTo>
                  <a:pt x="85828" y="129699"/>
                  <a:pt x="83031" y="128374"/>
                  <a:pt x="81301" y="126019"/>
                </a:cubicBezTo>
                <a:lnTo>
                  <a:pt x="63635" y="102464"/>
                </a:lnTo>
                <a:cubicBezTo>
                  <a:pt x="60691" y="98562"/>
                  <a:pt x="61500" y="93042"/>
                  <a:pt x="65402" y="90097"/>
                </a:cubicBezTo>
                <a:cubicBezTo>
                  <a:pt x="69303" y="87153"/>
                  <a:pt x="74824" y="87963"/>
                  <a:pt x="77768" y="91864"/>
                </a:cubicBezTo>
                <a:lnTo>
                  <a:pt x="87705" y="105114"/>
                </a:lnTo>
                <a:lnTo>
                  <a:pt x="110303" y="68935"/>
                </a:lnTo>
                <a:cubicBezTo>
                  <a:pt x="112879" y="64813"/>
                  <a:pt x="118326" y="63525"/>
                  <a:pt x="122485" y="66138"/>
                </a:cubicBezTo>
                <a:cubicBezTo>
                  <a:pt x="126644" y="68751"/>
                  <a:pt x="127896" y="74161"/>
                  <a:pt x="125282" y="78320"/>
                </a:cubicBezTo>
                <a:close/>
              </a:path>
            </a:pathLst>
          </a:custGeom>
          <a:solidFill>
            <a:srgbClr val="3B82F6"/>
          </a:solidFill>
          <a:ln/>
        </p:spPr>
      </p:sp>
      <p:sp>
        <p:nvSpPr>
          <p:cNvPr id="17" name="Text 15"/>
          <p:cNvSpPr/>
          <p:nvPr/>
        </p:nvSpPr>
        <p:spPr>
          <a:xfrm>
            <a:off x="4467034" y="4522535"/>
            <a:ext cx="1149478" cy="301502"/>
          </a:xfrm>
          <a:prstGeom prst="rect">
            <a:avLst/>
          </a:prstGeom>
          <a:noFill/>
          <a:ln/>
        </p:spPr>
        <p:txBody>
          <a:bodyPr wrap="square" lIns="0" tIns="0" rIns="0" bIns="0" rtlCol="0" anchor="ctr"/>
          <a:lstStyle/>
          <a:p>
            <a:pPr algn="ctr">
              <a:lnSpc>
                <a:spcPct val="110000"/>
              </a:lnSpc>
            </a:pPr>
            <a:r>
              <a:rPr lang="en-US" sz="890" b="1" dirty="0">
                <a:solidFill>
                  <a:srgbClr val="374151"/>
                </a:solidFill>
                <a:latin typeface="MiSans" pitchFamily="34" charset="0"/>
                <a:ea typeface="MiSans" pitchFamily="34" charset="-122"/>
                <a:cs typeface="MiSans" pitchFamily="34" charset="-120"/>
              </a:rPr>
              <a:t>Sophie valide ou corrige</a:t>
            </a:r>
            <a:endParaRPr lang="en-US" sz="1600" dirty="0"/>
          </a:p>
        </p:txBody>
      </p:sp>
      <p:sp>
        <p:nvSpPr>
          <p:cNvPr id="18" name="Shape 16"/>
          <p:cNvSpPr/>
          <p:nvPr/>
        </p:nvSpPr>
        <p:spPr>
          <a:xfrm>
            <a:off x="2492547" y="4795771"/>
            <a:ext cx="1337917" cy="923351"/>
          </a:xfrm>
          <a:custGeom>
            <a:avLst/>
            <a:gdLst/>
            <a:ahLst/>
            <a:cxnLst/>
            <a:rect l="l" t="t" r="r" b="b"/>
            <a:pathLst>
              <a:path w="1337917" h="923351">
                <a:moveTo>
                  <a:pt x="113064" y="0"/>
                </a:moveTo>
                <a:lnTo>
                  <a:pt x="1224852" y="0"/>
                </a:lnTo>
                <a:cubicBezTo>
                  <a:pt x="1287296" y="0"/>
                  <a:pt x="1337917" y="50621"/>
                  <a:pt x="1337917" y="113064"/>
                </a:cubicBezTo>
                <a:lnTo>
                  <a:pt x="1337917" y="810287"/>
                </a:lnTo>
                <a:cubicBezTo>
                  <a:pt x="1337917" y="872730"/>
                  <a:pt x="1287296" y="923351"/>
                  <a:pt x="1224852" y="923351"/>
                </a:cubicBezTo>
                <a:lnTo>
                  <a:pt x="113064" y="923351"/>
                </a:lnTo>
                <a:cubicBezTo>
                  <a:pt x="50621" y="923351"/>
                  <a:pt x="0" y="872730"/>
                  <a:pt x="0" y="810287"/>
                </a:cubicBezTo>
                <a:lnTo>
                  <a:pt x="0" y="113064"/>
                </a:lnTo>
                <a:cubicBezTo>
                  <a:pt x="0" y="50621"/>
                  <a:pt x="50621" y="0"/>
                  <a:pt x="113064" y="0"/>
                </a:cubicBezTo>
                <a:close/>
              </a:path>
            </a:pathLst>
          </a:custGeom>
          <a:solidFill>
            <a:srgbClr val="FFFFFF"/>
          </a:solidFill>
          <a:ln w="25400">
            <a:solidFill>
              <a:srgbClr val="F97316"/>
            </a:solidFill>
            <a:prstDash val="solid"/>
          </a:ln>
          <a:effectLst>
            <a:outerShdw blurRad="141329" dist="94219" dir="5400000" algn="bl" rotWithShape="0">
              <a:srgbClr val="000000">
                <a:alpha val="10196"/>
              </a:srgbClr>
            </a:outerShdw>
          </a:effectLst>
        </p:spPr>
      </p:sp>
      <p:sp>
        <p:nvSpPr>
          <p:cNvPr id="19" name="Shape 17"/>
          <p:cNvSpPr/>
          <p:nvPr/>
        </p:nvSpPr>
        <p:spPr>
          <a:xfrm>
            <a:off x="3067286" y="4918257"/>
            <a:ext cx="188439" cy="188439"/>
          </a:xfrm>
          <a:custGeom>
            <a:avLst/>
            <a:gdLst/>
            <a:ahLst/>
            <a:cxnLst/>
            <a:rect l="l" t="t" r="r" b="b"/>
            <a:pathLst>
              <a:path w="188439" h="188439">
                <a:moveTo>
                  <a:pt x="160725" y="27493"/>
                </a:moveTo>
                <a:lnTo>
                  <a:pt x="164884" y="31431"/>
                </a:lnTo>
                <a:lnTo>
                  <a:pt x="164884" y="11777"/>
                </a:lnTo>
                <a:cubicBezTo>
                  <a:pt x="164884" y="5263"/>
                  <a:pt x="170147" y="0"/>
                  <a:pt x="176662" y="0"/>
                </a:cubicBezTo>
                <a:cubicBezTo>
                  <a:pt x="183176" y="0"/>
                  <a:pt x="188439" y="5263"/>
                  <a:pt x="188439" y="11777"/>
                </a:cubicBezTo>
                <a:lnTo>
                  <a:pt x="188439" y="58887"/>
                </a:lnTo>
                <a:cubicBezTo>
                  <a:pt x="188439" y="65402"/>
                  <a:pt x="183176" y="70665"/>
                  <a:pt x="176662" y="70665"/>
                </a:cubicBezTo>
                <a:lnTo>
                  <a:pt x="129552" y="70665"/>
                </a:lnTo>
                <a:cubicBezTo>
                  <a:pt x="123037" y="70665"/>
                  <a:pt x="117774" y="65402"/>
                  <a:pt x="117774" y="58887"/>
                </a:cubicBezTo>
                <a:cubicBezTo>
                  <a:pt x="117774" y="52373"/>
                  <a:pt x="123037" y="47110"/>
                  <a:pt x="129552" y="47110"/>
                </a:cubicBezTo>
                <a:lnTo>
                  <a:pt x="147181" y="47110"/>
                </a:lnTo>
                <a:lnTo>
                  <a:pt x="144384" y="44460"/>
                </a:lnTo>
                <a:cubicBezTo>
                  <a:pt x="144310" y="44386"/>
                  <a:pt x="144237" y="44313"/>
                  <a:pt x="144163" y="44239"/>
                </a:cubicBezTo>
                <a:cubicBezTo>
                  <a:pt x="116560" y="16636"/>
                  <a:pt x="71842" y="16636"/>
                  <a:pt x="44239" y="44239"/>
                </a:cubicBezTo>
                <a:cubicBezTo>
                  <a:pt x="16636" y="71842"/>
                  <a:pt x="16636" y="116560"/>
                  <a:pt x="44239" y="144163"/>
                </a:cubicBezTo>
                <a:cubicBezTo>
                  <a:pt x="71842" y="171767"/>
                  <a:pt x="116560" y="171767"/>
                  <a:pt x="144163" y="144163"/>
                </a:cubicBezTo>
                <a:cubicBezTo>
                  <a:pt x="147181" y="141145"/>
                  <a:pt x="149868" y="137943"/>
                  <a:pt x="152223" y="134557"/>
                </a:cubicBezTo>
                <a:cubicBezTo>
                  <a:pt x="155941" y="129221"/>
                  <a:pt x="163301" y="127932"/>
                  <a:pt x="168638" y="131650"/>
                </a:cubicBezTo>
                <a:cubicBezTo>
                  <a:pt x="173975" y="135367"/>
                  <a:pt x="175263" y="142728"/>
                  <a:pt x="171546" y="148064"/>
                </a:cubicBezTo>
                <a:cubicBezTo>
                  <a:pt x="168417" y="152555"/>
                  <a:pt x="164847" y="156824"/>
                  <a:pt x="160836" y="160836"/>
                </a:cubicBezTo>
                <a:cubicBezTo>
                  <a:pt x="124031" y="197640"/>
                  <a:pt x="64371" y="197640"/>
                  <a:pt x="27603" y="160836"/>
                </a:cubicBezTo>
                <a:cubicBezTo>
                  <a:pt x="-9164" y="124031"/>
                  <a:pt x="-9201" y="64408"/>
                  <a:pt x="27603" y="27603"/>
                </a:cubicBezTo>
                <a:cubicBezTo>
                  <a:pt x="64371" y="-9164"/>
                  <a:pt x="123921" y="-9201"/>
                  <a:pt x="160725" y="27493"/>
                </a:cubicBezTo>
                <a:close/>
              </a:path>
            </a:pathLst>
          </a:custGeom>
          <a:solidFill>
            <a:srgbClr val="F97316"/>
          </a:solidFill>
          <a:ln/>
        </p:spPr>
      </p:sp>
      <p:sp>
        <p:nvSpPr>
          <p:cNvPr id="20" name="Text 18"/>
          <p:cNvSpPr/>
          <p:nvPr/>
        </p:nvSpPr>
        <p:spPr>
          <a:xfrm>
            <a:off x="2586766" y="5144383"/>
            <a:ext cx="1149478" cy="452253"/>
          </a:xfrm>
          <a:prstGeom prst="rect">
            <a:avLst/>
          </a:prstGeom>
          <a:noFill/>
          <a:ln/>
        </p:spPr>
        <p:txBody>
          <a:bodyPr wrap="square" lIns="0" tIns="0" rIns="0" bIns="0" rtlCol="0" anchor="ctr"/>
          <a:lstStyle/>
          <a:p>
            <a:pPr algn="ctr">
              <a:lnSpc>
                <a:spcPct val="110000"/>
              </a:lnSpc>
            </a:pPr>
            <a:r>
              <a:rPr lang="en-US" sz="890" b="1" dirty="0">
                <a:solidFill>
                  <a:srgbClr val="374151"/>
                </a:solidFill>
                <a:latin typeface="MiSans" pitchFamily="34" charset="0"/>
                <a:ea typeface="MiSans" pitchFamily="34" charset="-122"/>
                <a:cs typeface="MiSans" pitchFamily="34" charset="-120"/>
              </a:rPr>
              <a:t>Corrections alimentent réentraînement</a:t>
            </a:r>
            <a:endParaRPr lang="en-US" sz="1600" dirty="0"/>
          </a:p>
        </p:txBody>
      </p:sp>
      <p:sp>
        <p:nvSpPr>
          <p:cNvPr id="21" name="Shape 19"/>
          <p:cNvSpPr/>
          <p:nvPr/>
        </p:nvSpPr>
        <p:spPr>
          <a:xfrm>
            <a:off x="612427" y="4324674"/>
            <a:ext cx="1337917" cy="621849"/>
          </a:xfrm>
          <a:custGeom>
            <a:avLst/>
            <a:gdLst/>
            <a:ahLst/>
            <a:cxnLst/>
            <a:rect l="l" t="t" r="r" b="b"/>
            <a:pathLst>
              <a:path w="1337917" h="621849">
                <a:moveTo>
                  <a:pt x="113065" y="0"/>
                </a:moveTo>
                <a:lnTo>
                  <a:pt x="1224852" y="0"/>
                </a:lnTo>
                <a:cubicBezTo>
                  <a:pt x="1287254" y="0"/>
                  <a:pt x="1337917" y="50663"/>
                  <a:pt x="1337917" y="113065"/>
                </a:cubicBezTo>
                <a:lnTo>
                  <a:pt x="1337917" y="508784"/>
                </a:lnTo>
                <a:cubicBezTo>
                  <a:pt x="1337917" y="571186"/>
                  <a:pt x="1287254" y="621849"/>
                  <a:pt x="1224852" y="621849"/>
                </a:cubicBezTo>
                <a:lnTo>
                  <a:pt x="113065" y="621849"/>
                </a:lnTo>
                <a:cubicBezTo>
                  <a:pt x="50663" y="621849"/>
                  <a:pt x="0" y="571186"/>
                  <a:pt x="0" y="508784"/>
                </a:cubicBezTo>
                <a:lnTo>
                  <a:pt x="0" y="113065"/>
                </a:lnTo>
                <a:cubicBezTo>
                  <a:pt x="0" y="50663"/>
                  <a:pt x="50663" y="0"/>
                  <a:pt x="113065" y="0"/>
                </a:cubicBezTo>
                <a:close/>
              </a:path>
            </a:pathLst>
          </a:custGeom>
          <a:solidFill>
            <a:srgbClr val="FFFFFF"/>
          </a:solidFill>
          <a:ln w="25400">
            <a:solidFill>
              <a:srgbClr val="8B5CF6"/>
            </a:solidFill>
            <a:prstDash val="solid"/>
          </a:ln>
          <a:effectLst>
            <a:outerShdw blurRad="141329" dist="94219" dir="5400000" algn="bl" rotWithShape="0">
              <a:srgbClr val="000000">
                <a:alpha val="10196"/>
              </a:srgbClr>
            </a:outerShdw>
          </a:effectLst>
        </p:spPr>
      </p:sp>
      <p:sp>
        <p:nvSpPr>
          <p:cNvPr id="22" name="Shape 20"/>
          <p:cNvSpPr/>
          <p:nvPr/>
        </p:nvSpPr>
        <p:spPr>
          <a:xfrm>
            <a:off x="1187165" y="4447159"/>
            <a:ext cx="188439" cy="188439"/>
          </a:xfrm>
          <a:custGeom>
            <a:avLst/>
            <a:gdLst/>
            <a:ahLst/>
            <a:cxnLst/>
            <a:rect l="l" t="t" r="r" b="b"/>
            <a:pathLst>
              <a:path w="188439" h="188439">
                <a:moveTo>
                  <a:pt x="23555" y="23555"/>
                </a:moveTo>
                <a:cubicBezTo>
                  <a:pt x="23555" y="17040"/>
                  <a:pt x="18292" y="11777"/>
                  <a:pt x="11777" y="11777"/>
                </a:cubicBezTo>
                <a:cubicBezTo>
                  <a:pt x="5263" y="11777"/>
                  <a:pt x="0" y="17040"/>
                  <a:pt x="0" y="23555"/>
                </a:cubicBezTo>
                <a:lnTo>
                  <a:pt x="0" y="147218"/>
                </a:lnTo>
                <a:cubicBezTo>
                  <a:pt x="0" y="163486"/>
                  <a:pt x="13176" y="176662"/>
                  <a:pt x="29444" y="176662"/>
                </a:cubicBezTo>
                <a:lnTo>
                  <a:pt x="176662" y="176662"/>
                </a:lnTo>
                <a:cubicBezTo>
                  <a:pt x="183176" y="176662"/>
                  <a:pt x="188439" y="171398"/>
                  <a:pt x="188439" y="164884"/>
                </a:cubicBezTo>
                <a:cubicBezTo>
                  <a:pt x="188439" y="158370"/>
                  <a:pt x="183176" y="153107"/>
                  <a:pt x="176662" y="153107"/>
                </a:cubicBezTo>
                <a:lnTo>
                  <a:pt x="29444" y="153107"/>
                </a:lnTo>
                <a:cubicBezTo>
                  <a:pt x="26205" y="153107"/>
                  <a:pt x="23555" y="150457"/>
                  <a:pt x="23555" y="147218"/>
                </a:cubicBezTo>
                <a:lnTo>
                  <a:pt x="23555" y="23555"/>
                </a:lnTo>
                <a:close/>
                <a:moveTo>
                  <a:pt x="173202" y="55428"/>
                </a:moveTo>
                <a:cubicBezTo>
                  <a:pt x="177802" y="50827"/>
                  <a:pt x="177802" y="43356"/>
                  <a:pt x="173202" y="38755"/>
                </a:cubicBezTo>
                <a:cubicBezTo>
                  <a:pt x="168601" y="34155"/>
                  <a:pt x="161130" y="34155"/>
                  <a:pt x="156529" y="38755"/>
                </a:cubicBezTo>
                <a:lnTo>
                  <a:pt x="117774" y="77547"/>
                </a:lnTo>
                <a:lnTo>
                  <a:pt x="96649" y="56458"/>
                </a:lnTo>
                <a:cubicBezTo>
                  <a:pt x="92048" y="51858"/>
                  <a:pt x="84577" y="51858"/>
                  <a:pt x="79976" y="56458"/>
                </a:cubicBezTo>
                <a:lnTo>
                  <a:pt x="44644" y="91790"/>
                </a:lnTo>
                <a:cubicBezTo>
                  <a:pt x="40043" y="96391"/>
                  <a:pt x="40043" y="103862"/>
                  <a:pt x="44644" y="108463"/>
                </a:cubicBezTo>
                <a:cubicBezTo>
                  <a:pt x="49244" y="113063"/>
                  <a:pt x="56716" y="113063"/>
                  <a:pt x="61316" y="108463"/>
                </a:cubicBezTo>
                <a:lnTo>
                  <a:pt x="88331" y="81448"/>
                </a:lnTo>
                <a:lnTo>
                  <a:pt x="109457" y="102574"/>
                </a:lnTo>
                <a:cubicBezTo>
                  <a:pt x="114057" y="107175"/>
                  <a:pt x="121528" y="107175"/>
                  <a:pt x="126129" y="102574"/>
                </a:cubicBezTo>
                <a:lnTo>
                  <a:pt x="173239" y="55464"/>
                </a:lnTo>
                <a:close/>
              </a:path>
            </a:pathLst>
          </a:custGeom>
          <a:solidFill>
            <a:srgbClr val="8B5CF6"/>
          </a:solidFill>
          <a:ln/>
        </p:spPr>
      </p:sp>
      <p:sp>
        <p:nvSpPr>
          <p:cNvPr id="23" name="Text 21"/>
          <p:cNvSpPr/>
          <p:nvPr/>
        </p:nvSpPr>
        <p:spPr>
          <a:xfrm>
            <a:off x="706646" y="4673286"/>
            <a:ext cx="1149478" cy="150751"/>
          </a:xfrm>
          <a:prstGeom prst="rect">
            <a:avLst/>
          </a:prstGeom>
          <a:noFill/>
          <a:ln/>
        </p:spPr>
        <p:txBody>
          <a:bodyPr wrap="square" lIns="0" tIns="0" rIns="0" bIns="0" rtlCol="0" anchor="ctr"/>
          <a:lstStyle/>
          <a:p>
            <a:pPr algn="ctr">
              <a:lnSpc>
                <a:spcPct val="110000"/>
              </a:lnSpc>
            </a:pPr>
            <a:r>
              <a:rPr lang="en-US" sz="890" b="1" dirty="0">
                <a:solidFill>
                  <a:srgbClr val="374151"/>
                </a:solidFill>
                <a:latin typeface="MiSans" pitchFamily="34" charset="0"/>
                <a:ea typeface="MiSans" pitchFamily="34" charset="-122"/>
                <a:cs typeface="MiSans" pitchFamily="34" charset="-120"/>
              </a:rPr>
              <a:t>Modèle s'améliore</a:t>
            </a:r>
            <a:endParaRPr lang="en-US" sz="1600" dirty="0"/>
          </a:p>
        </p:txBody>
      </p:sp>
      <p:sp>
        <p:nvSpPr>
          <p:cNvPr id="24" name="Shape 22"/>
          <p:cNvSpPr/>
          <p:nvPr/>
        </p:nvSpPr>
        <p:spPr>
          <a:xfrm>
            <a:off x="3161505" y="3090399"/>
            <a:ext cx="18844" cy="301502"/>
          </a:xfrm>
          <a:custGeom>
            <a:avLst/>
            <a:gdLst/>
            <a:ahLst/>
            <a:cxnLst/>
            <a:rect l="l" t="t" r="r" b="b"/>
            <a:pathLst>
              <a:path w="18844" h="301502">
                <a:moveTo>
                  <a:pt x="0" y="0"/>
                </a:moveTo>
                <a:lnTo>
                  <a:pt x="18844" y="0"/>
                </a:lnTo>
                <a:lnTo>
                  <a:pt x="18844" y="301502"/>
                </a:lnTo>
                <a:lnTo>
                  <a:pt x="0" y="301502"/>
                </a:lnTo>
                <a:lnTo>
                  <a:pt x="0" y="0"/>
                </a:lnTo>
                <a:close/>
              </a:path>
            </a:pathLst>
          </a:custGeom>
          <a:solidFill>
            <a:srgbClr val="D1D5DB"/>
          </a:solidFill>
          <a:ln/>
        </p:spPr>
      </p:sp>
      <p:sp>
        <p:nvSpPr>
          <p:cNvPr id="25" name="Shape 23"/>
          <p:cNvSpPr/>
          <p:nvPr/>
        </p:nvSpPr>
        <p:spPr>
          <a:xfrm>
            <a:off x="4966397" y="3668229"/>
            <a:ext cx="301502" cy="18844"/>
          </a:xfrm>
          <a:custGeom>
            <a:avLst/>
            <a:gdLst/>
            <a:ahLst/>
            <a:cxnLst/>
            <a:rect l="l" t="t" r="r" b="b"/>
            <a:pathLst>
              <a:path w="301502" h="18844">
                <a:moveTo>
                  <a:pt x="0" y="0"/>
                </a:moveTo>
                <a:lnTo>
                  <a:pt x="301502" y="0"/>
                </a:lnTo>
                <a:lnTo>
                  <a:pt x="301502" y="18844"/>
                </a:lnTo>
                <a:lnTo>
                  <a:pt x="0" y="18844"/>
                </a:lnTo>
                <a:lnTo>
                  <a:pt x="0" y="0"/>
                </a:lnTo>
                <a:close/>
              </a:path>
            </a:pathLst>
          </a:custGeom>
          <a:solidFill>
            <a:srgbClr val="D1D5DB"/>
          </a:solidFill>
          <a:ln/>
        </p:spPr>
      </p:sp>
      <p:sp>
        <p:nvSpPr>
          <p:cNvPr id="26" name="Shape 24"/>
          <p:cNvSpPr/>
          <p:nvPr/>
        </p:nvSpPr>
        <p:spPr>
          <a:xfrm>
            <a:off x="4966397" y="4679616"/>
            <a:ext cx="301502" cy="18844"/>
          </a:xfrm>
          <a:custGeom>
            <a:avLst/>
            <a:gdLst/>
            <a:ahLst/>
            <a:cxnLst/>
            <a:rect l="l" t="t" r="r" b="b"/>
            <a:pathLst>
              <a:path w="301502" h="18844">
                <a:moveTo>
                  <a:pt x="0" y="0"/>
                </a:moveTo>
                <a:lnTo>
                  <a:pt x="301502" y="0"/>
                </a:lnTo>
                <a:lnTo>
                  <a:pt x="301502" y="18844"/>
                </a:lnTo>
                <a:lnTo>
                  <a:pt x="0" y="18844"/>
                </a:lnTo>
                <a:lnTo>
                  <a:pt x="0" y="0"/>
                </a:lnTo>
                <a:close/>
              </a:path>
            </a:pathLst>
          </a:custGeom>
          <a:solidFill>
            <a:srgbClr val="D1D5DB"/>
          </a:solidFill>
          <a:ln/>
        </p:spPr>
      </p:sp>
      <p:sp>
        <p:nvSpPr>
          <p:cNvPr id="27" name="Shape 25"/>
          <p:cNvSpPr/>
          <p:nvPr/>
        </p:nvSpPr>
        <p:spPr>
          <a:xfrm>
            <a:off x="3161505" y="4974788"/>
            <a:ext cx="18844" cy="301502"/>
          </a:xfrm>
          <a:custGeom>
            <a:avLst/>
            <a:gdLst/>
            <a:ahLst/>
            <a:cxnLst/>
            <a:rect l="l" t="t" r="r" b="b"/>
            <a:pathLst>
              <a:path w="18844" h="301502">
                <a:moveTo>
                  <a:pt x="0" y="0"/>
                </a:moveTo>
                <a:lnTo>
                  <a:pt x="18844" y="0"/>
                </a:lnTo>
                <a:lnTo>
                  <a:pt x="18844" y="301502"/>
                </a:lnTo>
                <a:lnTo>
                  <a:pt x="0" y="301502"/>
                </a:lnTo>
                <a:lnTo>
                  <a:pt x="0" y="0"/>
                </a:lnTo>
                <a:close/>
              </a:path>
            </a:pathLst>
          </a:custGeom>
          <a:solidFill>
            <a:srgbClr val="D1D5DB"/>
          </a:solidFill>
          <a:ln/>
        </p:spPr>
      </p:sp>
      <p:sp>
        <p:nvSpPr>
          <p:cNvPr id="28" name="Shape 26"/>
          <p:cNvSpPr/>
          <p:nvPr/>
        </p:nvSpPr>
        <p:spPr>
          <a:xfrm>
            <a:off x="1055258" y="4679616"/>
            <a:ext cx="301502" cy="18844"/>
          </a:xfrm>
          <a:custGeom>
            <a:avLst/>
            <a:gdLst/>
            <a:ahLst/>
            <a:cxnLst/>
            <a:rect l="l" t="t" r="r" b="b"/>
            <a:pathLst>
              <a:path w="301502" h="18844">
                <a:moveTo>
                  <a:pt x="0" y="0"/>
                </a:moveTo>
                <a:lnTo>
                  <a:pt x="301502" y="0"/>
                </a:lnTo>
                <a:lnTo>
                  <a:pt x="301502" y="18844"/>
                </a:lnTo>
                <a:lnTo>
                  <a:pt x="0" y="18844"/>
                </a:lnTo>
                <a:lnTo>
                  <a:pt x="0" y="0"/>
                </a:lnTo>
                <a:close/>
              </a:path>
            </a:pathLst>
          </a:custGeom>
          <a:solidFill>
            <a:srgbClr val="D1D5DB"/>
          </a:solidFill>
          <a:ln/>
        </p:spPr>
      </p:sp>
      <p:sp>
        <p:nvSpPr>
          <p:cNvPr id="29" name="Shape 27"/>
          <p:cNvSpPr/>
          <p:nvPr/>
        </p:nvSpPr>
        <p:spPr>
          <a:xfrm>
            <a:off x="376878" y="6067734"/>
            <a:ext cx="5568371" cy="414566"/>
          </a:xfrm>
          <a:custGeom>
            <a:avLst/>
            <a:gdLst/>
            <a:ahLst/>
            <a:cxnLst/>
            <a:rect l="l" t="t" r="r" b="b"/>
            <a:pathLst>
              <a:path w="5568371" h="414566">
                <a:moveTo>
                  <a:pt x="113065" y="0"/>
                </a:moveTo>
                <a:lnTo>
                  <a:pt x="5455306" y="0"/>
                </a:lnTo>
                <a:cubicBezTo>
                  <a:pt x="5517750" y="0"/>
                  <a:pt x="5568371" y="50621"/>
                  <a:pt x="5568371" y="113065"/>
                </a:cubicBezTo>
                <a:lnTo>
                  <a:pt x="5568371" y="301501"/>
                </a:lnTo>
                <a:cubicBezTo>
                  <a:pt x="5568371" y="363945"/>
                  <a:pt x="5517750" y="414566"/>
                  <a:pt x="5455306" y="414566"/>
                </a:cubicBezTo>
                <a:lnTo>
                  <a:pt x="113065" y="414566"/>
                </a:lnTo>
                <a:cubicBezTo>
                  <a:pt x="50663" y="414566"/>
                  <a:pt x="0" y="363903"/>
                  <a:pt x="0" y="301501"/>
                </a:cubicBezTo>
                <a:lnTo>
                  <a:pt x="0" y="113065"/>
                </a:lnTo>
                <a:cubicBezTo>
                  <a:pt x="0" y="50663"/>
                  <a:pt x="50663" y="0"/>
                  <a:pt x="113065" y="0"/>
                </a:cubicBezTo>
                <a:close/>
              </a:path>
            </a:pathLst>
          </a:custGeom>
          <a:solidFill>
            <a:srgbClr val="10B981"/>
          </a:solidFill>
          <a:ln/>
        </p:spPr>
      </p:sp>
      <p:sp>
        <p:nvSpPr>
          <p:cNvPr id="30" name="Shape 28"/>
          <p:cNvSpPr/>
          <p:nvPr/>
        </p:nvSpPr>
        <p:spPr>
          <a:xfrm>
            <a:off x="1530036" y="6218485"/>
            <a:ext cx="98930" cy="131907"/>
          </a:xfrm>
          <a:custGeom>
            <a:avLst/>
            <a:gdLst/>
            <a:ahLst/>
            <a:cxnLst/>
            <a:rect l="l" t="t" r="r" b="b"/>
            <a:pathLst>
              <a:path w="98930" h="131907">
                <a:moveTo>
                  <a:pt x="75460" y="98930"/>
                </a:moveTo>
                <a:cubicBezTo>
                  <a:pt x="77341" y="93185"/>
                  <a:pt x="81102" y="87981"/>
                  <a:pt x="85353" y="83498"/>
                </a:cubicBezTo>
                <a:cubicBezTo>
                  <a:pt x="93778" y="74636"/>
                  <a:pt x="98930" y="62656"/>
                  <a:pt x="98930" y="49465"/>
                </a:cubicBezTo>
                <a:cubicBezTo>
                  <a:pt x="98930" y="22156"/>
                  <a:pt x="76774" y="0"/>
                  <a:pt x="49465" y="0"/>
                </a:cubicBezTo>
                <a:cubicBezTo>
                  <a:pt x="22156" y="0"/>
                  <a:pt x="0" y="22156"/>
                  <a:pt x="0" y="49465"/>
                </a:cubicBezTo>
                <a:cubicBezTo>
                  <a:pt x="0" y="62656"/>
                  <a:pt x="5153" y="74636"/>
                  <a:pt x="13577" y="83498"/>
                </a:cubicBezTo>
                <a:cubicBezTo>
                  <a:pt x="17828" y="87981"/>
                  <a:pt x="21615" y="93185"/>
                  <a:pt x="23470" y="98930"/>
                </a:cubicBezTo>
                <a:lnTo>
                  <a:pt x="75434" y="98930"/>
                </a:lnTo>
                <a:close/>
                <a:moveTo>
                  <a:pt x="74198" y="111297"/>
                </a:moveTo>
                <a:lnTo>
                  <a:pt x="24733" y="111297"/>
                </a:lnTo>
                <a:lnTo>
                  <a:pt x="24733" y="115419"/>
                </a:lnTo>
                <a:cubicBezTo>
                  <a:pt x="24733" y="126806"/>
                  <a:pt x="33956" y="136029"/>
                  <a:pt x="45343" y="136029"/>
                </a:cubicBezTo>
                <a:lnTo>
                  <a:pt x="53587" y="136029"/>
                </a:lnTo>
                <a:cubicBezTo>
                  <a:pt x="64975" y="136029"/>
                  <a:pt x="74198" y="126806"/>
                  <a:pt x="74198" y="115419"/>
                </a:cubicBezTo>
                <a:lnTo>
                  <a:pt x="74198" y="111297"/>
                </a:lnTo>
                <a:close/>
                <a:moveTo>
                  <a:pt x="47404" y="28855"/>
                </a:moveTo>
                <a:cubicBezTo>
                  <a:pt x="37150" y="28855"/>
                  <a:pt x="28855" y="37150"/>
                  <a:pt x="28855" y="47404"/>
                </a:cubicBezTo>
                <a:cubicBezTo>
                  <a:pt x="28855" y="50831"/>
                  <a:pt x="26098" y="53587"/>
                  <a:pt x="22672" y="53587"/>
                </a:cubicBezTo>
                <a:cubicBezTo>
                  <a:pt x="19245" y="53587"/>
                  <a:pt x="16488" y="50831"/>
                  <a:pt x="16488" y="47404"/>
                </a:cubicBezTo>
                <a:cubicBezTo>
                  <a:pt x="16488" y="30323"/>
                  <a:pt x="30323" y="16488"/>
                  <a:pt x="47404" y="16488"/>
                </a:cubicBezTo>
                <a:cubicBezTo>
                  <a:pt x="50831" y="16488"/>
                  <a:pt x="53587" y="19245"/>
                  <a:pt x="53587" y="22672"/>
                </a:cubicBezTo>
                <a:cubicBezTo>
                  <a:pt x="53587" y="26098"/>
                  <a:pt x="50831" y="28855"/>
                  <a:pt x="47404" y="28855"/>
                </a:cubicBezTo>
                <a:close/>
              </a:path>
            </a:pathLst>
          </a:custGeom>
          <a:solidFill>
            <a:srgbClr val="FFFFFF"/>
          </a:solidFill>
          <a:ln/>
        </p:spPr>
      </p:sp>
      <p:sp>
        <p:nvSpPr>
          <p:cNvPr id="31" name="Text 29"/>
          <p:cNvSpPr/>
          <p:nvPr/>
        </p:nvSpPr>
        <p:spPr>
          <a:xfrm>
            <a:off x="682480" y="6180798"/>
            <a:ext cx="5182683" cy="188439"/>
          </a:xfrm>
          <a:prstGeom prst="rect">
            <a:avLst/>
          </a:prstGeom>
          <a:noFill/>
          <a:ln/>
        </p:spPr>
        <p:txBody>
          <a:bodyPr wrap="square" lIns="0" tIns="0" rIns="0" bIns="0" rtlCol="0" anchor="ctr"/>
          <a:lstStyle/>
          <a:p>
            <a:pPr algn="ctr">
              <a:lnSpc>
                <a:spcPct val="120000"/>
              </a:lnSpc>
            </a:pPr>
            <a:r>
              <a:rPr lang="en-US" sz="1039" b="1" dirty="0">
                <a:solidFill>
                  <a:srgbClr val="FFFFFF"/>
                </a:solidFill>
                <a:latin typeface="MiSans" pitchFamily="34" charset="0"/>
                <a:ea typeface="MiSans" pitchFamily="34" charset="-122"/>
                <a:cs typeface="MiSans" pitchFamily="34" charset="-120"/>
              </a:rPr>
              <a:t>Chaque correction de Sophie améliore le modèle</a:t>
            </a:r>
            <a:endParaRPr lang="en-US" sz="1600" dirty="0"/>
          </a:p>
        </p:txBody>
      </p:sp>
      <p:sp>
        <p:nvSpPr>
          <p:cNvPr id="32" name="Shape 30"/>
          <p:cNvSpPr/>
          <p:nvPr/>
        </p:nvSpPr>
        <p:spPr>
          <a:xfrm>
            <a:off x="6247782" y="1582887"/>
            <a:ext cx="5568371" cy="678380"/>
          </a:xfrm>
          <a:custGeom>
            <a:avLst/>
            <a:gdLst/>
            <a:ahLst/>
            <a:cxnLst/>
            <a:rect l="l" t="t" r="r" b="b"/>
            <a:pathLst>
              <a:path w="5568371" h="678380">
                <a:moveTo>
                  <a:pt x="150750" y="0"/>
                </a:moveTo>
                <a:lnTo>
                  <a:pt x="5417621" y="0"/>
                </a:lnTo>
                <a:cubicBezTo>
                  <a:pt x="5500878" y="0"/>
                  <a:pt x="5568371" y="67493"/>
                  <a:pt x="5568371" y="150750"/>
                </a:cubicBezTo>
                <a:lnTo>
                  <a:pt x="5568371" y="527631"/>
                </a:lnTo>
                <a:cubicBezTo>
                  <a:pt x="5568371" y="610887"/>
                  <a:pt x="5500878" y="678380"/>
                  <a:pt x="5417621" y="678380"/>
                </a:cubicBezTo>
                <a:lnTo>
                  <a:pt x="150750" y="678380"/>
                </a:lnTo>
                <a:cubicBezTo>
                  <a:pt x="67549" y="678380"/>
                  <a:pt x="0" y="610832"/>
                  <a:pt x="0" y="527631"/>
                </a:cubicBezTo>
                <a:lnTo>
                  <a:pt x="0" y="150750"/>
                </a:lnTo>
                <a:cubicBezTo>
                  <a:pt x="0" y="67549"/>
                  <a:pt x="67549" y="0"/>
                  <a:pt x="150750" y="0"/>
                </a:cubicBezTo>
                <a:close/>
              </a:path>
            </a:pathLst>
          </a:custGeom>
          <a:solidFill>
            <a:srgbClr val="3B82F6"/>
          </a:solidFill>
          <a:ln/>
        </p:spPr>
      </p:sp>
      <p:sp>
        <p:nvSpPr>
          <p:cNvPr id="33" name="Shape 31"/>
          <p:cNvSpPr/>
          <p:nvPr/>
        </p:nvSpPr>
        <p:spPr>
          <a:xfrm>
            <a:off x="6464486" y="1809014"/>
            <a:ext cx="226127" cy="226127"/>
          </a:xfrm>
          <a:custGeom>
            <a:avLst/>
            <a:gdLst/>
            <a:ahLst/>
            <a:cxnLst/>
            <a:rect l="l" t="t" r="r" b="b"/>
            <a:pathLst>
              <a:path w="226127" h="226127">
                <a:moveTo>
                  <a:pt x="0" y="113063"/>
                </a:moveTo>
                <a:cubicBezTo>
                  <a:pt x="0" y="50662"/>
                  <a:pt x="50662" y="0"/>
                  <a:pt x="113063" y="0"/>
                </a:cubicBezTo>
                <a:cubicBezTo>
                  <a:pt x="175465" y="0"/>
                  <a:pt x="226127" y="50662"/>
                  <a:pt x="226127" y="113063"/>
                </a:cubicBezTo>
                <a:cubicBezTo>
                  <a:pt x="226127" y="175465"/>
                  <a:pt x="175465" y="226127"/>
                  <a:pt x="113063" y="226127"/>
                </a:cubicBezTo>
                <a:cubicBezTo>
                  <a:pt x="50662" y="226127"/>
                  <a:pt x="0" y="175465"/>
                  <a:pt x="0" y="113063"/>
                </a:cubicBezTo>
                <a:close/>
                <a:moveTo>
                  <a:pt x="127196" y="42399"/>
                </a:moveTo>
                <a:cubicBezTo>
                  <a:pt x="127196" y="34599"/>
                  <a:pt x="120864" y="28266"/>
                  <a:pt x="113063" y="28266"/>
                </a:cubicBezTo>
                <a:cubicBezTo>
                  <a:pt x="105263" y="28266"/>
                  <a:pt x="98930" y="34599"/>
                  <a:pt x="98930" y="42399"/>
                </a:cubicBezTo>
                <a:cubicBezTo>
                  <a:pt x="98930" y="50199"/>
                  <a:pt x="105263" y="56532"/>
                  <a:pt x="113063" y="56532"/>
                </a:cubicBezTo>
                <a:cubicBezTo>
                  <a:pt x="120864" y="56532"/>
                  <a:pt x="127196" y="50199"/>
                  <a:pt x="127196" y="42399"/>
                </a:cubicBezTo>
                <a:close/>
                <a:moveTo>
                  <a:pt x="113063" y="183728"/>
                </a:moveTo>
                <a:cubicBezTo>
                  <a:pt x="128654" y="183728"/>
                  <a:pt x="141329" y="171053"/>
                  <a:pt x="141329" y="155462"/>
                </a:cubicBezTo>
                <a:cubicBezTo>
                  <a:pt x="141329" y="148307"/>
                  <a:pt x="138679" y="141727"/>
                  <a:pt x="134263" y="136780"/>
                </a:cubicBezTo>
                <a:lnTo>
                  <a:pt x="164958" y="75434"/>
                </a:lnTo>
                <a:cubicBezTo>
                  <a:pt x="167563" y="70179"/>
                  <a:pt x="165444" y="63819"/>
                  <a:pt x="160232" y="61213"/>
                </a:cubicBezTo>
                <a:cubicBezTo>
                  <a:pt x="155020" y="58607"/>
                  <a:pt x="148616" y="60727"/>
                  <a:pt x="146011" y="65939"/>
                </a:cubicBezTo>
                <a:lnTo>
                  <a:pt x="115316" y="127285"/>
                </a:lnTo>
                <a:cubicBezTo>
                  <a:pt x="114565" y="127240"/>
                  <a:pt x="113814" y="127196"/>
                  <a:pt x="113063" y="127196"/>
                </a:cubicBezTo>
                <a:cubicBezTo>
                  <a:pt x="97473" y="127196"/>
                  <a:pt x="84798" y="139872"/>
                  <a:pt x="84798" y="155462"/>
                </a:cubicBezTo>
                <a:cubicBezTo>
                  <a:pt x="84798" y="171053"/>
                  <a:pt x="97473" y="183728"/>
                  <a:pt x="113063" y="183728"/>
                </a:cubicBezTo>
                <a:close/>
                <a:moveTo>
                  <a:pt x="77731" y="63598"/>
                </a:moveTo>
                <a:cubicBezTo>
                  <a:pt x="77731" y="55798"/>
                  <a:pt x="71398" y="49465"/>
                  <a:pt x="63598" y="49465"/>
                </a:cubicBezTo>
                <a:cubicBezTo>
                  <a:pt x="55798" y="49465"/>
                  <a:pt x="49465" y="55798"/>
                  <a:pt x="49465" y="63598"/>
                </a:cubicBezTo>
                <a:cubicBezTo>
                  <a:pt x="49465" y="71398"/>
                  <a:pt x="55798" y="77731"/>
                  <a:pt x="63598" y="77731"/>
                </a:cubicBezTo>
                <a:cubicBezTo>
                  <a:pt x="71398" y="77731"/>
                  <a:pt x="77731" y="71398"/>
                  <a:pt x="77731" y="63598"/>
                </a:cubicBezTo>
                <a:close/>
                <a:moveTo>
                  <a:pt x="42399" y="127196"/>
                </a:moveTo>
                <a:cubicBezTo>
                  <a:pt x="50199" y="127196"/>
                  <a:pt x="56532" y="120864"/>
                  <a:pt x="56532" y="113063"/>
                </a:cubicBezTo>
                <a:cubicBezTo>
                  <a:pt x="56532" y="105263"/>
                  <a:pt x="50199" y="98930"/>
                  <a:pt x="42399" y="98930"/>
                </a:cubicBezTo>
                <a:cubicBezTo>
                  <a:pt x="34599" y="98930"/>
                  <a:pt x="28266" y="105263"/>
                  <a:pt x="28266" y="113063"/>
                </a:cubicBezTo>
                <a:cubicBezTo>
                  <a:pt x="28266" y="120864"/>
                  <a:pt x="34599" y="127196"/>
                  <a:pt x="42399" y="127196"/>
                </a:cubicBezTo>
                <a:close/>
                <a:moveTo>
                  <a:pt x="197861" y="113063"/>
                </a:moveTo>
                <a:cubicBezTo>
                  <a:pt x="197861" y="105263"/>
                  <a:pt x="191528" y="98930"/>
                  <a:pt x="183728" y="98930"/>
                </a:cubicBezTo>
                <a:cubicBezTo>
                  <a:pt x="175928" y="98930"/>
                  <a:pt x="169595" y="105263"/>
                  <a:pt x="169595" y="113063"/>
                </a:cubicBezTo>
                <a:cubicBezTo>
                  <a:pt x="169595" y="120864"/>
                  <a:pt x="175928" y="127196"/>
                  <a:pt x="183728" y="127196"/>
                </a:cubicBezTo>
                <a:cubicBezTo>
                  <a:pt x="191528" y="127196"/>
                  <a:pt x="197861" y="120864"/>
                  <a:pt x="197861" y="113063"/>
                </a:cubicBezTo>
                <a:close/>
              </a:path>
            </a:pathLst>
          </a:custGeom>
          <a:solidFill>
            <a:srgbClr val="FFFFFF"/>
          </a:solidFill>
          <a:ln/>
        </p:spPr>
      </p:sp>
      <p:sp>
        <p:nvSpPr>
          <p:cNvPr id="34" name="Text 32"/>
          <p:cNvSpPr/>
          <p:nvPr/>
        </p:nvSpPr>
        <p:spPr>
          <a:xfrm>
            <a:off x="6831942" y="1771326"/>
            <a:ext cx="1865546" cy="301502"/>
          </a:xfrm>
          <a:prstGeom prst="rect">
            <a:avLst/>
          </a:prstGeom>
          <a:noFill/>
          <a:ln/>
        </p:spPr>
        <p:txBody>
          <a:bodyPr wrap="square" lIns="0" tIns="0" rIns="0" bIns="0" rtlCol="0" anchor="ctr"/>
          <a:lstStyle/>
          <a:p>
            <a:pPr>
              <a:lnSpc>
                <a:spcPct val="110000"/>
              </a:lnSpc>
            </a:pPr>
            <a:r>
              <a:rPr lang="en-US" sz="1781" b="1" dirty="0">
                <a:solidFill>
                  <a:srgbClr val="FFFFFF"/>
                </a:solidFill>
                <a:latin typeface="Noto Sans SC" pitchFamily="34" charset="0"/>
                <a:ea typeface="Noto Sans SC" pitchFamily="34" charset="-122"/>
                <a:cs typeface="Noto Sans SC" pitchFamily="34" charset="-120"/>
              </a:rPr>
              <a:t>KPIs d'Adoption</a:t>
            </a:r>
            <a:endParaRPr lang="en-US" sz="1600" dirty="0"/>
          </a:p>
        </p:txBody>
      </p:sp>
      <p:sp>
        <p:nvSpPr>
          <p:cNvPr id="35" name="Shape 33"/>
          <p:cNvSpPr/>
          <p:nvPr/>
        </p:nvSpPr>
        <p:spPr>
          <a:xfrm>
            <a:off x="6247782" y="2412019"/>
            <a:ext cx="5568371" cy="4070281"/>
          </a:xfrm>
          <a:custGeom>
            <a:avLst/>
            <a:gdLst/>
            <a:ahLst/>
            <a:cxnLst/>
            <a:rect l="l" t="t" r="r" b="b"/>
            <a:pathLst>
              <a:path w="5568371" h="4070281">
                <a:moveTo>
                  <a:pt x="150763" y="0"/>
                </a:moveTo>
                <a:lnTo>
                  <a:pt x="5417608" y="0"/>
                </a:lnTo>
                <a:cubicBezTo>
                  <a:pt x="5500872" y="0"/>
                  <a:pt x="5568371" y="67499"/>
                  <a:pt x="5568371" y="150763"/>
                </a:cubicBezTo>
                <a:lnTo>
                  <a:pt x="5568371" y="3919518"/>
                </a:lnTo>
                <a:cubicBezTo>
                  <a:pt x="5568371" y="4002782"/>
                  <a:pt x="5500872" y="4070281"/>
                  <a:pt x="5417608" y="4070281"/>
                </a:cubicBezTo>
                <a:lnTo>
                  <a:pt x="150763" y="4070281"/>
                </a:lnTo>
                <a:cubicBezTo>
                  <a:pt x="67499" y="4070281"/>
                  <a:pt x="0" y="4002782"/>
                  <a:pt x="0" y="3919518"/>
                </a:cubicBezTo>
                <a:lnTo>
                  <a:pt x="0" y="150763"/>
                </a:lnTo>
                <a:cubicBezTo>
                  <a:pt x="0" y="67555"/>
                  <a:pt x="67555" y="0"/>
                  <a:pt x="150763" y="0"/>
                </a:cubicBezTo>
                <a:close/>
              </a:path>
            </a:pathLst>
          </a:custGeom>
          <a:solidFill>
            <a:srgbClr val="F3F4F6"/>
          </a:solidFill>
          <a:ln/>
        </p:spPr>
      </p:sp>
      <p:sp>
        <p:nvSpPr>
          <p:cNvPr id="36" name="Shape 34"/>
          <p:cNvSpPr/>
          <p:nvPr/>
        </p:nvSpPr>
        <p:spPr>
          <a:xfrm>
            <a:off x="6436221" y="2600457"/>
            <a:ext cx="5191493" cy="866819"/>
          </a:xfrm>
          <a:custGeom>
            <a:avLst/>
            <a:gdLst/>
            <a:ahLst/>
            <a:cxnLst/>
            <a:rect l="l" t="t" r="r" b="b"/>
            <a:pathLst>
              <a:path w="5191493" h="866819">
                <a:moveTo>
                  <a:pt x="113059" y="0"/>
                </a:moveTo>
                <a:lnTo>
                  <a:pt x="5078434" y="0"/>
                </a:lnTo>
                <a:cubicBezTo>
                  <a:pt x="5140875" y="0"/>
                  <a:pt x="5191493" y="50618"/>
                  <a:pt x="5191493" y="113059"/>
                </a:cubicBezTo>
                <a:lnTo>
                  <a:pt x="5191493" y="753760"/>
                </a:lnTo>
                <a:cubicBezTo>
                  <a:pt x="5191493" y="816201"/>
                  <a:pt x="5140875" y="866819"/>
                  <a:pt x="5078434" y="866819"/>
                </a:cubicBezTo>
                <a:lnTo>
                  <a:pt x="113059" y="866819"/>
                </a:lnTo>
                <a:cubicBezTo>
                  <a:pt x="50618" y="866819"/>
                  <a:pt x="0" y="816201"/>
                  <a:pt x="0" y="753760"/>
                </a:cubicBezTo>
                <a:lnTo>
                  <a:pt x="0" y="113059"/>
                </a:lnTo>
                <a:cubicBezTo>
                  <a:pt x="0" y="50660"/>
                  <a:pt x="50660" y="0"/>
                  <a:pt x="113059" y="0"/>
                </a:cubicBezTo>
                <a:close/>
              </a:path>
            </a:pathLst>
          </a:custGeom>
          <a:solidFill>
            <a:srgbClr val="FFFFFF"/>
          </a:solidFill>
          <a:ln/>
        </p:spPr>
      </p:sp>
      <p:sp>
        <p:nvSpPr>
          <p:cNvPr id="37" name="Shape 35"/>
          <p:cNvSpPr/>
          <p:nvPr/>
        </p:nvSpPr>
        <p:spPr>
          <a:xfrm>
            <a:off x="6586972" y="2807740"/>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10B981"/>
          </a:solidFill>
          <a:ln/>
        </p:spPr>
      </p:sp>
      <p:sp>
        <p:nvSpPr>
          <p:cNvPr id="38" name="Shape 36"/>
          <p:cNvSpPr/>
          <p:nvPr/>
        </p:nvSpPr>
        <p:spPr>
          <a:xfrm>
            <a:off x="6730656" y="2939648"/>
            <a:ext cx="164884" cy="188439"/>
          </a:xfrm>
          <a:custGeom>
            <a:avLst/>
            <a:gdLst/>
            <a:ahLst/>
            <a:cxnLst/>
            <a:rect l="l" t="t" r="r" b="b"/>
            <a:pathLst>
              <a:path w="164884" h="188439">
                <a:moveTo>
                  <a:pt x="70665" y="47110"/>
                </a:moveTo>
                <a:cubicBezTo>
                  <a:pt x="70665" y="27609"/>
                  <a:pt x="54833" y="11777"/>
                  <a:pt x="35332" y="11777"/>
                </a:cubicBezTo>
                <a:cubicBezTo>
                  <a:pt x="15832" y="11777"/>
                  <a:pt x="0" y="27609"/>
                  <a:pt x="0" y="47110"/>
                </a:cubicBezTo>
                <a:cubicBezTo>
                  <a:pt x="0" y="66610"/>
                  <a:pt x="15832" y="82442"/>
                  <a:pt x="35332" y="82442"/>
                </a:cubicBezTo>
                <a:cubicBezTo>
                  <a:pt x="54833" y="82442"/>
                  <a:pt x="70665" y="66610"/>
                  <a:pt x="70665" y="47110"/>
                </a:cubicBezTo>
                <a:close/>
                <a:moveTo>
                  <a:pt x="164884" y="141329"/>
                </a:moveTo>
                <a:cubicBezTo>
                  <a:pt x="164884" y="121829"/>
                  <a:pt x="149052" y="105997"/>
                  <a:pt x="129552" y="105997"/>
                </a:cubicBezTo>
                <a:cubicBezTo>
                  <a:pt x="110051" y="105997"/>
                  <a:pt x="94219" y="121829"/>
                  <a:pt x="94219" y="141329"/>
                </a:cubicBezTo>
                <a:cubicBezTo>
                  <a:pt x="94219" y="160830"/>
                  <a:pt x="110051" y="176662"/>
                  <a:pt x="129552" y="176662"/>
                </a:cubicBezTo>
                <a:cubicBezTo>
                  <a:pt x="149052" y="176662"/>
                  <a:pt x="164884" y="160830"/>
                  <a:pt x="164884" y="141329"/>
                </a:cubicBezTo>
                <a:close/>
                <a:moveTo>
                  <a:pt x="161424" y="31873"/>
                </a:moveTo>
                <a:cubicBezTo>
                  <a:pt x="166025" y="27272"/>
                  <a:pt x="166025" y="19801"/>
                  <a:pt x="161424" y="15200"/>
                </a:cubicBezTo>
                <a:cubicBezTo>
                  <a:pt x="156824" y="10600"/>
                  <a:pt x="149353" y="10600"/>
                  <a:pt x="144752" y="15200"/>
                </a:cubicBezTo>
                <a:lnTo>
                  <a:pt x="3423" y="156529"/>
                </a:lnTo>
                <a:cubicBezTo>
                  <a:pt x="-1178" y="161130"/>
                  <a:pt x="-1178" y="168601"/>
                  <a:pt x="3423" y="173202"/>
                </a:cubicBezTo>
                <a:cubicBezTo>
                  <a:pt x="8023" y="177802"/>
                  <a:pt x="15495" y="177802"/>
                  <a:pt x="20095" y="173202"/>
                </a:cubicBezTo>
                <a:lnTo>
                  <a:pt x="161424" y="31873"/>
                </a:lnTo>
                <a:close/>
              </a:path>
            </a:pathLst>
          </a:custGeom>
          <a:solidFill>
            <a:srgbClr val="FFFFFF"/>
          </a:solidFill>
          <a:ln/>
        </p:spPr>
      </p:sp>
      <p:sp>
        <p:nvSpPr>
          <p:cNvPr id="39" name="Text 37"/>
          <p:cNvSpPr/>
          <p:nvPr/>
        </p:nvSpPr>
        <p:spPr>
          <a:xfrm>
            <a:off x="7152289" y="2826584"/>
            <a:ext cx="1309651"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Taux d'utilisation</a:t>
            </a:r>
            <a:endParaRPr lang="en-US" sz="1600" dirty="0"/>
          </a:p>
        </p:txBody>
      </p:sp>
      <p:sp>
        <p:nvSpPr>
          <p:cNvPr id="40" name="Text 38"/>
          <p:cNvSpPr/>
          <p:nvPr/>
        </p:nvSpPr>
        <p:spPr>
          <a:xfrm>
            <a:off x="7152289" y="3052711"/>
            <a:ext cx="1300229" cy="188439"/>
          </a:xfrm>
          <a:prstGeom prst="rect">
            <a:avLst/>
          </a:prstGeom>
          <a:noFill/>
          <a:ln/>
        </p:spPr>
        <p:txBody>
          <a:bodyPr wrap="square" lIns="0" tIns="0" rIns="0" bIns="0" rtlCol="0" anchor="ctr"/>
          <a:lstStyle/>
          <a:p>
            <a:pPr>
              <a:lnSpc>
                <a:spcPct val="120000"/>
              </a:lnSpc>
            </a:pPr>
            <a:r>
              <a:rPr lang="en-US" sz="1039" dirty="0">
                <a:solidFill>
                  <a:srgbClr val="6B7280"/>
                </a:solidFill>
                <a:latin typeface="MiSans" pitchFamily="34" charset="0"/>
                <a:ea typeface="MiSans" pitchFamily="34" charset="-122"/>
                <a:cs typeface="MiSans" pitchFamily="34" charset="-120"/>
              </a:rPr>
              <a:t>Poste pilote</a:t>
            </a:r>
            <a:endParaRPr lang="en-US" sz="1600" dirty="0"/>
          </a:p>
        </p:txBody>
      </p:sp>
      <p:sp>
        <p:nvSpPr>
          <p:cNvPr id="41" name="Text 39"/>
          <p:cNvSpPr/>
          <p:nvPr/>
        </p:nvSpPr>
        <p:spPr>
          <a:xfrm>
            <a:off x="10413902" y="2751209"/>
            <a:ext cx="1064680" cy="376878"/>
          </a:xfrm>
          <a:prstGeom prst="rect">
            <a:avLst/>
          </a:prstGeom>
          <a:noFill/>
          <a:ln/>
        </p:spPr>
        <p:txBody>
          <a:bodyPr wrap="square" lIns="0" tIns="0" rIns="0" bIns="0" rtlCol="0" anchor="ctr"/>
          <a:lstStyle/>
          <a:p>
            <a:pPr algn="r">
              <a:lnSpc>
                <a:spcPct val="90000"/>
              </a:lnSpc>
            </a:pPr>
            <a:r>
              <a:rPr lang="en-US" sz="2671" b="1" dirty="0">
                <a:solidFill>
                  <a:srgbClr val="10B981"/>
                </a:solidFill>
                <a:latin typeface="Noto Sans SC" pitchFamily="34" charset="0"/>
                <a:ea typeface="Noto Sans SC" pitchFamily="34" charset="-122"/>
                <a:cs typeface="Noto Sans SC" pitchFamily="34" charset="-120"/>
              </a:rPr>
              <a:t>100%</a:t>
            </a:r>
            <a:endParaRPr lang="en-US" sz="1600" dirty="0"/>
          </a:p>
        </p:txBody>
      </p:sp>
      <p:sp>
        <p:nvSpPr>
          <p:cNvPr id="42" name="Text 40"/>
          <p:cNvSpPr/>
          <p:nvPr/>
        </p:nvSpPr>
        <p:spPr>
          <a:xfrm>
            <a:off x="10517543" y="3128087"/>
            <a:ext cx="961039" cy="188439"/>
          </a:xfrm>
          <a:prstGeom prst="rect">
            <a:avLst/>
          </a:prstGeom>
          <a:noFill/>
          <a:ln/>
        </p:spPr>
        <p:txBody>
          <a:bodyPr wrap="square" lIns="0" tIns="0" rIns="0" bIns="0" rtlCol="0" anchor="ctr"/>
          <a:lstStyle/>
          <a:p>
            <a:pPr algn="r">
              <a:lnSpc>
                <a:spcPct val="120000"/>
              </a:lnSpc>
            </a:pPr>
            <a:r>
              <a:rPr lang="en-US" sz="1039" dirty="0">
                <a:solidFill>
                  <a:srgbClr val="6B7280"/>
                </a:solidFill>
                <a:latin typeface="MiSans" pitchFamily="34" charset="0"/>
                <a:ea typeface="MiSans" pitchFamily="34" charset="-122"/>
                <a:cs typeface="MiSans" pitchFamily="34" charset="-120"/>
              </a:rPr>
              <a:t>pièces via FQA</a:t>
            </a:r>
            <a:endParaRPr lang="en-US" sz="1600" dirty="0"/>
          </a:p>
        </p:txBody>
      </p:sp>
      <p:sp>
        <p:nvSpPr>
          <p:cNvPr id="43" name="Shape 41"/>
          <p:cNvSpPr/>
          <p:nvPr/>
        </p:nvSpPr>
        <p:spPr>
          <a:xfrm>
            <a:off x="6436221" y="3655716"/>
            <a:ext cx="5191493" cy="753756"/>
          </a:xfrm>
          <a:custGeom>
            <a:avLst/>
            <a:gdLst/>
            <a:ahLst/>
            <a:cxnLst/>
            <a:rect l="l" t="t" r="r" b="b"/>
            <a:pathLst>
              <a:path w="5191493" h="753756">
                <a:moveTo>
                  <a:pt x="113063" y="0"/>
                </a:moveTo>
                <a:lnTo>
                  <a:pt x="5078430" y="0"/>
                </a:lnTo>
                <a:cubicBezTo>
                  <a:pt x="5140873" y="0"/>
                  <a:pt x="5191493" y="50620"/>
                  <a:pt x="5191493" y="113063"/>
                </a:cubicBezTo>
                <a:lnTo>
                  <a:pt x="5191493" y="640692"/>
                </a:lnTo>
                <a:cubicBezTo>
                  <a:pt x="5191493" y="703136"/>
                  <a:pt x="5140873" y="753756"/>
                  <a:pt x="5078430" y="753756"/>
                </a:cubicBezTo>
                <a:lnTo>
                  <a:pt x="113063" y="753756"/>
                </a:lnTo>
                <a:cubicBezTo>
                  <a:pt x="50620" y="753756"/>
                  <a:pt x="0" y="703136"/>
                  <a:pt x="0" y="640692"/>
                </a:cubicBezTo>
                <a:lnTo>
                  <a:pt x="0" y="113063"/>
                </a:lnTo>
                <a:cubicBezTo>
                  <a:pt x="0" y="50620"/>
                  <a:pt x="50620" y="0"/>
                  <a:pt x="113063" y="0"/>
                </a:cubicBezTo>
                <a:close/>
              </a:path>
            </a:pathLst>
          </a:custGeom>
          <a:solidFill>
            <a:srgbClr val="FFFFFF"/>
          </a:solidFill>
          <a:ln/>
        </p:spPr>
      </p:sp>
      <p:sp>
        <p:nvSpPr>
          <p:cNvPr id="44" name="Shape 42"/>
          <p:cNvSpPr/>
          <p:nvPr/>
        </p:nvSpPr>
        <p:spPr>
          <a:xfrm>
            <a:off x="6586972" y="3806467"/>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F97316"/>
          </a:solidFill>
          <a:ln/>
        </p:spPr>
      </p:sp>
      <p:sp>
        <p:nvSpPr>
          <p:cNvPr id="45" name="Shape 43"/>
          <p:cNvSpPr/>
          <p:nvPr/>
        </p:nvSpPr>
        <p:spPr>
          <a:xfrm>
            <a:off x="6718879" y="3938374"/>
            <a:ext cx="188439" cy="188439"/>
          </a:xfrm>
          <a:custGeom>
            <a:avLst/>
            <a:gdLst/>
            <a:ahLst/>
            <a:cxnLst/>
            <a:rect l="l" t="t" r="r" b="b"/>
            <a:pathLst>
              <a:path w="188439" h="188439">
                <a:moveTo>
                  <a:pt x="173570" y="7987"/>
                </a:moveTo>
                <a:cubicBezTo>
                  <a:pt x="165510" y="-74"/>
                  <a:pt x="152481" y="-74"/>
                  <a:pt x="144421" y="7987"/>
                </a:cubicBezTo>
                <a:lnTo>
                  <a:pt x="135440" y="16967"/>
                </a:lnTo>
                <a:lnTo>
                  <a:pt x="171472" y="52998"/>
                </a:lnTo>
                <a:lnTo>
                  <a:pt x="180452" y="44018"/>
                </a:lnTo>
                <a:cubicBezTo>
                  <a:pt x="188513" y="35958"/>
                  <a:pt x="188513" y="22929"/>
                  <a:pt x="180452" y="14869"/>
                </a:cubicBezTo>
                <a:lnTo>
                  <a:pt x="173570" y="7987"/>
                </a:lnTo>
                <a:close/>
                <a:moveTo>
                  <a:pt x="63451" y="88956"/>
                </a:moveTo>
                <a:cubicBezTo>
                  <a:pt x="61206" y="91202"/>
                  <a:pt x="59476" y="93962"/>
                  <a:pt x="58482" y="97017"/>
                </a:cubicBezTo>
                <a:lnTo>
                  <a:pt x="47588" y="129699"/>
                </a:lnTo>
                <a:cubicBezTo>
                  <a:pt x="46521" y="132864"/>
                  <a:pt x="47367" y="136361"/>
                  <a:pt x="49723" y="138753"/>
                </a:cubicBezTo>
                <a:cubicBezTo>
                  <a:pt x="52078" y="141145"/>
                  <a:pt x="55575" y="141955"/>
                  <a:pt x="58777" y="140888"/>
                </a:cubicBezTo>
                <a:lnTo>
                  <a:pt x="91459" y="129993"/>
                </a:lnTo>
                <a:cubicBezTo>
                  <a:pt x="94477" y="129000"/>
                  <a:pt x="97237" y="127270"/>
                  <a:pt x="99519" y="125025"/>
                </a:cubicBezTo>
                <a:lnTo>
                  <a:pt x="158995" y="65475"/>
                </a:lnTo>
                <a:lnTo>
                  <a:pt x="122964" y="29444"/>
                </a:lnTo>
                <a:lnTo>
                  <a:pt x="63451" y="88956"/>
                </a:lnTo>
                <a:close/>
                <a:moveTo>
                  <a:pt x="35332" y="23555"/>
                </a:moveTo>
                <a:cubicBezTo>
                  <a:pt x="15826" y="23555"/>
                  <a:pt x="0" y="39381"/>
                  <a:pt x="0" y="58887"/>
                </a:cubicBezTo>
                <a:lnTo>
                  <a:pt x="0" y="153107"/>
                </a:lnTo>
                <a:cubicBezTo>
                  <a:pt x="0" y="172613"/>
                  <a:pt x="15826" y="188439"/>
                  <a:pt x="35332" y="188439"/>
                </a:cubicBezTo>
                <a:lnTo>
                  <a:pt x="129552" y="188439"/>
                </a:lnTo>
                <a:cubicBezTo>
                  <a:pt x="149058" y="188439"/>
                  <a:pt x="164884" y="172613"/>
                  <a:pt x="164884" y="153107"/>
                </a:cubicBezTo>
                <a:lnTo>
                  <a:pt x="164884" y="117774"/>
                </a:lnTo>
                <a:cubicBezTo>
                  <a:pt x="164884" y="111260"/>
                  <a:pt x="159621" y="105997"/>
                  <a:pt x="153107" y="105997"/>
                </a:cubicBezTo>
                <a:cubicBezTo>
                  <a:pt x="146592" y="105997"/>
                  <a:pt x="141329" y="111260"/>
                  <a:pt x="141329" y="117774"/>
                </a:cubicBezTo>
                <a:lnTo>
                  <a:pt x="141329" y="153107"/>
                </a:lnTo>
                <a:cubicBezTo>
                  <a:pt x="141329" y="159621"/>
                  <a:pt x="136066" y="164884"/>
                  <a:pt x="129552" y="164884"/>
                </a:cubicBezTo>
                <a:lnTo>
                  <a:pt x="35332" y="164884"/>
                </a:lnTo>
                <a:cubicBezTo>
                  <a:pt x="28818" y="164884"/>
                  <a:pt x="23555" y="159621"/>
                  <a:pt x="23555" y="153107"/>
                </a:cubicBezTo>
                <a:lnTo>
                  <a:pt x="23555" y="58887"/>
                </a:lnTo>
                <a:cubicBezTo>
                  <a:pt x="23555" y="52373"/>
                  <a:pt x="28818" y="47110"/>
                  <a:pt x="35332" y="47110"/>
                </a:cubicBezTo>
                <a:lnTo>
                  <a:pt x="70665" y="47110"/>
                </a:lnTo>
                <a:cubicBezTo>
                  <a:pt x="77179" y="47110"/>
                  <a:pt x="82442" y="41847"/>
                  <a:pt x="82442" y="35332"/>
                </a:cubicBezTo>
                <a:cubicBezTo>
                  <a:pt x="82442" y="28818"/>
                  <a:pt x="77179" y="23555"/>
                  <a:pt x="70665" y="23555"/>
                </a:cubicBezTo>
                <a:lnTo>
                  <a:pt x="35332" y="23555"/>
                </a:lnTo>
                <a:close/>
              </a:path>
            </a:pathLst>
          </a:custGeom>
          <a:solidFill>
            <a:srgbClr val="FFFFFF"/>
          </a:solidFill>
          <a:ln/>
        </p:spPr>
      </p:sp>
      <p:sp>
        <p:nvSpPr>
          <p:cNvPr id="46" name="Text 44"/>
          <p:cNvSpPr/>
          <p:nvPr/>
        </p:nvSpPr>
        <p:spPr>
          <a:xfrm>
            <a:off x="7152289" y="3825311"/>
            <a:ext cx="1422714"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Taux de correction</a:t>
            </a:r>
            <a:endParaRPr lang="en-US" sz="1600" dirty="0"/>
          </a:p>
        </p:txBody>
      </p:sp>
      <p:sp>
        <p:nvSpPr>
          <p:cNvPr id="47" name="Text 45"/>
          <p:cNvSpPr/>
          <p:nvPr/>
        </p:nvSpPr>
        <p:spPr>
          <a:xfrm>
            <a:off x="7152289" y="4051437"/>
            <a:ext cx="1413292" cy="188439"/>
          </a:xfrm>
          <a:prstGeom prst="rect">
            <a:avLst/>
          </a:prstGeom>
          <a:noFill/>
          <a:ln/>
        </p:spPr>
        <p:txBody>
          <a:bodyPr wrap="square" lIns="0" tIns="0" rIns="0" bIns="0" rtlCol="0" anchor="ctr"/>
          <a:lstStyle/>
          <a:p>
            <a:pPr>
              <a:lnSpc>
                <a:spcPct val="120000"/>
              </a:lnSpc>
            </a:pPr>
            <a:r>
              <a:rPr lang="en-US" sz="1039" dirty="0">
                <a:solidFill>
                  <a:srgbClr val="6B7280"/>
                </a:solidFill>
                <a:latin typeface="MiSans" pitchFamily="34" charset="0"/>
                <a:ea typeface="MiSans" pitchFamily="34" charset="-122"/>
                <a:cs typeface="MiSans" pitchFamily="34" charset="-120"/>
              </a:rPr>
              <a:t>Cible M+2</a:t>
            </a:r>
            <a:endParaRPr lang="en-US" sz="1600" dirty="0"/>
          </a:p>
        </p:txBody>
      </p:sp>
      <p:sp>
        <p:nvSpPr>
          <p:cNvPr id="48" name="Text 46"/>
          <p:cNvSpPr/>
          <p:nvPr/>
        </p:nvSpPr>
        <p:spPr>
          <a:xfrm>
            <a:off x="10431421" y="3844155"/>
            <a:ext cx="1045836" cy="376878"/>
          </a:xfrm>
          <a:prstGeom prst="rect">
            <a:avLst/>
          </a:prstGeom>
          <a:noFill/>
          <a:ln/>
        </p:spPr>
        <p:txBody>
          <a:bodyPr wrap="square" lIns="0" tIns="0" rIns="0" bIns="0" rtlCol="0" anchor="ctr"/>
          <a:lstStyle/>
          <a:p>
            <a:pPr algn="r">
              <a:lnSpc>
                <a:spcPct val="90000"/>
              </a:lnSpc>
            </a:pPr>
            <a:r>
              <a:rPr lang="en-US" sz="2671" b="1" dirty="0">
                <a:solidFill>
                  <a:srgbClr val="F97316"/>
                </a:solidFill>
                <a:latin typeface="Noto Sans SC" pitchFamily="34" charset="0"/>
                <a:ea typeface="Noto Sans SC" pitchFamily="34" charset="-122"/>
                <a:cs typeface="Noto Sans SC" pitchFamily="34" charset="-120"/>
              </a:rPr>
              <a:t>&lt;10%</a:t>
            </a:r>
            <a:endParaRPr lang="en-US" sz="1600" dirty="0"/>
          </a:p>
        </p:txBody>
      </p:sp>
      <p:sp>
        <p:nvSpPr>
          <p:cNvPr id="49" name="Shape 47"/>
          <p:cNvSpPr/>
          <p:nvPr/>
        </p:nvSpPr>
        <p:spPr>
          <a:xfrm>
            <a:off x="6436221" y="4597910"/>
            <a:ext cx="5191493" cy="753756"/>
          </a:xfrm>
          <a:custGeom>
            <a:avLst/>
            <a:gdLst/>
            <a:ahLst/>
            <a:cxnLst/>
            <a:rect l="l" t="t" r="r" b="b"/>
            <a:pathLst>
              <a:path w="5191493" h="753756">
                <a:moveTo>
                  <a:pt x="113063" y="0"/>
                </a:moveTo>
                <a:lnTo>
                  <a:pt x="5078430" y="0"/>
                </a:lnTo>
                <a:cubicBezTo>
                  <a:pt x="5140873" y="0"/>
                  <a:pt x="5191493" y="50620"/>
                  <a:pt x="5191493" y="113063"/>
                </a:cubicBezTo>
                <a:lnTo>
                  <a:pt x="5191493" y="640692"/>
                </a:lnTo>
                <a:cubicBezTo>
                  <a:pt x="5191493" y="703136"/>
                  <a:pt x="5140873" y="753756"/>
                  <a:pt x="5078430" y="753756"/>
                </a:cubicBezTo>
                <a:lnTo>
                  <a:pt x="113063" y="753756"/>
                </a:lnTo>
                <a:cubicBezTo>
                  <a:pt x="50620" y="753756"/>
                  <a:pt x="0" y="703136"/>
                  <a:pt x="0" y="640692"/>
                </a:cubicBezTo>
                <a:lnTo>
                  <a:pt x="0" y="113063"/>
                </a:lnTo>
                <a:cubicBezTo>
                  <a:pt x="0" y="50620"/>
                  <a:pt x="50620" y="0"/>
                  <a:pt x="113063" y="0"/>
                </a:cubicBezTo>
                <a:close/>
              </a:path>
            </a:pathLst>
          </a:custGeom>
          <a:solidFill>
            <a:srgbClr val="FFFFFF"/>
          </a:solidFill>
          <a:ln/>
        </p:spPr>
      </p:sp>
      <p:sp>
        <p:nvSpPr>
          <p:cNvPr id="50" name="Shape 48"/>
          <p:cNvSpPr/>
          <p:nvPr/>
        </p:nvSpPr>
        <p:spPr>
          <a:xfrm>
            <a:off x="6586972" y="4748662"/>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3B82F6"/>
          </a:solidFill>
          <a:ln/>
        </p:spPr>
      </p:sp>
      <p:sp>
        <p:nvSpPr>
          <p:cNvPr id="51" name="Shape 49"/>
          <p:cNvSpPr/>
          <p:nvPr/>
        </p:nvSpPr>
        <p:spPr>
          <a:xfrm>
            <a:off x="6718879" y="4880569"/>
            <a:ext cx="188439" cy="188439"/>
          </a:xfrm>
          <a:custGeom>
            <a:avLst/>
            <a:gdLst/>
            <a:ahLst/>
            <a:cxnLst/>
            <a:rect l="l" t="t" r="r" b="b"/>
            <a:pathLst>
              <a:path w="188439" h="188439">
                <a:moveTo>
                  <a:pt x="94219" y="0"/>
                </a:moveTo>
                <a:cubicBezTo>
                  <a:pt x="146221" y="0"/>
                  <a:pt x="188439" y="42218"/>
                  <a:pt x="188439" y="94219"/>
                </a:cubicBezTo>
                <a:cubicBezTo>
                  <a:pt x="188439" y="146221"/>
                  <a:pt x="146221" y="188439"/>
                  <a:pt x="94219" y="188439"/>
                </a:cubicBezTo>
                <a:cubicBezTo>
                  <a:pt x="42218" y="188439"/>
                  <a:pt x="0" y="146221"/>
                  <a:pt x="0" y="94219"/>
                </a:cubicBezTo>
                <a:cubicBezTo>
                  <a:pt x="0" y="42218"/>
                  <a:pt x="42218" y="0"/>
                  <a:pt x="94219" y="0"/>
                </a:cubicBezTo>
                <a:close/>
                <a:moveTo>
                  <a:pt x="85386" y="44165"/>
                </a:moveTo>
                <a:lnTo>
                  <a:pt x="85386" y="94219"/>
                </a:lnTo>
                <a:cubicBezTo>
                  <a:pt x="85386" y="97164"/>
                  <a:pt x="86859" y="99924"/>
                  <a:pt x="89324" y="101580"/>
                </a:cubicBezTo>
                <a:lnTo>
                  <a:pt x="124657" y="125135"/>
                </a:lnTo>
                <a:cubicBezTo>
                  <a:pt x="128705" y="127859"/>
                  <a:pt x="134189" y="126755"/>
                  <a:pt x="136913" y="122669"/>
                </a:cubicBezTo>
                <a:cubicBezTo>
                  <a:pt x="139636" y="118584"/>
                  <a:pt x="138532" y="113137"/>
                  <a:pt x="134447" y="110413"/>
                </a:cubicBezTo>
                <a:lnTo>
                  <a:pt x="103053" y="89509"/>
                </a:lnTo>
                <a:lnTo>
                  <a:pt x="103053" y="44165"/>
                </a:lnTo>
                <a:cubicBezTo>
                  <a:pt x="103053" y="39270"/>
                  <a:pt x="99114" y="35332"/>
                  <a:pt x="94219" y="35332"/>
                </a:cubicBezTo>
                <a:cubicBezTo>
                  <a:pt x="89324" y="35332"/>
                  <a:pt x="85386" y="39270"/>
                  <a:pt x="85386" y="44165"/>
                </a:cubicBezTo>
                <a:close/>
              </a:path>
            </a:pathLst>
          </a:custGeom>
          <a:solidFill>
            <a:srgbClr val="FFFFFF"/>
          </a:solidFill>
          <a:ln/>
        </p:spPr>
      </p:sp>
      <p:sp>
        <p:nvSpPr>
          <p:cNvPr id="52" name="Text 50"/>
          <p:cNvSpPr/>
          <p:nvPr/>
        </p:nvSpPr>
        <p:spPr>
          <a:xfrm>
            <a:off x="7152289" y="4861725"/>
            <a:ext cx="1724216"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Temps moyen contrôle</a:t>
            </a:r>
            <a:endParaRPr lang="en-US" sz="1600" dirty="0"/>
          </a:p>
        </p:txBody>
      </p:sp>
      <p:sp>
        <p:nvSpPr>
          <p:cNvPr id="53" name="Text 51"/>
          <p:cNvSpPr/>
          <p:nvPr/>
        </p:nvSpPr>
        <p:spPr>
          <a:xfrm>
            <a:off x="10224285" y="4786349"/>
            <a:ext cx="1253119" cy="376878"/>
          </a:xfrm>
          <a:prstGeom prst="rect">
            <a:avLst/>
          </a:prstGeom>
          <a:noFill/>
          <a:ln/>
        </p:spPr>
        <p:txBody>
          <a:bodyPr wrap="square" lIns="0" tIns="0" rIns="0" bIns="0" rtlCol="0" anchor="ctr"/>
          <a:lstStyle/>
          <a:p>
            <a:pPr algn="r">
              <a:lnSpc>
                <a:spcPct val="90000"/>
              </a:lnSpc>
            </a:pPr>
            <a:r>
              <a:rPr lang="en-US" sz="2671" b="1" dirty="0">
                <a:solidFill>
                  <a:srgbClr val="3B82F6"/>
                </a:solidFill>
                <a:latin typeface="Noto Sans SC" pitchFamily="34" charset="0"/>
                <a:ea typeface="Noto Sans SC" pitchFamily="34" charset="-122"/>
                <a:cs typeface="Noto Sans SC" pitchFamily="34" charset="-120"/>
              </a:rPr>
              <a:t>&lt;2 min</a:t>
            </a:r>
            <a:endParaRPr lang="en-US" sz="1600" dirty="0"/>
          </a:p>
        </p:txBody>
      </p:sp>
      <p:sp>
        <p:nvSpPr>
          <p:cNvPr id="54" name="Shape 52"/>
          <p:cNvSpPr/>
          <p:nvPr/>
        </p:nvSpPr>
        <p:spPr>
          <a:xfrm>
            <a:off x="6436221" y="5540105"/>
            <a:ext cx="5191493" cy="753756"/>
          </a:xfrm>
          <a:custGeom>
            <a:avLst/>
            <a:gdLst/>
            <a:ahLst/>
            <a:cxnLst/>
            <a:rect l="l" t="t" r="r" b="b"/>
            <a:pathLst>
              <a:path w="5191493" h="753756">
                <a:moveTo>
                  <a:pt x="113063" y="0"/>
                </a:moveTo>
                <a:lnTo>
                  <a:pt x="5078430" y="0"/>
                </a:lnTo>
                <a:cubicBezTo>
                  <a:pt x="5140873" y="0"/>
                  <a:pt x="5191493" y="50620"/>
                  <a:pt x="5191493" y="113063"/>
                </a:cubicBezTo>
                <a:lnTo>
                  <a:pt x="5191493" y="640692"/>
                </a:lnTo>
                <a:cubicBezTo>
                  <a:pt x="5191493" y="703136"/>
                  <a:pt x="5140873" y="753756"/>
                  <a:pt x="5078430" y="753756"/>
                </a:cubicBezTo>
                <a:lnTo>
                  <a:pt x="113063" y="753756"/>
                </a:lnTo>
                <a:cubicBezTo>
                  <a:pt x="50620" y="753756"/>
                  <a:pt x="0" y="703136"/>
                  <a:pt x="0" y="640692"/>
                </a:cubicBezTo>
                <a:lnTo>
                  <a:pt x="0" y="113063"/>
                </a:lnTo>
                <a:cubicBezTo>
                  <a:pt x="0" y="50620"/>
                  <a:pt x="50620" y="0"/>
                  <a:pt x="113063" y="0"/>
                </a:cubicBezTo>
                <a:close/>
              </a:path>
            </a:pathLst>
          </a:custGeom>
          <a:solidFill>
            <a:srgbClr val="FFFFFF"/>
          </a:solidFill>
          <a:ln/>
        </p:spPr>
      </p:sp>
      <p:sp>
        <p:nvSpPr>
          <p:cNvPr id="55" name="Shape 53"/>
          <p:cNvSpPr/>
          <p:nvPr/>
        </p:nvSpPr>
        <p:spPr>
          <a:xfrm>
            <a:off x="6586972" y="5690856"/>
            <a:ext cx="452253" cy="452253"/>
          </a:xfrm>
          <a:custGeom>
            <a:avLst/>
            <a:gdLst/>
            <a:ahLst/>
            <a:cxnLst/>
            <a:rect l="l" t="t" r="r" b="b"/>
            <a:pathLst>
              <a:path w="452253" h="452253">
                <a:moveTo>
                  <a:pt x="113063" y="0"/>
                </a:moveTo>
                <a:lnTo>
                  <a:pt x="339190" y="0"/>
                </a:lnTo>
                <a:cubicBezTo>
                  <a:pt x="401633" y="0"/>
                  <a:pt x="452253" y="50620"/>
                  <a:pt x="452253" y="113063"/>
                </a:cubicBezTo>
                <a:lnTo>
                  <a:pt x="452253" y="339190"/>
                </a:lnTo>
                <a:cubicBezTo>
                  <a:pt x="452253" y="401633"/>
                  <a:pt x="401633" y="452253"/>
                  <a:pt x="339190" y="452253"/>
                </a:cubicBezTo>
                <a:lnTo>
                  <a:pt x="113063" y="452253"/>
                </a:lnTo>
                <a:cubicBezTo>
                  <a:pt x="50620" y="452253"/>
                  <a:pt x="0" y="401633"/>
                  <a:pt x="0" y="339190"/>
                </a:cubicBezTo>
                <a:lnTo>
                  <a:pt x="0" y="113063"/>
                </a:lnTo>
                <a:cubicBezTo>
                  <a:pt x="0" y="50620"/>
                  <a:pt x="50620" y="0"/>
                  <a:pt x="113063" y="0"/>
                </a:cubicBezTo>
                <a:close/>
              </a:path>
            </a:pathLst>
          </a:custGeom>
          <a:solidFill>
            <a:srgbClr val="8B5CF6"/>
          </a:solidFill>
          <a:ln/>
        </p:spPr>
      </p:sp>
      <p:sp>
        <p:nvSpPr>
          <p:cNvPr id="56" name="Shape 54"/>
          <p:cNvSpPr/>
          <p:nvPr/>
        </p:nvSpPr>
        <p:spPr>
          <a:xfrm>
            <a:off x="6718879" y="5822764"/>
            <a:ext cx="188439" cy="188439"/>
          </a:xfrm>
          <a:custGeom>
            <a:avLst/>
            <a:gdLst/>
            <a:ahLst/>
            <a:cxnLst/>
            <a:rect l="l" t="t" r="r" b="b"/>
            <a:pathLst>
              <a:path w="188439" h="188439">
                <a:moveTo>
                  <a:pt x="94219" y="188439"/>
                </a:moveTo>
                <a:cubicBezTo>
                  <a:pt x="146221" y="188439"/>
                  <a:pt x="188439" y="146221"/>
                  <a:pt x="188439" y="94219"/>
                </a:cubicBezTo>
                <a:cubicBezTo>
                  <a:pt x="188439" y="42218"/>
                  <a:pt x="146221" y="0"/>
                  <a:pt x="94219" y="0"/>
                </a:cubicBezTo>
                <a:cubicBezTo>
                  <a:pt x="42218" y="0"/>
                  <a:pt x="0" y="42218"/>
                  <a:pt x="0" y="94219"/>
                </a:cubicBezTo>
                <a:cubicBezTo>
                  <a:pt x="0" y="146221"/>
                  <a:pt x="42218" y="188439"/>
                  <a:pt x="94219" y="188439"/>
                </a:cubicBezTo>
                <a:close/>
                <a:moveTo>
                  <a:pt x="60875" y="118474"/>
                </a:moveTo>
                <a:cubicBezTo>
                  <a:pt x="68383" y="128779"/>
                  <a:pt x="80528" y="135440"/>
                  <a:pt x="94219" y="135440"/>
                </a:cubicBezTo>
                <a:cubicBezTo>
                  <a:pt x="107911" y="135440"/>
                  <a:pt x="120056" y="128779"/>
                  <a:pt x="127564" y="118474"/>
                </a:cubicBezTo>
                <a:cubicBezTo>
                  <a:pt x="130435" y="114536"/>
                  <a:pt x="135956" y="113652"/>
                  <a:pt x="139894" y="116523"/>
                </a:cubicBezTo>
                <a:cubicBezTo>
                  <a:pt x="143832" y="119394"/>
                  <a:pt x="144715" y="124914"/>
                  <a:pt x="141844" y="128852"/>
                </a:cubicBezTo>
                <a:cubicBezTo>
                  <a:pt x="131134" y="143537"/>
                  <a:pt x="113799" y="153107"/>
                  <a:pt x="94219" y="153107"/>
                </a:cubicBezTo>
                <a:cubicBezTo>
                  <a:pt x="74639" y="153107"/>
                  <a:pt x="57305" y="143537"/>
                  <a:pt x="46594" y="128852"/>
                </a:cubicBezTo>
                <a:cubicBezTo>
                  <a:pt x="43724" y="124914"/>
                  <a:pt x="44607" y="119394"/>
                  <a:pt x="48545" y="116523"/>
                </a:cubicBezTo>
                <a:cubicBezTo>
                  <a:pt x="52483" y="113652"/>
                  <a:pt x="58004" y="114536"/>
                  <a:pt x="60875" y="118474"/>
                </a:cubicBezTo>
                <a:close/>
                <a:moveTo>
                  <a:pt x="52998" y="76553"/>
                </a:moveTo>
                <a:cubicBezTo>
                  <a:pt x="52998" y="70053"/>
                  <a:pt x="58276" y="64776"/>
                  <a:pt x="64776" y="64776"/>
                </a:cubicBezTo>
                <a:cubicBezTo>
                  <a:pt x="71276" y="64776"/>
                  <a:pt x="76553" y="70053"/>
                  <a:pt x="76553" y="76553"/>
                </a:cubicBezTo>
                <a:cubicBezTo>
                  <a:pt x="76553" y="83053"/>
                  <a:pt x="71276" y="88331"/>
                  <a:pt x="64776" y="88331"/>
                </a:cubicBezTo>
                <a:cubicBezTo>
                  <a:pt x="58276" y="88331"/>
                  <a:pt x="52998" y="83053"/>
                  <a:pt x="52998" y="76553"/>
                </a:cubicBezTo>
                <a:close/>
                <a:moveTo>
                  <a:pt x="123663" y="64776"/>
                </a:moveTo>
                <a:cubicBezTo>
                  <a:pt x="130163" y="64776"/>
                  <a:pt x="135440" y="70053"/>
                  <a:pt x="135440" y="76553"/>
                </a:cubicBezTo>
                <a:cubicBezTo>
                  <a:pt x="135440" y="83053"/>
                  <a:pt x="130163" y="88331"/>
                  <a:pt x="123663" y="88331"/>
                </a:cubicBezTo>
                <a:cubicBezTo>
                  <a:pt x="117163" y="88331"/>
                  <a:pt x="111886" y="83053"/>
                  <a:pt x="111886" y="76553"/>
                </a:cubicBezTo>
                <a:cubicBezTo>
                  <a:pt x="111886" y="70053"/>
                  <a:pt x="117163" y="64776"/>
                  <a:pt x="123663" y="64776"/>
                </a:cubicBezTo>
                <a:close/>
              </a:path>
            </a:pathLst>
          </a:custGeom>
          <a:solidFill>
            <a:srgbClr val="FFFFFF"/>
          </a:solidFill>
          <a:ln/>
        </p:spPr>
      </p:sp>
      <p:sp>
        <p:nvSpPr>
          <p:cNvPr id="57" name="Text 55"/>
          <p:cNvSpPr/>
          <p:nvPr/>
        </p:nvSpPr>
        <p:spPr>
          <a:xfrm>
            <a:off x="7152289" y="5709700"/>
            <a:ext cx="932773" cy="226127"/>
          </a:xfrm>
          <a:prstGeom prst="rect">
            <a:avLst/>
          </a:prstGeom>
          <a:noFill/>
          <a:ln/>
        </p:spPr>
        <p:txBody>
          <a:bodyPr wrap="square" lIns="0" tIns="0" rIns="0" bIns="0" rtlCol="0" anchor="ctr"/>
          <a:lstStyle/>
          <a:p>
            <a:pPr>
              <a:lnSpc>
                <a:spcPct val="130000"/>
              </a:lnSpc>
            </a:pPr>
            <a:r>
              <a:rPr lang="en-US" sz="1187" b="1" dirty="0">
                <a:solidFill>
                  <a:srgbClr val="374151"/>
                </a:solidFill>
                <a:latin typeface="MiSans" pitchFamily="34" charset="0"/>
                <a:ea typeface="MiSans" pitchFamily="34" charset="-122"/>
                <a:cs typeface="MiSans" pitchFamily="34" charset="-120"/>
              </a:rPr>
              <a:t>NPS interne</a:t>
            </a:r>
            <a:endParaRPr lang="en-US" sz="1600" dirty="0"/>
          </a:p>
        </p:txBody>
      </p:sp>
      <p:sp>
        <p:nvSpPr>
          <p:cNvPr id="58" name="Text 56"/>
          <p:cNvSpPr/>
          <p:nvPr/>
        </p:nvSpPr>
        <p:spPr>
          <a:xfrm>
            <a:off x="7152289" y="5935827"/>
            <a:ext cx="923351" cy="188439"/>
          </a:xfrm>
          <a:prstGeom prst="rect">
            <a:avLst/>
          </a:prstGeom>
          <a:noFill/>
          <a:ln/>
        </p:spPr>
        <p:txBody>
          <a:bodyPr wrap="square" lIns="0" tIns="0" rIns="0" bIns="0" rtlCol="0" anchor="ctr"/>
          <a:lstStyle/>
          <a:p>
            <a:pPr>
              <a:lnSpc>
                <a:spcPct val="120000"/>
              </a:lnSpc>
            </a:pPr>
            <a:r>
              <a:rPr lang="en-US" sz="1039" dirty="0">
                <a:solidFill>
                  <a:srgbClr val="6B7280"/>
                </a:solidFill>
                <a:latin typeface="MiSans" pitchFamily="34" charset="0"/>
                <a:ea typeface="MiSans" pitchFamily="34" charset="-122"/>
                <a:cs typeface="MiSans" pitchFamily="34" charset="-120"/>
              </a:rPr>
              <a:t>Après 1 mois</a:t>
            </a:r>
            <a:endParaRPr lang="en-US" sz="1600" dirty="0"/>
          </a:p>
        </p:txBody>
      </p:sp>
      <p:sp>
        <p:nvSpPr>
          <p:cNvPr id="59" name="Text 57"/>
          <p:cNvSpPr/>
          <p:nvPr/>
        </p:nvSpPr>
        <p:spPr>
          <a:xfrm>
            <a:off x="10462042" y="5728544"/>
            <a:ext cx="1017570" cy="376878"/>
          </a:xfrm>
          <a:prstGeom prst="rect">
            <a:avLst/>
          </a:prstGeom>
          <a:noFill/>
          <a:ln/>
        </p:spPr>
        <p:txBody>
          <a:bodyPr wrap="square" lIns="0" tIns="0" rIns="0" bIns="0" rtlCol="0" anchor="ctr"/>
          <a:lstStyle/>
          <a:p>
            <a:pPr algn="r">
              <a:lnSpc>
                <a:spcPct val="90000"/>
              </a:lnSpc>
            </a:pPr>
            <a:r>
              <a:rPr lang="en-US" sz="2671" b="1" dirty="0">
                <a:solidFill>
                  <a:srgbClr val="8B5CF6"/>
                </a:solidFill>
                <a:latin typeface="Noto Sans SC" pitchFamily="34" charset="0"/>
                <a:ea typeface="Noto Sans SC" pitchFamily="34" charset="-122"/>
                <a:cs typeface="Noto Sans SC" pitchFamily="34" charset="-120"/>
              </a:rPr>
              <a:t>≥7/10</a:t>
            </a:r>
            <a:endParaRPr lang="en-US" sz="1600" dirty="0"/>
          </a:p>
        </p:txBody>
      </p:sp>
      <p:sp>
        <p:nvSpPr>
          <p:cNvPr id="60" name="Shape 58"/>
          <p:cNvSpPr/>
          <p:nvPr/>
        </p:nvSpPr>
        <p:spPr>
          <a:xfrm>
            <a:off x="2558500" y="3580340"/>
            <a:ext cx="1206009" cy="1206009"/>
          </a:xfrm>
          <a:custGeom>
            <a:avLst/>
            <a:gdLst/>
            <a:ahLst/>
            <a:cxnLst/>
            <a:rect l="l" t="t" r="r" b="b"/>
            <a:pathLst>
              <a:path w="1206009" h="1206009">
                <a:moveTo>
                  <a:pt x="603005" y="0"/>
                </a:moveTo>
                <a:lnTo>
                  <a:pt x="603005" y="0"/>
                </a:lnTo>
                <a:cubicBezTo>
                  <a:pt x="935812" y="0"/>
                  <a:pt x="1206009" y="270197"/>
                  <a:pt x="1206009" y="603005"/>
                </a:cubicBezTo>
                <a:lnTo>
                  <a:pt x="1206009" y="603005"/>
                </a:lnTo>
                <a:cubicBezTo>
                  <a:pt x="1206009" y="935812"/>
                  <a:pt x="935812" y="1206009"/>
                  <a:pt x="603005" y="1206009"/>
                </a:cubicBezTo>
                <a:lnTo>
                  <a:pt x="603005" y="1206009"/>
                </a:lnTo>
                <a:cubicBezTo>
                  <a:pt x="270197" y="1206009"/>
                  <a:pt x="0" y="935812"/>
                  <a:pt x="0" y="603005"/>
                </a:cubicBezTo>
                <a:lnTo>
                  <a:pt x="0" y="603005"/>
                </a:lnTo>
                <a:cubicBezTo>
                  <a:pt x="0" y="270197"/>
                  <a:pt x="270197" y="0"/>
                  <a:pt x="603005" y="0"/>
                </a:cubicBezTo>
                <a:close/>
              </a:path>
            </a:pathLst>
          </a:custGeom>
          <a:solidFill>
            <a:srgbClr val="10B981"/>
          </a:solidFill>
          <a:ln/>
        </p:spPr>
      </p:sp>
      <p:sp>
        <p:nvSpPr>
          <p:cNvPr id="61" name="Text 59"/>
          <p:cNvSpPr/>
          <p:nvPr/>
        </p:nvSpPr>
        <p:spPr>
          <a:xfrm>
            <a:off x="2816868" y="3994906"/>
            <a:ext cx="687802" cy="376878"/>
          </a:xfrm>
          <a:prstGeom prst="rect">
            <a:avLst/>
          </a:prstGeom>
          <a:noFill/>
          <a:ln/>
        </p:spPr>
        <p:txBody>
          <a:bodyPr wrap="square" lIns="0" tIns="0" rIns="0" bIns="0" rtlCol="0" anchor="ctr"/>
          <a:lstStyle/>
          <a:p>
            <a:pPr algn="ctr">
              <a:lnSpc>
                <a:spcPct val="120000"/>
              </a:lnSpc>
            </a:pPr>
            <a:r>
              <a:rPr lang="en-US" sz="1039" b="1" dirty="0">
                <a:solidFill>
                  <a:srgbClr val="FFFFFF"/>
                </a:solidFill>
                <a:latin typeface="MiSans" pitchFamily="34" charset="0"/>
                <a:ea typeface="MiSans" pitchFamily="34" charset="-122"/>
                <a:cs typeface="MiSans" pitchFamily="34" charset="-120"/>
              </a:rPr>
              <a:t>Boucle</a:t>
            </a:r>
            <a:endParaRPr lang="en-US" sz="1600" dirty="0"/>
          </a:p>
          <a:p>
            <a:pPr algn="ctr">
              <a:lnSpc>
                <a:spcPct val="120000"/>
              </a:lnSpc>
            </a:pPr>
            <a:r>
              <a:rPr lang="en-US" sz="1039" b="1" dirty="0">
                <a:solidFill>
                  <a:srgbClr val="FFFFFF"/>
                </a:solidFill>
                <a:latin typeface="MiSans" pitchFamily="34" charset="0"/>
                <a:ea typeface="MiSans" pitchFamily="34" charset="-122"/>
                <a:cs typeface="MiSans" pitchFamily="34" charset="-120"/>
              </a:rPr>
              <a:t>vertueuse</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40321" y="204193"/>
            <a:ext cx="935883" cy="306289"/>
          </a:xfrm>
          <a:custGeom>
            <a:avLst/>
            <a:gdLst/>
            <a:ahLst/>
            <a:cxnLst/>
            <a:rect l="l" t="t" r="r" b="b"/>
            <a:pathLst>
              <a:path w="935883" h="306289">
                <a:moveTo>
                  <a:pt x="153144" y="0"/>
                </a:moveTo>
                <a:lnTo>
                  <a:pt x="782738" y="0"/>
                </a:lnTo>
                <a:cubicBezTo>
                  <a:pt x="867318" y="0"/>
                  <a:pt x="935883" y="68565"/>
                  <a:pt x="935883" y="153144"/>
                </a:cubicBezTo>
                <a:lnTo>
                  <a:pt x="935883" y="153144"/>
                </a:lnTo>
                <a:cubicBezTo>
                  <a:pt x="935883" y="237724"/>
                  <a:pt x="867318" y="306289"/>
                  <a:pt x="782738" y="306289"/>
                </a:cubicBezTo>
                <a:lnTo>
                  <a:pt x="153144" y="306289"/>
                </a:lnTo>
                <a:cubicBezTo>
                  <a:pt x="68622" y="306289"/>
                  <a:pt x="0" y="237667"/>
                  <a:pt x="0" y="153144"/>
                </a:cubicBezTo>
                <a:lnTo>
                  <a:pt x="0" y="153144"/>
                </a:lnTo>
                <a:cubicBezTo>
                  <a:pt x="0" y="68622"/>
                  <a:pt x="68622" y="0"/>
                  <a:pt x="153144" y="0"/>
                </a:cubicBezTo>
                <a:close/>
              </a:path>
            </a:pathLst>
          </a:custGeom>
          <a:solidFill>
            <a:srgbClr val="1E3A8A"/>
          </a:solidFill>
          <a:ln/>
        </p:spPr>
      </p:sp>
      <p:sp>
        <p:nvSpPr>
          <p:cNvPr id="3" name="Text 1"/>
          <p:cNvSpPr/>
          <p:nvPr/>
        </p:nvSpPr>
        <p:spPr>
          <a:xfrm>
            <a:off x="476449" y="272257"/>
            <a:ext cx="723182" cy="170161"/>
          </a:xfrm>
          <a:prstGeom prst="rect">
            <a:avLst/>
          </a:prstGeom>
          <a:noFill/>
          <a:ln/>
        </p:spPr>
        <p:txBody>
          <a:bodyPr wrap="square" lIns="0" tIns="0" rIns="0" bIns="0" rtlCol="0" anchor="ctr"/>
          <a:lstStyle/>
          <a:p>
            <a:pPr>
              <a:lnSpc>
                <a:spcPct val="120000"/>
              </a:lnSpc>
            </a:pPr>
            <a:r>
              <a:rPr lang="en-US" sz="938" b="1" kern="0" spc="23" dirty="0">
                <a:solidFill>
                  <a:srgbClr val="FFFFFF"/>
                </a:solidFill>
                <a:latin typeface="MiSans" pitchFamily="34" charset="0"/>
                <a:ea typeface="MiSans" pitchFamily="34" charset="-122"/>
                <a:cs typeface="MiSans" pitchFamily="34" charset="-120"/>
              </a:rPr>
              <a:t>SYNTHÈSE</a:t>
            </a:r>
            <a:endParaRPr lang="en-US" sz="1600" dirty="0"/>
          </a:p>
        </p:txBody>
      </p:sp>
      <p:sp>
        <p:nvSpPr>
          <p:cNvPr id="4" name="Text 2"/>
          <p:cNvSpPr/>
          <p:nvPr/>
        </p:nvSpPr>
        <p:spPr>
          <a:xfrm>
            <a:off x="340321" y="884835"/>
            <a:ext cx="11664502" cy="340321"/>
          </a:xfrm>
          <a:prstGeom prst="rect">
            <a:avLst/>
          </a:prstGeom>
          <a:noFill/>
          <a:ln/>
        </p:spPr>
        <p:txBody>
          <a:bodyPr wrap="square" lIns="0" tIns="0" rIns="0" bIns="0" rtlCol="0" anchor="ctr"/>
          <a:lstStyle/>
          <a:p>
            <a:pPr>
              <a:lnSpc>
                <a:spcPct val="90000"/>
              </a:lnSpc>
            </a:pPr>
            <a:r>
              <a:rPr lang="en-US" sz="2412" b="1" dirty="0">
                <a:solidFill>
                  <a:srgbClr val="1E3A8A"/>
                </a:solidFill>
                <a:latin typeface="Noto Sans SC" pitchFamily="34" charset="0"/>
                <a:ea typeface="Noto Sans SC" pitchFamily="34" charset="-122"/>
                <a:cs typeface="Noto Sans SC" pitchFamily="34" charset="-120"/>
              </a:rPr>
              <a:t>Synthèse &amp; Perspectives</a:t>
            </a:r>
            <a:endParaRPr lang="en-US" sz="1600" dirty="0"/>
          </a:p>
        </p:txBody>
      </p:sp>
      <p:sp>
        <p:nvSpPr>
          <p:cNvPr id="5" name="Shape 3"/>
          <p:cNvSpPr/>
          <p:nvPr/>
        </p:nvSpPr>
        <p:spPr>
          <a:xfrm>
            <a:off x="348829" y="1369792"/>
            <a:ext cx="3471274" cy="1310236"/>
          </a:xfrm>
          <a:custGeom>
            <a:avLst/>
            <a:gdLst/>
            <a:ahLst/>
            <a:cxnLst/>
            <a:rect l="l" t="t" r="r" b="b"/>
            <a:pathLst>
              <a:path w="3471274" h="1310236">
                <a:moveTo>
                  <a:pt x="136134" y="0"/>
                </a:moveTo>
                <a:lnTo>
                  <a:pt x="3335141" y="0"/>
                </a:lnTo>
                <a:cubicBezTo>
                  <a:pt x="3410275" y="0"/>
                  <a:pt x="3471274" y="60999"/>
                  <a:pt x="3471274" y="136134"/>
                </a:cubicBezTo>
                <a:lnTo>
                  <a:pt x="3471274" y="1174102"/>
                </a:lnTo>
                <a:cubicBezTo>
                  <a:pt x="3471274" y="1249236"/>
                  <a:pt x="3410275" y="1310236"/>
                  <a:pt x="3335141" y="1310236"/>
                </a:cubicBezTo>
                <a:lnTo>
                  <a:pt x="136134" y="1310236"/>
                </a:lnTo>
                <a:cubicBezTo>
                  <a:pt x="60999" y="1310236"/>
                  <a:pt x="0" y="1249236"/>
                  <a:pt x="0" y="1174102"/>
                </a:cubicBezTo>
                <a:lnTo>
                  <a:pt x="0" y="136134"/>
                </a:lnTo>
                <a:cubicBezTo>
                  <a:pt x="0" y="60999"/>
                  <a:pt x="60999" y="0"/>
                  <a:pt x="136134" y="0"/>
                </a:cubicBezTo>
                <a:close/>
              </a:path>
            </a:pathLst>
          </a:custGeom>
          <a:solidFill>
            <a:srgbClr val="10B981">
              <a:alpha val="10196"/>
            </a:srgbClr>
          </a:solidFill>
          <a:ln w="25400">
            <a:solidFill>
              <a:srgbClr val="10B981"/>
            </a:solidFill>
            <a:prstDash val="solid"/>
          </a:ln>
        </p:spPr>
      </p:sp>
      <p:sp>
        <p:nvSpPr>
          <p:cNvPr id="6" name="Shape 4"/>
          <p:cNvSpPr/>
          <p:nvPr/>
        </p:nvSpPr>
        <p:spPr>
          <a:xfrm>
            <a:off x="493465" y="1514428"/>
            <a:ext cx="340321" cy="340321"/>
          </a:xfrm>
          <a:custGeom>
            <a:avLst/>
            <a:gdLst/>
            <a:ahLst/>
            <a:cxnLst/>
            <a:rect l="l" t="t" r="r" b="b"/>
            <a:pathLst>
              <a:path w="340321" h="340321">
                <a:moveTo>
                  <a:pt x="102096" y="0"/>
                </a:moveTo>
                <a:lnTo>
                  <a:pt x="238225" y="0"/>
                </a:lnTo>
                <a:cubicBezTo>
                  <a:pt x="294611" y="0"/>
                  <a:pt x="340321" y="45710"/>
                  <a:pt x="340321" y="102096"/>
                </a:cubicBezTo>
                <a:lnTo>
                  <a:pt x="340321" y="238225"/>
                </a:lnTo>
                <a:cubicBezTo>
                  <a:pt x="340321" y="294611"/>
                  <a:pt x="294611" y="340321"/>
                  <a:pt x="238225" y="340321"/>
                </a:cubicBezTo>
                <a:lnTo>
                  <a:pt x="102096" y="340321"/>
                </a:lnTo>
                <a:cubicBezTo>
                  <a:pt x="45710" y="340321"/>
                  <a:pt x="0" y="294611"/>
                  <a:pt x="0" y="238225"/>
                </a:cubicBezTo>
                <a:lnTo>
                  <a:pt x="0" y="102096"/>
                </a:lnTo>
                <a:cubicBezTo>
                  <a:pt x="0" y="45748"/>
                  <a:pt x="45748" y="0"/>
                  <a:pt x="102096" y="0"/>
                </a:cubicBezTo>
                <a:close/>
              </a:path>
            </a:pathLst>
          </a:custGeom>
          <a:solidFill>
            <a:srgbClr val="10B981"/>
          </a:solidFill>
          <a:ln/>
        </p:spPr>
      </p:sp>
      <p:sp>
        <p:nvSpPr>
          <p:cNvPr id="7" name="Text 5"/>
          <p:cNvSpPr/>
          <p:nvPr/>
        </p:nvSpPr>
        <p:spPr>
          <a:xfrm>
            <a:off x="625739" y="1582493"/>
            <a:ext cx="144636" cy="204193"/>
          </a:xfrm>
          <a:prstGeom prst="rect">
            <a:avLst/>
          </a:prstGeom>
          <a:noFill/>
          <a:ln/>
        </p:spPr>
        <p:txBody>
          <a:bodyPr wrap="square" lIns="0" tIns="0" rIns="0" bIns="0" rtlCol="0" anchor="ctr"/>
          <a:lstStyle/>
          <a:p>
            <a:pPr>
              <a:lnSpc>
                <a:spcPct val="130000"/>
              </a:lnSpc>
            </a:pPr>
            <a:r>
              <a:rPr lang="en-US" sz="1072" b="1" dirty="0">
                <a:solidFill>
                  <a:srgbClr val="FFFFFF"/>
                </a:solidFill>
                <a:latin typeface="MiSans" pitchFamily="34" charset="0"/>
                <a:ea typeface="MiSans" pitchFamily="34" charset="-122"/>
                <a:cs typeface="MiSans" pitchFamily="34" charset="-120"/>
              </a:rPr>
              <a:t>1</a:t>
            </a:r>
            <a:endParaRPr lang="en-US" sz="1600" dirty="0"/>
          </a:p>
        </p:txBody>
      </p:sp>
      <p:sp>
        <p:nvSpPr>
          <p:cNvPr id="8" name="Text 6"/>
          <p:cNvSpPr/>
          <p:nvPr/>
        </p:nvSpPr>
        <p:spPr>
          <a:xfrm>
            <a:off x="901851" y="1565477"/>
            <a:ext cx="901851" cy="238225"/>
          </a:xfrm>
          <a:prstGeom prst="rect">
            <a:avLst/>
          </a:prstGeom>
          <a:noFill/>
          <a:ln/>
        </p:spPr>
        <p:txBody>
          <a:bodyPr wrap="square" lIns="0" tIns="0" rIns="0" bIns="0" rtlCol="0" anchor="ctr"/>
          <a:lstStyle/>
          <a:p>
            <a:pPr>
              <a:lnSpc>
                <a:spcPct val="120000"/>
              </a:lnSpc>
            </a:pPr>
            <a:r>
              <a:rPr lang="en-US" sz="1340" b="1" dirty="0">
                <a:solidFill>
                  <a:srgbClr val="1E3A8A"/>
                </a:solidFill>
                <a:latin typeface="Noto Sans SC" pitchFamily="34" charset="0"/>
                <a:ea typeface="Noto Sans SC" pitchFamily="34" charset="-122"/>
                <a:cs typeface="Noto Sans SC" pitchFamily="34" charset="-120"/>
              </a:rPr>
              <a:t>Discovery</a:t>
            </a:r>
            <a:endParaRPr lang="en-US" sz="1600" dirty="0"/>
          </a:p>
        </p:txBody>
      </p:sp>
      <p:sp>
        <p:nvSpPr>
          <p:cNvPr id="9" name="Shape 7"/>
          <p:cNvSpPr/>
          <p:nvPr/>
        </p:nvSpPr>
        <p:spPr>
          <a:xfrm>
            <a:off x="3203404" y="1548461"/>
            <a:ext cx="467941" cy="272257"/>
          </a:xfrm>
          <a:custGeom>
            <a:avLst/>
            <a:gdLst/>
            <a:ahLst/>
            <a:cxnLst/>
            <a:rect l="l" t="t" r="r" b="b"/>
            <a:pathLst>
              <a:path w="467941" h="272257">
                <a:moveTo>
                  <a:pt x="136128" y="0"/>
                </a:moveTo>
                <a:lnTo>
                  <a:pt x="331813" y="0"/>
                </a:lnTo>
                <a:cubicBezTo>
                  <a:pt x="406995" y="0"/>
                  <a:pt x="467941" y="60947"/>
                  <a:pt x="467941" y="136128"/>
                </a:cubicBezTo>
                <a:lnTo>
                  <a:pt x="467941" y="136128"/>
                </a:lnTo>
                <a:cubicBezTo>
                  <a:pt x="467941" y="211310"/>
                  <a:pt x="406995" y="272257"/>
                  <a:pt x="331813" y="272257"/>
                </a:cubicBezTo>
                <a:lnTo>
                  <a:pt x="136128" y="272257"/>
                </a:lnTo>
                <a:cubicBezTo>
                  <a:pt x="60947" y="272257"/>
                  <a:pt x="0" y="211310"/>
                  <a:pt x="0" y="136128"/>
                </a:cubicBezTo>
                <a:lnTo>
                  <a:pt x="0" y="136128"/>
                </a:lnTo>
                <a:cubicBezTo>
                  <a:pt x="0" y="60947"/>
                  <a:pt x="60947" y="0"/>
                  <a:pt x="136128" y="0"/>
                </a:cubicBezTo>
                <a:close/>
              </a:path>
            </a:pathLst>
          </a:custGeom>
          <a:solidFill>
            <a:srgbClr val="10B981"/>
          </a:solidFill>
          <a:ln/>
        </p:spPr>
      </p:sp>
      <p:sp>
        <p:nvSpPr>
          <p:cNvPr id="10" name="Text 8"/>
          <p:cNvSpPr/>
          <p:nvPr/>
        </p:nvSpPr>
        <p:spPr>
          <a:xfrm>
            <a:off x="3305501" y="1616525"/>
            <a:ext cx="324236" cy="136128"/>
          </a:xfrm>
          <a:prstGeom prst="rect">
            <a:avLst/>
          </a:prstGeom>
          <a:noFill/>
          <a:ln/>
        </p:spPr>
        <p:txBody>
          <a:bodyPr wrap="square" lIns="0" tIns="0" rIns="0" bIns="0" rtlCol="0" anchor="ctr"/>
          <a:lstStyle/>
          <a:p>
            <a:pPr>
              <a:lnSpc>
                <a:spcPct val="120000"/>
              </a:lnSpc>
            </a:pPr>
            <a:r>
              <a:rPr lang="en-US" sz="938" b="1" dirty="0">
                <a:solidFill>
                  <a:srgbClr val="FFFFFF"/>
                </a:solidFill>
                <a:latin typeface="MiSans" pitchFamily="34" charset="0"/>
                <a:ea typeface="MiSans" pitchFamily="34" charset="-122"/>
                <a:cs typeface="MiSans" pitchFamily="34" charset="-120"/>
              </a:rPr>
              <a:t>FAIT</a:t>
            </a:r>
            <a:endParaRPr lang="en-US" sz="1600" dirty="0"/>
          </a:p>
        </p:txBody>
      </p:sp>
      <p:sp>
        <p:nvSpPr>
          <p:cNvPr id="11" name="Text 9"/>
          <p:cNvSpPr/>
          <p:nvPr/>
        </p:nvSpPr>
        <p:spPr>
          <a:xfrm>
            <a:off x="493465" y="1956846"/>
            <a:ext cx="3241558" cy="170161"/>
          </a:xfrm>
          <a:prstGeom prst="rect">
            <a:avLst/>
          </a:prstGeom>
          <a:noFill/>
          <a:ln/>
        </p:spPr>
        <p:txBody>
          <a:bodyPr wrap="square" lIns="0" tIns="0" rIns="0" bIns="0" rtlCol="0" anchor="ctr"/>
          <a:lstStyle/>
          <a:p>
            <a:pPr>
              <a:lnSpc>
                <a:spcPct val="120000"/>
              </a:lnSpc>
            </a:pPr>
            <a:r>
              <a:rPr lang="en-US" sz="938" dirty="0">
                <a:solidFill>
                  <a:srgbClr val="374151"/>
                </a:solidFill>
                <a:latin typeface="MiSans" pitchFamily="34" charset="0"/>
                <a:ea typeface="MiSans" pitchFamily="34" charset="-122"/>
                <a:cs typeface="MiSans" pitchFamily="34" charset="-120"/>
              </a:rPr>
              <a:t>• Problème identifié</a:t>
            </a:r>
            <a:endParaRPr lang="en-US" sz="1600" dirty="0"/>
          </a:p>
        </p:txBody>
      </p:sp>
      <p:sp>
        <p:nvSpPr>
          <p:cNvPr id="12" name="Text 10"/>
          <p:cNvSpPr/>
          <p:nvPr/>
        </p:nvSpPr>
        <p:spPr>
          <a:xfrm>
            <a:off x="493465" y="2161038"/>
            <a:ext cx="3241558" cy="170161"/>
          </a:xfrm>
          <a:prstGeom prst="rect">
            <a:avLst/>
          </a:prstGeom>
          <a:noFill/>
          <a:ln/>
        </p:spPr>
        <p:txBody>
          <a:bodyPr wrap="square" lIns="0" tIns="0" rIns="0" bIns="0" rtlCol="0" anchor="ctr"/>
          <a:lstStyle/>
          <a:p>
            <a:pPr>
              <a:lnSpc>
                <a:spcPct val="120000"/>
              </a:lnSpc>
            </a:pPr>
            <a:r>
              <a:rPr lang="en-US" sz="938" dirty="0">
                <a:solidFill>
                  <a:srgbClr val="374151"/>
                </a:solidFill>
                <a:latin typeface="MiSans" pitchFamily="34" charset="0"/>
                <a:ea typeface="MiSans" pitchFamily="34" charset="-122"/>
                <a:cs typeface="MiSans" pitchFamily="34" charset="-120"/>
              </a:rPr>
              <a:t>• Solution priorisée </a:t>
            </a:r>
            <a:r>
              <a:rPr lang="en-US" sz="938" b="1" dirty="0">
                <a:solidFill>
                  <a:srgbClr val="10B981"/>
                </a:solidFill>
                <a:latin typeface="MiSans" pitchFamily="34" charset="0"/>
                <a:ea typeface="MiSans" pitchFamily="34" charset="-122"/>
                <a:cs typeface="MiSans" pitchFamily="34" charset="-120"/>
              </a:rPr>
              <a:t>4.70/5</a:t>
            </a:r>
            <a:endParaRPr lang="en-US" sz="1600" dirty="0"/>
          </a:p>
        </p:txBody>
      </p:sp>
      <p:sp>
        <p:nvSpPr>
          <p:cNvPr id="13" name="Text 11"/>
          <p:cNvSpPr/>
          <p:nvPr/>
        </p:nvSpPr>
        <p:spPr>
          <a:xfrm>
            <a:off x="493465" y="2365231"/>
            <a:ext cx="3241558" cy="170161"/>
          </a:xfrm>
          <a:prstGeom prst="rect">
            <a:avLst/>
          </a:prstGeom>
          <a:noFill/>
          <a:ln/>
        </p:spPr>
        <p:txBody>
          <a:bodyPr wrap="square" lIns="0" tIns="0" rIns="0" bIns="0" rtlCol="0" anchor="ctr"/>
          <a:lstStyle/>
          <a:p>
            <a:pPr>
              <a:lnSpc>
                <a:spcPct val="120000"/>
              </a:lnSpc>
            </a:pPr>
            <a:r>
              <a:rPr lang="en-US" sz="938" dirty="0">
                <a:solidFill>
                  <a:srgbClr val="374151"/>
                </a:solidFill>
                <a:latin typeface="MiSans" pitchFamily="34" charset="0"/>
                <a:ea typeface="MiSans" pitchFamily="34" charset="-122"/>
                <a:cs typeface="MiSans" pitchFamily="34" charset="-120"/>
              </a:rPr>
              <a:t>• Business case validé</a:t>
            </a:r>
            <a:endParaRPr lang="en-US" sz="1600" dirty="0"/>
          </a:p>
        </p:txBody>
      </p:sp>
      <p:sp>
        <p:nvSpPr>
          <p:cNvPr id="14" name="Shape 12"/>
          <p:cNvSpPr/>
          <p:nvPr/>
        </p:nvSpPr>
        <p:spPr>
          <a:xfrm>
            <a:off x="3987073" y="1922814"/>
            <a:ext cx="204193" cy="204193"/>
          </a:xfrm>
          <a:custGeom>
            <a:avLst/>
            <a:gdLst/>
            <a:ahLst/>
            <a:cxnLst/>
            <a:rect l="l" t="t" r="r" b="b"/>
            <a:pathLst>
              <a:path w="204193" h="204193">
                <a:moveTo>
                  <a:pt x="200444" y="111109"/>
                </a:moveTo>
                <a:cubicBezTo>
                  <a:pt x="205429" y="106124"/>
                  <a:pt x="205429" y="98028"/>
                  <a:pt x="200444" y="93043"/>
                </a:cubicBezTo>
                <a:lnTo>
                  <a:pt x="136634" y="29233"/>
                </a:lnTo>
                <a:cubicBezTo>
                  <a:pt x="131648" y="24248"/>
                  <a:pt x="123552" y="24248"/>
                  <a:pt x="118567" y="29233"/>
                </a:cubicBezTo>
                <a:cubicBezTo>
                  <a:pt x="113582" y="34218"/>
                  <a:pt x="113582" y="42314"/>
                  <a:pt x="118567" y="47299"/>
                </a:cubicBezTo>
                <a:lnTo>
                  <a:pt x="160602" y="89334"/>
                </a:lnTo>
                <a:lnTo>
                  <a:pt x="12762" y="89334"/>
                </a:lnTo>
                <a:cubicBezTo>
                  <a:pt x="5703" y="89334"/>
                  <a:pt x="0" y="95037"/>
                  <a:pt x="0" y="102096"/>
                </a:cubicBezTo>
                <a:cubicBezTo>
                  <a:pt x="0" y="109155"/>
                  <a:pt x="5703" y="114858"/>
                  <a:pt x="12762" y="114858"/>
                </a:cubicBezTo>
                <a:lnTo>
                  <a:pt x="160602" y="114858"/>
                </a:lnTo>
                <a:lnTo>
                  <a:pt x="118567" y="156893"/>
                </a:lnTo>
                <a:cubicBezTo>
                  <a:pt x="113582" y="161878"/>
                  <a:pt x="113582" y="169974"/>
                  <a:pt x="118567" y="174960"/>
                </a:cubicBezTo>
                <a:cubicBezTo>
                  <a:pt x="123552" y="179945"/>
                  <a:pt x="131648" y="179945"/>
                  <a:pt x="136634" y="174960"/>
                </a:cubicBezTo>
                <a:lnTo>
                  <a:pt x="200444" y="111149"/>
                </a:lnTo>
                <a:close/>
              </a:path>
            </a:pathLst>
          </a:custGeom>
          <a:solidFill>
            <a:srgbClr val="6B7280"/>
          </a:solidFill>
          <a:ln/>
        </p:spPr>
      </p:sp>
      <p:sp>
        <p:nvSpPr>
          <p:cNvPr id="15" name="Shape 13"/>
          <p:cNvSpPr/>
          <p:nvPr/>
        </p:nvSpPr>
        <p:spPr>
          <a:xfrm>
            <a:off x="4361426" y="1369792"/>
            <a:ext cx="3471274" cy="1310236"/>
          </a:xfrm>
          <a:custGeom>
            <a:avLst/>
            <a:gdLst/>
            <a:ahLst/>
            <a:cxnLst/>
            <a:rect l="l" t="t" r="r" b="b"/>
            <a:pathLst>
              <a:path w="3471274" h="1310236">
                <a:moveTo>
                  <a:pt x="136134" y="0"/>
                </a:moveTo>
                <a:lnTo>
                  <a:pt x="3335141" y="0"/>
                </a:lnTo>
                <a:cubicBezTo>
                  <a:pt x="3410275" y="0"/>
                  <a:pt x="3471274" y="60999"/>
                  <a:pt x="3471274" y="136134"/>
                </a:cubicBezTo>
                <a:lnTo>
                  <a:pt x="3471274" y="1174102"/>
                </a:lnTo>
                <a:cubicBezTo>
                  <a:pt x="3471274" y="1249236"/>
                  <a:pt x="3410275" y="1310236"/>
                  <a:pt x="3335141" y="1310236"/>
                </a:cubicBezTo>
                <a:lnTo>
                  <a:pt x="136134" y="1310236"/>
                </a:lnTo>
                <a:cubicBezTo>
                  <a:pt x="60999" y="1310236"/>
                  <a:pt x="0" y="1249236"/>
                  <a:pt x="0" y="1174102"/>
                </a:cubicBezTo>
                <a:lnTo>
                  <a:pt x="0" y="136134"/>
                </a:lnTo>
                <a:cubicBezTo>
                  <a:pt x="0" y="60999"/>
                  <a:pt x="60999" y="0"/>
                  <a:pt x="136134" y="0"/>
                </a:cubicBezTo>
                <a:close/>
              </a:path>
            </a:pathLst>
          </a:custGeom>
          <a:solidFill>
            <a:srgbClr val="10B981">
              <a:alpha val="10196"/>
            </a:srgbClr>
          </a:solidFill>
          <a:ln w="25400">
            <a:solidFill>
              <a:srgbClr val="10B981"/>
            </a:solidFill>
            <a:prstDash val="solid"/>
          </a:ln>
        </p:spPr>
      </p:sp>
      <p:sp>
        <p:nvSpPr>
          <p:cNvPr id="16" name="Shape 14"/>
          <p:cNvSpPr/>
          <p:nvPr/>
        </p:nvSpPr>
        <p:spPr>
          <a:xfrm>
            <a:off x="4506063" y="1514428"/>
            <a:ext cx="340321" cy="340321"/>
          </a:xfrm>
          <a:custGeom>
            <a:avLst/>
            <a:gdLst/>
            <a:ahLst/>
            <a:cxnLst/>
            <a:rect l="l" t="t" r="r" b="b"/>
            <a:pathLst>
              <a:path w="340321" h="340321">
                <a:moveTo>
                  <a:pt x="102096" y="0"/>
                </a:moveTo>
                <a:lnTo>
                  <a:pt x="238225" y="0"/>
                </a:lnTo>
                <a:cubicBezTo>
                  <a:pt x="294611" y="0"/>
                  <a:pt x="340321" y="45710"/>
                  <a:pt x="340321" y="102096"/>
                </a:cubicBezTo>
                <a:lnTo>
                  <a:pt x="340321" y="238225"/>
                </a:lnTo>
                <a:cubicBezTo>
                  <a:pt x="340321" y="294611"/>
                  <a:pt x="294611" y="340321"/>
                  <a:pt x="238225" y="340321"/>
                </a:cubicBezTo>
                <a:lnTo>
                  <a:pt x="102096" y="340321"/>
                </a:lnTo>
                <a:cubicBezTo>
                  <a:pt x="45710" y="340321"/>
                  <a:pt x="0" y="294611"/>
                  <a:pt x="0" y="238225"/>
                </a:cubicBezTo>
                <a:lnTo>
                  <a:pt x="0" y="102096"/>
                </a:lnTo>
                <a:cubicBezTo>
                  <a:pt x="0" y="45748"/>
                  <a:pt x="45748" y="0"/>
                  <a:pt x="102096" y="0"/>
                </a:cubicBezTo>
                <a:close/>
              </a:path>
            </a:pathLst>
          </a:custGeom>
          <a:solidFill>
            <a:srgbClr val="10B981"/>
          </a:solidFill>
          <a:ln/>
        </p:spPr>
      </p:sp>
      <p:sp>
        <p:nvSpPr>
          <p:cNvPr id="17" name="Text 15"/>
          <p:cNvSpPr/>
          <p:nvPr/>
        </p:nvSpPr>
        <p:spPr>
          <a:xfrm>
            <a:off x="4638336" y="1582493"/>
            <a:ext cx="144636" cy="204193"/>
          </a:xfrm>
          <a:prstGeom prst="rect">
            <a:avLst/>
          </a:prstGeom>
          <a:noFill/>
          <a:ln/>
        </p:spPr>
        <p:txBody>
          <a:bodyPr wrap="square" lIns="0" tIns="0" rIns="0" bIns="0" rtlCol="0" anchor="ctr"/>
          <a:lstStyle/>
          <a:p>
            <a:pPr>
              <a:lnSpc>
                <a:spcPct val="130000"/>
              </a:lnSpc>
            </a:pPr>
            <a:r>
              <a:rPr lang="en-US" sz="1072" b="1" dirty="0">
                <a:solidFill>
                  <a:srgbClr val="FFFFFF"/>
                </a:solidFill>
                <a:latin typeface="MiSans" pitchFamily="34" charset="0"/>
                <a:ea typeface="MiSans" pitchFamily="34" charset="-122"/>
                <a:cs typeface="MiSans" pitchFamily="34" charset="-120"/>
              </a:rPr>
              <a:t>2</a:t>
            </a:r>
            <a:endParaRPr lang="en-US" sz="1600" dirty="0"/>
          </a:p>
        </p:txBody>
      </p:sp>
      <p:sp>
        <p:nvSpPr>
          <p:cNvPr id="18" name="Text 16"/>
          <p:cNvSpPr/>
          <p:nvPr/>
        </p:nvSpPr>
        <p:spPr>
          <a:xfrm>
            <a:off x="4914448" y="1565477"/>
            <a:ext cx="1020963" cy="238225"/>
          </a:xfrm>
          <a:prstGeom prst="rect">
            <a:avLst/>
          </a:prstGeom>
          <a:noFill/>
          <a:ln/>
        </p:spPr>
        <p:txBody>
          <a:bodyPr wrap="square" lIns="0" tIns="0" rIns="0" bIns="0" rtlCol="0" anchor="ctr"/>
          <a:lstStyle/>
          <a:p>
            <a:pPr>
              <a:lnSpc>
                <a:spcPct val="120000"/>
              </a:lnSpc>
            </a:pPr>
            <a:r>
              <a:rPr lang="en-US" sz="1340" b="1" dirty="0">
                <a:solidFill>
                  <a:srgbClr val="1E3A8A"/>
                </a:solidFill>
                <a:latin typeface="Noto Sans SC" pitchFamily="34" charset="0"/>
                <a:ea typeface="Noto Sans SC" pitchFamily="34" charset="-122"/>
                <a:cs typeface="Noto Sans SC" pitchFamily="34" charset="-120"/>
              </a:rPr>
              <a:t>Conception</a:t>
            </a:r>
            <a:endParaRPr lang="en-US" sz="1600" dirty="0"/>
          </a:p>
        </p:txBody>
      </p:sp>
      <p:sp>
        <p:nvSpPr>
          <p:cNvPr id="19" name="Shape 17"/>
          <p:cNvSpPr/>
          <p:nvPr/>
        </p:nvSpPr>
        <p:spPr>
          <a:xfrm>
            <a:off x="7216002" y="1548461"/>
            <a:ext cx="467941" cy="272257"/>
          </a:xfrm>
          <a:custGeom>
            <a:avLst/>
            <a:gdLst/>
            <a:ahLst/>
            <a:cxnLst/>
            <a:rect l="l" t="t" r="r" b="b"/>
            <a:pathLst>
              <a:path w="467941" h="272257">
                <a:moveTo>
                  <a:pt x="136128" y="0"/>
                </a:moveTo>
                <a:lnTo>
                  <a:pt x="331813" y="0"/>
                </a:lnTo>
                <a:cubicBezTo>
                  <a:pt x="406995" y="0"/>
                  <a:pt x="467941" y="60947"/>
                  <a:pt x="467941" y="136128"/>
                </a:cubicBezTo>
                <a:lnTo>
                  <a:pt x="467941" y="136128"/>
                </a:lnTo>
                <a:cubicBezTo>
                  <a:pt x="467941" y="211310"/>
                  <a:pt x="406995" y="272257"/>
                  <a:pt x="331813" y="272257"/>
                </a:cubicBezTo>
                <a:lnTo>
                  <a:pt x="136128" y="272257"/>
                </a:lnTo>
                <a:cubicBezTo>
                  <a:pt x="60947" y="272257"/>
                  <a:pt x="0" y="211310"/>
                  <a:pt x="0" y="136128"/>
                </a:cubicBezTo>
                <a:lnTo>
                  <a:pt x="0" y="136128"/>
                </a:lnTo>
                <a:cubicBezTo>
                  <a:pt x="0" y="60947"/>
                  <a:pt x="60947" y="0"/>
                  <a:pt x="136128" y="0"/>
                </a:cubicBezTo>
                <a:close/>
              </a:path>
            </a:pathLst>
          </a:custGeom>
          <a:solidFill>
            <a:srgbClr val="10B981"/>
          </a:solidFill>
          <a:ln/>
        </p:spPr>
      </p:sp>
      <p:sp>
        <p:nvSpPr>
          <p:cNvPr id="20" name="Text 18"/>
          <p:cNvSpPr/>
          <p:nvPr/>
        </p:nvSpPr>
        <p:spPr>
          <a:xfrm>
            <a:off x="7318098" y="1616525"/>
            <a:ext cx="324236" cy="136128"/>
          </a:xfrm>
          <a:prstGeom prst="rect">
            <a:avLst/>
          </a:prstGeom>
          <a:noFill/>
          <a:ln/>
        </p:spPr>
        <p:txBody>
          <a:bodyPr wrap="square" lIns="0" tIns="0" rIns="0" bIns="0" rtlCol="0" anchor="ctr"/>
          <a:lstStyle/>
          <a:p>
            <a:pPr>
              <a:lnSpc>
                <a:spcPct val="120000"/>
              </a:lnSpc>
            </a:pPr>
            <a:r>
              <a:rPr lang="en-US" sz="938" b="1" dirty="0">
                <a:solidFill>
                  <a:srgbClr val="FFFFFF"/>
                </a:solidFill>
                <a:latin typeface="MiSans" pitchFamily="34" charset="0"/>
                <a:ea typeface="MiSans" pitchFamily="34" charset="-122"/>
                <a:cs typeface="MiSans" pitchFamily="34" charset="-120"/>
              </a:rPr>
              <a:t>FAIT</a:t>
            </a:r>
            <a:endParaRPr lang="en-US" sz="1600" dirty="0"/>
          </a:p>
        </p:txBody>
      </p:sp>
      <p:sp>
        <p:nvSpPr>
          <p:cNvPr id="21" name="Text 19"/>
          <p:cNvSpPr/>
          <p:nvPr/>
        </p:nvSpPr>
        <p:spPr>
          <a:xfrm>
            <a:off x="4506063" y="1956846"/>
            <a:ext cx="3241558" cy="170161"/>
          </a:xfrm>
          <a:prstGeom prst="rect">
            <a:avLst/>
          </a:prstGeom>
          <a:noFill/>
          <a:ln/>
        </p:spPr>
        <p:txBody>
          <a:bodyPr wrap="square" lIns="0" tIns="0" rIns="0" bIns="0" rtlCol="0" anchor="ctr"/>
          <a:lstStyle/>
          <a:p>
            <a:pPr>
              <a:lnSpc>
                <a:spcPct val="120000"/>
              </a:lnSpc>
            </a:pPr>
            <a:r>
              <a:rPr lang="en-US" sz="938" dirty="0">
                <a:solidFill>
                  <a:srgbClr val="374151"/>
                </a:solidFill>
                <a:latin typeface="MiSans" pitchFamily="34" charset="0"/>
                <a:ea typeface="MiSans" pitchFamily="34" charset="-122"/>
                <a:cs typeface="MiSans" pitchFamily="34" charset="-120"/>
              </a:rPr>
              <a:t>• MVP défini</a:t>
            </a:r>
            <a:endParaRPr lang="en-US" sz="1600" dirty="0"/>
          </a:p>
        </p:txBody>
      </p:sp>
      <p:sp>
        <p:nvSpPr>
          <p:cNvPr id="22" name="Text 20"/>
          <p:cNvSpPr/>
          <p:nvPr/>
        </p:nvSpPr>
        <p:spPr>
          <a:xfrm>
            <a:off x="4506063" y="2161038"/>
            <a:ext cx="3241558" cy="170161"/>
          </a:xfrm>
          <a:prstGeom prst="rect">
            <a:avLst/>
          </a:prstGeom>
          <a:noFill/>
          <a:ln/>
        </p:spPr>
        <p:txBody>
          <a:bodyPr wrap="square" lIns="0" tIns="0" rIns="0" bIns="0" rtlCol="0" anchor="ctr"/>
          <a:lstStyle/>
          <a:p>
            <a:pPr>
              <a:lnSpc>
                <a:spcPct val="120000"/>
              </a:lnSpc>
            </a:pPr>
            <a:r>
              <a:rPr lang="en-US" sz="938" dirty="0">
                <a:solidFill>
                  <a:srgbClr val="374151"/>
                </a:solidFill>
                <a:latin typeface="MiSans" pitchFamily="34" charset="0"/>
                <a:ea typeface="MiSans" pitchFamily="34" charset="-122"/>
                <a:cs typeface="MiSans" pitchFamily="34" charset="-120"/>
              </a:rPr>
              <a:t>• ML Canvas</a:t>
            </a:r>
            <a:endParaRPr lang="en-US" sz="1600" dirty="0"/>
          </a:p>
        </p:txBody>
      </p:sp>
      <p:sp>
        <p:nvSpPr>
          <p:cNvPr id="23" name="Text 21"/>
          <p:cNvSpPr/>
          <p:nvPr/>
        </p:nvSpPr>
        <p:spPr>
          <a:xfrm>
            <a:off x="4506063" y="2365231"/>
            <a:ext cx="3241558" cy="170161"/>
          </a:xfrm>
          <a:prstGeom prst="rect">
            <a:avLst/>
          </a:prstGeom>
          <a:noFill/>
          <a:ln/>
        </p:spPr>
        <p:txBody>
          <a:bodyPr wrap="square" lIns="0" tIns="0" rIns="0" bIns="0" rtlCol="0" anchor="ctr"/>
          <a:lstStyle/>
          <a:p>
            <a:pPr>
              <a:lnSpc>
                <a:spcPct val="120000"/>
              </a:lnSpc>
            </a:pPr>
            <a:r>
              <a:rPr lang="en-US" sz="938" dirty="0">
                <a:solidFill>
                  <a:srgbClr val="374151"/>
                </a:solidFill>
                <a:latin typeface="MiSans" pitchFamily="34" charset="0"/>
                <a:ea typeface="MiSans" pitchFamily="34" charset="-122"/>
                <a:cs typeface="MiSans" pitchFamily="34" charset="-120"/>
              </a:rPr>
              <a:t>• Dashboard · MVP challengé</a:t>
            </a:r>
            <a:endParaRPr lang="en-US" sz="1600" dirty="0"/>
          </a:p>
        </p:txBody>
      </p:sp>
      <p:sp>
        <p:nvSpPr>
          <p:cNvPr id="24" name="Shape 22"/>
          <p:cNvSpPr/>
          <p:nvPr/>
        </p:nvSpPr>
        <p:spPr>
          <a:xfrm>
            <a:off x="7999671" y="1922814"/>
            <a:ext cx="204193" cy="204193"/>
          </a:xfrm>
          <a:custGeom>
            <a:avLst/>
            <a:gdLst/>
            <a:ahLst/>
            <a:cxnLst/>
            <a:rect l="l" t="t" r="r" b="b"/>
            <a:pathLst>
              <a:path w="204193" h="204193">
                <a:moveTo>
                  <a:pt x="200444" y="111109"/>
                </a:moveTo>
                <a:cubicBezTo>
                  <a:pt x="205429" y="106124"/>
                  <a:pt x="205429" y="98028"/>
                  <a:pt x="200444" y="93043"/>
                </a:cubicBezTo>
                <a:lnTo>
                  <a:pt x="136634" y="29233"/>
                </a:lnTo>
                <a:cubicBezTo>
                  <a:pt x="131648" y="24248"/>
                  <a:pt x="123552" y="24248"/>
                  <a:pt x="118567" y="29233"/>
                </a:cubicBezTo>
                <a:cubicBezTo>
                  <a:pt x="113582" y="34218"/>
                  <a:pt x="113582" y="42314"/>
                  <a:pt x="118567" y="47299"/>
                </a:cubicBezTo>
                <a:lnTo>
                  <a:pt x="160602" y="89334"/>
                </a:lnTo>
                <a:lnTo>
                  <a:pt x="12762" y="89334"/>
                </a:lnTo>
                <a:cubicBezTo>
                  <a:pt x="5703" y="89334"/>
                  <a:pt x="0" y="95037"/>
                  <a:pt x="0" y="102096"/>
                </a:cubicBezTo>
                <a:cubicBezTo>
                  <a:pt x="0" y="109155"/>
                  <a:pt x="5703" y="114858"/>
                  <a:pt x="12762" y="114858"/>
                </a:cubicBezTo>
                <a:lnTo>
                  <a:pt x="160602" y="114858"/>
                </a:lnTo>
                <a:lnTo>
                  <a:pt x="118567" y="156893"/>
                </a:lnTo>
                <a:cubicBezTo>
                  <a:pt x="113582" y="161878"/>
                  <a:pt x="113582" y="169974"/>
                  <a:pt x="118567" y="174960"/>
                </a:cubicBezTo>
                <a:cubicBezTo>
                  <a:pt x="123552" y="179945"/>
                  <a:pt x="131648" y="179945"/>
                  <a:pt x="136634" y="174960"/>
                </a:cubicBezTo>
                <a:lnTo>
                  <a:pt x="200444" y="111149"/>
                </a:lnTo>
                <a:close/>
              </a:path>
            </a:pathLst>
          </a:custGeom>
          <a:solidFill>
            <a:srgbClr val="6B7280"/>
          </a:solidFill>
          <a:ln/>
        </p:spPr>
      </p:sp>
      <p:sp>
        <p:nvSpPr>
          <p:cNvPr id="25" name="Shape 23"/>
          <p:cNvSpPr/>
          <p:nvPr/>
        </p:nvSpPr>
        <p:spPr>
          <a:xfrm>
            <a:off x="8374024" y="1369792"/>
            <a:ext cx="3471274" cy="1310236"/>
          </a:xfrm>
          <a:custGeom>
            <a:avLst/>
            <a:gdLst/>
            <a:ahLst/>
            <a:cxnLst/>
            <a:rect l="l" t="t" r="r" b="b"/>
            <a:pathLst>
              <a:path w="3471274" h="1310236">
                <a:moveTo>
                  <a:pt x="136134" y="0"/>
                </a:moveTo>
                <a:lnTo>
                  <a:pt x="3335141" y="0"/>
                </a:lnTo>
                <a:cubicBezTo>
                  <a:pt x="3410275" y="0"/>
                  <a:pt x="3471274" y="60999"/>
                  <a:pt x="3471274" y="136134"/>
                </a:cubicBezTo>
                <a:lnTo>
                  <a:pt x="3471274" y="1174102"/>
                </a:lnTo>
                <a:cubicBezTo>
                  <a:pt x="3471274" y="1249236"/>
                  <a:pt x="3410275" y="1310236"/>
                  <a:pt x="3335141" y="1310236"/>
                </a:cubicBezTo>
                <a:lnTo>
                  <a:pt x="136134" y="1310236"/>
                </a:lnTo>
                <a:cubicBezTo>
                  <a:pt x="60999" y="1310236"/>
                  <a:pt x="0" y="1249236"/>
                  <a:pt x="0" y="1174102"/>
                </a:cubicBezTo>
                <a:lnTo>
                  <a:pt x="0" y="136134"/>
                </a:lnTo>
                <a:cubicBezTo>
                  <a:pt x="0" y="60999"/>
                  <a:pt x="60999" y="0"/>
                  <a:pt x="136134" y="0"/>
                </a:cubicBezTo>
                <a:close/>
              </a:path>
            </a:pathLst>
          </a:custGeom>
          <a:solidFill>
            <a:srgbClr val="F97316">
              <a:alpha val="10196"/>
            </a:srgbClr>
          </a:solidFill>
          <a:ln w="25400">
            <a:solidFill>
              <a:srgbClr val="F97316"/>
            </a:solidFill>
            <a:prstDash val="solid"/>
          </a:ln>
        </p:spPr>
      </p:sp>
      <p:sp>
        <p:nvSpPr>
          <p:cNvPr id="26" name="Shape 24"/>
          <p:cNvSpPr/>
          <p:nvPr/>
        </p:nvSpPr>
        <p:spPr>
          <a:xfrm>
            <a:off x="8518660" y="1514428"/>
            <a:ext cx="340321" cy="340321"/>
          </a:xfrm>
          <a:custGeom>
            <a:avLst/>
            <a:gdLst/>
            <a:ahLst/>
            <a:cxnLst/>
            <a:rect l="l" t="t" r="r" b="b"/>
            <a:pathLst>
              <a:path w="340321" h="340321">
                <a:moveTo>
                  <a:pt x="102096" y="0"/>
                </a:moveTo>
                <a:lnTo>
                  <a:pt x="238225" y="0"/>
                </a:lnTo>
                <a:cubicBezTo>
                  <a:pt x="294611" y="0"/>
                  <a:pt x="340321" y="45710"/>
                  <a:pt x="340321" y="102096"/>
                </a:cubicBezTo>
                <a:lnTo>
                  <a:pt x="340321" y="238225"/>
                </a:lnTo>
                <a:cubicBezTo>
                  <a:pt x="340321" y="294611"/>
                  <a:pt x="294611" y="340321"/>
                  <a:pt x="238225" y="340321"/>
                </a:cubicBezTo>
                <a:lnTo>
                  <a:pt x="102096" y="340321"/>
                </a:lnTo>
                <a:cubicBezTo>
                  <a:pt x="45710" y="340321"/>
                  <a:pt x="0" y="294611"/>
                  <a:pt x="0" y="238225"/>
                </a:cubicBezTo>
                <a:lnTo>
                  <a:pt x="0" y="102096"/>
                </a:lnTo>
                <a:cubicBezTo>
                  <a:pt x="0" y="45748"/>
                  <a:pt x="45748" y="0"/>
                  <a:pt x="102096" y="0"/>
                </a:cubicBezTo>
                <a:close/>
              </a:path>
            </a:pathLst>
          </a:custGeom>
          <a:solidFill>
            <a:srgbClr val="F97316"/>
          </a:solidFill>
          <a:ln/>
        </p:spPr>
      </p:sp>
      <p:sp>
        <p:nvSpPr>
          <p:cNvPr id="27" name="Text 25"/>
          <p:cNvSpPr/>
          <p:nvPr/>
        </p:nvSpPr>
        <p:spPr>
          <a:xfrm>
            <a:off x="8650933" y="1582493"/>
            <a:ext cx="144636" cy="204193"/>
          </a:xfrm>
          <a:prstGeom prst="rect">
            <a:avLst/>
          </a:prstGeom>
          <a:noFill/>
          <a:ln/>
        </p:spPr>
        <p:txBody>
          <a:bodyPr wrap="square" lIns="0" tIns="0" rIns="0" bIns="0" rtlCol="0" anchor="ctr"/>
          <a:lstStyle/>
          <a:p>
            <a:pPr>
              <a:lnSpc>
                <a:spcPct val="130000"/>
              </a:lnSpc>
            </a:pPr>
            <a:r>
              <a:rPr lang="en-US" sz="1072" b="1" dirty="0">
                <a:solidFill>
                  <a:srgbClr val="FFFFFF"/>
                </a:solidFill>
                <a:latin typeface="MiSans" pitchFamily="34" charset="0"/>
                <a:ea typeface="MiSans" pitchFamily="34" charset="-122"/>
                <a:cs typeface="MiSans" pitchFamily="34" charset="-120"/>
              </a:rPr>
              <a:t>3</a:t>
            </a:r>
            <a:endParaRPr lang="en-US" sz="1600" dirty="0"/>
          </a:p>
        </p:txBody>
      </p:sp>
      <p:sp>
        <p:nvSpPr>
          <p:cNvPr id="28" name="Text 26"/>
          <p:cNvSpPr/>
          <p:nvPr/>
        </p:nvSpPr>
        <p:spPr>
          <a:xfrm>
            <a:off x="8927045" y="1565477"/>
            <a:ext cx="986931" cy="238225"/>
          </a:xfrm>
          <a:prstGeom prst="rect">
            <a:avLst/>
          </a:prstGeom>
          <a:noFill/>
          <a:ln/>
        </p:spPr>
        <p:txBody>
          <a:bodyPr wrap="square" lIns="0" tIns="0" rIns="0" bIns="0" rtlCol="0" anchor="ctr"/>
          <a:lstStyle/>
          <a:p>
            <a:pPr>
              <a:lnSpc>
                <a:spcPct val="120000"/>
              </a:lnSpc>
            </a:pPr>
            <a:r>
              <a:rPr lang="en-US" sz="1340" b="1" dirty="0">
                <a:solidFill>
                  <a:srgbClr val="1E3A8A"/>
                </a:solidFill>
                <a:latin typeface="Noto Sans SC" pitchFamily="34" charset="0"/>
                <a:ea typeface="Noto Sans SC" pitchFamily="34" charset="-122"/>
                <a:cs typeface="Noto Sans SC" pitchFamily="34" charset="-120"/>
              </a:rPr>
              <a:t>Lancement</a:t>
            </a:r>
            <a:endParaRPr lang="en-US" sz="1600" dirty="0"/>
          </a:p>
        </p:txBody>
      </p:sp>
      <p:sp>
        <p:nvSpPr>
          <p:cNvPr id="29" name="Shape 27"/>
          <p:cNvSpPr/>
          <p:nvPr/>
        </p:nvSpPr>
        <p:spPr>
          <a:xfrm>
            <a:off x="11175557" y="1548461"/>
            <a:ext cx="518990" cy="272257"/>
          </a:xfrm>
          <a:custGeom>
            <a:avLst/>
            <a:gdLst/>
            <a:ahLst/>
            <a:cxnLst/>
            <a:rect l="l" t="t" r="r" b="b"/>
            <a:pathLst>
              <a:path w="518990" h="272257">
                <a:moveTo>
                  <a:pt x="136128" y="0"/>
                </a:moveTo>
                <a:lnTo>
                  <a:pt x="382861" y="0"/>
                </a:lnTo>
                <a:cubicBezTo>
                  <a:pt x="458043" y="0"/>
                  <a:pt x="518990" y="60947"/>
                  <a:pt x="518990" y="136128"/>
                </a:cubicBezTo>
                <a:lnTo>
                  <a:pt x="518990" y="136128"/>
                </a:lnTo>
                <a:cubicBezTo>
                  <a:pt x="518990" y="211310"/>
                  <a:pt x="458043" y="272257"/>
                  <a:pt x="382861" y="272257"/>
                </a:cubicBezTo>
                <a:lnTo>
                  <a:pt x="136128" y="272257"/>
                </a:lnTo>
                <a:cubicBezTo>
                  <a:pt x="60947" y="272257"/>
                  <a:pt x="0" y="211310"/>
                  <a:pt x="0" y="136128"/>
                </a:cubicBezTo>
                <a:lnTo>
                  <a:pt x="0" y="136128"/>
                </a:lnTo>
                <a:cubicBezTo>
                  <a:pt x="0" y="60947"/>
                  <a:pt x="60947" y="0"/>
                  <a:pt x="136128" y="0"/>
                </a:cubicBezTo>
                <a:close/>
              </a:path>
            </a:pathLst>
          </a:custGeom>
          <a:solidFill>
            <a:srgbClr val="F97316"/>
          </a:solidFill>
          <a:ln/>
        </p:spPr>
      </p:sp>
      <p:sp>
        <p:nvSpPr>
          <p:cNvPr id="30" name="Text 28"/>
          <p:cNvSpPr/>
          <p:nvPr/>
        </p:nvSpPr>
        <p:spPr>
          <a:xfrm>
            <a:off x="11277653" y="1616525"/>
            <a:ext cx="377278" cy="136128"/>
          </a:xfrm>
          <a:prstGeom prst="rect">
            <a:avLst/>
          </a:prstGeom>
          <a:noFill/>
          <a:ln/>
        </p:spPr>
        <p:txBody>
          <a:bodyPr wrap="square" lIns="0" tIns="0" rIns="0" bIns="0" rtlCol="0" anchor="ctr"/>
          <a:lstStyle/>
          <a:p>
            <a:pPr>
              <a:lnSpc>
                <a:spcPct val="120000"/>
              </a:lnSpc>
            </a:pPr>
            <a:r>
              <a:rPr lang="en-US" sz="938" b="1" dirty="0">
                <a:solidFill>
                  <a:srgbClr val="FFFFFF"/>
                </a:solidFill>
                <a:latin typeface="MiSans" pitchFamily="34" charset="0"/>
                <a:ea typeface="MiSans" pitchFamily="34" charset="-122"/>
                <a:cs typeface="MiSans" pitchFamily="34" charset="-120"/>
              </a:rPr>
              <a:t>PRÊT</a:t>
            </a:r>
            <a:endParaRPr lang="en-US" sz="1600" dirty="0"/>
          </a:p>
        </p:txBody>
      </p:sp>
      <p:sp>
        <p:nvSpPr>
          <p:cNvPr id="31" name="Text 29"/>
          <p:cNvSpPr/>
          <p:nvPr/>
        </p:nvSpPr>
        <p:spPr>
          <a:xfrm>
            <a:off x="8518660" y="1956846"/>
            <a:ext cx="3241558" cy="170161"/>
          </a:xfrm>
          <a:prstGeom prst="rect">
            <a:avLst/>
          </a:prstGeom>
          <a:noFill/>
          <a:ln/>
        </p:spPr>
        <p:txBody>
          <a:bodyPr wrap="square" lIns="0" tIns="0" rIns="0" bIns="0" rtlCol="0" anchor="ctr"/>
          <a:lstStyle/>
          <a:p>
            <a:pPr>
              <a:lnSpc>
                <a:spcPct val="120000"/>
              </a:lnSpc>
            </a:pPr>
            <a:r>
              <a:rPr lang="en-US" sz="938" dirty="0">
                <a:solidFill>
                  <a:srgbClr val="374151"/>
                </a:solidFill>
                <a:latin typeface="MiSans" pitchFamily="34" charset="0"/>
                <a:ea typeface="MiSans" pitchFamily="34" charset="-122"/>
                <a:cs typeface="MiSans" pitchFamily="34" charset="-120"/>
              </a:rPr>
              <a:t>• Stratégie Before/During/After</a:t>
            </a:r>
            <a:endParaRPr lang="en-US" sz="1600" dirty="0"/>
          </a:p>
        </p:txBody>
      </p:sp>
      <p:sp>
        <p:nvSpPr>
          <p:cNvPr id="32" name="Text 30"/>
          <p:cNvSpPr/>
          <p:nvPr/>
        </p:nvSpPr>
        <p:spPr>
          <a:xfrm>
            <a:off x="8518660" y="2161038"/>
            <a:ext cx="3241558" cy="170161"/>
          </a:xfrm>
          <a:prstGeom prst="rect">
            <a:avLst/>
          </a:prstGeom>
          <a:noFill/>
          <a:ln/>
        </p:spPr>
        <p:txBody>
          <a:bodyPr wrap="square" lIns="0" tIns="0" rIns="0" bIns="0" rtlCol="0" anchor="ctr"/>
          <a:lstStyle/>
          <a:p>
            <a:pPr>
              <a:lnSpc>
                <a:spcPct val="120000"/>
              </a:lnSpc>
            </a:pPr>
            <a:r>
              <a:rPr lang="en-US" sz="938" dirty="0">
                <a:solidFill>
                  <a:srgbClr val="374151"/>
                </a:solidFill>
                <a:latin typeface="MiSans" pitchFamily="34" charset="0"/>
                <a:ea typeface="MiSans" pitchFamily="34" charset="-122"/>
                <a:cs typeface="MiSans" pitchFamily="34" charset="-120"/>
              </a:rPr>
              <a:t>• Pilote Sophie</a:t>
            </a:r>
            <a:endParaRPr lang="en-US" sz="1600" dirty="0"/>
          </a:p>
        </p:txBody>
      </p:sp>
      <p:sp>
        <p:nvSpPr>
          <p:cNvPr id="33" name="Text 31"/>
          <p:cNvSpPr/>
          <p:nvPr/>
        </p:nvSpPr>
        <p:spPr>
          <a:xfrm>
            <a:off x="8518660" y="2365231"/>
            <a:ext cx="3241558" cy="170161"/>
          </a:xfrm>
          <a:prstGeom prst="rect">
            <a:avLst/>
          </a:prstGeom>
          <a:noFill/>
          <a:ln/>
        </p:spPr>
        <p:txBody>
          <a:bodyPr wrap="square" lIns="0" tIns="0" rIns="0" bIns="0" rtlCol="0" anchor="ctr"/>
          <a:lstStyle/>
          <a:p>
            <a:pPr>
              <a:lnSpc>
                <a:spcPct val="120000"/>
              </a:lnSpc>
            </a:pPr>
            <a:r>
              <a:rPr lang="en-US" sz="938" dirty="0">
                <a:solidFill>
                  <a:srgbClr val="374151"/>
                </a:solidFill>
                <a:latin typeface="MiSans" pitchFamily="34" charset="0"/>
                <a:ea typeface="MiSans" pitchFamily="34" charset="-122"/>
                <a:cs typeface="MiSans" pitchFamily="34" charset="-120"/>
              </a:rPr>
              <a:t>• Feedback loop intégré</a:t>
            </a:r>
            <a:endParaRPr lang="en-US" sz="1600" dirty="0"/>
          </a:p>
        </p:txBody>
      </p:sp>
      <p:sp>
        <p:nvSpPr>
          <p:cNvPr id="34" name="Shape 32"/>
          <p:cNvSpPr/>
          <p:nvPr/>
        </p:nvSpPr>
        <p:spPr>
          <a:xfrm>
            <a:off x="340321" y="2858696"/>
            <a:ext cx="11511358" cy="1412332"/>
          </a:xfrm>
          <a:custGeom>
            <a:avLst/>
            <a:gdLst/>
            <a:ahLst/>
            <a:cxnLst/>
            <a:rect l="l" t="t" r="r" b="b"/>
            <a:pathLst>
              <a:path w="11511358" h="1412332">
                <a:moveTo>
                  <a:pt x="136135" y="0"/>
                </a:moveTo>
                <a:lnTo>
                  <a:pt x="11375223" y="0"/>
                </a:lnTo>
                <a:cubicBezTo>
                  <a:pt x="11450408" y="0"/>
                  <a:pt x="11511358" y="60950"/>
                  <a:pt x="11511358" y="136135"/>
                </a:cubicBezTo>
                <a:lnTo>
                  <a:pt x="11511358" y="1276197"/>
                </a:lnTo>
                <a:cubicBezTo>
                  <a:pt x="11511358" y="1351383"/>
                  <a:pt x="11450408" y="1412332"/>
                  <a:pt x="11375223" y="1412332"/>
                </a:cubicBezTo>
                <a:lnTo>
                  <a:pt x="136135" y="1412332"/>
                </a:lnTo>
                <a:cubicBezTo>
                  <a:pt x="61000" y="1412332"/>
                  <a:pt x="0" y="1351332"/>
                  <a:pt x="0" y="1276197"/>
                </a:cubicBezTo>
                <a:lnTo>
                  <a:pt x="0" y="136135"/>
                </a:lnTo>
                <a:cubicBezTo>
                  <a:pt x="0" y="61000"/>
                  <a:pt x="61000" y="0"/>
                  <a:pt x="136135" y="0"/>
                </a:cubicBezTo>
                <a:close/>
              </a:path>
            </a:pathLst>
          </a:custGeom>
          <a:solidFill>
            <a:srgbClr val="1E3A8A"/>
          </a:solidFill>
          <a:ln/>
        </p:spPr>
      </p:sp>
      <p:sp>
        <p:nvSpPr>
          <p:cNvPr id="35" name="Shape 33"/>
          <p:cNvSpPr/>
          <p:nvPr/>
        </p:nvSpPr>
        <p:spPr>
          <a:xfrm>
            <a:off x="5954022" y="3062889"/>
            <a:ext cx="287146" cy="255241"/>
          </a:xfrm>
          <a:custGeom>
            <a:avLst/>
            <a:gdLst/>
            <a:ahLst/>
            <a:cxnLst/>
            <a:rect l="l" t="t" r="r" b="b"/>
            <a:pathLst>
              <a:path w="287146" h="255241">
                <a:moveTo>
                  <a:pt x="143573" y="15953"/>
                </a:moveTo>
                <a:cubicBezTo>
                  <a:pt x="103293" y="15953"/>
                  <a:pt x="71039" y="34298"/>
                  <a:pt x="47559" y="56133"/>
                </a:cubicBezTo>
                <a:cubicBezTo>
                  <a:pt x="24228" y="77819"/>
                  <a:pt x="8624" y="103692"/>
                  <a:pt x="1196" y="121489"/>
                </a:cubicBezTo>
                <a:cubicBezTo>
                  <a:pt x="-449" y="125427"/>
                  <a:pt x="-449" y="129814"/>
                  <a:pt x="1196" y="133752"/>
                </a:cubicBezTo>
                <a:cubicBezTo>
                  <a:pt x="8624" y="151549"/>
                  <a:pt x="24228" y="177472"/>
                  <a:pt x="47559" y="199108"/>
                </a:cubicBezTo>
                <a:cubicBezTo>
                  <a:pt x="71039" y="220893"/>
                  <a:pt x="103293" y="239288"/>
                  <a:pt x="143573" y="239288"/>
                </a:cubicBezTo>
                <a:cubicBezTo>
                  <a:pt x="183853" y="239288"/>
                  <a:pt x="216107" y="220943"/>
                  <a:pt x="239587" y="199108"/>
                </a:cubicBezTo>
                <a:cubicBezTo>
                  <a:pt x="262918" y="177422"/>
                  <a:pt x="278522" y="151549"/>
                  <a:pt x="285949" y="133752"/>
                </a:cubicBezTo>
                <a:cubicBezTo>
                  <a:pt x="287595" y="129814"/>
                  <a:pt x="287595" y="125427"/>
                  <a:pt x="285949" y="121489"/>
                </a:cubicBezTo>
                <a:cubicBezTo>
                  <a:pt x="278522" y="103692"/>
                  <a:pt x="262918" y="77769"/>
                  <a:pt x="239587" y="56133"/>
                </a:cubicBezTo>
                <a:cubicBezTo>
                  <a:pt x="216107" y="34348"/>
                  <a:pt x="183853" y="15953"/>
                  <a:pt x="143573" y="15953"/>
                </a:cubicBezTo>
                <a:close/>
                <a:moveTo>
                  <a:pt x="71786" y="127620"/>
                </a:moveTo>
                <a:cubicBezTo>
                  <a:pt x="71786" y="88000"/>
                  <a:pt x="103953" y="55834"/>
                  <a:pt x="143573" y="55834"/>
                </a:cubicBezTo>
                <a:cubicBezTo>
                  <a:pt x="183193" y="55834"/>
                  <a:pt x="215359" y="88000"/>
                  <a:pt x="215359" y="127620"/>
                </a:cubicBezTo>
                <a:cubicBezTo>
                  <a:pt x="215359" y="167240"/>
                  <a:pt x="183193" y="199407"/>
                  <a:pt x="143573" y="199407"/>
                </a:cubicBezTo>
                <a:cubicBezTo>
                  <a:pt x="103953" y="199407"/>
                  <a:pt x="71786" y="167240"/>
                  <a:pt x="71786" y="127620"/>
                </a:cubicBezTo>
                <a:close/>
                <a:moveTo>
                  <a:pt x="143573" y="95715"/>
                </a:moveTo>
                <a:cubicBezTo>
                  <a:pt x="143573" y="113313"/>
                  <a:pt x="129265" y="127620"/>
                  <a:pt x="111668" y="127620"/>
                </a:cubicBezTo>
                <a:cubicBezTo>
                  <a:pt x="105935" y="127620"/>
                  <a:pt x="100551" y="126125"/>
                  <a:pt x="95865" y="123433"/>
                </a:cubicBezTo>
                <a:cubicBezTo>
                  <a:pt x="95366" y="128867"/>
                  <a:pt x="95815" y="134450"/>
                  <a:pt x="97311" y="139984"/>
                </a:cubicBezTo>
                <a:cubicBezTo>
                  <a:pt x="104140" y="165508"/>
                  <a:pt x="130412" y="180663"/>
                  <a:pt x="155936" y="173833"/>
                </a:cubicBezTo>
                <a:cubicBezTo>
                  <a:pt x="181460" y="167003"/>
                  <a:pt x="196615" y="140731"/>
                  <a:pt x="189785" y="115207"/>
                </a:cubicBezTo>
                <a:cubicBezTo>
                  <a:pt x="183704" y="92425"/>
                  <a:pt x="162118" y="77918"/>
                  <a:pt x="139385" y="79912"/>
                </a:cubicBezTo>
                <a:cubicBezTo>
                  <a:pt x="142028" y="84548"/>
                  <a:pt x="143573" y="89932"/>
                  <a:pt x="143573" y="95715"/>
                </a:cubicBezTo>
                <a:close/>
              </a:path>
            </a:pathLst>
          </a:custGeom>
          <a:solidFill>
            <a:srgbClr val="FFFFFF"/>
          </a:solidFill>
          <a:ln/>
        </p:spPr>
      </p:sp>
      <p:sp>
        <p:nvSpPr>
          <p:cNvPr id="36" name="Text 34"/>
          <p:cNvSpPr/>
          <p:nvPr/>
        </p:nvSpPr>
        <p:spPr>
          <a:xfrm>
            <a:off x="480703" y="3420226"/>
            <a:ext cx="11230593" cy="306289"/>
          </a:xfrm>
          <a:prstGeom prst="rect">
            <a:avLst/>
          </a:prstGeom>
          <a:noFill/>
          <a:ln/>
        </p:spPr>
        <p:txBody>
          <a:bodyPr wrap="square" lIns="0" tIns="0" rIns="0" bIns="0" rtlCol="0" anchor="ctr"/>
          <a:lstStyle/>
          <a:p>
            <a:pPr algn="ctr">
              <a:lnSpc>
                <a:spcPct val="100000"/>
              </a:lnSpc>
            </a:pPr>
            <a:r>
              <a:rPr lang="en-US" sz="2010" b="1" dirty="0">
                <a:solidFill>
                  <a:srgbClr val="FFFFFF"/>
                </a:solidFill>
                <a:latin typeface="Noto Sans SC" pitchFamily="34" charset="0"/>
                <a:ea typeface="Noto Sans SC" pitchFamily="34" charset="-122"/>
                <a:cs typeface="Noto Sans SC" pitchFamily="34" charset="-120"/>
              </a:rPr>
              <a:t>"Que le contrôle visuel soit objectif"</a:t>
            </a:r>
            <a:endParaRPr lang="en-US" sz="1600" dirty="0"/>
          </a:p>
        </p:txBody>
      </p:sp>
      <p:sp>
        <p:nvSpPr>
          <p:cNvPr id="37" name="Text 35"/>
          <p:cNvSpPr/>
          <p:nvPr/>
        </p:nvSpPr>
        <p:spPr>
          <a:xfrm>
            <a:off x="506227" y="3828611"/>
            <a:ext cx="11179545" cy="238225"/>
          </a:xfrm>
          <a:prstGeom prst="rect">
            <a:avLst/>
          </a:prstGeom>
          <a:noFill/>
          <a:ln/>
        </p:spPr>
        <p:txBody>
          <a:bodyPr wrap="square" lIns="0" tIns="0" rIns="0" bIns="0" rtlCol="0" anchor="ctr"/>
          <a:lstStyle/>
          <a:p>
            <a:pPr algn="ctr">
              <a:lnSpc>
                <a:spcPct val="130000"/>
              </a:lnSpc>
            </a:pPr>
            <a:r>
              <a:rPr lang="en-US" sz="1206" dirty="0">
                <a:solidFill>
                  <a:srgbClr val="FFFFFF">
                    <a:alpha val="80000"/>
                  </a:srgbClr>
                </a:solidFill>
                <a:latin typeface="MiSans" pitchFamily="34" charset="0"/>
                <a:ea typeface="MiSans" pitchFamily="34" charset="-122"/>
                <a:cs typeface="MiSans" pitchFamily="34" charset="-120"/>
              </a:rPr>
              <a:t>Sophie passe de </a:t>
            </a:r>
            <a:r>
              <a:rPr lang="en-US" sz="1206" b="1" dirty="0">
                <a:solidFill>
                  <a:srgbClr val="FFFFFF">
                    <a:alpha val="80000"/>
                  </a:srgbClr>
                </a:solidFill>
                <a:latin typeface="MiSans" pitchFamily="34" charset="0"/>
                <a:ea typeface="MiSans" pitchFamily="34" charset="-122"/>
                <a:cs typeface="MiSans" pitchFamily="34" charset="-120"/>
              </a:rPr>
              <a:t>"chercheuse de défauts"</a:t>
            </a:r>
            <a:r>
              <a:rPr lang="en-US" sz="1206" dirty="0">
                <a:solidFill>
                  <a:srgbClr val="FFFFFF">
                    <a:alpha val="80000"/>
                  </a:srgbClr>
                </a:solidFill>
                <a:latin typeface="MiSans" pitchFamily="34" charset="0"/>
                <a:ea typeface="MiSans" pitchFamily="34" charset="-122"/>
                <a:cs typeface="MiSans" pitchFamily="34" charset="-120"/>
              </a:rPr>
              <a:t> à </a:t>
            </a:r>
            <a:r>
              <a:rPr lang="en-US" sz="1206" b="1" dirty="0">
                <a:solidFill>
                  <a:srgbClr val="FFFFFF">
                    <a:alpha val="80000"/>
                  </a:srgbClr>
                </a:solidFill>
                <a:latin typeface="MiSans" pitchFamily="34" charset="0"/>
                <a:ea typeface="MiSans" pitchFamily="34" charset="-122"/>
                <a:cs typeface="MiSans" pitchFamily="34" charset="-120"/>
              </a:rPr>
              <a:t>"valideuse assistée par l'IA"</a:t>
            </a:r>
            <a:endParaRPr lang="en-US" sz="1600" dirty="0"/>
          </a:p>
        </p:txBody>
      </p:sp>
      <p:sp>
        <p:nvSpPr>
          <p:cNvPr id="38" name="Shape 36"/>
          <p:cNvSpPr/>
          <p:nvPr/>
        </p:nvSpPr>
        <p:spPr>
          <a:xfrm>
            <a:off x="340321" y="4441189"/>
            <a:ext cx="11511358" cy="1497412"/>
          </a:xfrm>
          <a:custGeom>
            <a:avLst/>
            <a:gdLst/>
            <a:ahLst/>
            <a:cxnLst/>
            <a:rect l="l" t="t" r="r" b="b"/>
            <a:pathLst>
              <a:path w="11511358" h="1497412">
                <a:moveTo>
                  <a:pt x="136130" y="0"/>
                </a:moveTo>
                <a:lnTo>
                  <a:pt x="11375228" y="0"/>
                </a:lnTo>
                <a:cubicBezTo>
                  <a:pt x="11450411" y="0"/>
                  <a:pt x="11511358" y="60947"/>
                  <a:pt x="11511358" y="136130"/>
                </a:cubicBezTo>
                <a:lnTo>
                  <a:pt x="11511358" y="1361283"/>
                </a:lnTo>
                <a:cubicBezTo>
                  <a:pt x="11511358" y="1436465"/>
                  <a:pt x="11450411" y="1497412"/>
                  <a:pt x="11375228" y="1497412"/>
                </a:cubicBezTo>
                <a:lnTo>
                  <a:pt x="136130" y="1497412"/>
                </a:lnTo>
                <a:cubicBezTo>
                  <a:pt x="60947" y="1497412"/>
                  <a:pt x="0" y="1436465"/>
                  <a:pt x="0" y="1361283"/>
                </a:cubicBezTo>
                <a:lnTo>
                  <a:pt x="0" y="136130"/>
                </a:lnTo>
                <a:cubicBezTo>
                  <a:pt x="0" y="60947"/>
                  <a:pt x="60947" y="0"/>
                  <a:pt x="136130" y="0"/>
                </a:cubicBezTo>
                <a:close/>
              </a:path>
            </a:pathLst>
          </a:custGeom>
          <a:solidFill>
            <a:srgbClr val="F3F4F6"/>
          </a:solidFill>
          <a:ln/>
        </p:spPr>
      </p:sp>
      <p:sp>
        <p:nvSpPr>
          <p:cNvPr id="39" name="Shape 37"/>
          <p:cNvSpPr/>
          <p:nvPr/>
        </p:nvSpPr>
        <p:spPr>
          <a:xfrm>
            <a:off x="531752" y="4645382"/>
            <a:ext cx="170161" cy="170161"/>
          </a:xfrm>
          <a:custGeom>
            <a:avLst/>
            <a:gdLst/>
            <a:ahLst/>
            <a:cxnLst/>
            <a:rect l="l" t="t" r="r" b="b"/>
            <a:pathLst>
              <a:path w="170161" h="170161">
                <a:moveTo>
                  <a:pt x="42540" y="10635"/>
                </a:moveTo>
                <a:lnTo>
                  <a:pt x="53175" y="10635"/>
                </a:lnTo>
                <a:cubicBezTo>
                  <a:pt x="59058" y="10635"/>
                  <a:pt x="63810" y="15388"/>
                  <a:pt x="63810" y="21270"/>
                </a:cubicBezTo>
                <a:lnTo>
                  <a:pt x="63810" y="31905"/>
                </a:lnTo>
                <a:lnTo>
                  <a:pt x="31905" y="31905"/>
                </a:lnTo>
                <a:lnTo>
                  <a:pt x="31905" y="21270"/>
                </a:lnTo>
                <a:cubicBezTo>
                  <a:pt x="31905" y="15388"/>
                  <a:pt x="36658" y="10635"/>
                  <a:pt x="42540" y="10635"/>
                </a:cubicBezTo>
                <a:close/>
                <a:moveTo>
                  <a:pt x="63810" y="42540"/>
                </a:moveTo>
                <a:lnTo>
                  <a:pt x="63810" y="148890"/>
                </a:lnTo>
                <a:cubicBezTo>
                  <a:pt x="63810" y="154773"/>
                  <a:pt x="59058" y="159525"/>
                  <a:pt x="53175" y="159525"/>
                </a:cubicBezTo>
                <a:lnTo>
                  <a:pt x="10635" y="159525"/>
                </a:lnTo>
                <a:cubicBezTo>
                  <a:pt x="4753" y="159525"/>
                  <a:pt x="0" y="154773"/>
                  <a:pt x="0" y="148890"/>
                </a:cubicBezTo>
                <a:lnTo>
                  <a:pt x="0" y="129249"/>
                </a:lnTo>
                <a:cubicBezTo>
                  <a:pt x="0" y="117750"/>
                  <a:pt x="3124" y="106450"/>
                  <a:pt x="9040" y="96579"/>
                </a:cubicBezTo>
                <a:cubicBezTo>
                  <a:pt x="13593" y="89002"/>
                  <a:pt x="16518" y="80560"/>
                  <a:pt x="17614" y="71786"/>
                </a:cubicBezTo>
                <a:lnTo>
                  <a:pt x="20107" y="51846"/>
                </a:lnTo>
                <a:cubicBezTo>
                  <a:pt x="20772" y="46528"/>
                  <a:pt x="25291" y="42540"/>
                  <a:pt x="30675" y="42540"/>
                </a:cubicBezTo>
                <a:lnTo>
                  <a:pt x="63843" y="42540"/>
                </a:lnTo>
                <a:close/>
                <a:moveTo>
                  <a:pt x="139518" y="42540"/>
                </a:moveTo>
                <a:cubicBezTo>
                  <a:pt x="144869" y="42540"/>
                  <a:pt x="149422" y="46528"/>
                  <a:pt x="150087" y="51846"/>
                </a:cubicBezTo>
                <a:lnTo>
                  <a:pt x="152546" y="71786"/>
                </a:lnTo>
                <a:cubicBezTo>
                  <a:pt x="153643" y="80560"/>
                  <a:pt x="156568" y="89002"/>
                  <a:pt x="161121" y="96579"/>
                </a:cubicBezTo>
                <a:cubicBezTo>
                  <a:pt x="167036" y="106450"/>
                  <a:pt x="170161" y="117750"/>
                  <a:pt x="170161" y="129249"/>
                </a:cubicBezTo>
                <a:lnTo>
                  <a:pt x="170161" y="148890"/>
                </a:lnTo>
                <a:cubicBezTo>
                  <a:pt x="170161" y="154773"/>
                  <a:pt x="165408" y="159525"/>
                  <a:pt x="159525" y="159525"/>
                </a:cubicBezTo>
                <a:lnTo>
                  <a:pt x="116985" y="159525"/>
                </a:lnTo>
                <a:cubicBezTo>
                  <a:pt x="111103" y="159525"/>
                  <a:pt x="106350" y="154773"/>
                  <a:pt x="106350" y="148890"/>
                </a:cubicBezTo>
                <a:lnTo>
                  <a:pt x="106350" y="42540"/>
                </a:lnTo>
                <a:lnTo>
                  <a:pt x="139518" y="42540"/>
                </a:lnTo>
                <a:close/>
                <a:moveTo>
                  <a:pt x="106350" y="21270"/>
                </a:moveTo>
                <a:cubicBezTo>
                  <a:pt x="106350" y="15388"/>
                  <a:pt x="111103" y="10635"/>
                  <a:pt x="116985" y="10635"/>
                </a:cubicBezTo>
                <a:lnTo>
                  <a:pt x="127620" y="10635"/>
                </a:lnTo>
                <a:cubicBezTo>
                  <a:pt x="133503" y="10635"/>
                  <a:pt x="138255" y="15388"/>
                  <a:pt x="138255" y="21270"/>
                </a:cubicBezTo>
                <a:lnTo>
                  <a:pt x="138255" y="31905"/>
                </a:lnTo>
                <a:lnTo>
                  <a:pt x="106350" y="31905"/>
                </a:lnTo>
                <a:lnTo>
                  <a:pt x="106350" y="21270"/>
                </a:lnTo>
                <a:close/>
                <a:moveTo>
                  <a:pt x="95715" y="42540"/>
                </a:moveTo>
                <a:lnTo>
                  <a:pt x="95715" y="95715"/>
                </a:lnTo>
                <a:lnTo>
                  <a:pt x="74445" y="95715"/>
                </a:lnTo>
                <a:lnTo>
                  <a:pt x="74445" y="42540"/>
                </a:lnTo>
                <a:lnTo>
                  <a:pt x="95715" y="42540"/>
                </a:lnTo>
                <a:close/>
              </a:path>
            </a:pathLst>
          </a:custGeom>
          <a:solidFill>
            <a:srgbClr val="1E3A8A"/>
          </a:solidFill>
          <a:ln/>
        </p:spPr>
      </p:sp>
      <p:sp>
        <p:nvSpPr>
          <p:cNvPr id="40" name="Text 38"/>
          <p:cNvSpPr/>
          <p:nvPr/>
        </p:nvSpPr>
        <p:spPr>
          <a:xfrm>
            <a:off x="825278" y="4611350"/>
            <a:ext cx="1131567" cy="238225"/>
          </a:xfrm>
          <a:prstGeom prst="rect">
            <a:avLst/>
          </a:prstGeom>
          <a:noFill/>
          <a:ln/>
        </p:spPr>
        <p:txBody>
          <a:bodyPr wrap="square" lIns="0" tIns="0" rIns="0" bIns="0" rtlCol="0" anchor="ctr"/>
          <a:lstStyle/>
          <a:p>
            <a:pPr>
              <a:lnSpc>
                <a:spcPct val="120000"/>
              </a:lnSpc>
            </a:pPr>
            <a:r>
              <a:rPr lang="en-US" sz="1340" b="1" dirty="0">
                <a:solidFill>
                  <a:srgbClr val="1E3A8A"/>
                </a:solidFill>
                <a:latin typeface="Noto Sans SC" pitchFamily="34" charset="0"/>
                <a:ea typeface="Noto Sans SC" pitchFamily="34" charset="-122"/>
                <a:cs typeface="Noto Sans SC" pitchFamily="34" charset="-120"/>
              </a:rPr>
              <a:t>Perspectives</a:t>
            </a:r>
            <a:endParaRPr lang="en-US" sz="1600" dirty="0"/>
          </a:p>
        </p:txBody>
      </p:sp>
      <p:sp>
        <p:nvSpPr>
          <p:cNvPr id="41" name="Shape 39"/>
          <p:cNvSpPr/>
          <p:nvPr/>
        </p:nvSpPr>
        <p:spPr>
          <a:xfrm>
            <a:off x="527498" y="4985703"/>
            <a:ext cx="3615911" cy="782738"/>
          </a:xfrm>
          <a:custGeom>
            <a:avLst/>
            <a:gdLst/>
            <a:ahLst/>
            <a:cxnLst/>
            <a:rect l="l" t="t" r="r" b="b"/>
            <a:pathLst>
              <a:path w="3615911" h="782738">
                <a:moveTo>
                  <a:pt x="34032" y="0"/>
                </a:moveTo>
                <a:lnTo>
                  <a:pt x="3513818" y="0"/>
                </a:lnTo>
                <a:cubicBezTo>
                  <a:pt x="3570202" y="0"/>
                  <a:pt x="3615911" y="45708"/>
                  <a:pt x="3615911" y="102093"/>
                </a:cubicBezTo>
                <a:lnTo>
                  <a:pt x="3615911" y="680646"/>
                </a:lnTo>
                <a:cubicBezTo>
                  <a:pt x="3615911" y="737030"/>
                  <a:pt x="3570202" y="782738"/>
                  <a:pt x="3513818" y="782738"/>
                </a:cubicBezTo>
                <a:lnTo>
                  <a:pt x="34032" y="782738"/>
                </a:lnTo>
                <a:cubicBezTo>
                  <a:pt x="15237" y="782738"/>
                  <a:pt x="0" y="767502"/>
                  <a:pt x="0" y="748706"/>
                </a:cubicBezTo>
                <a:lnTo>
                  <a:pt x="0" y="34032"/>
                </a:lnTo>
                <a:cubicBezTo>
                  <a:pt x="0" y="15249"/>
                  <a:pt x="15249" y="0"/>
                  <a:pt x="34032" y="0"/>
                </a:cubicBezTo>
                <a:close/>
              </a:path>
            </a:pathLst>
          </a:custGeom>
          <a:solidFill>
            <a:srgbClr val="FFFFFF"/>
          </a:solidFill>
          <a:ln/>
        </p:spPr>
      </p:sp>
      <p:sp>
        <p:nvSpPr>
          <p:cNvPr id="42" name="Shape 40"/>
          <p:cNvSpPr/>
          <p:nvPr/>
        </p:nvSpPr>
        <p:spPr>
          <a:xfrm>
            <a:off x="527498" y="4985703"/>
            <a:ext cx="34032" cy="782738"/>
          </a:xfrm>
          <a:custGeom>
            <a:avLst/>
            <a:gdLst/>
            <a:ahLst/>
            <a:cxnLst/>
            <a:rect l="l" t="t" r="r" b="b"/>
            <a:pathLst>
              <a:path w="34032" h="782738">
                <a:moveTo>
                  <a:pt x="34032" y="0"/>
                </a:moveTo>
                <a:lnTo>
                  <a:pt x="34032" y="0"/>
                </a:lnTo>
                <a:lnTo>
                  <a:pt x="34032" y="782738"/>
                </a:lnTo>
                <a:lnTo>
                  <a:pt x="34032" y="782738"/>
                </a:lnTo>
                <a:cubicBezTo>
                  <a:pt x="15237" y="782738"/>
                  <a:pt x="0" y="767502"/>
                  <a:pt x="0" y="748706"/>
                </a:cubicBezTo>
                <a:lnTo>
                  <a:pt x="0" y="34032"/>
                </a:lnTo>
                <a:cubicBezTo>
                  <a:pt x="0" y="15237"/>
                  <a:pt x="15237" y="0"/>
                  <a:pt x="34032" y="0"/>
                </a:cubicBezTo>
                <a:close/>
              </a:path>
            </a:pathLst>
          </a:custGeom>
          <a:solidFill>
            <a:srgbClr val="10B981"/>
          </a:solidFill>
          <a:ln/>
        </p:spPr>
      </p:sp>
      <p:sp>
        <p:nvSpPr>
          <p:cNvPr id="43" name="Shape 41"/>
          <p:cNvSpPr/>
          <p:nvPr/>
        </p:nvSpPr>
        <p:spPr>
          <a:xfrm>
            <a:off x="711484" y="5164371"/>
            <a:ext cx="134001" cy="153144"/>
          </a:xfrm>
          <a:custGeom>
            <a:avLst/>
            <a:gdLst/>
            <a:ahLst/>
            <a:cxnLst/>
            <a:rect l="l" t="t" r="r" b="b"/>
            <a:pathLst>
              <a:path w="134001" h="153144">
                <a:moveTo>
                  <a:pt x="38286" y="0"/>
                </a:moveTo>
                <a:cubicBezTo>
                  <a:pt x="43580" y="0"/>
                  <a:pt x="47858" y="4277"/>
                  <a:pt x="47858" y="9572"/>
                </a:cubicBezTo>
                <a:lnTo>
                  <a:pt x="47858" y="19143"/>
                </a:lnTo>
                <a:lnTo>
                  <a:pt x="86144" y="19143"/>
                </a:lnTo>
                <a:lnTo>
                  <a:pt x="86144" y="9572"/>
                </a:lnTo>
                <a:cubicBezTo>
                  <a:pt x="86144" y="4277"/>
                  <a:pt x="90421" y="0"/>
                  <a:pt x="95715" y="0"/>
                </a:cubicBezTo>
                <a:cubicBezTo>
                  <a:pt x="101010" y="0"/>
                  <a:pt x="105287" y="4277"/>
                  <a:pt x="105287" y="9572"/>
                </a:cubicBezTo>
                <a:lnTo>
                  <a:pt x="105287" y="19143"/>
                </a:lnTo>
                <a:lnTo>
                  <a:pt x="114858" y="19143"/>
                </a:lnTo>
                <a:cubicBezTo>
                  <a:pt x="125417" y="19143"/>
                  <a:pt x="134001" y="27728"/>
                  <a:pt x="134001" y="38286"/>
                </a:cubicBezTo>
                <a:lnTo>
                  <a:pt x="134001" y="124430"/>
                </a:lnTo>
                <a:cubicBezTo>
                  <a:pt x="134001" y="134988"/>
                  <a:pt x="125417" y="143573"/>
                  <a:pt x="114858" y="143573"/>
                </a:cubicBezTo>
                <a:lnTo>
                  <a:pt x="19143" y="143573"/>
                </a:lnTo>
                <a:cubicBezTo>
                  <a:pt x="8584" y="143573"/>
                  <a:pt x="0" y="134988"/>
                  <a:pt x="0" y="124430"/>
                </a:cubicBezTo>
                <a:lnTo>
                  <a:pt x="0" y="38286"/>
                </a:lnTo>
                <a:cubicBezTo>
                  <a:pt x="0" y="27728"/>
                  <a:pt x="8584" y="19143"/>
                  <a:pt x="19143" y="19143"/>
                </a:cubicBezTo>
                <a:lnTo>
                  <a:pt x="28715" y="19143"/>
                </a:lnTo>
                <a:lnTo>
                  <a:pt x="28715" y="9572"/>
                </a:lnTo>
                <a:cubicBezTo>
                  <a:pt x="28715" y="4277"/>
                  <a:pt x="32992" y="0"/>
                  <a:pt x="38286" y="0"/>
                </a:cubicBezTo>
                <a:close/>
                <a:moveTo>
                  <a:pt x="38286" y="76572"/>
                </a:moveTo>
                <a:cubicBezTo>
                  <a:pt x="32992" y="76572"/>
                  <a:pt x="28715" y="80850"/>
                  <a:pt x="28715" y="86144"/>
                </a:cubicBezTo>
                <a:lnTo>
                  <a:pt x="28715" y="105287"/>
                </a:lnTo>
                <a:cubicBezTo>
                  <a:pt x="28715" y="110581"/>
                  <a:pt x="32992" y="114858"/>
                  <a:pt x="38286" y="114858"/>
                </a:cubicBezTo>
                <a:lnTo>
                  <a:pt x="57429" y="114858"/>
                </a:lnTo>
                <a:cubicBezTo>
                  <a:pt x="62723" y="114858"/>
                  <a:pt x="67001" y="110581"/>
                  <a:pt x="67001" y="105287"/>
                </a:cubicBezTo>
                <a:lnTo>
                  <a:pt x="67001" y="86144"/>
                </a:lnTo>
                <a:cubicBezTo>
                  <a:pt x="67001" y="80850"/>
                  <a:pt x="62723" y="76572"/>
                  <a:pt x="57429" y="76572"/>
                </a:cubicBezTo>
                <a:lnTo>
                  <a:pt x="38286" y="76572"/>
                </a:lnTo>
                <a:close/>
              </a:path>
            </a:pathLst>
          </a:custGeom>
          <a:solidFill>
            <a:srgbClr val="10B981"/>
          </a:solidFill>
          <a:ln/>
        </p:spPr>
      </p:sp>
      <p:sp>
        <p:nvSpPr>
          <p:cNvPr id="44" name="Text 42"/>
          <p:cNvSpPr/>
          <p:nvPr/>
        </p:nvSpPr>
        <p:spPr>
          <a:xfrm>
            <a:off x="940137" y="5121831"/>
            <a:ext cx="944391" cy="238225"/>
          </a:xfrm>
          <a:prstGeom prst="rect">
            <a:avLst/>
          </a:prstGeom>
          <a:noFill/>
          <a:ln/>
        </p:spPr>
        <p:txBody>
          <a:bodyPr wrap="square" lIns="0" tIns="0" rIns="0" bIns="0" rtlCol="0" anchor="ctr"/>
          <a:lstStyle/>
          <a:p>
            <a:pPr>
              <a:lnSpc>
                <a:spcPct val="130000"/>
              </a:lnSpc>
            </a:pPr>
            <a:r>
              <a:rPr lang="en-US" sz="1206" b="1" dirty="0">
                <a:solidFill>
                  <a:srgbClr val="1E3A8A"/>
                </a:solidFill>
                <a:latin typeface="MiSans" pitchFamily="34" charset="0"/>
                <a:ea typeface="MiSans" pitchFamily="34" charset="-122"/>
                <a:cs typeface="MiSans" pitchFamily="34" charset="-120"/>
              </a:rPr>
              <a:t>Court terme</a:t>
            </a:r>
            <a:endParaRPr lang="en-US" sz="1600" dirty="0"/>
          </a:p>
        </p:txBody>
      </p:sp>
      <p:sp>
        <p:nvSpPr>
          <p:cNvPr id="45" name="Text 43"/>
          <p:cNvSpPr/>
          <p:nvPr/>
        </p:nvSpPr>
        <p:spPr>
          <a:xfrm>
            <a:off x="1876152" y="5155863"/>
            <a:ext cx="518990" cy="170161"/>
          </a:xfrm>
          <a:prstGeom prst="rect">
            <a:avLst/>
          </a:prstGeom>
          <a:noFill/>
          <a:ln/>
        </p:spPr>
        <p:txBody>
          <a:bodyPr wrap="square" lIns="0" tIns="0" rIns="0" bIns="0" rtlCol="0" anchor="ctr"/>
          <a:lstStyle/>
          <a:p>
            <a:pPr>
              <a:lnSpc>
                <a:spcPct val="120000"/>
              </a:lnSpc>
            </a:pPr>
            <a:r>
              <a:rPr lang="en-US" sz="938" dirty="0">
                <a:solidFill>
                  <a:srgbClr val="6B7280"/>
                </a:solidFill>
                <a:latin typeface="MiSans" pitchFamily="34" charset="0"/>
                <a:ea typeface="MiSans" pitchFamily="34" charset="-122"/>
                <a:cs typeface="MiSans" pitchFamily="34" charset="-120"/>
              </a:rPr>
              <a:t>3-6 mois</a:t>
            </a:r>
            <a:endParaRPr lang="en-US" sz="1600" dirty="0"/>
          </a:p>
        </p:txBody>
      </p:sp>
      <p:sp>
        <p:nvSpPr>
          <p:cNvPr id="46" name="Text 44"/>
          <p:cNvSpPr/>
          <p:nvPr/>
        </p:nvSpPr>
        <p:spPr>
          <a:xfrm>
            <a:off x="680642" y="5428120"/>
            <a:ext cx="3394702" cy="204193"/>
          </a:xfrm>
          <a:prstGeom prst="rect">
            <a:avLst/>
          </a:prstGeom>
          <a:noFill/>
          <a:ln/>
        </p:spPr>
        <p:txBody>
          <a:bodyPr wrap="square" lIns="0" tIns="0" rIns="0" bIns="0" rtlCol="0" anchor="ctr"/>
          <a:lstStyle/>
          <a:p>
            <a:pPr>
              <a:lnSpc>
                <a:spcPct val="130000"/>
              </a:lnSpc>
            </a:pPr>
            <a:r>
              <a:rPr lang="en-US" sz="1072" dirty="0">
                <a:solidFill>
                  <a:srgbClr val="374151"/>
                </a:solidFill>
                <a:latin typeface="MiSans" pitchFamily="34" charset="0"/>
                <a:ea typeface="MiSans" pitchFamily="34" charset="-122"/>
                <a:cs typeface="MiSans" pitchFamily="34" charset="-120"/>
              </a:rPr>
              <a:t>Valider KPIs poste pilote</a:t>
            </a:r>
            <a:endParaRPr lang="en-US" sz="1600" dirty="0"/>
          </a:p>
        </p:txBody>
      </p:sp>
      <p:sp>
        <p:nvSpPr>
          <p:cNvPr id="47" name="Shape 45"/>
          <p:cNvSpPr/>
          <p:nvPr/>
        </p:nvSpPr>
        <p:spPr>
          <a:xfrm>
            <a:off x="4296154" y="4985703"/>
            <a:ext cx="3615911" cy="782738"/>
          </a:xfrm>
          <a:custGeom>
            <a:avLst/>
            <a:gdLst/>
            <a:ahLst/>
            <a:cxnLst/>
            <a:rect l="l" t="t" r="r" b="b"/>
            <a:pathLst>
              <a:path w="3615911" h="782738">
                <a:moveTo>
                  <a:pt x="34032" y="0"/>
                </a:moveTo>
                <a:lnTo>
                  <a:pt x="3513818" y="0"/>
                </a:lnTo>
                <a:cubicBezTo>
                  <a:pt x="3570202" y="0"/>
                  <a:pt x="3615911" y="45708"/>
                  <a:pt x="3615911" y="102093"/>
                </a:cubicBezTo>
                <a:lnTo>
                  <a:pt x="3615911" y="680646"/>
                </a:lnTo>
                <a:cubicBezTo>
                  <a:pt x="3615911" y="737030"/>
                  <a:pt x="3570202" y="782738"/>
                  <a:pt x="3513818" y="782738"/>
                </a:cubicBezTo>
                <a:lnTo>
                  <a:pt x="34032" y="782738"/>
                </a:lnTo>
                <a:cubicBezTo>
                  <a:pt x="15237" y="782738"/>
                  <a:pt x="0" y="767502"/>
                  <a:pt x="0" y="748706"/>
                </a:cubicBezTo>
                <a:lnTo>
                  <a:pt x="0" y="34032"/>
                </a:lnTo>
                <a:cubicBezTo>
                  <a:pt x="0" y="15249"/>
                  <a:pt x="15249" y="0"/>
                  <a:pt x="34032" y="0"/>
                </a:cubicBezTo>
                <a:close/>
              </a:path>
            </a:pathLst>
          </a:custGeom>
          <a:solidFill>
            <a:srgbClr val="FFFFFF"/>
          </a:solidFill>
          <a:ln/>
        </p:spPr>
      </p:sp>
      <p:sp>
        <p:nvSpPr>
          <p:cNvPr id="48" name="Shape 46"/>
          <p:cNvSpPr/>
          <p:nvPr/>
        </p:nvSpPr>
        <p:spPr>
          <a:xfrm>
            <a:off x="4296154" y="4985703"/>
            <a:ext cx="34032" cy="782738"/>
          </a:xfrm>
          <a:custGeom>
            <a:avLst/>
            <a:gdLst/>
            <a:ahLst/>
            <a:cxnLst/>
            <a:rect l="l" t="t" r="r" b="b"/>
            <a:pathLst>
              <a:path w="34032" h="782738">
                <a:moveTo>
                  <a:pt x="34032" y="0"/>
                </a:moveTo>
                <a:lnTo>
                  <a:pt x="34032" y="0"/>
                </a:lnTo>
                <a:lnTo>
                  <a:pt x="34032" y="782738"/>
                </a:lnTo>
                <a:lnTo>
                  <a:pt x="34032" y="782738"/>
                </a:lnTo>
                <a:cubicBezTo>
                  <a:pt x="15237" y="782738"/>
                  <a:pt x="0" y="767502"/>
                  <a:pt x="0" y="748706"/>
                </a:cubicBezTo>
                <a:lnTo>
                  <a:pt x="0" y="34032"/>
                </a:lnTo>
                <a:cubicBezTo>
                  <a:pt x="0" y="15237"/>
                  <a:pt x="15237" y="0"/>
                  <a:pt x="34032" y="0"/>
                </a:cubicBezTo>
                <a:close/>
              </a:path>
            </a:pathLst>
          </a:custGeom>
          <a:solidFill>
            <a:srgbClr val="3B82F6"/>
          </a:solidFill>
          <a:ln/>
        </p:spPr>
      </p:sp>
      <p:sp>
        <p:nvSpPr>
          <p:cNvPr id="49" name="Shape 47"/>
          <p:cNvSpPr/>
          <p:nvPr/>
        </p:nvSpPr>
        <p:spPr>
          <a:xfrm>
            <a:off x="4480140" y="5164371"/>
            <a:ext cx="134001" cy="153144"/>
          </a:xfrm>
          <a:custGeom>
            <a:avLst/>
            <a:gdLst/>
            <a:ahLst/>
            <a:cxnLst/>
            <a:rect l="l" t="t" r="r" b="b"/>
            <a:pathLst>
              <a:path w="134001" h="153144">
                <a:moveTo>
                  <a:pt x="38286" y="0"/>
                </a:moveTo>
                <a:cubicBezTo>
                  <a:pt x="43580" y="0"/>
                  <a:pt x="47858" y="4277"/>
                  <a:pt x="47858" y="9572"/>
                </a:cubicBezTo>
                <a:lnTo>
                  <a:pt x="47858" y="19143"/>
                </a:lnTo>
                <a:lnTo>
                  <a:pt x="86144" y="19143"/>
                </a:lnTo>
                <a:lnTo>
                  <a:pt x="86144" y="9572"/>
                </a:lnTo>
                <a:cubicBezTo>
                  <a:pt x="86144" y="4277"/>
                  <a:pt x="90421" y="0"/>
                  <a:pt x="95715" y="0"/>
                </a:cubicBezTo>
                <a:cubicBezTo>
                  <a:pt x="101010" y="0"/>
                  <a:pt x="105287" y="4277"/>
                  <a:pt x="105287" y="9572"/>
                </a:cubicBezTo>
                <a:lnTo>
                  <a:pt x="105287" y="19143"/>
                </a:lnTo>
                <a:lnTo>
                  <a:pt x="114858" y="19143"/>
                </a:lnTo>
                <a:cubicBezTo>
                  <a:pt x="125417" y="19143"/>
                  <a:pt x="134001" y="27728"/>
                  <a:pt x="134001" y="38286"/>
                </a:cubicBezTo>
                <a:lnTo>
                  <a:pt x="134001" y="124430"/>
                </a:lnTo>
                <a:cubicBezTo>
                  <a:pt x="134001" y="134988"/>
                  <a:pt x="125417" y="143573"/>
                  <a:pt x="114858" y="143573"/>
                </a:cubicBezTo>
                <a:lnTo>
                  <a:pt x="19143" y="143573"/>
                </a:lnTo>
                <a:cubicBezTo>
                  <a:pt x="8584" y="143573"/>
                  <a:pt x="0" y="134988"/>
                  <a:pt x="0" y="124430"/>
                </a:cubicBezTo>
                <a:lnTo>
                  <a:pt x="0" y="38286"/>
                </a:lnTo>
                <a:cubicBezTo>
                  <a:pt x="0" y="27728"/>
                  <a:pt x="8584" y="19143"/>
                  <a:pt x="19143" y="19143"/>
                </a:cubicBezTo>
                <a:lnTo>
                  <a:pt x="28715" y="19143"/>
                </a:lnTo>
                <a:lnTo>
                  <a:pt x="28715" y="9572"/>
                </a:lnTo>
                <a:cubicBezTo>
                  <a:pt x="28715" y="4277"/>
                  <a:pt x="32992" y="0"/>
                  <a:pt x="38286" y="0"/>
                </a:cubicBezTo>
                <a:close/>
                <a:moveTo>
                  <a:pt x="38286" y="76572"/>
                </a:moveTo>
                <a:cubicBezTo>
                  <a:pt x="32992" y="76572"/>
                  <a:pt x="28715" y="80850"/>
                  <a:pt x="28715" y="86144"/>
                </a:cubicBezTo>
                <a:lnTo>
                  <a:pt x="28715" y="105287"/>
                </a:lnTo>
                <a:cubicBezTo>
                  <a:pt x="28715" y="110581"/>
                  <a:pt x="32992" y="114858"/>
                  <a:pt x="38286" y="114858"/>
                </a:cubicBezTo>
                <a:lnTo>
                  <a:pt x="95715" y="114858"/>
                </a:lnTo>
                <a:cubicBezTo>
                  <a:pt x="101010" y="114858"/>
                  <a:pt x="105287" y="110581"/>
                  <a:pt x="105287" y="105287"/>
                </a:cubicBezTo>
                <a:lnTo>
                  <a:pt x="105287" y="86144"/>
                </a:lnTo>
                <a:cubicBezTo>
                  <a:pt x="105287" y="80850"/>
                  <a:pt x="101010" y="76572"/>
                  <a:pt x="95715" y="76572"/>
                </a:cubicBezTo>
                <a:lnTo>
                  <a:pt x="38286" y="76572"/>
                </a:lnTo>
                <a:close/>
              </a:path>
            </a:pathLst>
          </a:custGeom>
          <a:solidFill>
            <a:srgbClr val="3B82F6"/>
          </a:solidFill>
          <a:ln/>
        </p:spPr>
      </p:sp>
      <p:sp>
        <p:nvSpPr>
          <p:cNvPr id="50" name="Text 48"/>
          <p:cNvSpPr/>
          <p:nvPr/>
        </p:nvSpPr>
        <p:spPr>
          <a:xfrm>
            <a:off x="4708793" y="5121831"/>
            <a:ext cx="1020963" cy="238225"/>
          </a:xfrm>
          <a:prstGeom prst="rect">
            <a:avLst/>
          </a:prstGeom>
          <a:noFill/>
          <a:ln/>
        </p:spPr>
        <p:txBody>
          <a:bodyPr wrap="square" lIns="0" tIns="0" rIns="0" bIns="0" rtlCol="0" anchor="ctr"/>
          <a:lstStyle/>
          <a:p>
            <a:pPr>
              <a:lnSpc>
                <a:spcPct val="130000"/>
              </a:lnSpc>
            </a:pPr>
            <a:r>
              <a:rPr lang="en-US" sz="1206" b="1" dirty="0">
                <a:solidFill>
                  <a:srgbClr val="1E3A8A"/>
                </a:solidFill>
                <a:latin typeface="MiSans" pitchFamily="34" charset="0"/>
                <a:ea typeface="MiSans" pitchFamily="34" charset="-122"/>
                <a:cs typeface="MiSans" pitchFamily="34" charset="-120"/>
              </a:rPr>
              <a:t>Moyen terme</a:t>
            </a:r>
            <a:endParaRPr lang="en-US" sz="1600" dirty="0"/>
          </a:p>
        </p:txBody>
      </p:sp>
      <p:sp>
        <p:nvSpPr>
          <p:cNvPr id="51" name="Text 49"/>
          <p:cNvSpPr/>
          <p:nvPr/>
        </p:nvSpPr>
        <p:spPr>
          <a:xfrm>
            <a:off x="5721647" y="5155863"/>
            <a:ext cx="578546" cy="170161"/>
          </a:xfrm>
          <a:prstGeom prst="rect">
            <a:avLst/>
          </a:prstGeom>
          <a:noFill/>
          <a:ln/>
        </p:spPr>
        <p:txBody>
          <a:bodyPr wrap="square" lIns="0" tIns="0" rIns="0" bIns="0" rtlCol="0" anchor="ctr"/>
          <a:lstStyle/>
          <a:p>
            <a:pPr>
              <a:lnSpc>
                <a:spcPct val="120000"/>
              </a:lnSpc>
            </a:pPr>
            <a:r>
              <a:rPr lang="en-US" sz="938" dirty="0">
                <a:solidFill>
                  <a:srgbClr val="6B7280"/>
                </a:solidFill>
                <a:latin typeface="MiSans" pitchFamily="34" charset="0"/>
                <a:ea typeface="MiSans" pitchFamily="34" charset="-122"/>
                <a:cs typeface="MiSans" pitchFamily="34" charset="-120"/>
              </a:rPr>
              <a:t>6-12 mois</a:t>
            </a:r>
            <a:endParaRPr lang="en-US" sz="1600" dirty="0"/>
          </a:p>
        </p:txBody>
      </p:sp>
      <p:sp>
        <p:nvSpPr>
          <p:cNvPr id="52" name="Text 50"/>
          <p:cNvSpPr/>
          <p:nvPr/>
        </p:nvSpPr>
        <p:spPr>
          <a:xfrm>
            <a:off x="4449298" y="5428120"/>
            <a:ext cx="3394702" cy="204193"/>
          </a:xfrm>
          <a:prstGeom prst="rect">
            <a:avLst/>
          </a:prstGeom>
          <a:noFill/>
          <a:ln/>
        </p:spPr>
        <p:txBody>
          <a:bodyPr wrap="square" lIns="0" tIns="0" rIns="0" bIns="0" rtlCol="0" anchor="ctr"/>
          <a:lstStyle/>
          <a:p>
            <a:pPr>
              <a:lnSpc>
                <a:spcPct val="130000"/>
              </a:lnSpc>
            </a:pPr>
            <a:r>
              <a:rPr lang="en-US" sz="1072" dirty="0">
                <a:solidFill>
                  <a:srgbClr val="374151"/>
                </a:solidFill>
                <a:latin typeface="MiSans" pitchFamily="34" charset="0"/>
                <a:ea typeface="MiSans" pitchFamily="34" charset="-122"/>
                <a:cs typeface="MiSans" pitchFamily="34" charset="-120"/>
              </a:rPr>
              <a:t>Extension 9 inspecteurs + dashboard Marc</a:t>
            </a:r>
            <a:endParaRPr lang="en-US" sz="1600" dirty="0"/>
          </a:p>
        </p:txBody>
      </p:sp>
      <p:sp>
        <p:nvSpPr>
          <p:cNvPr id="53" name="Shape 51"/>
          <p:cNvSpPr/>
          <p:nvPr/>
        </p:nvSpPr>
        <p:spPr>
          <a:xfrm>
            <a:off x="8064810" y="4985703"/>
            <a:ext cx="3615911" cy="782738"/>
          </a:xfrm>
          <a:custGeom>
            <a:avLst/>
            <a:gdLst/>
            <a:ahLst/>
            <a:cxnLst/>
            <a:rect l="l" t="t" r="r" b="b"/>
            <a:pathLst>
              <a:path w="3615911" h="782738">
                <a:moveTo>
                  <a:pt x="34032" y="0"/>
                </a:moveTo>
                <a:lnTo>
                  <a:pt x="3513818" y="0"/>
                </a:lnTo>
                <a:cubicBezTo>
                  <a:pt x="3570202" y="0"/>
                  <a:pt x="3615911" y="45708"/>
                  <a:pt x="3615911" y="102093"/>
                </a:cubicBezTo>
                <a:lnTo>
                  <a:pt x="3615911" y="680646"/>
                </a:lnTo>
                <a:cubicBezTo>
                  <a:pt x="3615911" y="737030"/>
                  <a:pt x="3570202" y="782738"/>
                  <a:pt x="3513818" y="782738"/>
                </a:cubicBezTo>
                <a:lnTo>
                  <a:pt x="34032" y="782738"/>
                </a:lnTo>
                <a:cubicBezTo>
                  <a:pt x="15237" y="782738"/>
                  <a:pt x="0" y="767502"/>
                  <a:pt x="0" y="748706"/>
                </a:cubicBezTo>
                <a:lnTo>
                  <a:pt x="0" y="34032"/>
                </a:lnTo>
                <a:cubicBezTo>
                  <a:pt x="0" y="15249"/>
                  <a:pt x="15249" y="0"/>
                  <a:pt x="34032" y="0"/>
                </a:cubicBezTo>
                <a:close/>
              </a:path>
            </a:pathLst>
          </a:custGeom>
          <a:solidFill>
            <a:srgbClr val="FFFFFF"/>
          </a:solidFill>
          <a:ln/>
        </p:spPr>
      </p:sp>
      <p:sp>
        <p:nvSpPr>
          <p:cNvPr id="54" name="Shape 52"/>
          <p:cNvSpPr/>
          <p:nvPr/>
        </p:nvSpPr>
        <p:spPr>
          <a:xfrm>
            <a:off x="8064810" y="4985703"/>
            <a:ext cx="34032" cy="782738"/>
          </a:xfrm>
          <a:custGeom>
            <a:avLst/>
            <a:gdLst/>
            <a:ahLst/>
            <a:cxnLst/>
            <a:rect l="l" t="t" r="r" b="b"/>
            <a:pathLst>
              <a:path w="34032" h="782738">
                <a:moveTo>
                  <a:pt x="34032" y="0"/>
                </a:moveTo>
                <a:lnTo>
                  <a:pt x="34032" y="0"/>
                </a:lnTo>
                <a:lnTo>
                  <a:pt x="34032" y="782738"/>
                </a:lnTo>
                <a:lnTo>
                  <a:pt x="34032" y="782738"/>
                </a:lnTo>
                <a:cubicBezTo>
                  <a:pt x="15237" y="782738"/>
                  <a:pt x="0" y="767502"/>
                  <a:pt x="0" y="748706"/>
                </a:cubicBezTo>
                <a:lnTo>
                  <a:pt x="0" y="34032"/>
                </a:lnTo>
                <a:cubicBezTo>
                  <a:pt x="0" y="15237"/>
                  <a:pt x="15237" y="0"/>
                  <a:pt x="34032" y="0"/>
                </a:cubicBezTo>
                <a:close/>
              </a:path>
            </a:pathLst>
          </a:custGeom>
          <a:solidFill>
            <a:srgbClr val="8B5CF6"/>
          </a:solidFill>
          <a:ln/>
        </p:spPr>
      </p:sp>
      <p:sp>
        <p:nvSpPr>
          <p:cNvPr id="55" name="Shape 53"/>
          <p:cNvSpPr/>
          <p:nvPr/>
        </p:nvSpPr>
        <p:spPr>
          <a:xfrm>
            <a:off x="8248796" y="5164371"/>
            <a:ext cx="134001" cy="153144"/>
          </a:xfrm>
          <a:custGeom>
            <a:avLst/>
            <a:gdLst/>
            <a:ahLst/>
            <a:cxnLst/>
            <a:rect l="l" t="t" r="r" b="b"/>
            <a:pathLst>
              <a:path w="134001" h="153144">
                <a:moveTo>
                  <a:pt x="38286" y="0"/>
                </a:moveTo>
                <a:cubicBezTo>
                  <a:pt x="43580" y="0"/>
                  <a:pt x="47858" y="4277"/>
                  <a:pt x="47858" y="9572"/>
                </a:cubicBezTo>
                <a:lnTo>
                  <a:pt x="47858" y="19143"/>
                </a:lnTo>
                <a:lnTo>
                  <a:pt x="86144" y="19143"/>
                </a:lnTo>
                <a:lnTo>
                  <a:pt x="86144" y="9572"/>
                </a:lnTo>
                <a:cubicBezTo>
                  <a:pt x="86144" y="4277"/>
                  <a:pt x="90421" y="0"/>
                  <a:pt x="95715" y="0"/>
                </a:cubicBezTo>
                <a:cubicBezTo>
                  <a:pt x="101010" y="0"/>
                  <a:pt x="105287" y="4277"/>
                  <a:pt x="105287" y="9572"/>
                </a:cubicBezTo>
                <a:lnTo>
                  <a:pt x="105287" y="19143"/>
                </a:lnTo>
                <a:lnTo>
                  <a:pt x="114858" y="19143"/>
                </a:lnTo>
                <a:cubicBezTo>
                  <a:pt x="125417" y="19143"/>
                  <a:pt x="134001" y="27728"/>
                  <a:pt x="134001" y="38286"/>
                </a:cubicBezTo>
                <a:lnTo>
                  <a:pt x="134001" y="124430"/>
                </a:lnTo>
                <a:cubicBezTo>
                  <a:pt x="134001" y="134988"/>
                  <a:pt x="125417" y="143573"/>
                  <a:pt x="114858" y="143573"/>
                </a:cubicBezTo>
                <a:lnTo>
                  <a:pt x="19143" y="143573"/>
                </a:lnTo>
                <a:cubicBezTo>
                  <a:pt x="8584" y="143573"/>
                  <a:pt x="0" y="134988"/>
                  <a:pt x="0" y="124430"/>
                </a:cubicBezTo>
                <a:lnTo>
                  <a:pt x="0" y="38286"/>
                </a:lnTo>
                <a:cubicBezTo>
                  <a:pt x="0" y="27728"/>
                  <a:pt x="8584" y="19143"/>
                  <a:pt x="19143" y="19143"/>
                </a:cubicBezTo>
                <a:lnTo>
                  <a:pt x="28715" y="19143"/>
                </a:lnTo>
                <a:lnTo>
                  <a:pt x="28715" y="9572"/>
                </a:lnTo>
                <a:cubicBezTo>
                  <a:pt x="28715" y="4277"/>
                  <a:pt x="32992" y="0"/>
                  <a:pt x="38286" y="0"/>
                </a:cubicBezTo>
                <a:close/>
                <a:moveTo>
                  <a:pt x="19143" y="71786"/>
                </a:moveTo>
                <a:lnTo>
                  <a:pt x="19143" y="81358"/>
                </a:lnTo>
                <a:cubicBezTo>
                  <a:pt x="19143" y="83990"/>
                  <a:pt x="21297" y="86144"/>
                  <a:pt x="23929" y="86144"/>
                </a:cubicBezTo>
                <a:lnTo>
                  <a:pt x="33500" y="86144"/>
                </a:lnTo>
                <a:cubicBezTo>
                  <a:pt x="36133" y="86144"/>
                  <a:pt x="38286" y="83990"/>
                  <a:pt x="38286" y="81358"/>
                </a:cubicBezTo>
                <a:lnTo>
                  <a:pt x="38286" y="71786"/>
                </a:lnTo>
                <a:cubicBezTo>
                  <a:pt x="38286" y="69154"/>
                  <a:pt x="36133" y="67001"/>
                  <a:pt x="33500" y="67001"/>
                </a:cubicBezTo>
                <a:lnTo>
                  <a:pt x="23929" y="67001"/>
                </a:lnTo>
                <a:cubicBezTo>
                  <a:pt x="21297" y="67001"/>
                  <a:pt x="19143" y="69154"/>
                  <a:pt x="19143" y="71786"/>
                </a:cubicBezTo>
                <a:close/>
                <a:moveTo>
                  <a:pt x="57429" y="71786"/>
                </a:moveTo>
                <a:lnTo>
                  <a:pt x="57429" y="81358"/>
                </a:lnTo>
                <a:cubicBezTo>
                  <a:pt x="57429" y="83990"/>
                  <a:pt x="59583" y="86144"/>
                  <a:pt x="62215" y="86144"/>
                </a:cubicBezTo>
                <a:lnTo>
                  <a:pt x="71786" y="86144"/>
                </a:lnTo>
                <a:cubicBezTo>
                  <a:pt x="74419" y="86144"/>
                  <a:pt x="76572" y="83990"/>
                  <a:pt x="76572" y="81358"/>
                </a:cubicBezTo>
                <a:lnTo>
                  <a:pt x="76572" y="71786"/>
                </a:lnTo>
                <a:cubicBezTo>
                  <a:pt x="76572" y="69154"/>
                  <a:pt x="74419" y="67001"/>
                  <a:pt x="71786" y="67001"/>
                </a:cubicBezTo>
                <a:lnTo>
                  <a:pt x="62215" y="67001"/>
                </a:lnTo>
                <a:cubicBezTo>
                  <a:pt x="59583" y="67001"/>
                  <a:pt x="57429" y="69154"/>
                  <a:pt x="57429" y="71786"/>
                </a:cubicBezTo>
                <a:close/>
                <a:moveTo>
                  <a:pt x="100501" y="67001"/>
                </a:moveTo>
                <a:cubicBezTo>
                  <a:pt x="97869" y="67001"/>
                  <a:pt x="95715" y="69154"/>
                  <a:pt x="95715" y="71786"/>
                </a:cubicBezTo>
                <a:lnTo>
                  <a:pt x="95715" y="81358"/>
                </a:lnTo>
                <a:cubicBezTo>
                  <a:pt x="95715" y="83990"/>
                  <a:pt x="97869" y="86144"/>
                  <a:pt x="100501" y="86144"/>
                </a:cubicBezTo>
                <a:lnTo>
                  <a:pt x="110073" y="86144"/>
                </a:lnTo>
                <a:cubicBezTo>
                  <a:pt x="112705" y="86144"/>
                  <a:pt x="114858" y="83990"/>
                  <a:pt x="114858" y="81358"/>
                </a:cubicBezTo>
                <a:lnTo>
                  <a:pt x="114858" y="71786"/>
                </a:lnTo>
                <a:cubicBezTo>
                  <a:pt x="114858" y="69154"/>
                  <a:pt x="112705" y="67001"/>
                  <a:pt x="110073" y="67001"/>
                </a:cubicBezTo>
                <a:lnTo>
                  <a:pt x="100501" y="67001"/>
                </a:lnTo>
                <a:close/>
                <a:moveTo>
                  <a:pt x="19143" y="110073"/>
                </a:moveTo>
                <a:lnTo>
                  <a:pt x="19143" y="119644"/>
                </a:lnTo>
                <a:cubicBezTo>
                  <a:pt x="19143" y="122276"/>
                  <a:pt x="21297" y="124430"/>
                  <a:pt x="23929" y="124430"/>
                </a:cubicBezTo>
                <a:lnTo>
                  <a:pt x="33500" y="124430"/>
                </a:lnTo>
                <a:cubicBezTo>
                  <a:pt x="36133" y="124430"/>
                  <a:pt x="38286" y="122276"/>
                  <a:pt x="38286" y="119644"/>
                </a:cubicBezTo>
                <a:lnTo>
                  <a:pt x="38286" y="110073"/>
                </a:lnTo>
                <a:cubicBezTo>
                  <a:pt x="38286" y="107440"/>
                  <a:pt x="36133" y="105287"/>
                  <a:pt x="33500" y="105287"/>
                </a:cubicBezTo>
                <a:lnTo>
                  <a:pt x="23929" y="105287"/>
                </a:lnTo>
                <a:cubicBezTo>
                  <a:pt x="21297" y="105287"/>
                  <a:pt x="19143" y="107440"/>
                  <a:pt x="19143" y="110073"/>
                </a:cubicBezTo>
                <a:close/>
                <a:moveTo>
                  <a:pt x="62215" y="105287"/>
                </a:moveTo>
                <a:cubicBezTo>
                  <a:pt x="59583" y="105287"/>
                  <a:pt x="57429" y="107440"/>
                  <a:pt x="57429" y="110073"/>
                </a:cubicBezTo>
                <a:lnTo>
                  <a:pt x="57429" y="119644"/>
                </a:lnTo>
                <a:cubicBezTo>
                  <a:pt x="57429" y="122276"/>
                  <a:pt x="59583" y="124430"/>
                  <a:pt x="62215" y="124430"/>
                </a:cubicBezTo>
                <a:lnTo>
                  <a:pt x="71786" y="124430"/>
                </a:lnTo>
                <a:cubicBezTo>
                  <a:pt x="74419" y="124430"/>
                  <a:pt x="76572" y="122276"/>
                  <a:pt x="76572" y="119644"/>
                </a:cubicBezTo>
                <a:lnTo>
                  <a:pt x="76572" y="110073"/>
                </a:lnTo>
                <a:cubicBezTo>
                  <a:pt x="76572" y="107440"/>
                  <a:pt x="74419" y="105287"/>
                  <a:pt x="71786" y="105287"/>
                </a:cubicBezTo>
                <a:lnTo>
                  <a:pt x="62215" y="105287"/>
                </a:lnTo>
                <a:close/>
                <a:moveTo>
                  <a:pt x="95715" y="110073"/>
                </a:moveTo>
                <a:lnTo>
                  <a:pt x="95715" y="119644"/>
                </a:lnTo>
                <a:cubicBezTo>
                  <a:pt x="95715" y="122276"/>
                  <a:pt x="97869" y="124430"/>
                  <a:pt x="100501" y="124430"/>
                </a:cubicBezTo>
                <a:lnTo>
                  <a:pt x="110073" y="124430"/>
                </a:lnTo>
                <a:cubicBezTo>
                  <a:pt x="112705" y="124430"/>
                  <a:pt x="114858" y="122276"/>
                  <a:pt x="114858" y="119644"/>
                </a:cubicBezTo>
                <a:lnTo>
                  <a:pt x="114858" y="110073"/>
                </a:lnTo>
                <a:cubicBezTo>
                  <a:pt x="114858" y="107440"/>
                  <a:pt x="112705" y="105287"/>
                  <a:pt x="110073" y="105287"/>
                </a:cubicBezTo>
                <a:lnTo>
                  <a:pt x="100501" y="105287"/>
                </a:lnTo>
                <a:cubicBezTo>
                  <a:pt x="97869" y="105287"/>
                  <a:pt x="95715" y="107440"/>
                  <a:pt x="95715" y="110073"/>
                </a:cubicBezTo>
                <a:close/>
              </a:path>
            </a:pathLst>
          </a:custGeom>
          <a:solidFill>
            <a:srgbClr val="8B5CF6"/>
          </a:solidFill>
          <a:ln/>
        </p:spPr>
      </p:sp>
      <p:sp>
        <p:nvSpPr>
          <p:cNvPr id="56" name="Text 54"/>
          <p:cNvSpPr/>
          <p:nvPr/>
        </p:nvSpPr>
        <p:spPr>
          <a:xfrm>
            <a:off x="8477449" y="5121831"/>
            <a:ext cx="910359" cy="238225"/>
          </a:xfrm>
          <a:prstGeom prst="rect">
            <a:avLst/>
          </a:prstGeom>
          <a:noFill/>
          <a:ln/>
        </p:spPr>
        <p:txBody>
          <a:bodyPr wrap="square" lIns="0" tIns="0" rIns="0" bIns="0" rtlCol="0" anchor="ctr"/>
          <a:lstStyle/>
          <a:p>
            <a:pPr>
              <a:lnSpc>
                <a:spcPct val="130000"/>
              </a:lnSpc>
            </a:pPr>
            <a:r>
              <a:rPr lang="en-US" sz="1206" b="1" dirty="0">
                <a:solidFill>
                  <a:srgbClr val="1E3A8A"/>
                </a:solidFill>
                <a:latin typeface="MiSans" pitchFamily="34" charset="0"/>
                <a:ea typeface="MiSans" pitchFamily="34" charset="-122"/>
                <a:cs typeface="MiSans" pitchFamily="34" charset="-120"/>
              </a:rPr>
              <a:t>Long terme</a:t>
            </a:r>
            <a:endParaRPr lang="en-US" sz="1600" dirty="0"/>
          </a:p>
        </p:txBody>
      </p:sp>
      <p:sp>
        <p:nvSpPr>
          <p:cNvPr id="57" name="Text 55"/>
          <p:cNvSpPr/>
          <p:nvPr/>
        </p:nvSpPr>
        <p:spPr>
          <a:xfrm>
            <a:off x="9379433" y="5155863"/>
            <a:ext cx="646610" cy="170161"/>
          </a:xfrm>
          <a:prstGeom prst="rect">
            <a:avLst/>
          </a:prstGeom>
          <a:noFill/>
          <a:ln/>
        </p:spPr>
        <p:txBody>
          <a:bodyPr wrap="square" lIns="0" tIns="0" rIns="0" bIns="0" rtlCol="0" anchor="ctr"/>
          <a:lstStyle/>
          <a:p>
            <a:pPr>
              <a:lnSpc>
                <a:spcPct val="120000"/>
              </a:lnSpc>
            </a:pPr>
            <a:r>
              <a:rPr lang="en-US" sz="938" dirty="0">
                <a:solidFill>
                  <a:srgbClr val="6B7280"/>
                </a:solidFill>
                <a:latin typeface="MiSans" pitchFamily="34" charset="0"/>
                <a:ea typeface="MiSans" pitchFamily="34" charset="-122"/>
                <a:cs typeface="MiSans" pitchFamily="34" charset="-120"/>
              </a:rPr>
              <a:t>12-24 mois</a:t>
            </a:r>
            <a:endParaRPr lang="en-US" sz="1600" dirty="0"/>
          </a:p>
        </p:txBody>
      </p:sp>
      <p:sp>
        <p:nvSpPr>
          <p:cNvPr id="58" name="Text 56"/>
          <p:cNvSpPr/>
          <p:nvPr/>
        </p:nvSpPr>
        <p:spPr>
          <a:xfrm>
            <a:off x="8217955" y="5428120"/>
            <a:ext cx="3394702" cy="204193"/>
          </a:xfrm>
          <a:prstGeom prst="rect">
            <a:avLst/>
          </a:prstGeom>
          <a:noFill/>
          <a:ln/>
        </p:spPr>
        <p:txBody>
          <a:bodyPr wrap="square" lIns="0" tIns="0" rIns="0" bIns="0" rtlCol="0" anchor="ctr"/>
          <a:lstStyle/>
          <a:p>
            <a:pPr>
              <a:lnSpc>
                <a:spcPct val="130000"/>
              </a:lnSpc>
            </a:pPr>
            <a:r>
              <a:rPr lang="en-US" sz="1072" dirty="0">
                <a:solidFill>
                  <a:srgbClr val="374151"/>
                </a:solidFill>
                <a:latin typeface="MiSans" pitchFamily="34" charset="0"/>
                <a:ea typeface="MiSans" pitchFamily="34" charset="-122"/>
                <a:cs typeface="MiSans" pitchFamily="34" charset="-120"/>
              </a:rPr>
              <a:t>Corrélation défauts/process (A3) + Monitoring IoT (A5)</a:t>
            </a:r>
            <a:endParaRPr lang="en-US" sz="1600" dirty="0"/>
          </a:p>
        </p:txBody>
      </p:sp>
      <p:sp>
        <p:nvSpPr>
          <p:cNvPr id="59" name="Text 57"/>
          <p:cNvSpPr/>
          <p:nvPr/>
        </p:nvSpPr>
        <p:spPr>
          <a:xfrm>
            <a:off x="302035" y="6074730"/>
            <a:ext cx="11587930" cy="238225"/>
          </a:xfrm>
          <a:prstGeom prst="rect">
            <a:avLst/>
          </a:prstGeom>
          <a:noFill/>
          <a:ln/>
        </p:spPr>
        <p:txBody>
          <a:bodyPr wrap="square" lIns="0" tIns="0" rIns="0" bIns="0" rtlCol="0" anchor="ctr"/>
          <a:lstStyle/>
          <a:p>
            <a:pPr algn="ctr">
              <a:lnSpc>
                <a:spcPct val="130000"/>
              </a:lnSpc>
            </a:pPr>
            <a:r>
              <a:rPr lang="en-US" sz="1206" b="1" dirty="0">
                <a:solidFill>
                  <a:srgbClr val="1E3A8A"/>
                </a:solidFill>
                <a:latin typeface="MiSans" pitchFamily="34" charset="0"/>
                <a:ea typeface="MiSans" pitchFamily="34" charset="-122"/>
                <a:cs typeface="MiSans" pitchFamily="34" charset="-120"/>
              </a:rPr>
              <a:t>Projet Fidémeca — FQA</a:t>
            </a:r>
            <a:r>
              <a:rPr lang="en-US" sz="1206" dirty="0">
                <a:solidFill>
                  <a:srgbClr val="6B7280"/>
                </a:solidFill>
                <a:latin typeface="MiSans" pitchFamily="34" charset="0"/>
                <a:ea typeface="MiSans" pitchFamily="34" charset="-122"/>
                <a:cs typeface="MiSans" pitchFamily="34" charset="-120"/>
              </a:rPr>
              <a:t> · Data Product Management · Février 2026</a:t>
            </a:r>
            <a:endParaRPr lang="en-US" sz="1600" dirty="0"/>
          </a:p>
        </p:txBody>
      </p:sp>
    </p:spTree>
  </p:cSld>
  <p:clrMapOvr>
    <a:masterClrMapping/>
  </p:clrMapOvr>
  <p:transition>
    <p:fade/>
  </p:transition>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2509</Words>
  <Application>Microsoft Office PowerPoint</Application>
  <PresentationFormat>Widescreen</PresentationFormat>
  <Paragraphs>621</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Aptos Display</vt:lpstr>
      <vt:lpstr>Arial</vt:lpstr>
      <vt:lpstr>MiSans</vt:lpstr>
      <vt:lpstr>Noto Sans SC</vt:lpstr>
      <vt:lpstr>Thème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Adrien Mégret</dc:creator>
  <cp:lastModifiedBy>naty nat</cp:lastModifiedBy>
  <cp:revision>5</cp:revision>
  <dcterms:created xsi:type="dcterms:W3CDTF">2026-02-25T18:09:24Z</dcterms:created>
  <dcterms:modified xsi:type="dcterms:W3CDTF">2026-03-20T11:22:13Z</dcterms:modified>
</cp:coreProperties>
</file>